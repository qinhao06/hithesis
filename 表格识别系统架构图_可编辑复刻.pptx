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3" name="Shape 3"/>
          <p:cNvSpPr/>
          <p:nvPr/>
        </p:nvSpPr>
        <p:spPr>
          <a:xfrm>
            <a:off x="182880" y="82296"/>
            <a:ext cx="2926080" cy="3874769"/>
          </a:xfrm>
          <a:prstGeom prst="roundRect">
            <a:avLst/>
          </a:prstGeom>
          <a:solidFill>
            <a:srgbClr val="EEF5FF"/>
          </a:solidFill>
          <a:ln w="14000">
            <a:solidFill>
              <a:srgbClr val="5A82D1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4" name="Text 4"/>
          <p:cNvSpPr/>
          <p:nvPr/>
        </p:nvSpPr>
        <p:spPr>
          <a:xfrm>
            <a:off x="792480" y="219456"/>
            <a:ext cx="1706880" cy="44577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800" b="1">
                <a:solidFill>
                  <a:srgbClr val="2457B2"/>
                </a:solidFill>
                <a:latin typeface="Aptos"/>
                <a:ea typeface="Microsoft YaHei"/>
              </a:rPr>
              <a:t>前端交互层</a:t>
            </a:r>
            <a:endParaRPr lang="zh-CN" sz="1800"/>
          </a:p>
        </p:txBody>
      </p:sp>
      <p:sp>
        <p:nvSpPr>
          <p:cNvPr id="5" name="Text 5"/>
          <p:cNvSpPr/>
          <p:nvPr/>
        </p:nvSpPr>
        <p:spPr>
          <a:xfrm>
            <a:off x="609600" y="514350"/>
            <a:ext cx="2072640" cy="24003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100" b="1">
                <a:solidFill>
                  <a:srgbClr val="2457B2"/>
                </a:solidFill>
                <a:latin typeface="Aptos"/>
                <a:ea typeface="Microsoft YaHei"/>
              </a:rPr>
              <a:t>Vue 3 + Vite + Element Plus</a:t>
            </a:r>
            <a:endParaRPr lang="zh-CN" sz="1100"/>
          </a:p>
        </p:txBody>
      </p:sp>
      <p:sp>
        <p:nvSpPr>
          <p:cNvPr id="6" name="Shape 6"/>
          <p:cNvSpPr/>
          <p:nvPr/>
        </p:nvSpPr>
        <p:spPr>
          <a:xfrm>
            <a:off x="341376" y="768096"/>
            <a:ext cx="2596896" cy="72009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B9B3D9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7" name="Text 7"/>
          <p:cNvSpPr/>
          <p:nvPr/>
        </p:nvSpPr>
        <p:spPr>
          <a:xfrm>
            <a:off x="499872" y="925830"/>
            <a:ext cx="390144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400" b="1">
                <a:solidFill>
                  <a:srgbClr val="5A82D1"/>
                </a:solidFill>
                <a:latin typeface="Aptos"/>
                <a:ea typeface="Microsoft YaHei"/>
              </a:rPr>
              <a:t>☁</a:t>
            </a:r>
            <a:endParaRPr lang="zh-CN" sz="2400"/>
          </a:p>
        </p:txBody>
      </p:sp>
      <p:sp>
        <p:nvSpPr>
          <p:cNvPr id="8" name="Text 8"/>
          <p:cNvSpPr/>
          <p:nvPr/>
        </p:nvSpPr>
        <p:spPr>
          <a:xfrm>
            <a:off x="1011936" y="884682"/>
            <a:ext cx="1706880" cy="48006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1019" b="1">
                <a:solidFill>
                  <a:srgbClr val="1F2937"/>
                </a:solidFill>
                <a:latin typeface="Aptos"/>
                <a:ea typeface="Microsoft YaHei"/>
              </a:rPr>
              <a:t>识别页面：</a:t>
            </a:r>
            <a:endParaRPr lang="zh-CN" sz="1019"/>
          </a:p>
          <a:p>
            <a:pPr algn="l"/>
            <a:r>
              <a:rPr lang="zh-CN" sz="1019" b="1">
                <a:solidFill>
                  <a:srgbClr val="1F2937"/>
                </a:solidFill>
                <a:latin typeface="Aptos"/>
                <a:ea typeface="Microsoft YaHei"/>
              </a:rPr>
              <a:t>图片上传、进度反馈、结果预览</a:t>
            </a:r>
            <a:endParaRPr lang="zh-CN" sz="1019"/>
          </a:p>
        </p:txBody>
      </p:sp>
      <p:sp>
        <p:nvSpPr>
          <p:cNvPr id="9" name="Shape 9"/>
          <p:cNvSpPr/>
          <p:nvPr/>
        </p:nvSpPr>
        <p:spPr>
          <a:xfrm>
            <a:off x="341376" y="1673352"/>
            <a:ext cx="2596896" cy="72009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B9B3D9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10" name="Text 10"/>
          <p:cNvSpPr/>
          <p:nvPr/>
        </p:nvSpPr>
        <p:spPr>
          <a:xfrm>
            <a:off x="499872" y="1831086"/>
            <a:ext cx="390144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400" b="1">
                <a:solidFill>
                  <a:srgbClr val="5A82D1"/>
                </a:solidFill>
                <a:latin typeface="Aptos"/>
                <a:ea typeface="Microsoft YaHei"/>
              </a:rPr>
              <a:t>▤</a:t>
            </a:r>
            <a:endParaRPr lang="zh-CN" sz="2400"/>
          </a:p>
        </p:txBody>
      </p:sp>
      <p:sp>
        <p:nvSpPr>
          <p:cNvPr id="11" name="Text 11"/>
          <p:cNvSpPr/>
          <p:nvPr/>
        </p:nvSpPr>
        <p:spPr>
          <a:xfrm>
            <a:off x="1011936" y="1789938"/>
            <a:ext cx="1706880" cy="48006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1019" b="1">
                <a:solidFill>
                  <a:srgbClr val="1F2937"/>
                </a:solidFill>
                <a:latin typeface="Aptos"/>
                <a:ea typeface="Microsoft YaHei"/>
              </a:rPr>
              <a:t>历史页面：</a:t>
            </a:r>
            <a:endParaRPr lang="zh-CN" sz="1019"/>
          </a:p>
          <a:p>
            <a:pPr algn="l"/>
            <a:r>
              <a:rPr lang="zh-CN" sz="1019" b="1">
                <a:solidFill>
                  <a:srgbClr val="1F2937"/>
                </a:solidFill>
                <a:latin typeface="Aptos"/>
                <a:ea typeface="Microsoft YaHei"/>
              </a:rPr>
              <a:t>记录检索、分页筛选、结果回看</a:t>
            </a:r>
            <a:endParaRPr lang="zh-CN" sz="1019"/>
          </a:p>
        </p:txBody>
      </p:sp>
      <p:sp>
        <p:nvSpPr>
          <p:cNvPr id="12" name="Shape 12"/>
          <p:cNvSpPr/>
          <p:nvPr/>
        </p:nvSpPr>
        <p:spPr>
          <a:xfrm>
            <a:off x="341376" y="2578608"/>
            <a:ext cx="2596896" cy="72009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B9B3D9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13" name="Text 13"/>
          <p:cNvSpPr/>
          <p:nvPr/>
        </p:nvSpPr>
        <p:spPr>
          <a:xfrm>
            <a:off x="499872" y="2736342"/>
            <a:ext cx="390144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400" b="1">
                <a:solidFill>
                  <a:srgbClr val="5A82D1"/>
                </a:solidFill>
                <a:latin typeface="Aptos"/>
                <a:ea typeface="Microsoft YaHei"/>
              </a:rPr>
              <a:t>●</a:t>
            </a:r>
            <a:endParaRPr lang="zh-CN" sz="2400"/>
          </a:p>
        </p:txBody>
      </p:sp>
      <p:sp>
        <p:nvSpPr>
          <p:cNvPr id="14" name="Text 14"/>
          <p:cNvSpPr/>
          <p:nvPr/>
        </p:nvSpPr>
        <p:spPr>
          <a:xfrm>
            <a:off x="1011936" y="2695194"/>
            <a:ext cx="1706880" cy="48006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1019" b="1">
                <a:solidFill>
                  <a:srgbClr val="1F2937"/>
                </a:solidFill>
                <a:latin typeface="Aptos"/>
                <a:ea typeface="Microsoft YaHei"/>
              </a:rPr>
              <a:t>用户会话：</a:t>
            </a:r>
            <a:endParaRPr lang="zh-CN" sz="1019"/>
          </a:p>
          <a:p>
            <a:pPr algn="l"/>
            <a:r>
              <a:rPr lang="zh-CN" sz="1019" b="1">
                <a:solidFill>
                  <a:srgbClr val="1F2937"/>
                </a:solidFill>
                <a:latin typeface="Aptos"/>
                <a:ea typeface="Microsoft YaHei"/>
              </a:rPr>
              <a:t>登录/注册/体验用户、Token 管理</a:t>
            </a:r>
            <a:endParaRPr lang="zh-CN" sz="1019"/>
          </a:p>
        </p:txBody>
      </p:sp>
      <p:sp>
        <p:nvSpPr>
          <p:cNvPr id="15" name="Shape 15"/>
          <p:cNvSpPr/>
          <p:nvPr/>
        </p:nvSpPr>
        <p:spPr>
          <a:xfrm>
            <a:off x="341376" y="3442716"/>
            <a:ext cx="2596896" cy="356616"/>
          </a:xfrm>
          <a:prstGeom prst="roundRect">
            <a:avLst/>
          </a:prstGeom>
          <a:solidFill>
            <a:srgbClr val="EEF5FF"/>
          </a:solidFill>
          <a:ln w="9500">
            <a:solidFill>
              <a:srgbClr val="7EA7E6"/>
            </a:solidFill>
            <a:prstDash val="dash"/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019" b="1">
                <a:solidFill>
                  <a:srgbClr val="2C5FAE"/>
                </a:solidFill>
                <a:latin typeface="Aptos"/>
                <a:ea typeface="Microsoft YaHei"/>
              </a:rPr>
              <a:t>Pinia 状态管理     |     Axios 请求封装</a:t>
            </a:r>
            <a:endParaRPr lang="zh-CN" sz="1019"/>
          </a:p>
        </p:txBody>
      </p:sp>
      <p:sp>
        <p:nvSpPr>
          <p:cNvPr id="16" name="Shape 16"/>
          <p:cNvSpPr/>
          <p:nvPr/>
        </p:nvSpPr>
        <p:spPr>
          <a:xfrm>
            <a:off x="4206240" y="82296"/>
            <a:ext cx="2926080" cy="3874769"/>
          </a:xfrm>
          <a:prstGeom prst="roundRect">
            <a:avLst/>
          </a:prstGeom>
          <a:solidFill>
            <a:srgbClr val="F4FAF4"/>
          </a:solidFill>
          <a:ln w="14000">
            <a:solidFill>
              <a:srgbClr val="6E966E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17" name="Text 17"/>
          <p:cNvSpPr/>
          <p:nvPr/>
        </p:nvSpPr>
        <p:spPr>
          <a:xfrm>
            <a:off x="5059680" y="219456"/>
            <a:ext cx="1219200" cy="44577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800" b="1">
                <a:solidFill>
                  <a:srgbClr val="527A56"/>
                </a:solidFill>
                <a:latin typeface="Aptos"/>
                <a:ea typeface="Microsoft YaHei"/>
              </a:rPr>
              <a:t>后端服务层</a:t>
            </a:r>
            <a:endParaRPr lang="zh-CN" sz="1800"/>
          </a:p>
        </p:txBody>
      </p:sp>
      <p:sp>
        <p:nvSpPr>
          <p:cNvPr id="18" name="Text 18"/>
          <p:cNvSpPr/>
          <p:nvPr/>
        </p:nvSpPr>
        <p:spPr>
          <a:xfrm>
            <a:off x="4901184" y="514350"/>
            <a:ext cx="1584960" cy="24003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100" b="1">
                <a:solidFill>
                  <a:srgbClr val="527A56"/>
                </a:solidFill>
                <a:latin typeface="Aptos"/>
                <a:ea typeface="Microsoft YaHei"/>
              </a:rPr>
              <a:t>FastAPI + Uvicorn</a:t>
            </a:r>
            <a:endParaRPr lang="zh-CN" sz="1100"/>
          </a:p>
        </p:txBody>
      </p:sp>
      <p:sp>
        <p:nvSpPr>
          <p:cNvPr id="19" name="Shape 19"/>
          <p:cNvSpPr/>
          <p:nvPr/>
        </p:nvSpPr>
        <p:spPr>
          <a:xfrm>
            <a:off x="4340352" y="720090"/>
            <a:ext cx="2633472" cy="55549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20" name="Text 20"/>
          <p:cNvSpPr/>
          <p:nvPr/>
        </p:nvSpPr>
        <p:spPr>
          <a:xfrm>
            <a:off x="4474464" y="843534"/>
            <a:ext cx="329184" cy="349758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200" b="1">
                <a:solidFill>
                  <a:srgbClr val="6E966E"/>
                </a:solidFill>
                <a:latin typeface="Aptos"/>
                <a:ea typeface="Microsoft YaHei"/>
              </a:rPr>
              <a:t>▣</a:t>
            </a:r>
            <a:endParaRPr lang="zh-CN" sz="2200"/>
          </a:p>
        </p:txBody>
      </p:sp>
      <p:sp>
        <p:nvSpPr>
          <p:cNvPr id="21" name="Text 21"/>
          <p:cNvSpPr/>
          <p:nvPr/>
        </p:nvSpPr>
        <p:spPr>
          <a:xfrm>
            <a:off x="4937760" y="802386"/>
            <a:ext cx="1828800" cy="418338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认证接口：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注册、登录、当前用户、资料更新</a:t>
            </a:r>
            <a:endParaRPr lang="zh-CN" sz="960"/>
          </a:p>
        </p:txBody>
      </p:sp>
      <p:sp>
        <p:nvSpPr>
          <p:cNvPr id="22" name="Shape 22"/>
          <p:cNvSpPr/>
          <p:nvPr/>
        </p:nvSpPr>
        <p:spPr>
          <a:xfrm>
            <a:off x="4340352" y="1344168"/>
            <a:ext cx="2633472" cy="6446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23" name="Text 23"/>
          <p:cNvSpPr/>
          <p:nvPr/>
        </p:nvSpPr>
        <p:spPr>
          <a:xfrm>
            <a:off x="4474464" y="1467612"/>
            <a:ext cx="329184" cy="43891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200" b="1">
                <a:solidFill>
                  <a:srgbClr val="6E966E"/>
                </a:solidFill>
                <a:latin typeface="Aptos"/>
                <a:ea typeface="Microsoft YaHei"/>
              </a:rPr>
              <a:t>☁</a:t>
            </a:r>
            <a:endParaRPr lang="zh-CN" sz="2200"/>
          </a:p>
        </p:txBody>
      </p:sp>
      <p:sp>
        <p:nvSpPr>
          <p:cNvPr id="24" name="Text 24"/>
          <p:cNvSpPr/>
          <p:nvPr/>
        </p:nvSpPr>
        <p:spPr>
          <a:xfrm>
            <a:off x="4937760" y="1426464"/>
            <a:ext cx="1828800" cy="50749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上传接口：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格式校验、大小校验、文件落盘、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图像尺寸解析</a:t>
            </a:r>
            <a:endParaRPr lang="zh-CN" sz="960"/>
          </a:p>
        </p:txBody>
      </p:sp>
      <p:sp>
        <p:nvSpPr>
          <p:cNvPr id="25" name="Shape 25"/>
          <p:cNvSpPr/>
          <p:nvPr/>
        </p:nvSpPr>
        <p:spPr>
          <a:xfrm>
            <a:off x="4340352" y="2057400"/>
            <a:ext cx="2633472" cy="55549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26" name="Text 26"/>
          <p:cNvSpPr/>
          <p:nvPr/>
        </p:nvSpPr>
        <p:spPr>
          <a:xfrm>
            <a:off x="4474464" y="2180844"/>
            <a:ext cx="329184" cy="349758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200" b="1">
                <a:solidFill>
                  <a:srgbClr val="6E966E"/>
                </a:solidFill>
                <a:latin typeface="Aptos"/>
                <a:ea typeface="Microsoft YaHei"/>
              </a:rPr>
              <a:t>▢</a:t>
            </a:r>
            <a:endParaRPr lang="zh-CN" sz="2200"/>
          </a:p>
        </p:txBody>
      </p:sp>
      <p:sp>
        <p:nvSpPr>
          <p:cNvPr id="27" name="Text 27"/>
          <p:cNvSpPr/>
          <p:nvPr/>
        </p:nvSpPr>
        <p:spPr>
          <a:xfrm>
            <a:off x="4937760" y="2139696"/>
            <a:ext cx="1828800" cy="418338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识别接口：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任务触发、状态更新、结果封装</a:t>
            </a:r>
            <a:endParaRPr lang="zh-CN" sz="960"/>
          </a:p>
        </p:txBody>
      </p:sp>
      <p:sp>
        <p:nvSpPr>
          <p:cNvPr id="28" name="Shape 28"/>
          <p:cNvSpPr/>
          <p:nvPr/>
        </p:nvSpPr>
        <p:spPr>
          <a:xfrm>
            <a:off x="4340352" y="2681478"/>
            <a:ext cx="2633472" cy="6446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29" name="Text 29"/>
          <p:cNvSpPr/>
          <p:nvPr/>
        </p:nvSpPr>
        <p:spPr>
          <a:xfrm>
            <a:off x="4474464" y="2804922"/>
            <a:ext cx="329184" cy="43891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200" b="1">
                <a:solidFill>
                  <a:srgbClr val="6E966E"/>
                </a:solidFill>
                <a:latin typeface="Aptos"/>
                <a:ea typeface="Microsoft YaHei"/>
              </a:rPr>
              <a:t>▮</a:t>
            </a:r>
            <a:endParaRPr lang="zh-CN" sz="2200"/>
          </a:p>
        </p:txBody>
      </p:sp>
      <p:sp>
        <p:nvSpPr>
          <p:cNvPr id="30" name="Text 30"/>
          <p:cNvSpPr/>
          <p:nvPr/>
        </p:nvSpPr>
        <p:spPr>
          <a:xfrm>
            <a:off x="4937760" y="2763774"/>
            <a:ext cx="1828800" cy="50749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查询接口：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仪表盘统计、历史记录、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结果详情、删除记录</a:t>
            </a:r>
            <a:endParaRPr lang="zh-CN" sz="960"/>
          </a:p>
        </p:txBody>
      </p:sp>
      <p:sp>
        <p:nvSpPr>
          <p:cNvPr id="31" name="Shape 31"/>
          <p:cNvSpPr/>
          <p:nvPr/>
        </p:nvSpPr>
        <p:spPr>
          <a:xfrm>
            <a:off x="4340352" y="3394710"/>
            <a:ext cx="2633472" cy="55549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32" name="Text 32"/>
          <p:cNvSpPr/>
          <p:nvPr/>
        </p:nvSpPr>
        <p:spPr>
          <a:xfrm>
            <a:off x="4474464" y="3518154"/>
            <a:ext cx="329184" cy="349758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200" b="1">
                <a:solidFill>
                  <a:srgbClr val="6E966E"/>
                </a:solidFill>
                <a:latin typeface="Aptos"/>
                <a:ea typeface="Microsoft YaHei"/>
              </a:rPr>
              <a:t>▰</a:t>
            </a:r>
            <a:endParaRPr lang="zh-CN" sz="2200"/>
          </a:p>
        </p:txBody>
      </p:sp>
      <p:sp>
        <p:nvSpPr>
          <p:cNvPr id="33" name="Text 33"/>
          <p:cNvSpPr/>
          <p:nvPr/>
        </p:nvSpPr>
        <p:spPr>
          <a:xfrm>
            <a:off x="4937760" y="3477006"/>
            <a:ext cx="1828800" cy="418338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静态资源服务：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uploads、results、middle_image</a:t>
            </a:r>
            <a:endParaRPr lang="zh-CN" sz="960"/>
          </a:p>
        </p:txBody>
      </p:sp>
      <p:sp>
        <p:nvSpPr>
          <p:cNvPr id="34" name="Shape 34"/>
          <p:cNvSpPr/>
          <p:nvPr/>
        </p:nvSpPr>
        <p:spPr>
          <a:xfrm>
            <a:off x="7924800" y="82296"/>
            <a:ext cx="2438400" cy="3874769"/>
          </a:xfrm>
          <a:prstGeom prst="roundRect">
            <a:avLst/>
          </a:prstGeom>
          <a:solidFill>
            <a:srgbClr val="FFF7EF"/>
          </a:solidFill>
          <a:ln w="14000">
            <a:solidFill>
              <a:srgbClr val="F29A4A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35" name="Text 35"/>
          <p:cNvSpPr/>
          <p:nvPr/>
        </p:nvSpPr>
        <p:spPr>
          <a:xfrm>
            <a:off x="8583168" y="219456"/>
            <a:ext cx="1097280" cy="44577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800" b="1">
                <a:solidFill>
                  <a:srgbClr val="E47725"/>
                </a:solidFill>
                <a:latin typeface="Aptos"/>
                <a:ea typeface="Microsoft YaHei"/>
              </a:rPr>
              <a:t>核心识别引擎</a:t>
            </a:r>
            <a:endParaRPr lang="zh-CN" sz="1800"/>
          </a:p>
        </p:txBody>
      </p:sp>
      <p:sp>
        <p:nvSpPr>
          <p:cNvPr id="36" name="Text 36"/>
          <p:cNvSpPr/>
          <p:nvPr/>
        </p:nvSpPr>
        <p:spPr>
          <a:xfrm>
            <a:off x="8363712" y="514350"/>
            <a:ext cx="1584960" cy="24003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100" b="1">
                <a:solidFill>
                  <a:srgbClr val="E47725"/>
                </a:solidFill>
                <a:latin typeface="Aptos"/>
                <a:ea typeface="Microsoft YaHei"/>
              </a:rPr>
              <a:t>TableRecognitionSystem</a:t>
            </a:r>
            <a:endParaRPr lang="zh-CN" sz="1100"/>
          </a:p>
        </p:txBody>
      </p:sp>
      <p:sp>
        <p:nvSpPr>
          <p:cNvPr id="37" name="Shape 37"/>
          <p:cNvSpPr/>
          <p:nvPr/>
        </p:nvSpPr>
        <p:spPr>
          <a:xfrm>
            <a:off x="8083296" y="754380"/>
            <a:ext cx="2084832" cy="52120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38" name="Text 38"/>
          <p:cNvSpPr/>
          <p:nvPr/>
        </p:nvSpPr>
        <p:spPr>
          <a:xfrm>
            <a:off x="8241792" y="870966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100" b="1">
                <a:solidFill>
                  <a:srgbClr val="F29A4A"/>
                </a:solidFill>
                <a:latin typeface="Aptos"/>
                <a:ea typeface="Microsoft YaHei"/>
              </a:rPr>
              <a:t>▧</a:t>
            </a:r>
            <a:endParaRPr lang="zh-CN" sz="2100"/>
          </a:p>
        </p:txBody>
      </p:sp>
      <p:sp>
        <p:nvSpPr>
          <p:cNvPr id="39" name="Text 39"/>
          <p:cNvSpPr/>
          <p:nvPr/>
        </p:nvSpPr>
        <p:spPr>
          <a:xfrm>
            <a:off x="8827008" y="836676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图像加载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ImageLoader</a:t>
            </a:r>
            <a:endParaRPr lang="zh-CN" sz="960"/>
          </a:p>
        </p:txBody>
      </p:sp>
      <p:sp>
        <p:nvSpPr>
          <p:cNvPr id="40" name="Line 40"/>
          <p:cNvSpPr/>
          <p:nvPr/>
        </p:nvSpPr>
        <p:spPr>
          <a:xfrm>
            <a:off x="9131808" y="1289304"/>
            <a:ext cx="1219" cy="116586"/>
          </a:xfrm>
          <a:prstGeom prst="line">
            <a:avLst/>
          </a:prstGeom>
          <a:ln w="11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8083296" y="1419606"/>
            <a:ext cx="2084832" cy="52120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42" name="Text 42"/>
          <p:cNvSpPr/>
          <p:nvPr/>
        </p:nvSpPr>
        <p:spPr>
          <a:xfrm>
            <a:off x="8241792" y="1536192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100" b="1">
                <a:solidFill>
                  <a:srgbClr val="F29A4A"/>
                </a:solidFill>
                <a:latin typeface="Aptos"/>
                <a:ea typeface="Microsoft YaHei"/>
              </a:rPr>
              <a:t>≡</a:t>
            </a:r>
            <a:endParaRPr lang="zh-CN" sz="2100"/>
          </a:p>
        </p:txBody>
      </p:sp>
      <p:sp>
        <p:nvSpPr>
          <p:cNvPr id="43" name="Text 43"/>
          <p:cNvSpPr/>
          <p:nvPr/>
        </p:nvSpPr>
        <p:spPr>
          <a:xfrm>
            <a:off x="8827008" y="1501902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动态预处理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DynamicPreprocessor</a:t>
            </a:r>
            <a:endParaRPr lang="zh-CN" sz="960"/>
          </a:p>
        </p:txBody>
      </p:sp>
      <p:sp>
        <p:nvSpPr>
          <p:cNvPr id="44" name="Line 44"/>
          <p:cNvSpPr/>
          <p:nvPr/>
        </p:nvSpPr>
        <p:spPr>
          <a:xfrm>
            <a:off x="9131808" y="1954530"/>
            <a:ext cx="1219" cy="116586"/>
          </a:xfrm>
          <a:prstGeom prst="line">
            <a:avLst/>
          </a:prstGeom>
          <a:ln w="11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5" name="Shape 45"/>
          <p:cNvSpPr/>
          <p:nvPr/>
        </p:nvSpPr>
        <p:spPr>
          <a:xfrm>
            <a:off x="8083296" y="2084832"/>
            <a:ext cx="2084832" cy="52120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46" name="Text 46"/>
          <p:cNvSpPr/>
          <p:nvPr/>
        </p:nvSpPr>
        <p:spPr>
          <a:xfrm>
            <a:off x="8241792" y="2201418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100" b="1">
                <a:solidFill>
                  <a:srgbClr val="F29A4A"/>
                </a:solidFill>
                <a:latin typeface="Aptos"/>
                <a:ea typeface="Microsoft YaHei"/>
              </a:rPr>
              <a:t>▦</a:t>
            </a:r>
            <a:endParaRPr lang="zh-CN" sz="2100"/>
          </a:p>
        </p:txBody>
      </p:sp>
      <p:sp>
        <p:nvSpPr>
          <p:cNvPr id="47" name="Text 47"/>
          <p:cNvSpPr/>
          <p:nvPr/>
        </p:nvSpPr>
        <p:spPr>
          <a:xfrm>
            <a:off x="8827008" y="2167128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ICL 表格识别</a:t>
            </a:r>
            <a:endParaRPr lang="zh-CN" sz="960"/>
          </a:p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ICLTableEngine</a:t>
            </a:r>
            <a:endParaRPr lang="zh-CN" sz="960"/>
          </a:p>
        </p:txBody>
      </p:sp>
      <p:sp>
        <p:nvSpPr>
          <p:cNvPr id="48" name="Line 48"/>
          <p:cNvSpPr/>
          <p:nvPr/>
        </p:nvSpPr>
        <p:spPr>
          <a:xfrm>
            <a:off x="9131808" y="2619756"/>
            <a:ext cx="1219" cy="116585"/>
          </a:xfrm>
          <a:prstGeom prst="line">
            <a:avLst/>
          </a:prstGeom>
          <a:ln w="11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9" name="Shape 49"/>
          <p:cNvSpPr/>
          <p:nvPr/>
        </p:nvSpPr>
        <p:spPr>
          <a:xfrm>
            <a:off x="8083296" y="2750058"/>
            <a:ext cx="2084832" cy="52120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50" name="Text 50"/>
          <p:cNvSpPr/>
          <p:nvPr/>
        </p:nvSpPr>
        <p:spPr>
          <a:xfrm>
            <a:off x="8241792" y="2866644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100" b="1">
                <a:solidFill>
                  <a:srgbClr val="F29A4A"/>
                </a:solidFill>
                <a:latin typeface="Aptos"/>
                <a:ea typeface="Microsoft YaHei"/>
              </a:rPr>
              <a:t>◇</a:t>
            </a:r>
            <a:endParaRPr lang="zh-CN" sz="2100"/>
          </a:p>
        </p:txBody>
      </p:sp>
      <p:sp>
        <p:nvSpPr>
          <p:cNvPr id="51" name="Text 51"/>
          <p:cNvSpPr/>
          <p:nvPr/>
        </p:nvSpPr>
        <p:spPr>
          <a:xfrm>
            <a:off x="8827008" y="2832354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质量评估与后处理</a:t>
            </a:r>
            <a:endParaRPr lang="zh-CN" sz="960"/>
          </a:p>
        </p:txBody>
      </p:sp>
      <p:sp>
        <p:nvSpPr>
          <p:cNvPr id="52" name="Line 52"/>
          <p:cNvSpPr/>
          <p:nvPr/>
        </p:nvSpPr>
        <p:spPr>
          <a:xfrm>
            <a:off x="9131808" y="3284982"/>
            <a:ext cx="1219" cy="116585"/>
          </a:xfrm>
          <a:prstGeom prst="line">
            <a:avLst/>
          </a:prstGeom>
          <a:ln w="11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53" name="Shape 53"/>
          <p:cNvSpPr/>
          <p:nvPr/>
        </p:nvSpPr>
        <p:spPr>
          <a:xfrm>
            <a:off x="8083296" y="3415284"/>
            <a:ext cx="2084832" cy="52120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54" name="Text 54"/>
          <p:cNvSpPr/>
          <p:nvPr/>
        </p:nvSpPr>
        <p:spPr>
          <a:xfrm>
            <a:off x="8241792" y="3531870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100" b="1">
                <a:solidFill>
                  <a:srgbClr val="F29A4A"/>
                </a:solidFill>
                <a:latin typeface="Aptos"/>
                <a:ea typeface="Microsoft YaHei"/>
              </a:rPr>
              <a:t>▣</a:t>
            </a:r>
            <a:endParaRPr lang="zh-CN" sz="2100"/>
          </a:p>
        </p:txBody>
      </p:sp>
      <p:sp>
        <p:nvSpPr>
          <p:cNvPr id="55" name="Text 55"/>
          <p:cNvSpPr/>
          <p:nvPr/>
        </p:nvSpPr>
        <p:spPr>
          <a:xfrm>
            <a:off x="8827008" y="3497580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Aptos"/>
                <a:ea typeface="Microsoft YaHei"/>
              </a:rPr>
              <a:t>结果解析与保存</a:t>
            </a:r>
            <a:endParaRPr lang="zh-CN" sz="960"/>
          </a:p>
        </p:txBody>
      </p:sp>
      <p:sp>
        <p:nvSpPr>
          <p:cNvPr id="56" name="Shape 56"/>
          <p:cNvSpPr/>
          <p:nvPr/>
        </p:nvSpPr>
        <p:spPr>
          <a:xfrm>
            <a:off x="11216640" y="1200150"/>
            <a:ext cx="1036320" cy="2228850"/>
          </a:xfrm>
          <a:prstGeom prst="roundRect">
            <a:avLst/>
          </a:prstGeom>
          <a:solidFill>
            <a:srgbClr val="F8F3FF"/>
          </a:solidFill>
          <a:ln w="14000">
            <a:solidFill>
              <a:srgbClr val="8066B2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57" name="Text 57"/>
          <p:cNvSpPr/>
          <p:nvPr/>
        </p:nvSpPr>
        <p:spPr>
          <a:xfrm>
            <a:off x="11399520" y="1543050"/>
            <a:ext cx="670560" cy="41148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400" b="1">
                <a:solidFill>
                  <a:srgbClr val="6B4FB3"/>
                </a:solidFill>
                <a:latin typeface="Aptos"/>
                <a:ea typeface="Microsoft YaHei"/>
              </a:rPr>
              <a:t>大模型服务</a:t>
            </a:r>
            <a:endParaRPr lang="zh-CN" sz="1400"/>
          </a:p>
        </p:txBody>
      </p:sp>
      <p:sp>
        <p:nvSpPr>
          <p:cNvPr id="58" name="Text 58"/>
          <p:cNvSpPr/>
          <p:nvPr/>
        </p:nvSpPr>
        <p:spPr>
          <a:xfrm>
            <a:off x="11399520" y="1975103"/>
            <a:ext cx="670560" cy="58293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3600" b="1">
                <a:solidFill>
                  <a:srgbClr val="6B4FB3"/>
                </a:solidFill>
                <a:latin typeface="Aptos"/>
                <a:ea typeface="Microsoft YaHei"/>
              </a:rPr>
              <a:t>☼</a:t>
            </a:r>
            <a:endParaRPr lang="zh-CN" sz="3600"/>
          </a:p>
        </p:txBody>
      </p:sp>
      <p:sp>
        <p:nvSpPr>
          <p:cNvPr id="59" name="Text 59"/>
          <p:cNvSpPr/>
          <p:nvPr/>
        </p:nvSpPr>
        <p:spPr>
          <a:xfrm>
            <a:off x="11436096" y="2777490"/>
            <a:ext cx="609600" cy="48006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300" b="1">
                <a:solidFill>
                  <a:srgbClr val="6B4FB3"/>
                </a:solidFill>
                <a:latin typeface="Aptos"/>
                <a:ea typeface="Microsoft YaHei"/>
              </a:rPr>
              <a:t>LLM</a:t>
            </a:r>
            <a:endParaRPr lang="zh-CN" sz="1300"/>
          </a:p>
          <a:p>
            <a:pPr algn="ctr"/>
            <a:r>
              <a:rPr lang="zh-CN" sz="1300" b="1">
                <a:solidFill>
                  <a:srgbClr val="6B4FB3"/>
                </a:solidFill>
                <a:latin typeface="Aptos"/>
                <a:ea typeface="Microsoft YaHei"/>
              </a:rPr>
              <a:t>(大模型)</a:t>
            </a:r>
            <a:endParaRPr lang="zh-CN" sz="1300"/>
          </a:p>
        </p:txBody>
      </p:sp>
      <p:sp>
        <p:nvSpPr>
          <p:cNvPr id="60" name="Line 60"/>
          <p:cNvSpPr/>
          <p:nvPr/>
        </p:nvSpPr>
        <p:spPr>
          <a:xfrm>
            <a:off x="3169920" y="1632204"/>
            <a:ext cx="938784" cy="685"/>
          </a:xfrm>
          <a:prstGeom prst="line">
            <a:avLst/>
          </a:prstGeom>
          <a:ln w="55000">
            <a:solidFill>
              <a:srgbClr val="66666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1" name="Text 61"/>
          <p:cNvSpPr/>
          <p:nvPr/>
        </p:nvSpPr>
        <p:spPr>
          <a:xfrm>
            <a:off x="3194304" y="1885950"/>
            <a:ext cx="914400" cy="92583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950">
                <a:solidFill>
                  <a:srgbClr val="1F2937"/>
                </a:solidFill>
                <a:latin typeface="Aptos"/>
                <a:ea typeface="Microsoft YaHei"/>
              </a:rPr>
              <a:t>HTTP / REST API</a:t>
            </a:r>
            <a:endParaRPr lang="zh-CN" sz="950"/>
          </a:p>
          <a:p>
            <a:pPr algn="ctr"/>
            <a:r>
              <a:rPr lang="zh-CN" sz="95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950"/>
          </a:p>
          <a:p>
            <a:pPr algn="ctr"/>
            <a:r>
              <a:rPr lang="zh-CN" sz="950">
                <a:solidFill>
                  <a:srgbClr val="1F2937"/>
                </a:solidFill>
                <a:latin typeface="Aptos"/>
                <a:ea typeface="Microsoft YaHei"/>
              </a:rPr>
              <a:t>Authorization:</a:t>
            </a:r>
            <a:endParaRPr lang="zh-CN" sz="950"/>
          </a:p>
          <a:p>
            <a:pPr algn="ctr"/>
            <a:r>
              <a:rPr lang="zh-CN" sz="950">
                <a:solidFill>
                  <a:srgbClr val="1F2937"/>
                </a:solidFill>
                <a:latin typeface="Aptos"/>
                <a:ea typeface="Microsoft YaHei"/>
              </a:rPr>
              <a:t>Bearer Token</a:t>
            </a:r>
            <a:endParaRPr lang="zh-CN" sz="950"/>
          </a:p>
          <a:p>
            <a:pPr algn="ctr"/>
            <a:r>
              <a:rPr lang="zh-CN" sz="95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950"/>
          </a:p>
          <a:p>
            <a:pPr algn="ctr"/>
            <a:r>
              <a:rPr lang="zh-CN" sz="950">
                <a:solidFill>
                  <a:srgbClr val="1F2937"/>
                </a:solidFill>
                <a:latin typeface="Aptos"/>
                <a:ea typeface="Microsoft YaHei"/>
              </a:rPr>
              <a:t>multipart/form-data</a:t>
            </a:r>
            <a:endParaRPr lang="zh-CN" sz="950"/>
          </a:p>
          <a:p>
            <a:pPr algn="ctr"/>
            <a:r>
              <a:rPr lang="zh-CN" sz="950">
                <a:solidFill>
                  <a:srgbClr val="1F2937"/>
                </a:solidFill>
                <a:latin typeface="Aptos"/>
                <a:ea typeface="Microsoft YaHei"/>
              </a:rPr>
              <a:t>上传</a:t>
            </a:r>
            <a:endParaRPr lang="zh-CN" sz="950"/>
          </a:p>
        </p:txBody>
      </p:sp>
      <p:sp>
        <p:nvSpPr>
          <p:cNvPr id="62" name="Line 62"/>
          <p:cNvSpPr/>
          <p:nvPr/>
        </p:nvSpPr>
        <p:spPr>
          <a:xfrm>
            <a:off x="7193280" y="1954529"/>
            <a:ext cx="633984" cy="685"/>
          </a:xfrm>
          <a:prstGeom prst="line">
            <a:avLst/>
          </a:prstGeom>
          <a:ln w="55000">
            <a:solidFill>
              <a:srgbClr val="66666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10387584" y="2318004"/>
            <a:ext cx="768096" cy="685"/>
          </a:xfrm>
          <a:prstGeom prst="line">
            <a:avLst/>
          </a:prstGeom>
          <a:ln w="16000">
            <a:solidFill>
              <a:srgbClr val="8066B2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64" name="Text 64"/>
          <p:cNvSpPr/>
          <p:nvPr/>
        </p:nvSpPr>
        <p:spPr>
          <a:xfrm>
            <a:off x="10485120" y="1899666"/>
            <a:ext cx="67056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880">
                <a:solidFill>
                  <a:srgbClr val="1F2937"/>
                </a:solidFill>
                <a:latin typeface="Aptos"/>
                <a:ea typeface="Microsoft YaHei"/>
              </a:rPr>
              <a:t>多模态提示</a:t>
            </a:r>
            <a:endParaRPr lang="zh-CN" sz="880"/>
          </a:p>
          <a:p>
            <a:pPr algn="ctr"/>
            <a:r>
              <a:rPr lang="zh-CN" sz="880">
                <a:solidFill>
                  <a:srgbClr val="1F2937"/>
                </a:solidFill>
                <a:latin typeface="Aptos"/>
                <a:ea typeface="Microsoft YaHei"/>
              </a:rPr>
              <a:t>与结构生成</a:t>
            </a:r>
            <a:endParaRPr lang="zh-CN" sz="880"/>
          </a:p>
        </p:txBody>
      </p:sp>
      <p:sp>
        <p:nvSpPr>
          <p:cNvPr id="65" name="Shape 65"/>
          <p:cNvSpPr/>
          <p:nvPr/>
        </p:nvSpPr>
        <p:spPr>
          <a:xfrm>
            <a:off x="182880" y="4059936"/>
            <a:ext cx="12070080" cy="617220"/>
          </a:xfrm>
          <a:prstGeom prst="roundRect">
            <a:avLst/>
          </a:prstGeom>
          <a:solidFill>
            <a:srgbClr val="F8FBFF"/>
          </a:solidFill>
          <a:ln w="10000">
            <a:solidFill>
              <a:srgbClr val="7EA0D8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66" name="Text 66"/>
          <p:cNvSpPr/>
          <p:nvPr/>
        </p:nvSpPr>
        <p:spPr>
          <a:xfrm>
            <a:off x="316992" y="4258818"/>
            <a:ext cx="670560" cy="24003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300" b="1">
                <a:solidFill>
                  <a:srgbClr val="2457B2"/>
                </a:solidFill>
                <a:latin typeface="Aptos"/>
                <a:ea typeface="Microsoft YaHei"/>
              </a:rPr>
              <a:t>主流程</a:t>
            </a:r>
            <a:endParaRPr lang="zh-CN" sz="1300"/>
          </a:p>
        </p:txBody>
      </p:sp>
      <p:sp>
        <p:nvSpPr>
          <p:cNvPr id="67" name="Shape 67"/>
          <p:cNvSpPr/>
          <p:nvPr/>
        </p:nvSpPr>
        <p:spPr>
          <a:xfrm>
            <a:off x="1097280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用户上传</a:t>
            </a:r>
            <a:endParaRPr lang="zh-CN" sz="919"/>
          </a:p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表格图片</a:t>
            </a:r>
            <a:endParaRPr lang="zh-CN" sz="919"/>
          </a:p>
        </p:txBody>
      </p:sp>
      <p:sp>
        <p:nvSpPr>
          <p:cNvPr id="68" name="Line 68"/>
          <p:cNvSpPr/>
          <p:nvPr/>
        </p:nvSpPr>
        <p:spPr>
          <a:xfrm>
            <a:off x="2072639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9" name="Shape 69"/>
          <p:cNvSpPr/>
          <p:nvPr/>
        </p:nvSpPr>
        <p:spPr>
          <a:xfrm>
            <a:off x="2365248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前端封装</a:t>
            </a:r>
            <a:endParaRPr lang="zh-CN" sz="919"/>
          </a:p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请求</a:t>
            </a:r>
            <a:endParaRPr lang="zh-CN" sz="919"/>
          </a:p>
        </p:txBody>
      </p:sp>
      <p:sp>
        <p:nvSpPr>
          <p:cNvPr id="70" name="Line 70"/>
          <p:cNvSpPr/>
          <p:nvPr/>
        </p:nvSpPr>
        <p:spPr>
          <a:xfrm>
            <a:off x="3340608" y="4341114"/>
            <a:ext cx="304799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3633216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后端鉴权</a:t>
            </a:r>
            <a:endParaRPr lang="zh-CN" sz="919"/>
          </a:p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与文件校验</a:t>
            </a:r>
            <a:endParaRPr lang="zh-CN" sz="919"/>
          </a:p>
        </p:txBody>
      </p:sp>
      <p:sp>
        <p:nvSpPr>
          <p:cNvPr id="72" name="Line 72"/>
          <p:cNvSpPr/>
          <p:nvPr/>
        </p:nvSpPr>
        <p:spPr>
          <a:xfrm>
            <a:off x="4608576" y="4341114"/>
            <a:ext cx="304799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3" name="Shape 73"/>
          <p:cNvSpPr/>
          <p:nvPr/>
        </p:nvSpPr>
        <p:spPr>
          <a:xfrm>
            <a:off x="4901184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调用识别引擎</a:t>
            </a:r>
            <a:endParaRPr lang="zh-CN" sz="919"/>
          </a:p>
        </p:txBody>
      </p:sp>
      <p:sp>
        <p:nvSpPr>
          <p:cNvPr id="74" name="Line 74"/>
          <p:cNvSpPr/>
          <p:nvPr/>
        </p:nvSpPr>
        <p:spPr>
          <a:xfrm>
            <a:off x="5876544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5" name="Shape 75"/>
          <p:cNvSpPr/>
          <p:nvPr/>
        </p:nvSpPr>
        <p:spPr>
          <a:xfrm>
            <a:off x="6169152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预处理与</a:t>
            </a:r>
            <a:endParaRPr lang="zh-CN" sz="919"/>
          </a:p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表格识别</a:t>
            </a:r>
            <a:endParaRPr lang="zh-CN" sz="919"/>
          </a:p>
        </p:txBody>
      </p:sp>
      <p:sp>
        <p:nvSpPr>
          <p:cNvPr id="76" name="Line 76"/>
          <p:cNvSpPr/>
          <p:nvPr/>
        </p:nvSpPr>
        <p:spPr>
          <a:xfrm>
            <a:off x="7144512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7" name="Shape 77"/>
          <p:cNvSpPr/>
          <p:nvPr/>
        </p:nvSpPr>
        <p:spPr>
          <a:xfrm>
            <a:off x="7437120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调用大模型</a:t>
            </a:r>
            <a:endParaRPr lang="zh-CN" sz="919"/>
          </a:p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生成 HTML 结构</a:t>
            </a:r>
            <a:endParaRPr lang="zh-CN" sz="919"/>
          </a:p>
        </p:txBody>
      </p:sp>
      <p:sp>
        <p:nvSpPr>
          <p:cNvPr id="78" name="Line 78"/>
          <p:cNvSpPr/>
          <p:nvPr/>
        </p:nvSpPr>
        <p:spPr>
          <a:xfrm>
            <a:off x="8412480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9" name="Shape 79"/>
          <p:cNvSpPr/>
          <p:nvPr/>
        </p:nvSpPr>
        <p:spPr>
          <a:xfrm>
            <a:off x="8705088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后处理与</a:t>
            </a:r>
            <a:endParaRPr lang="zh-CN" sz="919"/>
          </a:p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结果组织</a:t>
            </a:r>
            <a:endParaRPr lang="zh-CN" sz="919"/>
          </a:p>
        </p:txBody>
      </p:sp>
      <p:sp>
        <p:nvSpPr>
          <p:cNvPr id="80" name="Line 80"/>
          <p:cNvSpPr/>
          <p:nvPr/>
        </p:nvSpPr>
        <p:spPr>
          <a:xfrm>
            <a:off x="9680448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9973056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写入数据库</a:t>
            </a:r>
            <a:endParaRPr lang="zh-CN" sz="919"/>
          </a:p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和结果目录</a:t>
            </a:r>
            <a:endParaRPr lang="zh-CN" sz="919"/>
          </a:p>
        </p:txBody>
      </p:sp>
      <p:sp>
        <p:nvSpPr>
          <p:cNvPr id="82" name="Line 82"/>
          <p:cNvSpPr/>
          <p:nvPr/>
        </p:nvSpPr>
        <p:spPr>
          <a:xfrm>
            <a:off x="10948415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3" name="Shape 83"/>
          <p:cNvSpPr/>
          <p:nvPr/>
        </p:nvSpPr>
        <p:spPr>
          <a:xfrm>
            <a:off x="11241024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前端展示结果</a:t>
            </a:r>
            <a:endParaRPr lang="zh-CN" sz="919"/>
          </a:p>
          <a:p>
            <a:pPr algn="ctr"/>
            <a:r>
              <a:rPr lang="zh-CN" sz="919" b="1">
                <a:solidFill>
                  <a:srgbClr val="2457B2"/>
                </a:solidFill>
                <a:latin typeface="Aptos"/>
                <a:ea typeface="Microsoft YaHei"/>
              </a:rPr>
              <a:t>与历史统计</a:t>
            </a:r>
            <a:endParaRPr lang="zh-CN" sz="919"/>
          </a:p>
        </p:txBody>
      </p:sp>
      <p:sp>
        <p:nvSpPr>
          <p:cNvPr id="84" name="Shape 84"/>
          <p:cNvSpPr/>
          <p:nvPr/>
        </p:nvSpPr>
        <p:spPr>
          <a:xfrm>
            <a:off x="182880" y="4766310"/>
            <a:ext cx="12070080" cy="500633"/>
          </a:xfrm>
          <a:prstGeom prst="roundRect">
            <a:avLst/>
          </a:prstGeom>
          <a:solidFill>
            <a:srgbClr val="FBF8FF"/>
          </a:solidFill>
          <a:ln w="9500">
            <a:solidFill>
              <a:srgbClr val="B79BD9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85" name="Text 85"/>
          <p:cNvSpPr/>
          <p:nvPr/>
        </p:nvSpPr>
        <p:spPr>
          <a:xfrm>
            <a:off x="316992" y="4930902"/>
            <a:ext cx="670560" cy="24003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300" b="1">
                <a:solidFill>
                  <a:srgbClr val="7658B5"/>
                </a:solidFill>
                <a:latin typeface="Aptos"/>
                <a:ea typeface="Microsoft YaHei"/>
              </a:rPr>
              <a:t>次要路径</a:t>
            </a:r>
            <a:endParaRPr lang="zh-CN" sz="1300"/>
          </a:p>
        </p:txBody>
      </p:sp>
      <p:sp>
        <p:nvSpPr>
          <p:cNvPr id="86" name="Shape 86"/>
          <p:cNvSpPr/>
          <p:nvPr/>
        </p:nvSpPr>
        <p:spPr>
          <a:xfrm>
            <a:off x="1097280" y="4862322"/>
            <a:ext cx="1158240" cy="30861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B79BD9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30" b="1">
                <a:solidFill>
                  <a:srgbClr val="7658B5"/>
                </a:solidFill>
                <a:latin typeface="Aptos"/>
                <a:ea typeface="Microsoft YaHei"/>
              </a:rPr>
              <a:t>历史查询/结果回看</a:t>
            </a:r>
            <a:endParaRPr lang="zh-CN" sz="930"/>
          </a:p>
        </p:txBody>
      </p:sp>
      <p:sp>
        <p:nvSpPr>
          <p:cNvPr id="87" name="Shape 87"/>
          <p:cNvSpPr/>
          <p:nvPr/>
        </p:nvSpPr>
        <p:spPr>
          <a:xfrm>
            <a:off x="4267200" y="4862322"/>
            <a:ext cx="1524000" cy="30861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B79BD9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30" b="1">
                <a:solidFill>
                  <a:srgbClr val="7658B5"/>
                </a:solidFill>
                <a:latin typeface="Aptos"/>
                <a:ea typeface="Microsoft YaHei"/>
              </a:rPr>
              <a:t>后端查询接口</a:t>
            </a:r>
            <a:endParaRPr lang="zh-CN" sz="930"/>
          </a:p>
        </p:txBody>
      </p:sp>
      <p:sp>
        <p:nvSpPr>
          <p:cNvPr id="88" name="Shape 88"/>
          <p:cNvSpPr/>
          <p:nvPr/>
        </p:nvSpPr>
        <p:spPr>
          <a:xfrm>
            <a:off x="9351264" y="4862322"/>
            <a:ext cx="1584960" cy="30861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B79BD9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930" b="1">
                <a:solidFill>
                  <a:srgbClr val="7658B5"/>
                </a:solidFill>
                <a:latin typeface="Aptos"/>
                <a:ea typeface="Microsoft YaHei"/>
              </a:rPr>
              <a:t>数据库与结果文件</a:t>
            </a:r>
            <a:endParaRPr lang="zh-CN" sz="930"/>
          </a:p>
        </p:txBody>
      </p:sp>
      <p:sp>
        <p:nvSpPr>
          <p:cNvPr id="89" name="Line 89"/>
          <p:cNvSpPr/>
          <p:nvPr/>
        </p:nvSpPr>
        <p:spPr>
          <a:xfrm>
            <a:off x="2255520" y="5020056"/>
            <a:ext cx="2011679" cy="685"/>
          </a:xfrm>
          <a:prstGeom prst="line">
            <a:avLst/>
          </a:prstGeom>
          <a:ln w="10000">
            <a:solidFill>
              <a:srgbClr val="8B6CC8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5791200" y="5020056"/>
            <a:ext cx="3560064" cy="685"/>
          </a:xfrm>
          <a:prstGeom prst="line">
            <a:avLst/>
          </a:prstGeom>
          <a:ln w="10000">
            <a:solidFill>
              <a:srgbClr val="8B6CC8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182880" y="5589270"/>
            <a:ext cx="12070080" cy="109728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A6A6A6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92" name="Text 92"/>
          <p:cNvSpPr/>
          <p:nvPr/>
        </p:nvSpPr>
        <p:spPr>
          <a:xfrm>
            <a:off x="5364480" y="5657850"/>
            <a:ext cx="1463040" cy="27432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1400" b="1">
                <a:solidFill>
                  <a:srgbClr val="666666"/>
                </a:solidFill>
                <a:latin typeface="Aptos"/>
                <a:ea typeface="Microsoft YaHei"/>
              </a:rPr>
              <a:t>数据与文件存储层</a:t>
            </a:r>
            <a:endParaRPr lang="zh-CN" sz="1400"/>
          </a:p>
        </p:txBody>
      </p:sp>
      <p:sp>
        <p:nvSpPr>
          <p:cNvPr id="93" name="Shape 93"/>
          <p:cNvSpPr/>
          <p:nvPr/>
        </p:nvSpPr>
        <p:spPr>
          <a:xfrm>
            <a:off x="950976" y="5911596"/>
            <a:ext cx="2499360" cy="67208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B1B1B1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94" name="Text 94"/>
          <p:cNvSpPr/>
          <p:nvPr/>
        </p:nvSpPr>
        <p:spPr>
          <a:xfrm>
            <a:off x="1133856" y="6055614"/>
            <a:ext cx="48768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600" b="1">
                <a:solidFill>
                  <a:srgbClr val="858585"/>
                </a:solidFill>
                <a:latin typeface="Aptos"/>
                <a:ea typeface="Microsoft YaHei"/>
              </a:rPr>
              <a:t>◉</a:t>
            </a:r>
            <a:endParaRPr lang="zh-CN" sz="2600"/>
          </a:p>
        </p:txBody>
      </p:sp>
      <p:sp>
        <p:nvSpPr>
          <p:cNvPr id="95" name="Text 95"/>
          <p:cNvSpPr/>
          <p:nvPr/>
        </p:nvSpPr>
        <p:spPr>
          <a:xfrm>
            <a:off x="1731264" y="6055614"/>
            <a:ext cx="152400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Microsoft YaHei"/>
              </a:rPr>
              <a:t>SQLite 数据库：</a:t>
            </a:r>
            <a:endParaRPr lang="zh-CN" sz="980"/>
          </a:p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Microsoft YaHei"/>
              </a:rPr>
              <a:t>users、recognition_records</a:t>
            </a:r>
            <a:endParaRPr lang="zh-CN" sz="980"/>
          </a:p>
        </p:txBody>
      </p:sp>
      <p:sp>
        <p:nvSpPr>
          <p:cNvPr id="96" name="Shape 96"/>
          <p:cNvSpPr/>
          <p:nvPr/>
        </p:nvSpPr>
        <p:spPr>
          <a:xfrm>
            <a:off x="3694176" y="5911596"/>
            <a:ext cx="2499360" cy="67208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B1B1B1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97" name="Text 97"/>
          <p:cNvSpPr/>
          <p:nvPr/>
        </p:nvSpPr>
        <p:spPr>
          <a:xfrm>
            <a:off x="3877056" y="6055614"/>
            <a:ext cx="48768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600" b="1">
                <a:solidFill>
                  <a:srgbClr val="858585"/>
                </a:solidFill>
                <a:latin typeface="Aptos"/>
                <a:ea typeface="Microsoft YaHei"/>
              </a:rPr>
              <a:t>▰</a:t>
            </a:r>
            <a:endParaRPr lang="zh-CN" sz="2600"/>
          </a:p>
        </p:txBody>
      </p:sp>
      <p:sp>
        <p:nvSpPr>
          <p:cNvPr id="98" name="Text 98"/>
          <p:cNvSpPr/>
          <p:nvPr/>
        </p:nvSpPr>
        <p:spPr>
          <a:xfrm>
            <a:off x="4474464" y="6055614"/>
            <a:ext cx="152400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Microsoft YaHei"/>
              </a:rPr>
              <a:t>上传文件目录：</a:t>
            </a:r>
            <a:endParaRPr lang="zh-CN" sz="980"/>
          </a:p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Microsoft YaHei"/>
              </a:rPr>
              <a:t>backend/uploads</a:t>
            </a:r>
            <a:endParaRPr lang="zh-CN" sz="980"/>
          </a:p>
        </p:txBody>
      </p:sp>
      <p:sp>
        <p:nvSpPr>
          <p:cNvPr id="99" name="Shape 99"/>
          <p:cNvSpPr/>
          <p:nvPr/>
        </p:nvSpPr>
        <p:spPr>
          <a:xfrm>
            <a:off x="6437376" y="5911596"/>
            <a:ext cx="2499360" cy="67208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B1B1B1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100" name="Text 100"/>
          <p:cNvSpPr/>
          <p:nvPr/>
        </p:nvSpPr>
        <p:spPr>
          <a:xfrm>
            <a:off x="6620256" y="6055614"/>
            <a:ext cx="48768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600" b="1">
                <a:solidFill>
                  <a:srgbClr val="858585"/>
                </a:solidFill>
                <a:latin typeface="Aptos"/>
                <a:ea typeface="Microsoft YaHei"/>
              </a:rPr>
              <a:t>▰</a:t>
            </a:r>
            <a:endParaRPr lang="zh-CN" sz="2600"/>
          </a:p>
        </p:txBody>
      </p:sp>
      <p:sp>
        <p:nvSpPr>
          <p:cNvPr id="101" name="Text 101"/>
          <p:cNvSpPr/>
          <p:nvPr/>
        </p:nvSpPr>
        <p:spPr>
          <a:xfrm>
            <a:off x="7217664" y="6055614"/>
            <a:ext cx="152400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Microsoft YaHei"/>
              </a:rPr>
              <a:t>识别结果目录：</a:t>
            </a:r>
            <a:endParaRPr lang="zh-CN" sz="980"/>
          </a:p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Microsoft YaHei"/>
              </a:rPr>
              <a:t>backend/results</a:t>
            </a:r>
            <a:endParaRPr lang="zh-CN" sz="980"/>
          </a:p>
        </p:txBody>
      </p:sp>
      <p:sp>
        <p:nvSpPr>
          <p:cNvPr id="102" name="Shape 102"/>
          <p:cNvSpPr/>
          <p:nvPr/>
        </p:nvSpPr>
        <p:spPr>
          <a:xfrm>
            <a:off x="9180576" y="5911596"/>
            <a:ext cx="2499360" cy="67208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B1B1B1"/>
            </a:solidFill>
          </a:ln>
        </p:spPr>
        <p:txBody>
          <a:bodyPr anchor="mid" lIns="45720" tIns="22860" rIns="45720" bIns="22860" wrap="square"/>
          <a:lstStyle/>
          <a:p>
            <a:pPr algn="ctr"/>
            <a:r>
              <a:rPr lang="zh-CN" sz="1300">
                <a:solidFill>
                  <a:srgbClr val="1F2937"/>
                </a:solidFill>
                <a:latin typeface="Aptos"/>
                <a:ea typeface="Microsoft YaHei"/>
              </a:rPr>
              <a:t/>
            </a:r>
            <a:endParaRPr lang="zh-CN" sz="1300"/>
          </a:p>
        </p:txBody>
      </p:sp>
      <p:sp>
        <p:nvSpPr>
          <p:cNvPr id="103" name="Text 103"/>
          <p:cNvSpPr/>
          <p:nvPr/>
        </p:nvSpPr>
        <p:spPr>
          <a:xfrm>
            <a:off x="9363456" y="6055614"/>
            <a:ext cx="48768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ctr"/>
            <a:r>
              <a:rPr lang="zh-CN" sz="2600" b="1">
                <a:solidFill>
                  <a:srgbClr val="858585"/>
                </a:solidFill>
                <a:latin typeface="Aptos"/>
                <a:ea typeface="Microsoft YaHei"/>
              </a:rPr>
              <a:t>▧</a:t>
            </a:r>
            <a:endParaRPr lang="zh-CN" sz="2600"/>
          </a:p>
        </p:txBody>
      </p:sp>
      <p:sp>
        <p:nvSpPr>
          <p:cNvPr id="104" name="Text 104"/>
          <p:cNvSpPr/>
          <p:nvPr/>
        </p:nvSpPr>
        <p:spPr>
          <a:xfrm>
            <a:off x="9960864" y="6055614"/>
            <a:ext cx="1524000" cy="377190"/>
          </a:xfrm>
          <a:prstGeom prst="rect">
            <a:avLst/>
          </a:prstGeom>
          <a:noFill/>
          <a:ln w="0">
            <a:noFill/>
          </a:ln>
        </p:spPr>
        <p:txBody>
          <a:bodyPr anchor="mid" lIns="0" tIns="0" rIns="0" bIns="0" wrap="square"/>
          <a:lstStyle/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Microsoft YaHei"/>
              </a:rPr>
              <a:t>中间预处理图像：</a:t>
            </a:r>
            <a:endParaRPr lang="zh-CN" sz="980"/>
          </a:p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Microsoft YaHei"/>
              </a:rPr>
              <a:t>middle_image</a:t>
            </a:r>
            <a:endParaRPr lang="zh-CN" sz="980"/>
          </a:p>
        </p:txBody>
      </p:sp>
      <p:sp>
        <p:nvSpPr>
          <p:cNvPr id="105" name="Line 105"/>
          <p:cNvSpPr/>
          <p:nvPr/>
        </p:nvSpPr>
        <p:spPr>
          <a:xfrm>
            <a:off x="2194560" y="5266944"/>
            <a:ext cx="1219" cy="644651"/>
          </a:xfrm>
          <a:prstGeom prst="line">
            <a:avLst/>
          </a:prstGeom>
          <a:ln w="9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4937760" y="5170932"/>
            <a:ext cx="1219" cy="740663"/>
          </a:xfrm>
          <a:prstGeom prst="line">
            <a:avLst/>
          </a:prstGeom>
          <a:ln w="9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7644384" y="5266944"/>
            <a:ext cx="1219" cy="644651"/>
          </a:xfrm>
          <a:prstGeom prst="line">
            <a:avLst/>
          </a:prstGeom>
          <a:ln w="9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10009632" y="5170932"/>
            <a:ext cx="1219" cy="740663"/>
          </a:xfrm>
          <a:prstGeom prst="line">
            <a:avLst/>
          </a:prstGeom>
          <a:ln w="9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10180320" y="5170932"/>
            <a:ext cx="1219" cy="740663"/>
          </a:xfrm>
          <a:prstGeom prst="line">
            <a:avLst/>
          </a:prstGeom>
          <a:ln w="9000">
            <a:solidFill>
              <a:srgbClr val="8B6CC8"/>
            </a:solidFill>
            <a:prstDash val="dash"/>
            <a:tailEnd type="triangle"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472C4"/>
      </a:accent1>
      <a:accent2>
        <a:srgbClr val="70AD47"/>
      </a:accent2>
      <a:accent3>
        <a:srgbClr val="ED7D31"/>
      </a:accent3>
      <a:accent4>
        <a:srgbClr val="8064A2"/>
      </a:accent4>
      <a:accent5>
        <a:srgbClr val="5B9BD5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