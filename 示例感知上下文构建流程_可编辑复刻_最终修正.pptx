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3679424" cy="7022592" type="custom"/>
  <p:notesSz cx="6858000" cy="9144000"/>
  <p:defaultTextStyle>
    <a:defPPr>
      <a:defRPr lang="zh-CN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219456" y="137160"/>
            <a:ext cx="1682496" cy="5513832"/>
          </a:xfrm>
          <a:prstGeom prst="roundRect">
            <a:avLst/>
          </a:prstGeom>
          <a:solidFill>
            <a:srgbClr val="FAFAFA"/>
          </a:solidFill>
          <a:ln w="16510">
            <a:solidFill>
              <a:srgbClr val="7B7F87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" name="Shape 3"/>
          <p:cNvSpPr txBox="1"/>
          <p:nvPr/>
        </p:nvSpPr>
        <p:spPr>
          <a:xfrm>
            <a:off x="338328" y="338328"/>
            <a:ext cx="1417320" cy="832104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4" name="Shape 4"/>
          <p:cNvSpPr txBox="1"/>
          <p:nvPr/>
        </p:nvSpPr>
        <p:spPr>
          <a:xfrm>
            <a:off x="338328" y="338328"/>
            <a:ext cx="1417320" cy="166421"/>
          </a:xfrm>
          <a:prstGeom prst="rect">
            <a:avLst/>
          </a:prstGeom>
          <a:solidFill>
            <a:srgbClr val="EEF2F7"/>
          </a:solidFill>
          <a:ln w="3810">
            <a:solidFill>
              <a:srgbClr val="6B7280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5" name="Shape 5"/>
          <p:cNvSpPr txBox="1"/>
          <p:nvPr/>
        </p:nvSpPr>
        <p:spPr>
          <a:xfrm>
            <a:off x="338328" y="338328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产品类别</a:t>
            </a:r>
            <a:endParaRPr lang="zh-CN" sz="490"/>
          </a:p>
        </p:txBody>
      </p:sp>
      <p:sp>
        <p:nvSpPr>
          <p:cNvPr id="6" name="Shape 6"/>
          <p:cNvSpPr txBox="1"/>
          <p:nvPr/>
        </p:nvSpPr>
        <p:spPr>
          <a:xfrm>
            <a:off x="692658" y="338328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2023年</a:t>
            </a:r>
            <a:endParaRPr lang="zh-CN" sz="490"/>
          </a:p>
        </p:txBody>
      </p:sp>
      <p:sp>
        <p:nvSpPr>
          <p:cNvPr id="7" name="Shape 7"/>
          <p:cNvSpPr txBox="1"/>
          <p:nvPr/>
        </p:nvSpPr>
        <p:spPr>
          <a:xfrm>
            <a:off x="1046988" y="338328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2024年</a:t>
            </a:r>
            <a:endParaRPr lang="zh-CN" sz="490"/>
          </a:p>
        </p:txBody>
      </p:sp>
      <p:sp>
        <p:nvSpPr>
          <p:cNvPr id="8" name="Shape 8"/>
          <p:cNvSpPr txBox="1"/>
          <p:nvPr/>
        </p:nvSpPr>
        <p:spPr>
          <a:xfrm>
            <a:off x="1401318" y="338328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  <a:endParaRPr lang="zh-CN" sz="490"/>
          </a:p>
        </p:txBody>
      </p:sp>
      <p:sp>
        <p:nvSpPr>
          <p:cNvPr id="9" name="Shape 9"/>
          <p:cNvSpPr txBox="1"/>
          <p:nvPr/>
        </p:nvSpPr>
        <p:spPr>
          <a:xfrm>
            <a:off x="338328" y="504749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电子产品</a:t>
            </a:r>
            <a:endParaRPr lang="zh-CN" sz="490"/>
          </a:p>
        </p:txBody>
      </p:sp>
      <p:sp>
        <p:nvSpPr>
          <p:cNvPr id="10" name="Shape 10"/>
          <p:cNvSpPr txBox="1"/>
          <p:nvPr/>
        </p:nvSpPr>
        <p:spPr>
          <a:xfrm>
            <a:off x="692658" y="504749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120</a:t>
            </a:r>
            <a:endParaRPr lang="zh-CN" sz="490"/>
          </a:p>
        </p:txBody>
      </p:sp>
      <p:sp>
        <p:nvSpPr>
          <p:cNvPr id="11" name="Shape 11"/>
          <p:cNvSpPr txBox="1"/>
          <p:nvPr/>
        </p:nvSpPr>
        <p:spPr>
          <a:xfrm>
            <a:off x="1046988" y="504749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150</a:t>
            </a:r>
            <a:endParaRPr lang="zh-CN" sz="490"/>
          </a:p>
        </p:txBody>
      </p:sp>
      <p:sp>
        <p:nvSpPr>
          <p:cNvPr id="12" name="Shape 12"/>
          <p:cNvSpPr txBox="1"/>
          <p:nvPr/>
        </p:nvSpPr>
        <p:spPr>
          <a:xfrm>
            <a:off x="1401318" y="504749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25%</a:t>
            </a:r>
            <a:endParaRPr lang="zh-CN" sz="490"/>
          </a:p>
        </p:txBody>
      </p:sp>
      <p:cxnSp>
        <p:nvCxnSpPr>
          <p:cNvPr id="13" name="Connector 13"/>
          <p:cNvCxnSpPr/>
          <p:nvPr/>
        </p:nvCxnSpPr>
        <p:spPr>
          <a:xfrm>
            <a:off x="338328" y="504749"/>
            <a:ext cx="141732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14" name="Shape 14"/>
          <p:cNvSpPr txBox="1"/>
          <p:nvPr/>
        </p:nvSpPr>
        <p:spPr>
          <a:xfrm>
            <a:off x="338328" y="67117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家用电器</a:t>
            </a:r>
            <a:endParaRPr lang="zh-CN" sz="490"/>
          </a:p>
        </p:txBody>
      </p:sp>
      <p:sp>
        <p:nvSpPr>
          <p:cNvPr id="15" name="Shape 15"/>
          <p:cNvSpPr txBox="1"/>
          <p:nvPr/>
        </p:nvSpPr>
        <p:spPr>
          <a:xfrm>
            <a:off x="692658" y="67117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80</a:t>
            </a:r>
            <a:endParaRPr lang="zh-CN" sz="490"/>
          </a:p>
        </p:txBody>
      </p:sp>
      <p:sp>
        <p:nvSpPr>
          <p:cNvPr id="16" name="Shape 16"/>
          <p:cNvSpPr txBox="1"/>
          <p:nvPr/>
        </p:nvSpPr>
        <p:spPr>
          <a:xfrm>
            <a:off x="1046988" y="67117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92</a:t>
            </a:r>
            <a:endParaRPr lang="zh-CN" sz="490"/>
          </a:p>
        </p:txBody>
      </p:sp>
      <p:sp>
        <p:nvSpPr>
          <p:cNvPr id="17" name="Shape 17"/>
          <p:cNvSpPr txBox="1"/>
          <p:nvPr/>
        </p:nvSpPr>
        <p:spPr>
          <a:xfrm>
            <a:off x="1401318" y="67117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15%</a:t>
            </a:r>
            <a:endParaRPr lang="zh-CN" sz="490"/>
          </a:p>
        </p:txBody>
      </p:sp>
      <p:cxnSp>
        <p:nvCxnSpPr>
          <p:cNvPr id="18" name="Connector 18"/>
          <p:cNvCxnSpPr/>
          <p:nvPr/>
        </p:nvCxnSpPr>
        <p:spPr>
          <a:xfrm>
            <a:off x="338328" y="671170"/>
            <a:ext cx="141732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19" name="Shape 19"/>
          <p:cNvSpPr txBox="1"/>
          <p:nvPr/>
        </p:nvSpPr>
        <p:spPr>
          <a:xfrm>
            <a:off x="338328" y="83759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办公用品</a:t>
            </a:r>
            <a:endParaRPr lang="zh-CN" sz="490"/>
          </a:p>
        </p:txBody>
      </p:sp>
      <p:sp>
        <p:nvSpPr>
          <p:cNvPr id="20" name="Shape 20"/>
          <p:cNvSpPr txBox="1"/>
          <p:nvPr/>
        </p:nvSpPr>
        <p:spPr>
          <a:xfrm>
            <a:off x="692658" y="83759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60</a:t>
            </a:r>
            <a:endParaRPr lang="zh-CN" sz="490"/>
          </a:p>
        </p:txBody>
      </p:sp>
      <p:sp>
        <p:nvSpPr>
          <p:cNvPr id="21" name="Shape 21"/>
          <p:cNvSpPr txBox="1"/>
          <p:nvPr/>
        </p:nvSpPr>
        <p:spPr>
          <a:xfrm>
            <a:off x="1046988" y="83759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70</a:t>
            </a:r>
            <a:endParaRPr lang="zh-CN" sz="490"/>
          </a:p>
        </p:txBody>
      </p:sp>
      <p:sp>
        <p:nvSpPr>
          <p:cNvPr id="22" name="Shape 22"/>
          <p:cNvSpPr txBox="1"/>
          <p:nvPr/>
        </p:nvSpPr>
        <p:spPr>
          <a:xfrm>
            <a:off x="1401318" y="837590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17%</a:t>
            </a:r>
            <a:endParaRPr lang="zh-CN" sz="490"/>
          </a:p>
        </p:txBody>
      </p:sp>
      <p:cxnSp>
        <p:nvCxnSpPr>
          <p:cNvPr id="23" name="Connector 23"/>
          <p:cNvCxnSpPr/>
          <p:nvPr/>
        </p:nvCxnSpPr>
        <p:spPr>
          <a:xfrm>
            <a:off x="338328" y="837590"/>
            <a:ext cx="141732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24" name="Shape 24"/>
          <p:cNvSpPr txBox="1"/>
          <p:nvPr/>
        </p:nvSpPr>
        <p:spPr>
          <a:xfrm>
            <a:off x="338328" y="1004011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合计</a:t>
            </a:r>
            <a:endParaRPr lang="zh-CN" sz="490"/>
          </a:p>
        </p:txBody>
      </p:sp>
      <p:sp>
        <p:nvSpPr>
          <p:cNvPr id="25" name="Shape 25"/>
          <p:cNvSpPr txBox="1"/>
          <p:nvPr/>
        </p:nvSpPr>
        <p:spPr>
          <a:xfrm>
            <a:off x="692658" y="1004011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260</a:t>
            </a:r>
            <a:endParaRPr lang="zh-CN" sz="490"/>
          </a:p>
        </p:txBody>
      </p:sp>
      <p:sp>
        <p:nvSpPr>
          <p:cNvPr id="26" name="Shape 26"/>
          <p:cNvSpPr txBox="1"/>
          <p:nvPr/>
        </p:nvSpPr>
        <p:spPr>
          <a:xfrm>
            <a:off x="1046988" y="1004011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312</a:t>
            </a:r>
            <a:endParaRPr lang="zh-CN" sz="490"/>
          </a:p>
        </p:txBody>
      </p:sp>
      <p:sp>
        <p:nvSpPr>
          <p:cNvPr id="27" name="Shape 27"/>
          <p:cNvSpPr txBox="1"/>
          <p:nvPr/>
        </p:nvSpPr>
        <p:spPr>
          <a:xfrm>
            <a:off x="1401318" y="1004011"/>
            <a:ext cx="354330" cy="16642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9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20%</a:t>
            </a:r>
            <a:endParaRPr lang="zh-CN" sz="490"/>
          </a:p>
        </p:txBody>
      </p:sp>
      <p:cxnSp>
        <p:nvCxnSpPr>
          <p:cNvPr id="28" name="Connector 28"/>
          <p:cNvCxnSpPr/>
          <p:nvPr/>
        </p:nvCxnSpPr>
        <p:spPr>
          <a:xfrm>
            <a:off x="338328" y="1004011"/>
            <a:ext cx="141732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cxnSp>
        <p:nvCxnSpPr>
          <p:cNvPr id="29" name="Connector 29"/>
          <p:cNvCxnSpPr/>
          <p:nvPr/>
        </p:nvCxnSpPr>
        <p:spPr>
          <a:xfrm>
            <a:off x="692658" y="338328"/>
            <a:ext cx="914" cy="83210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cxnSp>
        <p:nvCxnSpPr>
          <p:cNvPr id="30" name="Connector 30"/>
          <p:cNvCxnSpPr/>
          <p:nvPr/>
        </p:nvCxnSpPr>
        <p:spPr>
          <a:xfrm>
            <a:off x="1046988" y="338328"/>
            <a:ext cx="914" cy="83210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cxnSp>
        <p:nvCxnSpPr>
          <p:cNvPr id="31" name="Connector 31"/>
          <p:cNvCxnSpPr/>
          <p:nvPr/>
        </p:nvCxnSpPr>
        <p:spPr>
          <a:xfrm>
            <a:off x="1401318" y="338328"/>
            <a:ext cx="914" cy="83210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310896" y="1362456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3" name="Shape 33"/>
          <p:cNvSpPr txBox="1"/>
          <p:nvPr/>
        </p:nvSpPr>
        <p:spPr>
          <a:xfrm>
            <a:off x="411480" y="1435608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5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▧</a:t>
            </a:r>
            <a:endParaRPr lang="zh-CN" sz="1500"/>
          </a:p>
        </p:txBody>
      </p:sp>
      <p:sp>
        <p:nvSpPr>
          <p:cNvPr id="34" name="Shape 34"/>
          <p:cNvSpPr txBox="1"/>
          <p:nvPr/>
        </p:nvSpPr>
        <p:spPr>
          <a:xfrm>
            <a:off x="740664" y="1481328"/>
            <a:ext cx="896112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预处理后表格图像</a:t>
            </a:r>
            <a:endParaRPr lang="zh-CN" sz="1000"/>
          </a:p>
        </p:txBody>
      </p:sp>
      <p:cxnSp>
        <p:nvCxnSpPr>
          <p:cNvPr id="35" name="Connector 35"/>
          <p:cNvCxnSpPr/>
          <p:nvPr/>
        </p:nvCxnSpPr>
        <p:spPr>
          <a:xfrm>
            <a:off x="1051560" y="1773936"/>
            <a:ext cx="914" cy="320040"/>
          </a:xfrm>
          <a:prstGeom prst="straightConnector1">
            <a:avLst/>
          </a:prstGeom>
          <a:ln w="19050" cap="round">
            <a:solidFill>
              <a:srgbClr val="4B5563"/>
            </a:solidFill>
            <a:tailEnd type="triangle"/>
          </a:ln>
        </p:spPr>
      </p:cxnSp>
      <p:sp>
        <p:nvSpPr>
          <p:cNvPr id="36" name="Shape 36"/>
          <p:cNvSpPr txBox="1"/>
          <p:nvPr/>
        </p:nvSpPr>
        <p:spPr>
          <a:xfrm>
            <a:off x="310896" y="2103120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7" name="Shape 37"/>
          <p:cNvSpPr txBox="1"/>
          <p:nvPr/>
        </p:nvSpPr>
        <p:spPr>
          <a:xfrm>
            <a:off x="411480" y="2176272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5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▦</a:t>
            </a:r>
            <a:endParaRPr lang="zh-CN" sz="1500"/>
          </a:p>
        </p:txBody>
      </p:sp>
      <p:sp>
        <p:nvSpPr>
          <p:cNvPr id="38" name="Shape 38"/>
          <p:cNvSpPr txBox="1"/>
          <p:nvPr/>
        </p:nvSpPr>
        <p:spPr>
          <a:xfrm>
            <a:off x="740664" y="2221992"/>
            <a:ext cx="896112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视觉特征提取</a:t>
            </a:r>
            <a:endParaRPr lang="zh-CN" sz="1000"/>
          </a:p>
        </p:txBody>
      </p:sp>
      <p:cxnSp>
        <p:nvCxnSpPr>
          <p:cNvPr id="39" name="Connector 39"/>
          <p:cNvCxnSpPr/>
          <p:nvPr/>
        </p:nvCxnSpPr>
        <p:spPr>
          <a:xfrm>
            <a:off x="1051560" y="2514600"/>
            <a:ext cx="914" cy="320040"/>
          </a:xfrm>
          <a:prstGeom prst="straightConnector1">
            <a:avLst/>
          </a:prstGeom>
          <a:ln w="19050" cap="round">
            <a:solidFill>
              <a:srgbClr val="4B5563"/>
            </a:solidFill>
            <a:tailEnd type="triangle"/>
          </a:ln>
        </p:spPr>
      </p:cxnSp>
      <p:sp>
        <p:nvSpPr>
          <p:cNvPr id="40" name="Shape 40"/>
          <p:cNvSpPr txBox="1"/>
          <p:nvPr/>
        </p:nvSpPr>
        <p:spPr>
          <a:xfrm>
            <a:off x="310896" y="2843784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41" name="Shape 41"/>
          <p:cNvSpPr txBox="1"/>
          <p:nvPr/>
        </p:nvSpPr>
        <p:spPr>
          <a:xfrm>
            <a:off x="411480" y="2916936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5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○</a:t>
            </a:r>
            <a:endParaRPr lang="zh-CN" sz="1500"/>
          </a:p>
        </p:txBody>
      </p:sp>
      <p:sp>
        <p:nvSpPr>
          <p:cNvPr id="42" name="Shape 42"/>
          <p:cNvSpPr txBox="1"/>
          <p:nvPr/>
        </p:nvSpPr>
        <p:spPr>
          <a:xfrm>
            <a:off x="740664" y="2962656"/>
            <a:ext cx="896112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示例检索选择</a:t>
            </a:r>
            <a:endParaRPr lang="zh-CN" sz="1000"/>
          </a:p>
        </p:txBody>
      </p:sp>
      <p:cxnSp>
        <p:nvCxnSpPr>
          <p:cNvPr id="43" name="Connector 43"/>
          <p:cNvCxnSpPr/>
          <p:nvPr/>
        </p:nvCxnSpPr>
        <p:spPr>
          <a:xfrm>
            <a:off x="1051560" y="3255264"/>
            <a:ext cx="914" cy="320040"/>
          </a:xfrm>
          <a:prstGeom prst="straightConnector1">
            <a:avLst/>
          </a:prstGeom>
          <a:ln w="19050" cap="round">
            <a:solidFill>
              <a:srgbClr val="4B5563"/>
            </a:solidFill>
            <a:tailEnd type="triangle"/>
          </a:ln>
        </p:spPr>
      </p:cxnSp>
      <p:sp>
        <p:nvSpPr>
          <p:cNvPr id="44" name="Shape 44"/>
          <p:cNvSpPr txBox="1"/>
          <p:nvPr/>
        </p:nvSpPr>
        <p:spPr>
          <a:xfrm>
            <a:off x="310896" y="3584448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45" name="Shape 45"/>
          <p:cNvSpPr txBox="1"/>
          <p:nvPr/>
        </p:nvSpPr>
        <p:spPr>
          <a:xfrm>
            <a:off x="411480" y="3657600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5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▤</a:t>
            </a:r>
            <a:endParaRPr lang="zh-CN" sz="1500"/>
          </a:p>
        </p:txBody>
      </p:sp>
      <p:sp>
        <p:nvSpPr>
          <p:cNvPr id="46" name="Shape 46"/>
          <p:cNvSpPr txBox="1"/>
          <p:nvPr/>
        </p:nvSpPr>
        <p:spPr>
          <a:xfrm>
            <a:off x="740664" y="3703320"/>
            <a:ext cx="896112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提示构造</a:t>
            </a:r>
            <a:endParaRPr lang="zh-CN" sz="1000"/>
          </a:p>
        </p:txBody>
      </p:sp>
      <p:cxnSp>
        <p:nvCxnSpPr>
          <p:cNvPr id="47" name="Connector 47"/>
          <p:cNvCxnSpPr/>
          <p:nvPr/>
        </p:nvCxnSpPr>
        <p:spPr>
          <a:xfrm>
            <a:off x="1051560" y="3995928"/>
            <a:ext cx="914" cy="320040"/>
          </a:xfrm>
          <a:prstGeom prst="straightConnector1">
            <a:avLst/>
          </a:prstGeom>
          <a:ln w="19050" cap="round">
            <a:solidFill>
              <a:srgbClr val="4B5563"/>
            </a:solidFill>
            <a:tailEnd type="triangle"/>
          </a:ln>
        </p:spPr>
      </p:cxnSp>
      <p:sp>
        <p:nvSpPr>
          <p:cNvPr id="48" name="Shape 48"/>
          <p:cNvSpPr txBox="1"/>
          <p:nvPr/>
        </p:nvSpPr>
        <p:spPr>
          <a:xfrm>
            <a:off x="310896" y="4325112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49" name="Shape 49"/>
          <p:cNvSpPr txBox="1"/>
          <p:nvPr/>
        </p:nvSpPr>
        <p:spPr>
          <a:xfrm>
            <a:off x="411480" y="4398264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5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lang="zh-CN" sz="1500"/>
          </a:p>
        </p:txBody>
      </p:sp>
      <p:sp>
        <p:nvSpPr>
          <p:cNvPr id="50" name="Shape 50"/>
          <p:cNvSpPr txBox="1"/>
          <p:nvPr/>
        </p:nvSpPr>
        <p:spPr>
          <a:xfrm>
            <a:off x="740664" y="4443984"/>
            <a:ext cx="896112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结构识别</a:t>
            </a:r>
            <a:endParaRPr lang="zh-CN" sz="1000"/>
          </a:p>
        </p:txBody>
      </p:sp>
      <p:cxnSp>
        <p:nvCxnSpPr>
          <p:cNvPr id="51" name="Connector 51"/>
          <p:cNvCxnSpPr/>
          <p:nvPr/>
        </p:nvCxnSpPr>
        <p:spPr>
          <a:xfrm>
            <a:off x="1051560" y="4736592"/>
            <a:ext cx="914" cy="320040"/>
          </a:xfrm>
          <a:prstGeom prst="straightConnector1">
            <a:avLst/>
          </a:prstGeom>
          <a:ln w="19050" cap="round">
            <a:solidFill>
              <a:srgbClr val="4B5563"/>
            </a:solidFill>
            <a:tailEnd type="triangle"/>
          </a:ln>
        </p:spPr>
      </p:cxnSp>
      <p:sp>
        <p:nvSpPr>
          <p:cNvPr id="52" name="Shape 52"/>
          <p:cNvSpPr txBox="1"/>
          <p:nvPr/>
        </p:nvSpPr>
        <p:spPr>
          <a:xfrm>
            <a:off x="310896" y="5065776"/>
            <a:ext cx="1481328" cy="411480"/>
          </a:xfrm>
          <a:prstGeom prst="roundRect">
            <a:avLst/>
          </a:prstGeom>
          <a:solidFill>
            <a:srgbClr val="F9FAFB"/>
          </a:solidFill>
          <a:ln w="12700">
            <a:solidFill>
              <a:srgbClr val="9AA0A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53" name="Shape 53"/>
          <p:cNvSpPr txBox="1"/>
          <p:nvPr/>
        </p:nvSpPr>
        <p:spPr>
          <a:xfrm>
            <a:off x="411480" y="5138928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500" b="1">
                <a:solidFill>
                  <a:srgbClr val="263238"/>
                </a:solidFill>
                <a:latin typeface="Microsoft YaHei"/>
                <a:ea typeface="Microsoft YaHei"/>
                <a:cs typeface="Microsoft YaHei"/>
              </a:rPr>
              <a:t>▣</a:t>
            </a:r>
            <a:endParaRPr lang="zh-CN" sz="1500"/>
          </a:p>
        </p:txBody>
      </p:sp>
      <p:sp>
        <p:nvSpPr>
          <p:cNvPr id="54" name="Shape 54"/>
          <p:cNvSpPr txBox="1"/>
          <p:nvPr/>
        </p:nvSpPr>
        <p:spPr>
          <a:xfrm>
            <a:off x="740664" y="5184648"/>
            <a:ext cx="896112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1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结构化输出</a:t>
            </a:r>
            <a:endParaRPr lang="zh-CN" sz="1000"/>
          </a:p>
        </p:txBody>
      </p:sp>
      <p:cxnSp>
        <p:nvCxnSpPr>
          <p:cNvPr id="55" name="Connector 55"/>
          <p:cNvCxnSpPr/>
          <p:nvPr/>
        </p:nvCxnSpPr>
        <p:spPr>
          <a:xfrm>
            <a:off x="1901952" y="2734056"/>
            <a:ext cx="301752" cy="914"/>
          </a:xfrm>
          <a:prstGeom prst="straightConnector1">
            <a:avLst/>
          </a:prstGeom>
          <a:ln w="25400" cap="round">
            <a:solidFill>
              <a:srgbClr val="4B5563"/>
            </a:solidFill>
            <a:tailEnd type="triangle"/>
          </a:ln>
        </p:spPr>
      </p:cxnSp>
      <p:cxnSp>
        <p:nvCxnSpPr>
          <p:cNvPr id="56" name="Connector 56"/>
          <p:cNvCxnSpPr/>
          <p:nvPr/>
        </p:nvCxnSpPr>
        <p:spPr>
          <a:xfrm>
            <a:off x="1060704" y="5650992"/>
            <a:ext cx="914" cy="740664"/>
          </a:xfrm>
          <a:prstGeom prst="straightConnector1">
            <a:avLst/>
          </a:prstGeom>
          <a:ln w="15240" cap="round">
            <a:solidFill>
              <a:srgbClr val="6B4BB3"/>
            </a:solidFill>
            <a:prstDash val="dash"/>
          </a:ln>
        </p:spPr>
      </p:cxnSp>
      <p:cxnSp>
        <p:nvCxnSpPr>
          <p:cNvPr id="57" name="Connector 57"/>
          <p:cNvCxnSpPr/>
          <p:nvPr/>
        </p:nvCxnSpPr>
        <p:spPr>
          <a:xfrm>
            <a:off x="1060704" y="6391656"/>
            <a:ext cx="2185416" cy="914"/>
          </a:xfrm>
          <a:prstGeom prst="straightConnector1">
            <a:avLst/>
          </a:prstGeom>
          <a:ln w="15240" cap="round">
            <a:solidFill>
              <a:srgbClr val="6B4BB3"/>
            </a:solidFill>
            <a:prstDash val="dash"/>
            <a:tailEnd type="triangle"/>
          </a:ln>
        </p:spPr>
      </p:cxnSp>
      <p:sp>
        <p:nvSpPr>
          <p:cNvPr id="58" name="Shape 58"/>
          <p:cNvSpPr txBox="1"/>
          <p:nvPr/>
        </p:nvSpPr>
        <p:spPr>
          <a:xfrm>
            <a:off x="2249424" y="137160"/>
            <a:ext cx="5394960" cy="5522976"/>
          </a:xfrm>
          <a:prstGeom prst="roundRect">
            <a:avLst/>
          </a:prstGeom>
          <a:solidFill>
            <a:srgbClr val="F4F9FF"/>
          </a:solidFill>
          <a:ln w="15875">
            <a:solidFill>
              <a:srgbClr val="87B5F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59" name="Shape 59"/>
          <p:cNvSpPr txBox="1"/>
          <p:nvPr/>
        </p:nvSpPr>
        <p:spPr>
          <a:xfrm>
            <a:off x="3346704" y="246888"/>
            <a:ext cx="3127248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60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1 示例感知与上下文构建</a:t>
            </a:r>
            <a:endParaRPr lang="zh-CN" sz="1600"/>
          </a:p>
        </p:txBody>
      </p:sp>
      <p:sp>
        <p:nvSpPr>
          <p:cNvPr id="60" name="Shape 60"/>
          <p:cNvSpPr txBox="1"/>
          <p:nvPr/>
        </p:nvSpPr>
        <p:spPr>
          <a:xfrm>
            <a:off x="2359152" y="548640"/>
            <a:ext cx="5120640" cy="3118104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2764BD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61" name="Shape 61"/>
          <p:cNvSpPr txBox="1"/>
          <p:nvPr/>
        </p:nvSpPr>
        <p:spPr>
          <a:xfrm>
            <a:off x="3758184" y="694944"/>
            <a:ext cx="22860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38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1.1 表格视觉特征提取</a:t>
            </a:r>
            <a:endParaRPr lang="zh-CN" sz="1380"/>
          </a:p>
        </p:txBody>
      </p:sp>
      <p:sp>
        <p:nvSpPr>
          <p:cNvPr id="62" name="Shape 62"/>
          <p:cNvSpPr txBox="1"/>
          <p:nvPr/>
        </p:nvSpPr>
        <p:spPr>
          <a:xfrm>
            <a:off x="2761488" y="1051560"/>
            <a:ext cx="1143000" cy="905256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63" name="Shape 63"/>
          <p:cNvSpPr txBox="1"/>
          <p:nvPr/>
        </p:nvSpPr>
        <p:spPr>
          <a:xfrm>
            <a:off x="2761488" y="1051560"/>
            <a:ext cx="1143000" cy="181051"/>
          </a:xfrm>
          <a:prstGeom prst="rect">
            <a:avLst/>
          </a:prstGeom>
          <a:solidFill>
            <a:srgbClr val="EEF2F7"/>
          </a:solidFill>
          <a:ln w="3810">
            <a:solidFill>
              <a:srgbClr val="6B7280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64" name="Shape 64"/>
          <p:cNvSpPr txBox="1"/>
          <p:nvPr/>
        </p:nvSpPr>
        <p:spPr>
          <a:xfrm>
            <a:off x="2761488" y="1051560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产品类别</a:t>
            </a:r>
            <a:endParaRPr lang="zh-CN" sz="440"/>
          </a:p>
        </p:txBody>
      </p:sp>
      <p:sp>
        <p:nvSpPr>
          <p:cNvPr id="65" name="Shape 65"/>
          <p:cNvSpPr txBox="1"/>
          <p:nvPr/>
        </p:nvSpPr>
        <p:spPr>
          <a:xfrm>
            <a:off x="3047238" y="1051560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2023年</a:t>
            </a:r>
            <a:endParaRPr lang="zh-CN" sz="440"/>
          </a:p>
        </p:txBody>
      </p:sp>
      <p:sp>
        <p:nvSpPr>
          <p:cNvPr id="66" name="Shape 66"/>
          <p:cNvSpPr txBox="1"/>
          <p:nvPr/>
        </p:nvSpPr>
        <p:spPr>
          <a:xfrm>
            <a:off x="3332988" y="1051560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2024年</a:t>
            </a:r>
            <a:endParaRPr lang="zh-CN" sz="440"/>
          </a:p>
        </p:txBody>
      </p:sp>
      <p:sp>
        <p:nvSpPr>
          <p:cNvPr id="67" name="Shape 67"/>
          <p:cNvSpPr txBox="1"/>
          <p:nvPr/>
        </p:nvSpPr>
        <p:spPr>
          <a:xfrm>
            <a:off x="3618738" y="1051560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同比增长</a:t>
            </a:r>
            <a:endParaRPr lang="zh-CN" sz="440"/>
          </a:p>
        </p:txBody>
      </p:sp>
      <p:sp>
        <p:nvSpPr>
          <p:cNvPr id="68" name="Shape 68"/>
          <p:cNvSpPr txBox="1"/>
          <p:nvPr/>
        </p:nvSpPr>
        <p:spPr>
          <a:xfrm>
            <a:off x="2761488" y="1232611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电子产品</a:t>
            </a:r>
            <a:endParaRPr lang="zh-CN" sz="440"/>
          </a:p>
        </p:txBody>
      </p:sp>
      <p:sp>
        <p:nvSpPr>
          <p:cNvPr id="69" name="Shape 69"/>
          <p:cNvSpPr txBox="1"/>
          <p:nvPr/>
        </p:nvSpPr>
        <p:spPr>
          <a:xfrm>
            <a:off x="3047238" y="1232611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120</a:t>
            </a:r>
            <a:endParaRPr lang="zh-CN" sz="440"/>
          </a:p>
        </p:txBody>
      </p:sp>
      <p:sp>
        <p:nvSpPr>
          <p:cNvPr id="70" name="Shape 70"/>
          <p:cNvSpPr txBox="1"/>
          <p:nvPr/>
        </p:nvSpPr>
        <p:spPr>
          <a:xfrm>
            <a:off x="3332988" y="1232611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150</a:t>
            </a:r>
            <a:endParaRPr lang="zh-CN" sz="440"/>
          </a:p>
        </p:txBody>
      </p:sp>
      <p:sp>
        <p:nvSpPr>
          <p:cNvPr id="71" name="Shape 71"/>
          <p:cNvSpPr txBox="1"/>
          <p:nvPr/>
        </p:nvSpPr>
        <p:spPr>
          <a:xfrm>
            <a:off x="3618738" y="1232611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25%</a:t>
            </a:r>
            <a:endParaRPr lang="zh-CN" sz="440"/>
          </a:p>
        </p:txBody>
      </p:sp>
      <p:cxnSp>
        <p:nvCxnSpPr>
          <p:cNvPr id="72" name="Connector 72"/>
          <p:cNvCxnSpPr/>
          <p:nvPr/>
        </p:nvCxnSpPr>
        <p:spPr>
          <a:xfrm>
            <a:off x="2761488" y="1232611"/>
            <a:ext cx="114300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73" name="Shape 73"/>
          <p:cNvSpPr txBox="1"/>
          <p:nvPr/>
        </p:nvSpPr>
        <p:spPr>
          <a:xfrm>
            <a:off x="2761488" y="1413662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家用电器</a:t>
            </a:r>
            <a:endParaRPr lang="zh-CN" sz="440"/>
          </a:p>
        </p:txBody>
      </p:sp>
      <p:sp>
        <p:nvSpPr>
          <p:cNvPr id="74" name="Shape 74"/>
          <p:cNvSpPr txBox="1"/>
          <p:nvPr/>
        </p:nvSpPr>
        <p:spPr>
          <a:xfrm>
            <a:off x="3047238" y="1413662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80</a:t>
            </a:r>
            <a:endParaRPr lang="zh-CN" sz="440"/>
          </a:p>
        </p:txBody>
      </p:sp>
      <p:sp>
        <p:nvSpPr>
          <p:cNvPr id="75" name="Shape 75"/>
          <p:cNvSpPr txBox="1"/>
          <p:nvPr/>
        </p:nvSpPr>
        <p:spPr>
          <a:xfrm>
            <a:off x="3332988" y="1413662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92</a:t>
            </a:r>
            <a:endParaRPr lang="zh-CN" sz="440"/>
          </a:p>
        </p:txBody>
      </p:sp>
      <p:sp>
        <p:nvSpPr>
          <p:cNvPr id="76" name="Shape 76"/>
          <p:cNvSpPr txBox="1"/>
          <p:nvPr/>
        </p:nvSpPr>
        <p:spPr>
          <a:xfrm>
            <a:off x="3618738" y="1413662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15%</a:t>
            </a:r>
            <a:endParaRPr lang="zh-CN" sz="440"/>
          </a:p>
        </p:txBody>
      </p:sp>
      <p:cxnSp>
        <p:nvCxnSpPr>
          <p:cNvPr id="77" name="Connector 77"/>
          <p:cNvCxnSpPr/>
          <p:nvPr/>
        </p:nvCxnSpPr>
        <p:spPr>
          <a:xfrm>
            <a:off x="2761488" y="1413662"/>
            <a:ext cx="114300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78" name="Shape 78"/>
          <p:cNvSpPr txBox="1"/>
          <p:nvPr/>
        </p:nvSpPr>
        <p:spPr>
          <a:xfrm>
            <a:off x="2761488" y="1594714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办公用品</a:t>
            </a:r>
            <a:endParaRPr lang="zh-CN" sz="440"/>
          </a:p>
        </p:txBody>
      </p:sp>
      <p:sp>
        <p:nvSpPr>
          <p:cNvPr id="79" name="Shape 79"/>
          <p:cNvSpPr txBox="1"/>
          <p:nvPr/>
        </p:nvSpPr>
        <p:spPr>
          <a:xfrm>
            <a:off x="3047238" y="1594714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60</a:t>
            </a:r>
            <a:endParaRPr lang="zh-CN" sz="440"/>
          </a:p>
        </p:txBody>
      </p:sp>
      <p:sp>
        <p:nvSpPr>
          <p:cNvPr id="80" name="Shape 80"/>
          <p:cNvSpPr txBox="1"/>
          <p:nvPr/>
        </p:nvSpPr>
        <p:spPr>
          <a:xfrm>
            <a:off x="3332988" y="1594714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70</a:t>
            </a:r>
            <a:endParaRPr lang="zh-CN" sz="440"/>
          </a:p>
        </p:txBody>
      </p:sp>
      <p:sp>
        <p:nvSpPr>
          <p:cNvPr id="81" name="Shape 81"/>
          <p:cNvSpPr txBox="1"/>
          <p:nvPr/>
        </p:nvSpPr>
        <p:spPr>
          <a:xfrm>
            <a:off x="3618738" y="1594714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17%</a:t>
            </a:r>
            <a:endParaRPr lang="zh-CN" sz="440"/>
          </a:p>
        </p:txBody>
      </p:sp>
      <p:cxnSp>
        <p:nvCxnSpPr>
          <p:cNvPr id="82" name="Connector 82"/>
          <p:cNvCxnSpPr/>
          <p:nvPr/>
        </p:nvCxnSpPr>
        <p:spPr>
          <a:xfrm>
            <a:off x="2761488" y="1594714"/>
            <a:ext cx="114300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83" name="Shape 83"/>
          <p:cNvSpPr txBox="1"/>
          <p:nvPr/>
        </p:nvSpPr>
        <p:spPr>
          <a:xfrm>
            <a:off x="2761488" y="1775765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合计</a:t>
            </a:r>
            <a:endParaRPr lang="zh-CN" sz="440"/>
          </a:p>
        </p:txBody>
      </p:sp>
      <p:sp>
        <p:nvSpPr>
          <p:cNvPr id="84" name="Shape 84"/>
          <p:cNvSpPr txBox="1"/>
          <p:nvPr/>
        </p:nvSpPr>
        <p:spPr>
          <a:xfrm>
            <a:off x="3047238" y="1775765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260</a:t>
            </a:r>
            <a:endParaRPr lang="zh-CN" sz="440"/>
          </a:p>
        </p:txBody>
      </p:sp>
      <p:sp>
        <p:nvSpPr>
          <p:cNvPr id="85" name="Shape 85"/>
          <p:cNvSpPr txBox="1"/>
          <p:nvPr/>
        </p:nvSpPr>
        <p:spPr>
          <a:xfrm>
            <a:off x="3332988" y="1775765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312</a:t>
            </a:r>
            <a:endParaRPr lang="zh-CN" sz="440"/>
          </a:p>
        </p:txBody>
      </p:sp>
      <p:sp>
        <p:nvSpPr>
          <p:cNvPr id="86" name="Shape 86"/>
          <p:cNvSpPr txBox="1"/>
          <p:nvPr/>
        </p:nvSpPr>
        <p:spPr>
          <a:xfrm>
            <a:off x="3618738" y="1775765"/>
            <a:ext cx="285750" cy="181051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20%</a:t>
            </a:r>
            <a:endParaRPr lang="zh-CN" sz="440"/>
          </a:p>
        </p:txBody>
      </p:sp>
      <p:cxnSp>
        <p:nvCxnSpPr>
          <p:cNvPr id="87" name="Connector 87"/>
          <p:cNvCxnSpPr/>
          <p:nvPr/>
        </p:nvCxnSpPr>
        <p:spPr>
          <a:xfrm>
            <a:off x="2761488" y="1775765"/>
            <a:ext cx="1143000" cy="914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cxnSp>
        <p:nvCxnSpPr>
          <p:cNvPr id="88" name="Connector 88"/>
          <p:cNvCxnSpPr/>
          <p:nvPr/>
        </p:nvCxnSpPr>
        <p:spPr>
          <a:xfrm>
            <a:off x="3047238" y="1051560"/>
            <a:ext cx="914" cy="905256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cxnSp>
        <p:nvCxnSpPr>
          <p:cNvPr id="89" name="Connector 89"/>
          <p:cNvCxnSpPr/>
          <p:nvPr/>
        </p:nvCxnSpPr>
        <p:spPr>
          <a:xfrm>
            <a:off x="3332988" y="1051560"/>
            <a:ext cx="914" cy="905256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cxnSp>
        <p:nvCxnSpPr>
          <p:cNvPr id="90" name="Connector 90"/>
          <p:cNvCxnSpPr/>
          <p:nvPr/>
        </p:nvCxnSpPr>
        <p:spPr>
          <a:xfrm>
            <a:off x="3618738" y="1051560"/>
            <a:ext cx="914" cy="905256"/>
          </a:xfrm>
          <a:prstGeom prst="straightConnector1">
            <a:avLst/>
          </a:prstGeom>
          <a:ln w="4445" cap="round">
            <a:solidFill>
              <a:srgbClr val="6B7280"/>
            </a:solidFill>
          </a:ln>
        </p:spPr>
      </p:cxnSp>
      <p:sp>
        <p:nvSpPr>
          <p:cNvPr id="91" name="Shape 91"/>
          <p:cNvSpPr txBox="1"/>
          <p:nvPr/>
        </p:nvSpPr>
        <p:spPr>
          <a:xfrm>
            <a:off x="2935224" y="2039112"/>
            <a:ext cx="786384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4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输入表格图像</a:t>
            </a:r>
            <a:endParaRPr lang="zh-CN" sz="840"/>
          </a:p>
        </p:txBody>
      </p:sp>
      <p:cxnSp>
        <p:nvCxnSpPr>
          <p:cNvPr id="92" name="Connector 92"/>
          <p:cNvCxnSpPr/>
          <p:nvPr/>
        </p:nvCxnSpPr>
        <p:spPr>
          <a:xfrm>
            <a:off x="3913632" y="1444752"/>
            <a:ext cx="338328" cy="914"/>
          </a:xfrm>
          <a:prstGeom prst="straightConnector1">
            <a:avLst/>
          </a:prstGeom>
          <a:ln w="22860" cap="round">
            <a:solidFill>
              <a:srgbClr val="111827"/>
            </a:solidFill>
            <a:tailEnd type="triangle"/>
          </a:ln>
        </p:spPr>
      </p:cxnSp>
      <p:sp>
        <p:nvSpPr>
          <p:cNvPr id="93" name="Shape 93"/>
          <p:cNvSpPr txBox="1"/>
          <p:nvPr/>
        </p:nvSpPr>
        <p:spPr>
          <a:xfrm>
            <a:off x="4297680" y="1051560"/>
            <a:ext cx="1124712" cy="868680"/>
          </a:xfrm>
          <a:prstGeom prst="parallelogram">
            <a:avLst/>
          </a:prstGeom>
          <a:solidFill>
            <a:srgbClr val="EAF3FF"/>
          </a:solidFill>
          <a:ln w="15240">
            <a:solidFill>
              <a:srgbClr val="2764BD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0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视觉编码器</a:t>
            </a:r>
            <a:endParaRPr lang="zh-CN" sz="900"/>
          </a:p>
          <a:p>
            <a:pPr algn="ctr"/>
            <a:r>
              <a:rPr lang="zh-CN" sz="90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(特征提取器)</a:t>
            </a:r>
            <a:endParaRPr lang="zh-CN" sz="900"/>
          </a:p>
        </p:txBody>
      </p:sp>
      <p:sp>
        <p:nvSpPr>
          <p:cNvPr id="94" name="Shape 94"/>
          <p:cNvSpPr txBox="1"/>
          <p:nvPr/>
        </p:nvSpPr>
        <p:spPr>
          <a:xfrm>
            <a:off x="4453128" y="1280160"/>
            <a:ext cx="22860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90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◇</a:t>
            </a:r>
            <a:endParaRPr lang="zh-CN" sz="1900"/>
          </a:p>
        </p:txBody>
      </p:sp>
      <p:cxnSp>
        <p:nvCxnSpPr>
          <p:cNvPr id="95" name="Connector 95"/>
          <p:cNvCxnSpPr/>
          <p:nvPr/>
        </p:nvCxnSpPr>
        <p:spPr>
          <a:xfrm>
            <a:off x="5422392" y="1444752"/>
            <a:ext cx="402336" cy="914"/>
          </a:xfrm>
          <a:prstGeom prst="straightConnector1">
            <a:avLst/>
          </a:prstGeom>
          <a:ln w="22860" cap="round">
            <a:solidFill>
              <a:srgbClr val="111827"/>
            </a:solidFill>
            <a:tailEnd type="triangle"/>
          </a:ln>
        </p:spPr>
      </p:cxnSp>
      <p:sp>
        <p:nvSpPr>
          <p:cNvPr id="96" name="Shape 96"/>
          <p:cNvSpPr txBox="1"/>
          <p:nvPr/>
        </p:nvSpPr>
        <p:spPr>
          <a:xfrm>
            <a:off x="5961888" y="1380744"/>
            <a:ext cx="1307592" cy="182880"/>
          </a:xfrm>
          <a:prstGeom prst="roundRect">
            <a:avLst/>
          </a:prstGeom>
          <a:solidFill>
            <a:srgbClr val="EAF3FF"/>
          </a:solidFill>
          <a:ln w="12700">
            <a:solidFill>
              <a:srgbClr val="87B5F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97" name="Shape 97"/>
          <p:cNvSpPr txBox="1"/>
          <p:nvPr/>
        </p:nvSpPr>
        <p:spPr>
          <a:xfrm>
            <a:off x="5998464" y="1408176"/>
            <a:ext cx="128016" cy="118872"/>
          </a:xfrm>
          <a:prstGeom prst="rect">
            <a:avLst/>
          </a:prstGeom>
          <a:solidFill>
            <a:srgbClr val="2B66B1"/>
          </a:solidFill>
          <a:ln w="3810">
            <a:solidFill>
              <a:srgbClr val="2B66B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98" name="Shape 98"/>
          <p:cNvSpPr txBox="1"/>
          <p:nvPr/>
        </p:nvSpPr>
        <p:spPr>
          <a:xfrm>
            <a:off x="6163056" y="1408176"/>
            <a:ext cx="128016" cy="118872"/>
          </a:xfrm>
          <a:prstGeom prst="rect">
            <a:avLst/>
          </a:prstGeom>
          <a:solidFill>
            <a:srgbClr val="2B66B1"/>
          </a:solidFill>
          <a:ln w="3810">
            <a:solidFill>
              <a:srgbClr val="2B66B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99" name="Shape 99"/>
          <p:cNvSpPr txBox="1"/>
          <p:nvPr/>
        </p:nvSpPr>
        <p:spPr>
          <a:xfrm>
            <a:off x="6327648" y="1408176"/>
            <a:ext cx="128016" cy="118872"/>
          </a:xfrm>
          <a:prstGeom prst="rect">
            <a:avLst/>
          </a:prstGeom>
          <a:solidFill>
            <a:srgbClr val="2B66B1"/>
          </a:solidFill>
          <a:ln w="3810">
            <a:solidFill>
              <a:srgbClr val="2B66B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00" name="Shape 100"/>
          <p:cNvSpPr txBox="1"/>
          <p:nvPr/>
        </p:nvSpPr>
        <p:spPr>
          <a:xfrm>
            <a:off x="6492240" y="1408176"/>
            <a:ext cx="128016" cy="118872"/>
          </a:xfrm>
          <a:prstGeom prst="rect">
            <a:avLst/>
          </a:prstGeom>
          <a:solidFill>
            <a:srgbClr val="79A7E0"/>
          </a:solidFill>
          <a:ln w="3810">
            <a:solidFill>
              <a:srgbClr val="79A7E0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01" name="Shape 101"/>
          <p:cNvSpPr txBox="1"/>
          <p:nvPr/>
        </p:nvSpPr>
        <p:spPr>
          <a:xfrm>
            <a:off x="6656832" y="1408176"/>
            <a:ext cx="128016" cy="118872"/>
          </a:xfrm>
          <a:prstGeom prst="rect">
            <a:avLst/>
          </a:prstGeom>
          <a:solidFill>
            <a:srgbClr val="B6D0F3"/>
          </a:solidFill>
          <a:ln w="3810">
            <a:solidFill>
              <a:srgbClr val="B6D0F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02" name="Shape 102"/>
          <p:cNvSpPr txBox="1"/>
          <p:nvPr/>
        </p:nvSpPr>
        <p:spPr>
          <a:xfrm>
            <a:off x="6821424" y="1408176"/>
            <a:ext cx="128016" cy="118872"/>
          </a:xfrm>
          <a:prstGeom prst="rect">
            <a:avLst/>
          </a:prstGeom>
          <a:solidFill>
            <a:srgbClr val="79A7E0"/>
          </a:solidFill>
          <a:ln w="3810">
            <a:solidFill>
              <a:srgbClr val="79A7E0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03" name="Shape 103"/>
          <p:cNvSpPr txBox="1"/>
          <p:nvPr/>
        </p:nvSpPr>
        <p:spPr>
          <a:xfrm>
            <a:off x="6967728" y="1380744"/>
            <a:ext cx="201168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...</a:t>
            </a:r>
            <a:endParaRPr lang="zh-CN" sz="1000"/>
          </a:p>
        </p:txBody>
      </p:sp>
      <p:sp>
        <p:nvSpPr>
          <p:cNvPr id="104" name="Shape 104"/>
          <p:cNvSpPr txBox="1"/>
          <p:nvPr/>
        </p:nvSpPr>
        <p:spPr>
          <a:xfrm>
            <a:off x="7077456" y="1408176"/>
            <a:ext cx="128016" cy="118872"/>
          </a:xfrm>
          <a:prstGeom prst="rect">
            <a:avLst/>
          </a:prstGeom>
          <a:solidFill>
            <a:srgbClr val="79A7E0"/>
          </a:solidFill>
          <a:ln w="3810">
            <a:solidFill>
              <a:srgbClr val="79A7E0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05" name="Shape 105"/>
          <p:cNvSpPr txBox="1"/>
          <p:nvPr/>
        </p:nvSpPr>
        <p:spPr>
          <a:xfrm>
            <a:off x="6199632" y="1682496"/>
            <a:ext cx="868680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布局特征向量</a:t>
            </a:r>
            <a:endParaRPr lang="zh-CN" sz="950"/>
          </a:p>
        </p:txBody>
      </p:sp>
      <p:sp>
        <p:nvSpPr>
          <p:cNvPr id="106" name="Shape 106"/>
          <p:cNvSpPr txBox="1"/>
          <p:nvPr/>
        </p:nvSpPr>
        <p:spPr>
          <a:xfrm>
            <a:off x="2459736" y="2295144"/>
            <a:ext cx="4910328" cy="11795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484BC"/>
            </a:solidFill>
            <a:prstDash val="dash"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07" name="Shape 107"/>
          <p:cNvSpPr txBox="1"/>
          <p:nvPr/>
        </p:nvSpPr>
        <p:spPr>
          <a:xfrm>
            <a:off x="4306824" y="2404872"/>
            <a:ext cx="1152144" cy="17373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5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多维布局特征</a:t>
            </a:r>
            <a:endParaRPr lang="zh-CN" sz="1050"/>
          </a:p>
        </p:txBody>
      </p:sp>
      <p:sp>
        <p:nvSpPr>
          <p:cNvPr id="108" name="Shape 108"/>
          <p:cNvSpPr txBox="1"/>
          <p:nvPr/>
        </p:nvSpPr>
        <p:spPr>
          <a:xfrm>
            <a:off x="2825496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500" b="1">
                <a:solidFill>
                  <a:srgbClr val="3F6EA8"/>
                </a:solidFill>
                <a:latin typeface="Microsoft YaHei"/>
                <a:ea typeface="Microsoft YaHei"/>
                <a:cs typeface="Microsoft YaHei"/>
              </a:rPr>
              <a:t>▦</a:t>
            </a:r>
            <a:endParaRPr lang="zh-CN" sz="2500"/>
          </a:p>
        </p:txBody>
      </p:sp>
      <p:sp>
        <p:nvSpPr>
          <p:cNvPr id="109" name="Shape 109"/>
          <p:cNvSpPr txBox="1"/>
          <p:nvPr/>
        </p:nvSpPr>
        <p:spPr>
          <a:xfrm>
            <a:off x="2752344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线条结构</a:t>
            </a:r>
            <a:endParaRPr lang="zh-CN" sz="880"/>
          </a:p>
        </p:txBody>
      </p:sp>
      <p:sp>
        <p:nvSpPr>
          <p:cNvPr id="110" name="Shape 110"/>
          <p:cNvSpPr txBox="1"/>
          <p:nvPr/>
        </p:nvSpPr>
        <p:spPr>
          <a:xfrm>
            <a:off x="2724912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(密度/连续性)</a:t>
            </a:r>
            <a:endParaRPr lang="zh-CN" sz="680"/>
          </a:p>
        </p:txBody>
      </p:sp>
      <p:sp>
        <p:nvSpPr>
          <p:cNvPr id="111" name="Shape 111"/>
          <p:cNvSpPr txBox="1"/>
          <p:nvPr/>
        </p:nvSpPr>
        <p:spPr>
          <a:xfrm>
            <a:off x="3739896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500" b="1">
                <a:solidFill>
                  <a:srgbClr val="3F6EA8"/>
                </a:solidFill>
                <a:latin typeface="Microsoft YaHei"/>
                <a:ea typeface="Microsoft YaHei"/>
                <a:cs typeface="Microsoft YaHei"/>
              </a:rPr>
              <a:t>▥</a:t>
            </a:r>
            <a:endParaRPr lang="zh-CN" sz="2500"/>
          </a:p>
        </p:txBody>
      </p:sp>
      <p:sp>
        <p:nvSpPr>
          <p:cNvPr id="112" name="Shape 112"/>
          <p:cNvSpPr txBox="1"/>
          <p:nvPr/>
        </p:nvSpPr>
        <p:spPr>
          <a:xfrm>
            <a:off x="3666744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行列分布</a:t>
            </a:r>
            <a:endParaRPr lang="zh-CN" sz="880"/>
          </a:p>
        </p:txBody>
      </p:sp>
      <p:sp>
        <p:nvSpPr>
          <p:cNvPr id="113" name="Shape 113"/>
          <p:cNvSpPr txBox="1"/>
          <p:nvPr/>
        </p:nvSpPr>
        <p:spPr>
          <a:xfrm>
            <a:off x="3639312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(行高/列宽)</a:t>
            </a:r>
            <a:endParaRPr lang="zh-CN" sz="680"/>
          </a:p>
        </p:txBody>
      </p:sp>
      <p:sp>
        <p:nvSpPr>
          <p:cNvPr id="114" name="Shape 114"/>
          <p:cNvSpPr txBox="1"/>
          <p:nvPr/>
        </p:nvSpPr>
        <p:spPr>
          <a:xfrm>
            <a:off x="4700016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500" b="1">
                <a:solidFill>
                  <a:srgbClr val="3F6EA8"/>
                </a:solidFill>
                <a:latin typeface="Microsoft YaHei"/>
                <a:ea typeface="Microsoft YaHei"/>
                <a:cs typeface="Microsoft YaHei"/>
              </a:rPr>
              <a:t>┬</a:t>
            </a:r>
            <a:endParaRPr lang="zh-CN" sz="2500"/>
          </a:p>
        </p:txBody>
      </p:sp>
      <p:sp>
        <p:nvSpPr>
          <p:cNvPr id="115" name="Shape 115"/>
          <p:cNvSpPr txBox="1"/>
          <p:nvPr/>
        </p:nvSpPr>
        <p:spPr>
          <a:xfrm>
            <a:off x="4626864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表头层级</a:t>
            </a:r>
            <a:endParaRPr lang="zh-CN" sz="880"/>
          </a:p>
        </p:txBody>
      </p:sp>
      <p:sp>
        <p:nvSpPr>
          <p:cNvPr id="116" name="Shape 116"/>
          <p:cNvSpPr txBox="1"/>
          <p:nvPr/>
        </p:nvSpPr>
        <p:spPr>
          <a:xfrm>
            <a:off x="4599432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(层数/跨度)</a:t>
            </a:r>
            <a:endParaRPr lang="zh-CN" sz="680"/>
          </a:p>
        </p:txBody>
      </p:sp>
      <p:sp>
        <p:nvSpPr>
          <p:cNvPr id="117" name="Shape 117"/>
          <p:cNvSpPr txBox="1"/>
          <p:nvPr/>
        </p:nvSpPr>
        <p:spPr>
          <a:xfrm>
            <a:off x="5669280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500" b="1">
                <a:solidFill>
                  <a:srgbClr val="3F6EA8"/>
                </a:solidFill>
                <a:latin typeface="Microsoft YaHei"/>
                <a:ea typeface="Microsoft YaHei"/>
                <a:cs typeface="Microsoft YaHei"/>
              </a:rPr>
              <a:t>⠿</a:t>
            </a:r>
            <a:endParaRPr lang="zh-CN" sz="2500"/>
          </a:p>
        </p:txBody>
      </p:sp>
      <p:sp>
        <p:nvSpPr>
          <p:cNvPr id="118" name="Shape 118"/>
          <p:cNvSpPr txBox="1"/>
          <p:nvPr/>
        </p:nvSpPr>
        <p:spPr>
          <a:xfrm>
            <a:off x="5596128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文本密度</a:t>
            </a:r>
            <a:endParaRPr lang="zh-CN" sz="880"/>
          </a:p>
        </p:txBody>
      </p:sp>
      <p:sp>
        <p:nvSpPr>
          <p:cNvPr id="119" name="Shape 119"/>
          <p:cNvSpPr txBox="1"/>
          <p:nvPr/>
        </p:nvSpPr>
        <p:spPr>
          <a:xfrm>
            <a:off x="5568696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(稀疏/紧凑)</a:t>
            </a:r>
            <a:endParaRPr lang="zh-CN" sz="680"/>
          </a:p>
        </p:txBody>
      </p:sp>
      <p:sp>
        <p:nvSpPr>
          <p:cNvPr id="120" name="Shape 120"/>
          <p:cNvSpPr txBox="1"/>
          <p:nvPr/>
        </p:nvSpPr>
        <p:spPr>
          <a:xfrm>
            <a:off x="6556248" y="2624328"/>
            <a:ext cx="411480" cy="31089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500" b="1">
                <a:solidFill>
                  <a:srgbClr val="3F6EA8"/>
                </a:solidFill>
                <a:latin typeface="Microsoft YaHei"/>
                <a:ea typeface="Microsoft YaHei"/>
                <a:cs typeface="Microsoft YaHei"/>
              </a:rPr>
              <a:t>▣</a:t>
            </a:r>
            <a:endParaRPr lang="zh-CN" sz="2500"/>
          </a:p>
        </p:txBody>
      </p:sp>
      <p:sp>
        <p:nvSpPr>
          <p:cNvPr id="121" name="Shape 121"/>
          <p:cNvSpPr txBox="1"/>
          <p:nvPr/>
        </p:nvSpPr>
        <p:spPr>
          <a:xfrm>
            <a:off x="6483096" y="3035808"/>
            <a:ext cx="57607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整体版式</a:t>
            </a:r>
            <a:endParaRPr lang="zh-CN" sz="880"/>
          </a:p>
        </p:txBody>
      </p:sp>
      <p:sp>
        <p:nvSpPr>
          <p:cNvPr id="122" name="Shape 122"/>
          <p:cNvSpPr txBox="1"/>
          <p:nvPr/>
        </p:nvSpPr>
        <p:spPr>
          <a:xfrm>
            <a:off x="6455664" y="3200400"/>
            <a:ext cx="630936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0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(布局模式)</a:t>
            </a:r>
            <a:endParaRPr lang="zh-CN" sz="680"/>
          </a:p>
        </p:txBody>
      </p:sp>
      <p:sp>
        <p:nvSpPr>
          <p:cNvPr id="123" name="Shape 123"/>
          <p:cNvSpPr txBox="1"/>
          <p:nvPr/>
        </p:nvSpPr>
        <p:spPr>
          <a:xfrm>
            <a:off x="2359152" y="3803904"/>
            <a:ext cx="5120640" cy="1764792"/>
          </a:xfrm>
          <a:prstGeom prst="roundRect">
            <a:avLst/>
          </a:prstGeom>
          <a:solidFill>
            <a:srgbClr val="FBFDFF"/>
          </a:solidFill>
          <a:ln w="12700">
            <a:solidFill>
              <a:srgbClr val="2764BD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24" name="Shape 124"/>
          <p:cNvSpPr txBox="1"/>
          <p:nvPr/>
        </p:nvSpPr>
        <p:spPr>
          <a:xfrm>
            <a:off x="3429000" y="3941064"/>
            <a:ext cx="242316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32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1.2 相似性-多样性示例选择</a:t>
            </a:r>
            <a:endParaRPr lang="zh-CN" sz="1320"/>
          </a:p>
        </p:txBody>
      </p:sp>
      <p:sp>
        <p:nvSpPr>
          <p:cNvPr id="125" name="Shape 125"/>
          <p:cNvSpPr txBox="1"/>
          <p:nvPr/>
        </p:nvSpPr>
        <p:spPr>
          <a:xfrm>
            <a:off x="2441448" y="4279392"/>
            <a:ext cx="749808" cy="1106424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87B5F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26" name="Shape 126"/>
          <p:cNvSpPr txBox="1"/>
          <p:nvPr/>
        </p:nvSpPr>
        <p:spPr>
          <a:xfrm>
            <a:off x="2514600" y="4379976"/>
            <a:ext cx="603504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4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相似度筛选</a:t>
            </a:r>
            <a:endParaRPr lang="zh-CN" sz="840"/>
          </a:p>
        </p:txBody>
      </p:sp>
      <p:sp>
        <p:nvSpPr>
          <p:cNvPr id="127" name="Shape 127"/>
          <p:cNvSpPr txBox="1"/>
          <p:nvPr/>
        </p:nvSpPr>
        <p:spPr>
          <a:xfrm>
            <a:off x="2670048" y="4681728"/>
            <a:ext cx="292608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400" b="0">
                <a:solidFill>
                  <a:srgbClr val="2F5E99"/>
                </a:solidFill>
                <a:latin typeface="Microsoft YaHei"/>
                <a:ea typeface="Microsoft YaHei"/>
                <a:cs typeface="Microsoft YaHei"/>
              </a:rPr>
              <a:t>▽</a:t>
            </a:r>
            <a:endParaRPr lang="zh-CN" sz="2400"/>
          </a:p>
        </p:txBody>
      </p:sp>
      <p:sp>
        <p:nvSpPr>
          <p:cNvPr id="128" name="Shape 128"/>
          <p:cNvSpPr txBox="1"/>
          <p:nvPr/>
        </p:nvSpPr>
        <p:spPr>
          <a:xfrm>
            <a:off x="2514600" y="5056632"/>
            <a:ext cx="603504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按特征相似度</a:t>
            </a:r>
            <a:endParaRPr lang="zh-CN" sz="650"/>
          </a:p>
          <a:p>
            <a:pPr algn="ctr"/>
            <a:r>
              <a:rPr lang="zh-CN" sz="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过滤候选</a:t>
            </a:r>
            <a:endParaRPr lang="zh-CN" sz="650"/>
          </a:p>
        </p:txBody>
      </p:sp>
      <p:sp>
        <p:nvSpPr>
          <p:cNvPr id="129" name="Shape 129"/>
          <p:cNvSpPr txBox="1"/>
          <p:nvPr/>
        </p:nvSpPr>
        <p:spPr>
          <a:xfrm>
            <a:off x="3419856" y="4279392"/>
            <a:ext cx="749808" cy="1106424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87B5F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30" name="Shape 130"/>
          <p:cNvSpPr txBox="1"/>
          <p:nvPr/>
        </p:nvSpPr>
        <p:spPr>
          <a:xfrm>
            <a:off x="3493008" y="4379976"/>
            <a:ext cx="603504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4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多样性约束</a:t>
            </a:r>
            <a:endParaRPr lang="zh-CN" sz="840"/>
          </a:p>
        </p:txBody>
      </p:sp>
      <p:sp>
        <p:nvSpPr>
          <p:cNvPr id="131" name="Shape 131"/>
          <p:cNvSpPr txBox="1"/>
          <p:nvPr/>
        </p:nvSpPr>
        <p:spPr>
          <a:xfrm>
            <a:off x="3648456" y="4681728"/>
            <a:ext cx="292608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400" b="0">
                <a:solidFill>
                  <a:srgbClr val="2F5E99"/>
                </a:solidFill>
                <a:latin typeface="Microsoft YaHei"/>
                <a:ea typeface="Microsoft YaHei"/>
                <a:cs typeface="Microsoft YaHei"/>
              </a:rPr>
              <a:t>⌘</a:t>
            </a:r>
            <a:endParaRPr lang="zh-CN" sz="2400"/>
          </a:p>
        </p:txBody>
      </p:sp>
      <p:sp>
        <p:nvSpPr>
          <p:cNvPr id="132" name="Shape 132"/>
          <p:cNvSpPr txBox="1"/>
          <p:nvPr/>
        </p:nvSpPr>
        <p:spPr>
          <a:xfrm>
            <a:off x="3493008" y="5056632"/>
            <a:ext cx="603504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最大化覆盖差异</a:t>
            </a:r>
            <a:endParaRPr lang="zh-CN" sz="650"/>
          </a:p>
          <a:p>
            <a:pPr algn="ctr"/>
            <a:r>
              <a:rPr lang="zh-CN" sz="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避免冗余</a:t>
            </a:r>
            <a:endParaRPr lang="zh-CN" sz="650"/>
          </a:p>
        </p:txBody>
      </p:sp>
      <p:sp>
        <p:nvSpPr>
          <p:cNvPr id="133" name="Shape 133"/>
          <p:cNvSpPr txBox="1"/>
          <p:nvPr/>
        </p:nvSpPr>
        <p:spPr>
          <a:xfrm>
            <a:off x="4398264" y="4279392"/>
            <a:ext cx="749808" cy="1106424"/>
          </a:xfrm>
          <a:prstGeom prst="roundRect">
            <a:avLst/>
          </a:prstGeom>
          <a:solidFill>
            <a:srgbClr val="F5FAFF"/>
          </a:solidFill>
          <a:ln w="13970">
            <a:solidFill>
              <a:srgbClr val="87B5F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34" name="Shape 134"/>
          <p:cNvSpPr txBox="1"/>
          <p:nvPr/>
        </p:nvSpPr>
        <p:spPr>
          <a:xfrm>
            <a:off x="4471416" y="4379976"/>
            <a:ext cx="603504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4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Top-k 示例</a:t>
            </a:r>
            <a:endParaRPr lang="zh-CN" sz="840"/>
          </a:p>
        </p:txBody>
      </p:sp>
      <p:sp>
        <p:nvSpPr>
          <p:cNvPr id="135" name="Shape 135"/>
          <p:cNvSpPr txBox="1"/>
          <p:nvPr/>
        </p:nvSpPr>
        <p:spPr>
          <a:xfrm>
            <a:off x="4626864" y="4681728"/>
            <a:ext cx="292608" cy="29260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400" b="0">
                <a:solidFill>
                  <a:srgbClr val="2F5E99"/>
                </a:solidFill>
                <a:latin typeface="Microsoft YaHei"/>
                <a:ea typeface="Microsoft YaHei"/>
                <a:cs typeface="Microsoft YaHei"/>
              </a:rPr>
              <a:t>☆</a:t>
            </a:r>
            <a:endParaRPr lang="zh-CN" sz="2400"/>
          </a:p>
        </p:txBody>
      </p:sp>
      <p:sp>
        <p:nvSpPr>
          <p:cNvPr id="136" name="Shape 136"/>
          <p:cNvSpPr txBox="1"/>
          <p:nvPr/>
        </p:nvSpPr>
        <p:spPr>
          <a:xfrm>
            <a:off x="4471416" y="5056632"/>
            <a:ext cx="603504" cy="23774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平衡相似性与多样性</a:t>
            </a:r>
            <a:endParaRPr lang="zh-CN" sz="650"/>
          </a:p>
          <a:p>
            <a:pPr algn="ctr"/>
            <a:r>
              <a:rPr lang="zh-CN" sz="6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选择 Top-k</a:t>
            </a:r>
            <a:endParaRPr lang="zh-CN" sz="650"/>
          </a:p>
        </p:txBody>
      </p:sp>
      <p:cxnSp>
        <p:nvCxnSpPr>
          <p:cNvPr id="137" name="Connector 137"/>
          <p:cNvCxnSpPr/>
          <p:nvPr/>
        </p:nvCxnSpPr>
        <p:spPr>
          <a:xfrm>
            <a:off x="3191256" y="4773168"/>
            <a:ext cx="228600" cy="914"/>
          </a:xfrm>
          <a:prstGeom prst="straightConnector1">
            <a:avLst/>
          </a:prstGeom>
          <a:ln w="20320" cap="round">
            <a:solidFill>
              <a:srgbClr val="111827"/>
            </a:solidFill>
            <a:tailEnd type="triangle"/>
          </a:ln>
        </p:spPr>
      </p:cxnSp>
      <p:cxnSp>
        <p:nvCxnSpPr>
          <p:cNvPr id="138" name="Connector 138"/>
          <p:cNvCxnSpPr/>
          <p:nvPr/>
        </p:nvCxnSpPr>
        <p:spPr>
          <a:xfrm>
            <a:off x="4169664" y="4773168"/>
            <a:ext cx="228600" cy="914"/>
          </a:xfrm>
          <a:prstGeom prst="straightConnector1">
            <a:avLst/>
          </a:prstGeom>
          <a:ln w="20320" cap="round">
            <a:solidFill>
              <a:srgbClr val="111827"/>
            </a:solidFill>
            <a:tailEnd type="triangle"/>
          </a:ln>
        </p:spPr>
      </p:cxnSp>
      <p:cxnSp>
        <p:nvCxnSpPr>
          <p:cNvPr id="139" name="Connector 139"/>
          <p:cNvCxnSpPr/>
          <p:nvPr/>
        </p:nvCxnSpPr>
        <p:spPr>
          <a:xfrm>
            <a:off x="5148072" y="4773168"/>
            <a:ext cx="246888" cy="914"/>
          </a:xfrm>
          <a:prstGeom prst="straightConnector1">
            <a:avLst/>
          </a:prstGeom>
          <a:ln w="20320" cap="round">
            <a:solidFill>
              <a:srgbClr val="111827"/>
            </a:solidFill>
            <a:tailEnd type="triangle"/>
          </a:ln>
        </p:spPr>
      </p:cxnSp>
      <p:sp>
        <p:nvSpPr>
          <p:cNvPr id="140" name="Shape 140"/>
          <p:cNvSpPr txBox="1"/>
          <p:nvPr/>
        </p:nvSpPr>
        <p:spPr>
          <a:xfrm>
            <a:off x="5486400" y="4197096"/>
            <a:ext cx="1874520" cy="1271016"/>
          </a:xfrm>
          <a:prstGeom prst="roundRect">
            <a:avLst/>
          </a:prstGeom>
          <a:solidFill>
            <a:srgbClr val="F9FBFF"/>
          </a:solidFill>
          <a:ln w="12700">
            <a:solidFill>
              <a:srgbClr val="6484BC"/>
            </a:solidFill>
            <a:prstDash val="dash"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41" name="Shape 141"/>
          <p:cNvSpPr txBox="1"/>
          <p:nvPr/>
        </p:nvSpPr>
        <p:spPr>
          <a:xfrm>
            <a:off x="5806440" y="4288536"/>
            <a:ext cx="1234440" cy="15544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770" b="1">
                <a:solidFill>
                  <a:srgbClr val="2764BD"/>
                </a:solidFill>
                <a:latin typeface="Microsoft YaHei"/>
                <a:ea typeface="Microsoft YaHei"/>
                <a:cs typeface="Microsoft YaHei"/>
              </a:rPr>
              <a:t>最终选择的参考示例（Top-k）</a:t>
            </a:r>
            <a:endParaRPr lang="zh-CN" sz="770"/>
          </a:p>
        </p:txBody>
      </p:sp>
      <p:sp>
        <p:nvSpPr>
          <p:cNvPr id="142" name="Shape 142"/>
          <p:cNvSpPr txBox="1"/>
          <p:nvPr/>
        </p:nvSpPr>
        <p:spPr>
          <a:xfrm>
            <a:off x="5596128" y="4471416"/>
            <a:ext cx="493776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7A7A7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43" name="Shape 143"/>
          <p:cNvSpPr txBox="1"/>
          <p:nvPr/>
        </p:nvSpPr>
        <p:spPr>
          <a:xfrm>
            <a:off x="5696712" y="4526280"/>
            <a:ext cx="292608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示例图像</a:t>
            </a:r>
            <a:endParaRPr lang="zh-CN" sz="450"/>
          </a:p>
        </p:txBody>
      </p:sp>
      <p:sp>
        <p:nvSpPr>
          <p:cNvPr id="144" name="Shape 144"/>
          <p:cNvSpPr txBox="1"/>
          <p:nvPr/>
        </p:nvSpPr>
        <p:spPr>
          <a:xfrm>
            <a:off x="5696712" y="4645152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1A1A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45" name="Shape 145"/>
          <p:cNvSpPr txBox="1"/>
          <p:nvPr/>
        </p:nvSpPr>
        <p:spPr>
          <a:xfrm>
            <a:off x="5696712" y="4645152"/>
            <a:ext cx="292608" cy="91440"/>
          </a:xfrm>
          <a:prstGeom prst="rect">
            <a:avLst/>
          </a:prstGeom>
          <a:solidFill>
            <a:srgbClr val="EEF2F7"/>
          </a:solidFill>
          <a:ln w="3810">
            <a:solidFill>
              <a:srgbClr val="A1A1A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46" name="Shape 146"/>
          <p:cNvSpPr txBox="1"/>
          <p:nvPr/>
        </p:nvSpPr>
        <p:spPr>
          <a:xfrm>
            <a:off x="5696712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47" name="Shape 147"/>
          <p:cNvSpPr txBox="1"/>
          <p:nvPr/>
        </p:nvSpPr>
        <p:spPr>
          <a:xfrm>
            <a:off x="5794248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48" name="Shape 148"/>
          <p:cNvSpPr txBox="1"/>
          <p:nvPr/>
        </p:nvSpPr>
        <p:spPr>
          <a:xfrm>
            <a:off x="5891784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49" name="Shape 149"/>
          <p:cNvSpPr txBox="1"/>
          <p:nvPr/>
        </p:nvSpPr>
        <p:spPr>
          <a:xfrm>
            <a:off x="5696712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50" name="Shape 150"/>
          <p:cNvSpPr txBox="1"/>
          <p:nvPr/>
        </p:nvSpPr>
        <p:spPr>
          <a:xfrm>
            <a:off x="5794248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51" name="Shape 151"/>
          <p:cNvSpPr txBox="1"/>
          <p:nvPr/>
        </p:nvSpPr>
        <p:spPr>
          <a:xfrm>
            <a:off x="5891784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cxnSp>
        <p:nvCxnSpPr>
          <p:cNvPr id="152" name="Connector 152"/>
          <p:cNvCxnSpPr/>
          <p:nvPr/>
        </p:nvCxnSpPr>
        <p:spPr>
          <a:xfrm>
            <a:off x="5696712" y="4736592"/>
            <a:ext cx="292608" cy="914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sp>
        <p:nvSpPr>
          <p:cNvPr id="153" name="Shape 153"/>
          <p:cNvSpPr txBox="1"/>
          <p:nvPr/>
        </p:nvSpPr>
        <p:spPr>
          <a:xfrm>
            <a:off x="5696712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54" name="Shape 154"/>
          <p:cNvSpPr txBox="1"/>
          <p:nvPr/>
        </p:nvSpPr>
        <p:spPr>
          <a:xfrm>
            <a:off x="5794248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55" name="Shape 155"/>
          <p:cNvSpPr txBox="1"/>
          <p:nvPr/>
        </p:nvSpPr>
        <p:spPr>
          <a:xfrm>
            <a:off x="5891784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cxnSp>
        <p:nvCxnSpPr>
          <p:cNvPr id="156" name="Connector 156"/>
          <p:cNvCxnSpPr/>
          <p:nvPr/>
        </p:nvCxnSpPr>
        <p:spPr>
          <a:xfrm>
            <a:off x="5696712" y="4828032"/>
            <a:ext cx="292608" cy="914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cxnSp>
        <p:nvCxnSpPr>
          <p:cNvPr id="157" name="Connector 157"/>
          <p:cNvCxnSpPr/>
          <p:nvPr/>
        </p:nvCxnSpPr>
        <p:spPr>
          <a:xfrm>
            <a:off x="5794248" y="4645152"/>
            <a:ext cx="914" cy="274320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cxnSp>
        <p:nvCxnSpPr>
          <p:cNvPr id="158" name="Connector 158"/>
          <p:cNvCxnSpPr/>
          <p:nvPr/>
        </p:nvCxnSpPr>
        <p:spPr>
          <a:xfrm>
            <a:off x="5891784" y="4645152"/>
            <a:ext cx="914" cy="274320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sp>
        <p:nvSpPr>
          <p:cNvPr id="159" name="Shape 159"/>
          <p:cNvSpPr txBox="1"/>
          <p:nvPr/>
        </p:nvSpPr>
        <p:spPr>
          <a:xfrm>
            <a:off x="5660136" y="4974336"/>
            <a:ext cx="365760" cy="10058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标准 HTML 结构</a:t>
            </a:r>
            <a:endParaRPr lang="zh-CN" sz="450"/>
          </a:p>
        </p:txBody>
      </p:sp>
      <p:sp>
        <p:nvSpPr>
          <p:cNvPr id="160" name="Shape 160"/>
          <p:cNvSpPr txBox="1"/>
          <p:nvPr/>
        </p:nvSpPr>
        <p:spPr>
          <a:xfrm>
            <a:off x="5751576" y="5102352"/>
            <a:ext cx="18288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&lt;/&gt;</a:t>
            </a:r>
            <a:endParaRPr lang="zh-CN" sz="900"/>
          </a:p>
        </p:txBody>
      </p:sp>
      <p:sp>
        <p:nvSpPr>
          <p:cNvPr id="161" name="Shape 161"/>
          <p:cNvSpPr txBox="1"/>
          <p:nvPr/>
        </p:nvSpPr>
        <p:spPr>
          <a:xfrm>
            <a:off x="6217920" y="4471416"/>
            <a:ext cx="493776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7A7A7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62" name="Shape 162"/>
          <p:cNvSpPr txBox="1"/>
          <p:nvPr/>
        </p:nvSpPr>
        <p:spPr>
          <a:xfrm>
            <a:off x="6318504" y="4526280"/>
            <a:ext cx="292608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示例图像</a:t>
            </a:r>
            <a:endParaRPr lang="zh-CN" sz="450"/>
          </a:p>
        </p:txBody>
      </p:sp>
      <p:sp>
        <p:nvSpPr>
          <p:cNvPr id="163" name="Shape 163"/>
          <p:cNvSpPr txBox="1"/>
          <p:nvPr/>
        </p:nvSpPr>
        <p:spPr>
          <a:xfrm>
            <a:off x="6318504" y="4645152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1A1A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64" name="Shape 164"/>
          <p:cNvSpPr txBox="1"/>
          <p:nvPr/>
        </p:nvSpPr>
        <p:spPr>
          <a:xfrm>
            <a:off x="6318504" y="4645152"/>
            <a:ext cx="292608" cy="91440"/>
          </a:xfrm>
          <a:prstGeom prst="rect">
            <a:avLst/>
          </a:prstGeom>
          <a:solidFill>
            <a:srgbClr val="EEF2F7"/>
          </a:solidFill>
          <a:ln w="3810">
            <a:solidFill>
              <a:srgbClr val="A1A1A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65" name="Shape 165"/>
          <p:cNvSpPr txBox="1"/>
          <p:nvPr/>
        </p:nvSpPr>
        <p:spPr>
          <a:xfrm>
            <a:off x="6318504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66" name="Shape 166"/>
          <p:cNvSpPr txBox="1"/>
          <p:nvPr/>
        </p:nvSpPr>
        <p:spPr>
          <a:xfrm>
            <a:off x="6416040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67" name="Shape 167"/>
          <p:cNvSpPr txBox="1"/>
          <p:nvPr/>
        </p:nvSpPr>
        <p:spPr>
          <a:xfrm>
            <a:off x="6513576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68" name="Shape 168"/>
          <p:cNvSpPr txBox="1"/>
          <p:nvPr/>
        </p:nvSpPr>
        <p:spPr>
          <a:xfrm>
            <a:off x="6318504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69" name="Shape 169"/>
          <p:cNvSpPr txBox="1"/>
          <p:nvPr/>
        </p:nvSpPr>
        <p:spPr>
          <a:xfrm>
            <a:off x="6416040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70" name="Shape 170"/>
          <p:cNvSpPr txBox="1"/>
          <p:nvPr/>
        </p:nvSpPr>
        <p:spPr>
          <a:xfrm>
            <a:off x="6513576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cxnSp>
        <p:nvCxnSpPr>
          <p:cNvPr id="171" name="Connector 171"/>
          <p:cNvCxnSpPr/>
          <p:nvPr/>
        </p:nvCxnSpPr>
        <p:spPr>
          <a:xfrm>
            <a:off x="6318504" y="4736592"/>
            <a:ext cx="292608" cy="914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sp>
        <p:nvSpPr>
          <p:cNvPr id="172" name="Shape 172"/>
          <p:cNvSpPr txBox="1"/>
          <p:nvPr/>
        </p:nvSpPr>
        <p:spPr>
          <a:xfrm>
            <a:off x="6318504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73" name="Shape 173"/>
          <p:cNvSpPr txBox="1"/>
          <p:nvPr/>
        </p:nvSpPr>
        <p:spPr>
          <a:xfrm>
            <a:off x="6416040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74" name="Shape 174"/>
          <p:cNvSpPr txBox="1"/>
          <p:nvPr/>
        </p:nvSpPr>
        <p:spPr>
          <a:xfrm>
            <a:off x="6513576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cxnSp>
        <p:nvCxnSpPr>
          <p:cNvPr id="175" name="Connector 175"/>
          <p:cNvCxnSpPr/>
          <p:nvPr/>
        </p:nvCxnSpPr>
        <p:spPr>
          <a:xfrm>
            <a:off x="6318504" y="4828032"/>
            <a:ext cx="292608" cy="914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cxnSp>
        <p:nvCxnSpPr>
          <p:cNvPr id="176" name="Connector 176"/>
          <p:cNvCxnSpPr/>
          <p:nvPr/>
        </p:nvCxnSpPr>
        <p:spPr>
          <a:xfrm>
            <a:off x="6416040" y="4645152"/>
            <a:ext cx="914" cy="274320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cxnSp>
        <p:nvCxnSpPr>
          <p:cNvPr id="177" name="Connector 177"/>
          <p:cNvCxnSpPr/>
          <p:nvPr/>
        </p:nvCxnSpPr>
        <p:spPr>
          <a:xfrm>
            <a:off x="6513576" y="4645152"/>
            <a:ext cx="914" cy="274320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sp>
        <p:nvSpPr>
          <p:cNvPr id="178" name="Shape 178"/>
          <p:cNvSpPr txBox="1"/>
          <p:nvPr/>
        </p:nvSpPr>
        <p:spPr>
          <a:xfrm>
            <a:off x="6281928" y="4974336"/>
            <a:ext cx="365760" cy="10058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标准 HTML 结构</a:t>
            </a:r>
            <a:endParaRPr lang="zh-CN" sz="450"/>
          </a:p>
        </p:txBody>
      </p:sp>
      <p:sp>
        <p:nvSpPr>
          <p:cNvPr id="179" name="Shape 179"/>
          <p:cNvSpPr txBox="1"/>
          <p:nvPr/>
        </p:nvSpPr>
        <p:spPr>
          <a:xfrm>
            <a:off x="6373368" y="5102352"/>
            <a:ext cx="18288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&lt;/&gt;</a:t>
            </a:r>
            <a:endParaRPr lang="zh-CN" sz="900"/>
          </a:p>
        </p:txBody>
      </p:sp>
      <p:sp>
        <p:nvSpPr>
          <p:cNvPr id="180" name="Shape 180"/>
          <p:cNvSpPr txBox="1"/>
          <p:nvPr/>
        </p:nvSpPr>
        <p:spPr>
          <a:xfrm>
            <a:off x="6858000" y="4471416"/>
            <a:ext cx="493776" cy="8046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A7A7A7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81" name="Shape 181"/>
          <p:cNvSpPr txBox="1"/>
          <p:nvPr/>
        </p:nvSpPr>
        <p:spPr>
          <a:xfrm>
            <a:off x="6958584" y="4526280"/>
            <a:ext cx="292608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示例图像</a:t>
            </a:r>
            <a:endParaRPr lang="zh-CN" sz="450"/>
          </a:p>
        </p:txBody>
      </p:sp>
      <p:sp>
        <p:nvSpPr>
          <p:cNvPr id="182" name="Shape 182"/>
          <p:cNvSpPr txBox="1"/>
          <p:nvPr/>
        </p:nvSpPr>
        <p:spPr>
          <a:xfrm>
            <a:off x="6958584" y="4645152"/>
            <a:ext cx="292608" cy="274320"/>
          </a:xfrm>
          <a:prstGeom prst="rect">
            <a:avLst/>
          </a:prstGeom>
          <a:solidFill>
            <a:srgbClr val="FFFFFF"/>
          </a:solidFill>
          <a:ln w="9525">
            <a:solidFill>
              <a:srgbClr val="A1A1A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83" name="Shape 183"/>
          <p:cNvSpPr txBox="1"/>
          <p:nvPr/>
        </p:nvSpPr>
        <p:spPr>
          <a:xfrm>
            <a:off x="6958584" y="4645152"/>
            <a:ext cx="292608" cy="91440"/>
          </a:xfrm>
          <a:prstGeom prst="rect">
            <a:avLst/>
          </a:prstGeom>
          <a:solidFill>
            <a:srgbClr val="EEF2F7"/>
          </a:solidFill>
          <a:ln w="3810">
            <a:solidFill>
              <a:srgbClr val="A1A1A1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184" name="Shape 184"/>
          <p:cNvSpPr txBox="1"/>
          <p:nvPr/>
        </p:nvSpPr>
        <p:spPr>
          <a:xfrm>
            <a:off x="6958584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85" name="Shape 185"/>
          <p:cNvSpPr txBox="1"/>
          <p:nvPr/>
        </p:nvSpPr>
        <p:spPr>
          <a:xfrm>
            <a:off x="7056120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86" name="Shape 186"/>
          <p:cNvSpPr txBox="1"/>
          <p:nvPr/>
        </p:nvSpPr>
        <p:spPr>
          <a:xfrm>
            <a:off x="7153656" y="464515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87" name="Shape 187"/>
          <p:cNvSpPr txBox="1"/>
          <p:nvPr/>
        </p:nvSpPr>
        <p:spPr>
          <a:xfrm>
            <a:off x="6958584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88" name="Shape 188"/>
          <p:cNvSpPr txBox="1"/>
          <p:nvPr/>
        </p:nvSpPr>
        <p:spPr>
          <a:xfrm>
            <a:off x="7056120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89" name="Shape 189"/>
          <p:cNvSpPr txBox="1"/>
          <p:nvPr/>
        </p:nvSpPr>
        <p:spPr>
          <a:xfrm>
            <a:off x="7153656" y="473659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cxnSp>
        <p:nvCxnSpPr>
          <p:cNvPr id="190" name="Connector 190"/>
          <p:cNvCxnSpPr/>
          <p:nvPr/>
        </p:nvCxnSpPr>
        <p:spPr>
          <a:xfrm>
            <a:off x="6958584" y="4736592"/>
            <a:ext cx="292608" cy="914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sp>
        <p:nvSpPr>
          <p:cNvPr id="191" name="Shape 191"/>
          <p:cNvSpPr txBox="1"/>
          <p:nvPr/>
        </p:nvSpPr>
        <p:spPr>
          <a:xfrm>
            <a:off x="6958584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92" name="Shape 192"/>
          <p:cNvSpPr txBox="1"/>
          <p:nvPr/>
        </p:nvSpPr>
        <p:spPr>
          <a:xfrm>
            <a:off x="7056120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sp>
        <p:nvSpPr>
          <p:cNvPr id="193" name="Shape 193"/>
          <p:cNvSpPr txBox="1"/>
          <p:nvPr/>
        </p:nvSpPr>
        <p:spPr>
          <a:xfrm>
            <a:off x="7153656" y="4828032"/>
            <a:ext cx="97536" cy="914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80"/>
          </a:p>
        </p:txBody>
      </p:sp>
      <p:cxnSp>
        <p:nvCxnSpPr>
          <p:cNvPr id="194" name="Connector 194"/>
          <p:cNvCxnSpPr/>
          <p:nvPr/>
        </p:nvCxnSpPr>
        <p:spPr>
          <a:xfrm>
            <a:off x="6958584" y="4828032"/>
            <a:ext cx="292608" cy="914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cxnSp>
        <p:nvCxnSpPr>
          <p:cNvPr id="195" name="Connector 195"/>
          <p:cNvCxnSpPr/>
          <p:nvPr/>
        </p:nvCxnSpPr>
        <p:spPr>
          <a:xfrm>
            <a:off x="7056120" y="4645152"/>
            <a:ext cx="914" cy="274320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cxnSp>
        <p:nvCxnSpPr>
          <p:cNvPr id="196" name="Connector 196"/>
          <p:cNvCxnSpPr/>
          <p:nvPr/>
        </p:nvCxnSpPr>
        <p:spPr>
          <a:xfrm>
            <a:off x="7153656" y="4645152"/>
            <a:ext cx="914" cy="274320"/>
          </a:xfrm>
          <a:prstGeom prst="straightConnector1">
            <a:avLst/>
          </a:prstGeom>
          <a:ln w="4445" cap="round">
            <a:solidFill>
              <a:srgbClr val="A1A1A1"/>
            </a:solidFill>
          </a:ln>
        </p:spPr>
      </p:cxnSp>
      <p:sp>
        <p:nvSpPr>
          <p:cNvPr id="197" name="Shape 197"/>
          <p:cNvSpPr txBox="1"/>
          <p:nvPr/>
        </p:nvSpPr>
        <p:spPr>
          <a:xfrm>
            <a:off x="6922008" y="4974336"/>
            <a:ext cx="365760" cy="10058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50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标准 HTML 结构</a:t>
            </a:r>
            <a:endParaRPr lang="zh-CN" sz="450"/>
          </a:p>
        </p:txBody>
      </p:sp>
      <p:sp>
        <p:nvSpPr>
          <p:cNvPr id="198" name="Shape 198"/>
          <p:cNvSpPr txBox="1"/>
          <p:nvPr/>
        </p:nvSpPr>
        <p:spPr>
          <a:xfrm>
            <a:off x="7013448" y="5102352"/>
            <a:ext cx="18288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&lt;/&gt;</a:t>
            </a:r>
            <a:endParaRPr lang="zh-CN" sz="900"/>
          </a:p>
        </p:txBody>
      </p:sp>
      <p:sp>
        <p:nvSpPr>
          <p:cNvPr id="199" name="Shape 199"/>
          <p:cNvSpPr txBox="1"/>
          <p:nvPr/>
        </p:nvSpPr>
        <p:spPr>
          <a:xfrm>
            <a:off x="6702552" y="4818888"/>
            <a:ext cx="146304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444444"/>
                </a:solidFill>
                <a:latin typeface="Microsoft YaHei"/>
                <a:ea typeface="Microsoft YaHei"/>
                <a:cs typeface="Microsoft YaHei"/>
              </a:rPr>
              <a:t>...</a:t>
            </a:r>
            <a:endParaRPr lang="zh-CN" sz="1000"/>
          </a:p>
        </p:txBody>
      </p:sp>
      <p:sp>
        <p:nvSpPr>
          <p:cNvPr id="200" name="Shape 200"/>
          <p:cNvSpPr txBox="1"/>
          <p:nvPr/>
        </p:nvSpPr>
        <p:spPr>
          <a:xfrm>
            <a:off x="8010144" y="137160"/>
            <a:ext cx="5193792" cy="1517904"/>
          </a:xfrm>
          <a:prstGeom prst="roundRect">
            <a:avLst/>
          </a:prstGeom>
          <a:solidFill>
            <a:srgbClr val="F6FFF6"/>
          </a:solidFill>
          <a:ln w="13970">
            <a:solidFill>
              <a:srgbClr val="6AA36E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01" name="Shape 201"/>
          <p:cNvSpPr txBox="1"/>
          <p:nvPr/>
        </p:nvSpPr>
        <p:spPr>
          <a:xfrm>
            <a:off x="10094976" y="210312"/>
            <a:ext cx="132588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2F7D46"/>
                </a:solidFill>
                <a:latin typeface="Microsoft YaHei"/>
                <a:ea typeface="Microsoft YaHei"/>
                <a:cs typeface="Microsoft YaHei"/>
              </a:rPr>
              <a:t>0 示例数据库</a:t>
            </a:r>
            <a:endParaRPr lang="zh-CN" sz="1400"/>
          </a:p>
        </p:txBody>
      </p:sp>
      <p:sp>
        <p:nvSpPr>
          <p:cNvPr id="202" name="Shape 202"/>
          <p:cNvSpPr txBox="1"/>
          <p:nvPr/>
        </p:nvSpPr>
        <p:spPr>
          <a:xfrm>
            <a:off x="8174736" y="438912"/>
            <a:ext cx="859536" cy="1152144"/>
          </a:xfrm>
          <a:prstGeom prst="roundRect">
            <a:avLst/>
          </a:prstGeom>
          <a:solidFill>
            <a:srgbClr val="F8FFF8"/>
          </a:solidFill>
          <a:ln w="12700">
            <a:solidFill>
              <a:srgbClr val="6FA36F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03" name="Shape 203"/>
          <p:cNvSpPr txBox="1"/>
          <p:nvPr/>
        </p:nvSpPr>
        <p:spPr>
          <a:xfrm>
            <a:off x="8247888" y="484632"/>
            <a:ext cx="71323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3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示例图像</a:t>
            </a:r>
            <a:endParaRPr lang="zh-CN" sz="630"/>
          </a:p>
        </p:txBody>
      </p:sp>
      <p:sp>
        <p:nvSpPr>
          <p:cNvPr id="204" name="Shape 204"/>
          <p:cNvSpPr txBox="1"/>
          <p:nvPr/>
        </p:nvSpPr>
        <p:spPr>
          <a:xfrm>
            <a:off x="8330184" y="694944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05" name="Shape 205"/>
          <p:cNvSpPr txBox="1"/>
          <p:nvPr/>
        </p:nvSpPr>
        <p:spPr>
          <a:xfrm>
            <a:off x="8330184" y="694944"/>
            <a:ext cx="548640" cy="128016"/>
          </a:xfrm>
          <a:prstGeom prst="rect">
            <a:avLst/>
          </a:prstGeom>
          <a:solidFill>
            <a:srgbClr val="F1F5F9"/>
          </a:solidFill>
          <a:ln w="3810">
            <a:solidFill>
              <a:srgbClr val="8A9099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06" name="Shape 206"/>
          <p:cNvSpPr txBox="1"/>
          <p:nvPr/>
        </p:nvSpPr>
        <p:spPr>
          <a:xfrm>
            <a:off x="8330184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07" name="Shape 207"/>
          <p:cNvSpPr txBox="1"/>
          <p:nvPr/>
        </p:nvSpPr>
        <p:spPr>
          <a:xfrm>
            <a:off x="8467344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08" name="Shape 208"/>
          <p:cNvSpPr txBox="1"/>
          <p:nvPr/>
        </p:nvSpPr>
        <p:spPr>
          <a:xfrm>
            <a:off x="8604504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09" name="Shape 209"/>
          <p:cNvSpPr txBox="1"/>
          <p:nvPr/>
        </p:nvSpPr>
        <p:spPr>
          <a:xfrm>
            <a:off x="8741664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10" name="Shape 210"/>
          <p:cNvSpPr txBox="1"/>
          <p:nvPr/>
        </p:nvSpPr>
        <p:spPr>
          <a:xfrm>
            <a:off x="8330184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11" name="Shape 211"/>
          <p:cNvSpPr txBox="1"/>
          <p:nvPr/>
        </p:nvSpPr>
        <p:spPr>
          <a:xfrm>
            <a:off x="8467344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12" name="Shape 212"/>
          <p:cNvSpPr txBox="1"/>
          <p:nvPr/>
        </p:nvSpPr>
        <p:spPr>
          <a:xfrm>
            <a:off x="8604504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13" name="Shape 213"/>
          <p:cNvSpPr txBox="1"/>
          <p:nvPr/>
        </p:nvSpPr>
        <p:spPr>
          <a:xfrm>
            <a:off x="8741664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cxnSp>
        <p:nvCxnSpPr>
          <p:cNvPr id="214" name="Connector 214"/>
          <p:cNvCxnSpPr/>
          <p:nvPr/>
        </p:nvCxnSpPr>
        <p:spPr>
          <a:xfrm>
            <a:off x="8330184" y="822960"/>
            <a:ext cx="548640" cy="914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sp>
        <p:nvSpPr>
          <p:cNvPr id="215" name="Shape 215"/>
          <p:cNvSpPr txBox="1"/>
          <p:nvPr/>
        </p:nvSpPr>
        <p:spPr>
          <a:xfrm>
            <a:off x="8330184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16" name="Shape 216"/>
          <p:cNvSpPr txBox="1"/>
          <p:nvPr/>
        </p:nvSpPr>
        <p:spPr>
          <a:xfrm>
            <a:off x="8467344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17" name="Shape 217"/>
          <p:cNvSpPr txBox="1"/>
          <p:nvPr/>
        </p:nvSpPr>
        <p:spPr>
          <a:xfrm>
            <a:off x="8604504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18" name="Shape 218"/>
          <p:cNvSpPr txBox="1"/>
          <p:nvPr/>
        </p:nvSpPr>
        <p:spPr>
          <a:xfrm>
            <a:off x="8741664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cxnSp>
        <p:nvCxnSpPr>
          <p:cNvPr id="219" name="Connector 219"/>
          <p:cNvCxnSpPr/>
          <p:nvPr/>
        </p:nvCxnSpPr>
        <p:spPr>
          <a:xfrm>
            <a:off x="8330184" y="950976"/>
            <a:ext cx="548640" cy="914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20" name="Connector 220"/>
          <p:cNvCxnSpPr/>
          <p:nvPr/>
        </p:nvCxnSpPr>
        <p:spPr>
          <a:xfrm>
            <a:off x="8467344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21" name="Connector 221"/>
          <p:cNvCxnSpPr/>
          <p:nvPr/>
        </p:nvCxnSpPr>
        <p:spPr>
          <a:xfrm>
            <a:off x="8604504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22" name="Connector 222"/>
          <p:cNvCxnSpPr/>
          <p:nvPr/>
        </p:nvCxnSpPr>
        <p:spPr>
          <a:xfrm>
            <a:off x="8741664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sp>
        <p:nvSpPr>
          <p:cNvPr id="223" name="Shape 223"/>
          <p:cNvSpPr txBox="1"/>
          <p:nvPr/>
        </p:nvSpPr>
        <p:spPr>
          <a:xfrm>
            <a:off x="8339328" y="1133856"/>
            <a:ext cx="53035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标准 HTML 结构</a:t>
            </a:r>
            <a:endParaRPr lang="zh-CN" sz="600"/>
          </a:p>
        </p:txBody>
      </p:sp>
      <p:sp>
        <p:nvSpPr>
          <p:cNvPr id="224" name="Shape 224"/>
          <p:cNvSpPr txBox="1"/>
          <p:nvPr/>
        </p:nvSpPr>
        <p:spPr>
          <a:xfrm>
            <a:off x="8458200" y="1298448"/>
            <a:ext cx="292608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HTML</a:t>
            </a:r>
            <a:endParaRPr lang="zh-CN" sz="800"/>
          </a:p>
        </p:txBody>
      </p:sp>
      <p:sp>
        <p:nvSpPr>
          <p:cNvPr id="225" name="Shape 225"/>
          <p:cNvSpPr txBox="1"/>
          <p:nvPr/>
        </p:nvSpPr>
        <p:spPr>
          <a:xfrm>
            <a:off x="9189720" y="438912"/>
            <a:ext cx="859536" cy="1152144"/>
          </a:xfrm>
          <a:prstGeom prst="roundRect">
            <a:avLst/>
          </a:prstGeom>
          <a:solidFill>
            <a:srgbClr val="F8FFF8"/>
          </a:solidFill>
          <a:ln w="12700">
            <a:solidFill>
              <a:srgbClr val="6FA36F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26" name="Shape 226"/>
          <p:cNvSpPr txBox="1"/>
          <p:nvPr/>
        </p:nvSpPr>
        <p:spPr>
          <a:xfrm>
            <a:off x="9262872" y="484632"/>
            <a:ext cx="71323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3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示例图像</a:t>
            </a:r>
            <a:endParaRPr lang="zh-CN" sz="630"/>
          </a:p>
        </p:txBody>
      </p:sp>
      <p:sp>
        <p:nvSpPr>
          <p:cNvPr id="227" name="Shape 227"/>
          <p:cNvSpPr txBox="1"/>
          <p:nvPr/>
        </p:nvSpPr>
        <p:spPr>
          <a:xfrm>
            <a:off x="9345168" y="694944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28" name="Shape 228"/>
          <p:cNvSpPr txBox="1"/>
          <p:nvPr/>
        </p:nvSpPr>
        <p:spPr>
          <a:xfrm>
            <a:off x="9345168" y="694944"/>
            <a:ext cx="548640" cy="128016"/>
          </a:xfrm>
          <a:prstGeom prst="rect">
            <a:avLst/>
          </a:prstGeom>
          <a:solidFill>
            <a:srgbClr val="F1F5F9"/>
          </a:solidFill>
          <a:ln w="3810">
            <a:solidFill>
              <a:srgbClr val="8A9099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29" name="Shape 229"/>
          <p:cNvSpPr txBox="1"/>
          <p:nvPr/>
        </p:nvSpPr>
        <p:spPr>
          <a:xfrm>
            <a:off x="9345168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0" name="Shape 230"/>
          <p:cNvSpPr txBox="1"/>
          <p:nvPr/>
        </p:nvSpPr>
        <p:spPr>
          <a:xfrm>
            <a:off x="9482328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1" name="Shape 231"/>
          <p:cNvSpPr txBox="1"/>
          <p:nvPr/>
        </p:nvSpPr>
        <p:spPr>
          <a:xfrm>
            <a:off x="9619488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2" name="Shape 232"/>
          <p:cNvSpPr txBox="1"/>
          <p:nvPr/>
        </p:nvSpPr>
        <p:spPr>
          <a:xfrm>
            <a:off x="9756648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3" name="Shape 233"/>
          <p:cNvSpPr txBox="1"/>
          <p:nvPr/>
        </p:nvSpPr>
        <p:spPr>
          <a:xfrm>
            <a:off x="9345168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4" name="Shape 234"/>
          <p:cNvSpPr txBox="1"/>
          <p:nvPr/>
        </p:nvSpPr>
        <p:spPr>
          <a:xfrm>
            <a:off x="9482328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5" name="Shape 235"/>
          <p:cNvSpPr txBox="1"/>
          <p:nvPr/>
        </p:nvSpPr>
        <p:spPr>
          <a:xfrm>
            <a:off x="9619488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6" name="Shape 236"/>
          <p:cNvSpPr txBox="1"/>
          <p:nvPr/>
        </p:nvSpPr>
        <p:spPr>
          <a:xfrm>
            <a:off x="9756648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cxnSp>
        <p:nvCxnSpPr>
          <p:cNvPr id="237" name="Connector 237"/>
          <p:cNvCxnSpPr/>
          <p:nvPr/>
        </p:nvCxnSpPr>
        <p:spPr>
          <a:xfrm>
            <a:off x="9345168" y="822960"/>
            <a:ext cx="548640" cy="914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sp>
        <p:nvSpPr>
          <p:cNvPr id="238" name="Shape 238"/>
          <p:cNvSpPr txBox="1"/>
          <p:nvPr/>
        </p:nvSpPr>
        <p:spPr>
          <a:xfrm>
            <a:off x="9345168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39" name="Shape 239"/>
          <p:cNvSpPr txBox="1"/>
          <p:nvPr/>
        </p:nvSpPr>
        <p:spPr>
          <a:xfrm>
            <a:off x="9482328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40" name="Shape 240"/>
          <p:cNvSpPr txBox="1"/>
          <p:nvPr/>
        </p:nvSpPr>
        <p:spPr>
          <a:xfrm>
            <a:off x="9619488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41" name="Shape 241"/>
          <p:cNvSpPr txBox="1"/>
          <p:nvPr/>
        </p:nvSpPr>
        <p:spPr>
          <a:xfrm>
            <a:off x="9756648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cxnSp>
        <p:nvCxnSpPr>
          <p:cNvPr id="242" name="Connector 242"/>
          <p:cNvCxnSpPr/>
          <p:nvPr/>
        </p:nvCxnSpPr>
        <p:spPr>
          <a:xfrm>
            <a:off x="9345168" y="950976"/>
            <a:ext cx="548640" cy="914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43" name="Connector 243"/>
          <p:cNvCxnSpPr/>
          <p:nvPr/>
        </p:nvCxnSpPr>
        <p:spPr>
          <a:xfrm>
            <a:off x="9482328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44" name="Connector 244"/>
          <p:cNvCxnSpPr/>
          <p:nvPr/>
        </p:nvCxnSpPr>
        <p:spPr>
          <a:xfrm>
            <a:off x="9619488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45" name="Connector 245"/>
          <p:cNvCxnSpPr/>
          <p:nvPr/>
        </p:nvCxnSpPr>
        <p:spPr>
          <a:xfrm>
            <a:off x="9756648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sp>
        <p:nvSpPr>
          <p:cNvPr id="246" name="Shape 246"/>
          <p:cNvSpPr txBox="1"/>
          <p:nvPr/>
        </p:nvSpPr>
        <p:spPr>
          <a:xfrm>
            <a:off x="9354312" y="1133856"/>
            <a:ext cx="53035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标准 HTML 结构</a:t>
            </a:r>
            <a:endParaRPr lang="zh-CN" sz="600"/>
          </a:p>
        </p:txBody>
      </p:sp>
      <p:sp>
        <p:nvSpPr>
          <p:cNvPr id="247" name="Shape 247"/>
          <p:cNvSpPr txBox="1"/>
          <p:nvPr/>
        </p:nvSpPr>
        <p:spPr>
          <a:xfrm>
            <a:off x="9473184" y="1298448"/>
            <a:ext cx="292608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HTML</a:t>
            </a:r>
            <a:endParaRPr lang="zh-CN" sz="800"/>
          </a:p>
        </p:txBody>
      </p:sp>
      <p:sp>
        <p:nvSpPr>
          <p:cNvPr id="248" name="Shape 248"/>
          <p:cNvSpPr txBox="1"/>
          <p:nvPr/>
        </p:nvSpPr>
        <p:spPr>
          <a:xfrm>
            <a:off x="10204704" y="438912"/>
            <a:ext cx="859536" cy="1152144"/>
          </a:xfrm>
          <a:prstGeom prst="roundRect">
            <a:avLst/>
          </a:prstGeom>
          <a:solidFill>
            <a:srgbClr val="F8FFF8"/>
          </a:solidFill>
          <a:ln w="12700">
            <a:solidFill>
              <a:srgbClr val="6FA36F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49" name="Shape 249"/>
          <p:cNvSpPr txBox="1"/>
          <p:nvPr/>
        </p:nvSpPr>
        <p:spPr>
          <a:xfrm>
            <a:off x="10277856" y="484632"/>
            <a:ext cx="71323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30" b="1">
                <a:solidFill>
                  <a:srgbClr val="4B5563"/>
                </a:solidFill>
                <a:latin typeface="Microsoft YaHei"/>
                <a:ea typeface="Microsoft YaHei"/>
                <a:cs typeface="Microsoft YaHei"/>
              </a:rPr>
              <a:t>示例图像</a:t>
            </a:r>
            <a:endParaRPr lang="zh-CN" sz="630"/>
          </a:p>
        </p:txBody>
      </p:sp>
      <p:sp>
        <p:nvSpPr>
          <p:cNvPr id="250" name="Shape 250"/>
          <p:cNvSpPr txBox="1"/>
          <p:nvPr/>
        </p:nvSpPr>
        <p:spPr>
          <a:xfrm>
            <a:off x="10360152" y="694944"/>
            <a:ext cx="5486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8A9099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51" name="Shape 251"/>
          <p:cNvSpPr txBox="1"/>
          <p:nvPr/>
        </p:nvSpPr>
        <p:spPr>
          <a:xfrm>
            <a:off x="10360152" y="694944"/>
            <a:ext cx="548640" cy="128016"/>
          </a:xfrm>
          <a:prstGeom prst="rect">
            <a:avLst/>
          </a:prstGeom>
          <a:solidFill>
            <a:srgbClr val="F1F5F9"/>
          </a:solidFill>
          <a:ln w="3810">
            <a:solidFill>
              <a:srgbClr val="8A9099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52" name="Shape 252"/>
          <p:cNvSpPr txBox="1"/>
          <p:nvPr/>
        </p:nvSpPr>
        <p:spPr>
          <a:xfrm>
            <a:off x="10360152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53" name="Shape 253"/>
          <p:cNvSpPr txBox="1"/>
          <p:nvPr/>
        </p:nvSpPr>
        <p:spPr>
          <a:xfrm>
            <a:off x="10497312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54" name="Shape 254"/>
          <p:cNvSpPr txBox="1"/>
          <p:nvPr/>
        </p:nvSpPr>
        <p:spPr>
          <a:xfrm>
            <a:off x="10634472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55" name="Shape 255"/>
          <p:cNvSpPr txBox="1"/>
          <p:nvPr/>
        </p:nvSpPr>
        <p:spPr>
          <a:xfrm>
            <a:off x="10771632" y="694944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56" name="Shape 256"/>
          <p:cNvSpPr txBox="1"/>
          <p:nvPr/>
        </p:nvSpPr>
        <p:spPr>
          <a:xfrm>
            <a:off x="10360152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57" name="Shape 257"/>
          <p:cNvSpPr txBox="1"/>
          <p:nvPr/>
        </p:nvSpPr>
        <p:spPr>
          <a:xfrm>
            <a:off x="10497312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58" name="Shape 258"/>
          <p:cNvSpPr txBox="1"/>
          <p:nvPr/>
        </p:nvSpPr>
        <p:spPr>
          <a:xfrm>
            <a:off x="10634472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59" name="Shape 259"/>
          <p:cNvSpPr txBox="1"/>
          <p:nvPr/>
        </p:nvSpPr>
        <p:spPr>
          <a:xfrm>
            <a:off x="10771632" y="822960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cxnSp>
        <p:nvCxnSpPr>
          <p:cNvPr id="260" name="Connector 260"/>
          <p:cNvCxnSpPr/>
          <p:nvPr/>
        </p:nvCxnSpPr>
        <p:spPr>
          <a:xfrm>
            <a:off x="10360152" y="822960"/>
            <a:ext cx="548640" cy="914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sp>
        <p:nvSpPr>
          <p:cNvPr id="261" name="Shape 261"/>
          <p:cNvSpPr txBox="1"/>
          <p:nvPr/>
        </p:nvSpPr>
        <p:spPr>
          <a:xfrm>
            <a:off x="10360152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62" name="Shape 262"/>
          <p:cNvSpPr txBox="1"/>
          <p:nvPr/>
        </p:nvSpPr>
        <p:spPr>
          <a:xfrm>
            <a:off x="10497312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63" name="Shape 263"/>
          <p:cNvSpPr txBox="1"/>
          <p:nvPr/>
        </p:nvSpPr>
        <p:spPr>
          <a:xfrm>
            <a:off x="10634472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sp>
        <p:nvSpPr>
          <p:cNvPr id="264" name="Shape 264"/>
          <p:cNvSpPr txBox="1"/>
          <p:nvPr/>
        </p:nvSpPr>
        <p:spPr>
          <a:xfrm>
            <a:off x="10771632" y="950976"/>
            <a:ext cx="13716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220"/>
          </a:p>
        </p:txBody>
      </p:sp>
      <p:cxnSp>
        <p:nvCxnSpPr>
          <p:cNvPr id="265" name="Connector 265"/>
          <p:cNvCxnSpPr/>
          <p:nvPr/>
        </p:nvCxnSpPr>
        <p:spPr>
          <a:xfrm>
            <a:off x="10360152" y="950976"/>
            <a:ext cx="548640" cy="914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66" name="Connector 266"/>
          <p:cNvCxnSpPr/>
          <p:nvPr/>
        </p:nvCxnSpPr>
        <p:spPr>
          <a:xfrm>
            <a:off x="10497312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67" name="Connector 267"/>
          <p:cNvCxnSpPr/>
          <p:nvPr/>
        </p:nvCxnSpPr>
        <p:spPr>
          <a:xfrm>
            <a:off x="10634472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cxnSp>
        <p:nvCxnSpPr>
          <p:cNvPr id="268" name="Connector 268"/>
          <p:cNvCxnSpPr/>
          <p:nvPr/>
        </p:nvCxnSpPr>
        <p:spPr>
          <a:xfrm>
            <a:off x="10771632" y="694944"/>
            <a:ext cx="914" cy="384048"/>
          </a:xfrm>
          <a:prstGeom prst="straightConnector1">
            <a:avLst/>
          </a:prstGeom>
          <a:ln w="4445" cap="round">
            <a:solidFill>
              <a:srgbClr val="8A9099"/>
            </a:solidFill>
          </a:ln>
        </p:spPr>
      </p:cxnSp>
      <p:sp>
        <p:nvSpPr>
          <p:cNvPr id="269" name="Shape 269"/>
          <p:cNvSpPr txBox="1"/>
          <p:nvPr/>
        </p:nvSpPr>
        <p:spPr>
          <a:xfrm>
            <a:off x="10369296" y="1133856"/>
            <a:ext cx="530352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0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标准 HTML 结构</a:t>
            </a:r>
            <a:endParaRPr lang="zh-CN" sz="600"/>
          </a:p>
        </p:txBody>
      </p:sp>
      <p:sp>
        <p:nvSpPr>
          <p:cNvPr id="270" name="Shape 270"/>
          <p:cNvSpPr txBox="1"/>
          <p:nvPr/>
        </p:nvSpPr>
        <p:spPr>
          <a:xfrm>
            <a:off x="10488168" y="1298448"/>
            <a:ext cx="292608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HTML</a:t>
            </a:r>
            <a:endParaRPr lang="zh-CN" sz="800"/>
          </a:p>
        </p:txBody>
      </p:sp>
      <p:sp>
        <p:nvSpPr>
          <p:cNvPr id="271" name="Shape 271"/>
          <p:cNvSpPr txBox="1"/>
          <p:nvPr/>
        </p:nvSpPr>
        <p:spPr>
          <a:xfrm>
            <a:off x="11137392" y="868680"/>
            <a:ext cx="219456" cy="18288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...</a:t>
            </a:r>
            <a:endParaRPr lang="zh-CN" sz="1400"/>
          </a:p>
        </p:txBody>
      </p:sp>
      <p:sp>
        <p:nvSpPr>
          <p:cNvPr id="272" name="Shape 272"/>
          <p:cNvSpPr txBox="1"/>
          <p:nvPr/>
        </p:nvSpPr>
        <p:spPr>
          <a:xfrm>
            <a:off x="11713464" y="438912"/>
            <a:ext cx="1161288" cy="115214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AA36E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73" name="Shape 273"/>
          <p:cNvSpPr txBox="1"/>
          <p:nvPr/>
        </p:nvSpPr>
        <p:spPr>
          <a:xfrm>
            <a:off x="11841480" y="594360"/>
            <a:ext cx="274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000" b="1">
                <a:solidFill>
                  <a:srgbClr val="17734B"/>
                </a:solidFill>
                <a:latin typeface="Microsoft YaHei"/>
                <a:ea typeface="Microsoft YaHei"/>
                <a:cs typeface="Microsoft YaHei"/>
              </a:rPr>
              <a:t>▦</a:t>
            </a:r>
            <a:endParaRPr lang="zh-CN" sz="2000"/>
          </a:p>
        </p:txBody>
      </p:sp>
      <p:sp>
        <p:nvSpPr>
          <p:cNvPr id="274" name="Shape 274"/>
          <p:cNvSpPr txBox="1"/>
          <p:nvPr/>
        </p:nvSpPr>
        <p:spPr>
          <a:xfrm>
            <a:off x="12188952" y="630936"/>
            <a:ext cx="548640" cy="15544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结构形态</a:t>
            </a:r>
            <a:endParaRPr lang="zh-CN" sz="950"/>
          </a:p>
        </p:txBody>
      </p:sp>
      <p:sp>
        <p:nvSpPr>
          <p:cNvPr id="275" name="Shape 275"/>
          <p:cNvSpPr txBox="1"/>
          <p:nvPr/>
        </p:nvSpPr>
        <p:spPr>
          <a:xfrm>
            <a:off x="11841480" y="923544"/>
            <a:ext cx="274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000" b="1">
                <a:solidFill>
                  <a:srgbClr val="17734B"/>
                </a:solidFill>
                <a:latin typeface="Microsoft YaHei"/>
                <a:ea typeface="Microsoft YaHei"/>
                <a:cs typeface="Microsoft YaHei"/>
              </a:rPr>
              <a:t>▥</a:t>
            </a:r>
            <a:endParaRPr lang="zh-CN" sz="2000"/>
          </a:p>
        </p:txBody>
      </p:sp>
      <p:sp>
        <p:nvSpPr>
          <p:cNvPr id="276" name="Shape 276"/>
          <p:cNvSpPr txBox="1"/>
          <p:nvPr/>
        </p:nvSpPr>
        <p:spPr>
          <a:xfrm>
            <a:off x="12188952" y="960120"/>
            <a:ext cx="548640" cy="15544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版式特征</a:t>
            </a:r>
            <a:endParaRPr lang="zh-CN" sz="950"/>
          </a:p>
        </p:txBody>
      </p:sp>
      <p:sp>
        <p:nvSpPr>
          <p:cNvPr id="277" name="Shape 277"/>
          <p:cNvSpPr txBox="1"/>
          <p:nvPr/>
        </p:nvSpPr>
        <p:spPr>
          <a:xfrm>
            <a:off x="11841480" y="1252728"/>
            <a:ext cx="274320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000" b="1">
                <a:solidFill>
                  <a:srgbClr val="17734B"/>
                </a:solidFill>
                <a:latin typeface="Microsoft YaHei"/>
                <a:ea typeface="Microsoft YaHei"/>
                <a:cs typeface="Microsoft YaHei"/>
              </a:rPr>
              <a:t>◎</a:t>
            </a:r>
            <a:endParaRPr lang="zh-CN" sz="2000"/>
          </a:p>
        </p:txBody>
      </p:sp>
      <p:sp>
        <p:nvSpPr>
          <p:cNvPr id="278" name="Shape 278"/>
          <p:cNvSpPr txBox="1"/>
          <p:nvPr/>
        </p:nvSpPr>
        <p:spPr>
          <a:xfrm>
            <a:off x="12188952" y="1289304"/>
            <a:ext cx="548640" cy="15544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标准标注</a:t>
            </a:r>
            <a:endParaRPr lang="zh-CN" sz="950"/>
          </a:p>
        </p:txBody>
      </p:sp>
      <p:cxnSp>
        <p:nvCxnSpPr>
          <p:cNvPr id="279" name="Connector 279"/>
          <p:cNvCxnSpPr/>
          <p:nvPr/>
        </p:nvCxnSpPr>
        <p:spPr>
          <a:xfrm>
            <a:off x="7644384" y="804672"/>
            <a:ext cx="182880" cy="914"/>
          </a:xfrm>
          <a:prstGeom prst="straightConnector1">
            <a:avLst/>
          </a:prstGeom>
          <a:ln w="13970" cap="round">
            <a:solidFill>
              <a:srgbClr val="2F7D46"/>
            </a:solidFill>
            <a:prstDash val="dash"/>
          </a:ln>
        </p:spPr>
      </p:cxnSp>
      <p:cxnSp>
        <p:nvCxnSpPr>
          <p:cNvPr id="280" name="Connector 280"/>
          <p:cNvCxnSpPr/>
          <p:nvPr/>
        </p:nvCxnSpPr>
        <p:spPr>
          <a:xfrm>
            <a:off x="7827264" y="804672"/>
            <a:ext cx="914" cy="1527048"/>
          </a:xfrm>
          <a:prstGeom prst="straightConnector1">
            <a:avLst/>
          </a:prstGeom>
          <a:ln w="13970" cap="round">
            <a:solidFill>
              <a:srgbClr val="2F7D46"/>
            </a:solidFill>
            <a:prstDash val="dash"/>
          </a:ln>
        </p:spPr>
      </p:cxnSp>
      <p:cxnSp>
        <p:nvCxnSpPr>
          <p:cNvPr id="281" name="Connector 281"/>
          <p:cNvCxnSpPr/>
          <p:nvPr/>
        </p:nvCxnSpPr>
        <p:spPr>
          <a:xfrm>
            <a:off x="7827264" y="2331720"/>
            <a:ext cx="182880" cy="914"/>
          </a:xfrm>
          <a:prstGeom prst="straightConnector1">
            <a:avLst/>
          </a:prstGeom>
          <a:ln w="13970" cap="round">
            <a:solidFill>
              <a:srgbClr val="2F7D46"/>
            </a:solidFill>
            <a:prstDash val="dash"/>
            <a:tailEnd type="triangle"/>
          </a:ln>
        </p:spPr>
      </p:cxnSp>
      <p:cxnSp>
        <p:nvCxnSpPr>
          <p:cNvPr id="282" name="Connector 282"/>
          <p:cNvCxnSpPr/>
          <p:nvPr/>
        </p:nvCxnSpPr>
        <p:spPr>
          <a:xfrm>
            <a:off x="7644384" y="2825496"/>
            <a:ext cx="365760" cy="914"/>
          </a:xfrm>
          <a:prstGeom prst="straightConnector1">
            <a:avLst/>
          </a:prstGeom>
          <a:ln w="25400" cap="round">
            <a:solidFill>
              <a:srgbClr val="2764BD"/>
            </a:solidFill>
            <a:tailEnd type="triangle"/>
          </a:ln>
        </p:spPr>
      </p:cxnSp>
      <p:sp>
        <p:nvSpPr>
          <p:cNvPr id="283" name="Shape 283"/>
          <p:cNvSpPr txBox="1"/>
          <p:nvPr/>
        </p:nvSpPr>
        <p:spPr>
          <a:xfrm>
            <a:off x="8010144" y="1810512"/>
            <a:ext cx="5193792" cy="2350008"/>
          </a:xfrm>
          <a:prstGeom prst="roundRect">
            <a:avLst/>
          </a:prstGeom>
          <a:solidFill>
            <a:srgbClr val="F1FBFF"/>
          </a:solidFill>
          <a:ln w="13970">
            <a:solidFill>
              <a:srgbClr val="5AB2EA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84" name="Shape 284"/>
          <p:cNvSpPr txBox="1"/>
          <p:nvPr/>
        </p:nvSpPr>
        <p:spPr>
          <a:xfrm>
            <a:off x="8851392" y="1892808"/>
            <a:ext cx="306324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2 上下文提示构造与大模型识别</a:t>
            </a:r>
            <a:endParaRPr lang="zh-CN" sz="1400"/>
          </a:p>
        </p:txBody>
      </p:sp>
      <p:sp>
        <p:nvSpPr>
          <p:cNvPr id="285" name="Shape 285"/>
          <p:cNvSpPr txBox="1"/>
          <p:nvPr/>
        </p:nvSpPr>
        <p:spPr>
          <a:xfrm>
            <a:off x="8101584" y="2139696"/>
            <a:ext cx="1207008" cy="393192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66B2E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86" name="Shape 286"/>
          <p:cNvSpPr txBox="1"/>
          <p:nvPr/>
        </p:nvSpPr>
        <p:spPr>
          <a:xfrm>
            <a:off x="8211312" y="2212848"/>
            <a:ext cx="246888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60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▤</a:t>
            </a:r>
            <a:endParaRPr lang="zh-CN" sz="1600"/>
          </a:p>
        </p:txBody>
      </p:sp>
      <p:sp>
        <p:nvSpPr>
          <p:cNvPr id="287" name="Shape 287"/>
          <p:cNvSpPr txBox="1"/>
          <p:nvPr/>
        </p:nvSpPr>
        <p:spPr>
          <a:xfrm>
            <a:off x="8522208" y="2249424"/>
            <a:ext cx="603504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任务指令</a:t>
            </a:r>
            <a:endParaRPr lang="zh-CN" sz="950"/>
          </a:p>
        </p:txBody>
      </p:sp>
      <p:sp>
        <p:nvSpPr>
          <p:cNvPr id="288" name="Shape 288"/>
          <p:cNvSpPr txBox="1"/>
          <p:nvPr/>
        </p:nvSpPr>
        <p:spPr>
          <a:xfrm>
            <a:off x="8101584" y="2642616"/>
            <a:ext cx="1207008" cy="393192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66B2E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89" name="Shape 289"/>
          <p:cNvSpPr txBox="1"/>
          <p:nvPr/>
        </p:nvSpPr>
        <p:spPr>
          <a:xfrm>
            <a:off x="8211312" y="2715768"/>
            <a:ext cx="246888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60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▧</a:t>
            </a:r>
            <a:endParaRPr lang="zh-CN" sz="1600"/>
          </a:p>
        </p:txBody>
      </p:sp>
      <p:sp>
        <p:nvSpPr>
          <p:cNvPr id="290" name="Shape 290"/>
          <p:cNvSpPr txBox="1"/>
          <p:nvPr/>
        </p:nvSpPr>
        <p:spPr>
          <a:xfrm>
            <a:off x="8522208" y="2752344"/>
            <a:ext cx="603504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参考示例</a:t>
            </a:r>
            <a:endParaRPr lang="zh-CN" sz="950"/>
          </a:p>
          <a:p>
            <a:pPr algn="ctr"/>
            <a:r>
              <a:rPr lang="zh-CN" sz="9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(Top-k)</a:t>
            </a:r>
            <a:endParaRPr lang="zh-CN" sz="950"/>
          </a:p>
        </p:txBody>
      </p:sp>
      <p:sp>
        <p:nvSpPr>
          <p:cNvPr id="291" name="Shape 291"/>
          <p:cNvSpPr txBox="1"/>
          <p:nvPr/>
        </p:nvSpPr>
        <p:spPr>
          <a:xfrm>
            <a:off x="8101584" y="3163824"/>
            <a:ext cx="1207008" cy="393192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66B2E6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92" name="Shape 292"/>
          <p:cNvSpPr txBox="1"/>
          <p:nvPr/>
        </p:nvSpPr>
        <p:spPr>
          <a:xfrm>
            <a:off x="8211312" y="3236976"/>
            <a:ext cx="246888" cy="24688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60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▧</a:t>
            </a:r>
            <a:endParaRPr lang="zh-CN" sz="1600"/>
          </a:p>
        </p:txBody>
      </p:sp>
      <p:sp>
        <p:nvSpPr>
          <p:cNvPr id="293" name="Shape 293"/>
          <p:cNvSpPr txBox="1"/>
          <p:nvPr/>
        </p:nvSpPr>
        <p:spPr>
          <a:xfrm>
            <a:off x="8522208" y="3273552"/>
            <a:ext cx="603504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95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目标表格图像</a:t>
            </a:r>
            <a:endParaRPr lang="zh-CN" sz="950"/>
          </a:p>
        </p:txBody>
      </p:sp>
      <p:sp>
        <p:nvSpPr>
          <p:cNvPr id="294" name="Shape 294"/>
          <p:cNvSpPr txBox="1"/>
          <p:nvPr/>
        </p:nvSpPr>
        <p:spPr>
          <a:xfrm>
            <a:off x="9336024" y="2359152"/>
            <a:ext cx="329184" cy="100584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44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}</a:t>
            </a:r>
            <a:endParaRPr lang="zh-CN" sz="4400"/>
          </a:p>
        </p:txBody>
      </p:sp>
      <p:cxnSp>
        <p:nvCxnSpPr>
          <p:cNvPr id="295" name="Connector 295"/>
          <p:cNvCxnSpPr/>
          <p:nvPr/>
        </p:nvCxnSpPr>
        <p:spPr>
          <a:xfrm>
            <a:off x="9628632" y="2834640"/>
            <a:ext cx="118872" cy="914"/>
          </a:xfrm>
          <a:prstGeom prst="straightConnector1">
            <a:avLst/>
          </a:prstGeom>
          <a:ln w="20320" cap="round">
            <a:solidFill>
              <a:srgbClr val="111827"/>
            </a:solidFill>
            <a:tailEnd type="triangle"/>
          </a:ln>
        </p:spPr>
      </p:cxnSp>
      <p:sp>
        <p:nvSpPr>
          <p:cNvPr id="296" name="Shape 296"/>
          <p:cNvSpPr txBox="1"/>
          <p:nvPr/>
        </p:nvSpPr>
        <p:spPr>
          <a:xfrm>
            <a:off x="9747504" y="2203704"/>
            <a:ext cx="1014984" cy="1271016"/>
          </a:xfrm>
          <a:prstGeom prst="roundRect">
            <a:avLst/>
          </a:prstGeom>
          <a:solidFill>
            <a:srgbClr val="F8FCFF"/>
          </a:solidFill>
          <a:ln w="12700">
            <a:solidFill>
              <a:srgbClr val="66B2E6"/>
            </a:solidFill>
            <a:prstDash val="dash"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297" name="Shape 297"/>
          <p:cNvSpPr txBox="1"/>
          <p:nvPr/>
        </p:nvSpPr>
        <p:spPr>
          <a:xfrm>
            <a:off x="9838944" y="2276856"/>
            <a:ext cx="841248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5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多模态提示构造</a:t>
            </a:r>
            <a:endParaRPr lang="zh-CN" sz="850"/>
          </a:p>
        </p:txBody>
      </p:sp>
      <p:sp>
        <p:nvSpPr>
          <p:cNvPr id="298" name="Shape 298"/>
          <p:cNvSpPr txBox="1"/>
          <p:nvPr/>
        </p:nvSpPr>
        <p:spPr>
          <a:xfrm>
            <a:off x="10149840" y="2487168"/>
            <a:ext cx="219456" cy="265176"/>
          </a:xfrm>
          <a:prstGeom prst="rect">
            <a:avLst/>
          </a:prstGeom>
          <a:solidFill>
            <a:srgbClr val="F8FBFF"/>
          </a:solidFill>
          <a:ln w="15240">
            <a:solidFill>
              <a:srgbClr val="1E73BE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cxnSp>
        <p:nvCxnSpPr>
          <p:cNvPr id="299" name="Connector 299"/>
          <p:cNvCxnSpPr/>
          <p:nvPr/>
        </p:nvCxnSpPr>
        <p:spPr>
          <a:xfrm>
            <a:off x="10195560" y="2560320"/>
            <a:ext cx="82296" cy="914"/>
          </a:xfrm>
          <a:prstGeom prst="straightConnector1">
            <a:avLst/>
          </a:prstGeom>
          <a:ln w="12700" cap="round">
            <a:solidFill>
              <a:srgbClr val="1E73BE"/>
            </a:solidFill>
          </a:ln>
        </p:spPr>
      </p:cxnSp>
      <p:cxnSp>
        <p:nvCxnSpPr>
          <p:cNvPr id="300" name="Connector 300"/>
          <p:cNvCxnSpPr/>
          <p:nvPr/>
        </p:nvCxnSpPr>
        <p:spPr>
          <a:xfrm>
            <a:off x="10195560" y="2615184"/>
            <a:ext cx="128016" cy="914"/>
          </a:xfrm>
          <a:prstGeom prst="straightConnector1">
            <a:avLst/>
          </a:prstGeom>
          <a:ln w="12700" cap="round">
            <a:solidFill>
              <a:srgbClr val="1E73BE"/>
            </a:solidFill>
          </a:ln>
        </p:spPr>
      </p:cxnSp>
      <p:cxnSp>
        <p:nvCxnSpPr>
          <p:cNvPr id="301" name="Connector 301"/>
          <p:cNvCxnSpPr/>
          <p:nvPr/>
        </p:nvCxnSpPr>
        <p:spPr>
          <a:xfrm>
            <a:off x="10195560" y="2670048"/>
            <a:ext cx="128016" cy="914"/>
          </a:xfrm>
          <a:prstGeom prst="straightConnector1">
            <a:avLst/>
          </a:prstGeom>
          <a:ln w="12700" cap="round">
            <a:solidFill>
              <a:srgbClr val="1E73BE"/>
            </a:solidFill>
          </a:ln>
        </p:spPr>
      </p:cxnSp>
      <p:sp>
        <p:nvSpPr>
          <p:cNvPr id="302" name="Shape 302"/>
          <p:cNvSpPr txBox="1"/>
          <p:nvPr/>
        </p:nvSpPr>
        <p:spPr>
          <a:xfrm>
            <a:off x="10012680" y="2880360"/>
            <a:ext cx="210312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600" b="0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▧</a:t>
            </a:r>
            <a:endParaRPr lang="zh-CN" sz="1600"/>
          </a:p>
        </p:txBody>
      </p:sp>
      <p:sp>
        <p:nvSpPr>
          <p:cNvPr id="303" name="Shape 303"/>
          <p:cNvSpPr txBox="1"/>
          <p:nvPr/>
        </p:nvSpPr>
        <p:spPr>
          <a:xfrm>
            <a:off x="10351008" y="2880360"/>
            <a:ext cx="210312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600" b="0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▧</a:t>
            </a:r>
            <a:endParaRPr lang="zh-CN" sz="1600"/>
          </a:p>
        </p:txBody>
      </p:sp>
      <p:sp>
        <p:nvSpPr>
          <p:cNvPr id="304" name="Shape 304"/>
          <p:cNvSpPr txBox="1"/>
          <p:nvPr/>
        </p:nvSpPr>
        <p:spPr>
          <a:xfrm>
            <a:off x="10149840" y="3236976"/>
            <a:ext cx="219456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600" b="0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▦</a:t>
            </a:r>
            <a:endParaRPr lang="zh-CN" sz="1600"/>
          </a:p>
        </p:txBody>
      </p:sp>
      <p:sp>
        <p:nvSpPr>
          <p:cNvPr id="305" name="Shape 305"/>
          <p:cNvSpPr txBox="1"/>
          <p:nvPr/>
        </p:nvSpPr>
        <p:spPr>
          <a:xfrm>
            <a:off x="10488168" y="3209544"/>
            <a:ext cx="155448" cy="15544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...</a:t>
            </a:r>
            <a:endParaRPr lang="zh-CN" sz="1000"/>
          </a:p>
        </p:txBody>
      </p:sp>
      <p:cxnSp>
        <p:nvCxnSpPr>
          <p:cNvPr id="306" name="Connector 306"/>
          <p:cNvCxnSpPr/>
          <p:nvPr/>
        </p:nvCxnSpPr>
        <p:spPr>
          <a:xfrm>
            <a:off x="10762488" y="2834640"/>
            <a:ext cx="283464" cy="914"/>
          </a:xfrm>
          <a:prstGeom prst="straightConnector1">
            <a:avLst/>
          </a:prstGeom>
          <a:ln w="20320" cap="round">
            <a:solidFill>
              <a:srgbClr val="111827"/>
            </a:solidFill>
            <a:tailEnd type="triangle"/>
          </a:ln>
        </p:spPr>
      </p:cxnSp>
      <p:sp>
        <p:nvSpPr>
          <p:cNvPr id="307" name="Shape 307"/>
          <p:cNvSpPr txBox="1"/>
          <p:nvPr/>
        </p:nvSpPr>
        <p:spPr>
          <a:xfrm>
            <a:off x="11082528" y="2395728"/>
            <a:ext cx="740664" cy="832104"/>
          </a:xfrm>
          <a:prstGeom prst="roundRect">
            <a:avLst/>
          </a:prstGeom>
          <a:solidFill>
            <a:srgbClr val="EAF7FF"/>
          </a:solidFill>
          <a:ln w="13970">
            <a:solidFill>
              <a:srgbClr val="4BA3DF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08" name="Shape 308"/>
          <p:cNvSpPr txBox="1"/>
          <p:nvPr/>
        </p:nvSpPr>
        <p:spPr>
          <a:xfrm>
            <a:off x="11247120" y="2542032"/>
            <a:ext cx="420624" cy="38404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10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AI</a:t>
            </a:r>
            <a:endParaRPr lang="zh-CN" sz="2100"/>
          </a:p>
        </p:txBody>
      </p:sp>
      <p:sp>
        <p:nvSpPr>
          <p:cNvPr id="309" name="Shape 309"/>
          <p:cNvSpPr txBox="1"/>
          <p:nvPr/>
        </p:nvSpPr>
        <p:spPr>
          <a:xfrm>
            <a:off x="11247120" y="2980944"/>
            <a:ext cx="429768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3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大模型</a:t>
            </a:r>
            <a:endParaRPr lang="zh-CN" sz="830"/>
          </a:p>
        </p:txBody>
      </p:sp>
      <p:sp>
        <p:nvSpPr>
          <p:cNvPr id="310" name="Shape 310"/>
          <p:cNvSpPr txBox="1"/>
          <p:nvPr/>
        </p:nvSpPr>
        <p:spPr>
          <a:xfrm>
            <a:off x="11183112" y="3118104"/>
            <a:ext cx="548640" cy="11887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表格结构识别</a:t>
            </a:r>
            <a:endParaRPr lang="zh-CN" sz="680"/>
          </a:p>
        </p:txBody>
      </p:sp>
      <p:cxnSp>
        <p:nvCxnSpPr>
          <p:cNvPr id="311" name="Connector 311"/>
          <p:cNvCxnSpPr/>
          <p:nvPr/>
        </p:nvCxnSpPr>
        <p:spPr>
          <a:xfrm>
            <a:off x="11823192" y="2834640"/>
            <a:ext cx="320040" cy="914"/>
          </a:xfrm>
          <a:prstGeom prst="straightConnector1">
            <a:avLst/>
          </a:prstGeom>
          <a:ln w="20320" cap="round">
            <a:solidFill>
              <a:srgbClr val="111827"/>
            </a:solidFill>
            <a:tailEnd type="triangle"/>
          </a:ln>
        </p:spPr>
      </p:cxnSp>
      <p:sp>
        <p:nvSpPr>
          <p:cNvPr id="312" name="Shape 312"/>
          <p:cNvSpPr txBox="1"/>
          <p:nvPr/>
        </p:nvSpPr>
        <p:spPr>
          <a:xfrm>
            <a:off x="12198096" y="2359152"/>
            <a:ext cx="813816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BA3DF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13" name="Shape 313"/>
          <p:cNvSpPr txBox="1"/>
          <p:nvPr/>
        </p:nvSpPr>
        <p:spPr>
          <a:xfrm>
            <a:off x="12417552" y="2578608"/>
            <a:ext cx="384048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3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规范化</a:t>
            </a:r>
            <a:endParaRPr lang="zh-CN" sz="830"/>
          </a:p>
        </p:txBody>
      </p:sp>
      <p:sp>
        <p:nvSpPr>
          <p:cNvPr id="314" name="Shape 314"/>
          <p:cNvSpPr txBox="1"/>
          <p:nvPr/>
        </p:nvSpPr>
        <p:spPr>
          <a:xfrm>
            <a:off x="12344400" y="2715768"/>
            <a:ext cx="530352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72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rPr>
              <a:t>HTML 表格结构</a:t>
            </a:r>
            <a:endParaRPr lang="zh-CN" sz="720"/>
          </a:p>
        </p:txBody>
      </p:sp>
      <p:sp>
        <p:nvSpPr>
          <p:cNvPr id="315" name="Shape 315"/>
          <p:cNvSpPr txBox="1"/>
          <p:nvPr/>
        </p:nvSpPr>
        <p:spPr>
          <a:xfrm>
            <a:off x="12444984" y="2862072"/>
            <a:ext cx="329184" cy="329184"/>
          </a:xfrm>
          <a:prstGeom prst="rect">
            <a:avLst/>
          </a:prstGeom>
          <a:solidFill>
            <a:srgbClr val="F3FAFF"/>
          </a:solidFill>
          <a:ln w="12700">
            <a:solidFill>
              <a:srgbClr val="4BA3DF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20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&lt;/&gt;</a:t>
            </a:r>
            <a:endParaRPr lang="zh-CN" sz="1200"/>
          </a:p>
        </p:txBody>
      </p:sp>
      <p:sp>
        <p:nvSpPr>
          <p:cNvPr id="316" name="Shape 316"/>
          <p:cNvSpPr txBox="1"/>
          <p:nvPr/>
        </p:nvSpPr>
        <p:spPr>
          <a:xfrm>
            <a:off x="8129016" y="3611880"/>
            <a:ext cx="4937760" cy="438912"/>
          </a:xfrm>
          <a:prstGeom prst="roundRect">
            <a:avLst/>
          </a:prstGeom>
          <a:solidFill>
            <a:srgbClr val="F4FCFF"/>
          </a:solidFill>
          <a:ln w="12700">
            <a:solidFill>
              <a:srgbClr val="5AB2EA"/>
            </a:solidFill>
            <a:prstDash val="dash"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17" name="Shape 317"/>
          <p:cNvSpPr txBox="1"/>
          <p:nvPr/>
        </p:nvSpPr>
        <p:spPr>
          <a:xfrm>
            <a:off x="10058400" y="3639312"/>
            <a:ext cx="1152144" cy="14630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50" b="1">
                <a:solidFill>
                  <a:srgbClr val="1E73BE"/>
                </a:solidFill>
                <a:latin typeface="Microsoft YaHei"/>
                <a:ea typeface="Microsoft YaHei"/>
                <a:cs typeface="Microsoft YaHei"/>
              </a:rPr>
              <a:t>识别关注要素</a:t>
            </a:r>
            <a:endParaRPr lang="zh-CN" sz="850"/>
          </a:p>
        </p:txBody>
      </p:sp>
      <p:sp>
        <p:nvSpPr>
          <p:cNvPr id="318" name="Shape 318"/>
          <p:cNvSpPr txBox="1"/>
          <p:nvPr/>
        </p:nvSpPr>
        <p:spPr>
          <a:xfrm>
            <a:off x="8266176" y="3831336"/>
            <a:ext cx="932688" cy="192024"/>
          </a:xfrm>
          <a:prstGeom prst="roundRect">
            <a:avLst/>
          </a:prstGeom>
          <a:solidFill>
            <a:srgbClr val="E9F6FF"/>
          </a:solidFill>
          <a:ln w="10160">
            <a:solidFill>
              <a:srgbClr val="83BFEA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6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行列关系</a:t>
            </a:r>
            <a:endParaRPr lang="zh-CN" sz="660"/>
          </a:p>
        </p:txBody>
      </p:sp>
      <p:sp>
        <p:nvSpPr>
          <p:cNvPr id="319" name="Shape 319"/>
          <p:cNvSpPr txBox="1"/>
          <p:nvPr/>
        </p:nvSpPr>
        <p:spPr>
          <a:xfrm>
            <a:off x="9290304" y="3831336"/>
            <a:ext cx="932688" cy="192024"/>
          </a:xfrm>
          <a:prstGeom prst="roundRect">
            <a:avLst/>
          </a:prstGeom>
          <a:solidFill>
            <a:srgbClr val="E9F6FF"/>
          </a:solidFill>
          <a:ln w="10160">
            <a:solidFill>
              <a:srgbClr val="83BFEA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6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表头层级</a:t>
            </a:r>
            <a:endParaRPr lang="zh-CN" sz="660"/>
          </a:p>
        </p:txBody>
      </p:sp>
      <p:sp>
        <p:nvSpPr>
          <p:cNvPr id="320" name="Shape 320"/>
          <p:cNvSpPr txBox="1"/>
          <p:nvPr/>
        </p:nvSpPr>
        <p:spPr>
          <a:xfrm>
            <a:off x="10305288" y="3831336"/>
            <a:ext cx="932688" cy="192024"/>
          </a:xfrm>
          <a:prstGeom prst="roundRect">
            <a:avLst/>
          </a:prstGeom>
          <a:solidFill>
            <a:srgbClr val="E9F6FF"/>
          </a:solidFill>
          <a:ln w="10160">
            <a:solidFill>
              <a:srgbClr val="83BFEA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6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rowspan / colspan</a:t>
            </a:r>
            <a:endParaRPr lang="zh-CN" sz="660"/>
          </a:p>
        </p:txBody>
      </p:sp>
      <p:sp>
        <p:nvSpPr>
          <p:cNvPr id="321" name="Shape 321"/>
          <p:cNvSpPr txBox="1"/>
          <p:nvPr/>
        </p:nvSpPr>
        <p:spPr>
          <a:xfrm>
            <a:off x="11777472" y="3831336"/>
            <a:ext cx="932688" cy="192024"/>
          </a:xfrm>
          <a:prstGeom prst="roundRect">
            <a:avLst/>
          </a:prstGeom>
          <a:solidFill>
            <a:srgbClr val="E9F6FF"/>
          </a:solidFill>
          <a:ln w="10160">
            <a:solidFill>
              <a:srgbClr val="83BFEA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6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单元格内容归属</a:t>
            </a:r>
            <a:endParaRPr lang="zh-CN" sz="660"/>
          </a:p>
        </p:txBody>
      </p:sp>
      <p:sp>
        <p:nvSpPr>
          <p:cNvPr id="322" name="Shape 322"/>
          <p:cNvSpPr txBox="1"/>
          <p:nvPr/>
        </p:nvSpPr>
        <p:spPr>
          <a:xfrm>
            <a:off x="8010144" y="4379976"/>
            <a:ext cx="5193792" cy="1911096"/>
          </a:xfrm>
          <a:prstGeom prst="roundRect">
            <a:avLst/>
          </a:prstGeom>
          <a:solidFill>
            <a:srgbClr val="FAF6FF"/>
          </a:solidFill>
          <a:ln w="13970">
            <a:solidFill>
              <a:srgbClr val="A88BE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23" name="Shape 323"/>
          <p:cNvSpPr txBox="1"/>
          <p:nvPr/>
        </p:nvSpPr>
        <p:spPr>
          <a:xfrm>
            <a:off x="9144000" y="4425696"/>
            <a:ext cx="2468880" cy="20116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3 自适应回退与结果组织</a:t>
            </a:r>
            <a:endParaRPr lang="zh-CN" sz="1400"/>
          </a:p>
        </p:txBody>
      </p:sp>
      <p:sp>
        <p:nvSpPr>
          <p:cNvPr id="324" name="Shape 324"/>
          <p:cNvSpPr txBox="1"/>
          <p:nvPr/>
        </p:nvSpPr>
        <p:spPr>
          <a:xfrm>
            <a:off x="8129016" y="4562856"/>
            <a:ext cx="2093976" cy="1545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BB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25" name="Shape 325"/>
          <p:cNvSpPr txBox="1"/>
          <p:nvPr/>
        </p:nvSpPr>
        <p:spPr>
          <a:xfrm>
            <a:off x="8595360" y="4645152"/>
            <a:ext cx="749808" cy="10972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自适应回退机制</a:t>
            </a:r>
            <a:endParaRPr lang="zh-CN" sz="680"/>
          </a:p>
        </p:txBody>
      </p:sp>
      <p:sp>
        <p:nvSpPr>
          <p:cNvPr id="326" name="Shape 326"/>
          <p:cNvSpPr txBox="1"/>
          <p:nvPr/>
        </p:nvSpPr>
        <p:spPr>
          <a:xfrm>
            <a:off x="8193024" y="4754880"/>
            <a:ext cx="1207008" cy="265176"/>
          </a:xfrm>
          <a:prstGeom prst="roundRect">
            <a:avLst/>
          </a:prstGeom>
          <a:solidFill>
            <a:srgbClr val="FBF8FF"/>
          </a:solidFill>
          <a:ln w="1016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未找到相似度 &gt; 阈值的示例？</a:t>
            </a:r>
            <a:endParaRPr lang="zh-CN" sz="650"/>
          </a:p>
        </p:txBody>
      </p:sp>
      <p:sp>
        <p:nvSpPr>
          <p:cNvPr id="327" name="Shape 327"/>
          <p:cNvSpPr txBox="1"/>
          <p:nvPr/>
        </p:nvSpPr>
        <p:spPr>
          <a:xfrm>
            <a:off x="9409176" y="4809744"/>
            <a:ext cx="128016" cy="10972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58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是</a:t>
            </a:r>
            <a:endParaRPr lang="zh-CN" sz="580"/>
          </a:p>
        </p:txBody>
      </p:sp>
      <p:cxnSp>
        <p:nvCxnSpPr>
          <p:cNvPr id="328" name="Connector 328"/>
          <p:cNvCxnSpPr/>
          <p:nvPr/>
        </p:nvCxnSpPr>
        <p:spPr>
          <a:xfrm>
            <a:off x="8796528" y="5020056"/>
            <a:ext cx="914" cy="82296"/>
          </a:xfrm>
          <a:prstGeom prst="straightConnector1">
            <a:avLst/>
          </a:prstGeom>
          <a:ln w="12700" cap="round">
            <a:solidFill>
              <a:srgbClr val="6B4BB3"/>
            </a:solidFill>
            <a:tailEnd type="triangle"/>
          </a:ln>
        </p:spPr>
      </p:cxnSp>
      <p:sp>
        <p:nvSpPr>
          <p:cNvPr id="329" name="Shape 329"/>
          <p:cNvSpPr txBox="1"/>
          <p:nvPr/>
        </p:nvSpPr>
        <p:spPr>
          <a:xfrm>
            <a:off x="9948672" y="4846320"/>
            <a:ext cx="128016" cy="10972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0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lang="zh-CN" sz="600"/>
          </a:p>
        </p:txBody>
      </p:sp>
      <p:cxnSp>
        <p:nvCxnSpPr>
          <p:cNvPr id="330" name="Connector 330"/>
          <p:cNvCxnSpPr/>
          <p:nvPr/>
        </p:nvCxnSpPr>
        <p:spPr>
          <a:xfrm>
            <a:off x="9400032" y="4892040"/>
            <a:ext cx="694944" cy="914"/>
          </a:xfrm>
          <a:prstGeom prst="straightConnector1">
            <a:avLst/>
          </a:prstGeom>
          <a:ln w="12700" cap="round">
            <a:solidFill>
              <a:srgbClr val="111827"/>
            </a:solidFill>
          </a:ln>
        </p:spPr>
      </p:cxnSp>
      <p:cxnSp>
        <p:nvCxnSpPr>
          <p:cNvPr id="331" name="Connector 331"/>
          <p:cNvCxnSpPr/>
          <p:nvPr/>
        </p:nvCxnSpPr>
        <p:spPr>
          <a:xfrm>
            <a:off x="10094976" y="4892040"/>
            <a:ext cx="914" cy="429768"/>
          </a:xfrm>
          <a:prstGeom prst="straightConnector1">
            <a:avLst/>
          </a:prstGeom>
          <a:ln w="12700" cap="round">
            <a:solidFill>
              <a:srgbClr val="111827"/>
            </a:solidFill>
          </a:ln>
        </p:spPr>
      </p:cxnSp>
      <p:sp>
        <p:nvSpPr>
          <p:cNvPr id="332" name="Shape 332"/>
          <p:cNvSpPr txBox="1"/>
          <p:nvPr/>
        </p:nvSpPr>
        <p:spPr>
          <a:xfrm>
            <a:off x="8193024" y="5093208"/>
            <a:ext cx="1207008" cy="265176"/>
          </a:xfrm>
          <a:prstGeom prst="roundRect">
            <a:avLst/>
          </a:prstGeom>
          <a:solidFill>
            <a:srgbClr val="FBF8FF"/>
          </a:solidFill>
          <a:ln w="1016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Zero-shot</a:t>
            </a:r>
            <a:endParaRPr lang="zh-CN" sz="650"/>
          </a:p>
          <a:p>
            <a:pPr algn="ctr"/>
            <a:r>
              <a:rPr lang="zh-CN" sz="65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无示例直接识别</a:t>
            </a:r>
            <a:endParaRPr lang="zh-CN" sz="650"/>
          </a:p>
        </p:txBody>
      </p:sp>
      <p:sp>
        <p:nvSpPr>
          <p:cNvPr id="333" name="Shape 333"/>
          <p:cNvSpPr txBox="1"/>
          <p:nvPr/>
        </p:nvSpPr>
        <p:spPr>
          <a:xfrm>
            <a:off x="8193024" y="5431536"/>
            <a:ext cx="1207008" cy="265176"/>
          </a:xfrm>
          <a:prstGeom prst="roundRect">
            <a:avLst/>
          </a:prstGeom>
          <a:solidFill>
            <a:srgbClr val="FBF8FF"/>
          </a:solidFill>
          <a:ln w="1016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后处理检测到</a:t>
            </a:r>
            <a:endParaRPr lang="zh-CN" sz="650"/>
          </a:p>
          <a:p>
            <a:pPr algn="ctr"/>
            <a:r>
              <a:rPr lang="zh-CN" sz="65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示例混淆 / 示例干扰风险？</a:t>
            </a:r>
            <a:endParaRPr lang="zh-CN" sz="650"/>
          </a:p>
        </p:txBody>
      </p:sp>
      <p:sp>
        <p:nvSpPr>
          <p:cNvPr id="334" name="Shape 334"/>
          <p:cNvSpPr txBox="1"/>
          <p:nvPr/>
        </p:nvSpPr>
        <p:spPr>
          <a:xfrm>
            <a:off x="9409176" y="5486400"/>
            <a:ext cx="128016" cy="10972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58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是</a:t>
            </a:r>
            <a:endParaRPr lang="zh-CN" sz="580"/>
          </a:p>
        </p:txBody>
      </p:sp>
      <p:cxnSp>
        <p:nvCxnSpPr>
          <p:cNvPr id="335" name="Connector 335"/>
          <p:cNvCxnSpPr/>
          <p:nvPr/>
        </p:nvCxnSpPr>
        <p:spPr>
          <a:xfrm>
            <a:off x="8796528" y="5696712"/>
            <a:ext cx="914" cy="82296"/>
          </a:xfrm>
          <a:prstGeom prst="straightConnector1">
            <a:avLst/>
          </a:prstGeom>
          <a:ln w="12700" cap="round">
            <a:solidFill>
              <a:srgbClr val="6B4BB3"/>
            </a:solidFill>
            <a:tailEnd type="triangle"/>
          </a:ln>
        </p:spPr>
      </p:cxnSp>
      <p:sp>
        <p:nvSpPr>
          <p:cNvPr id="336" name="Shape 336"/>
          <p:cNvSpPr txBox="1"/>
          <p:nvPr/>
        </p:nvSpPr>
        <p:spPr>
          <a:xfrm>
            <a:off x="9948672" y="5522976"/>
            <a:ext cx="128016" cy="10972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0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否</a:t>
            </a:r>
            <a:endParaRPr lang="zh-CN" sz="600"/>
          </a:p>
        </p:txBody>
      </p:sp>
      <p:cxnSp>
        <p:nvCxnSpPr>
          <p:cNvPr id="337" name="Connector 337"/>
          <p:cNvCxnSpPr/>
          <p:nvPr/>
        </p:nvCxnSpPr>
        <p:spPr>
          <a:xfrm>
            <a:off x="9400032" y="5568696"/>
            <a:ext cx="694944" cy="914"/>
          </a:xfrm>
          <a:prstGeom prst="straightConnector1">
            <a:avLst/>
          </a:prstGeom>
          <a:ln w="12700" cap="round">
            <a:solidFill>
              <a:srgbClr val="111827"/>
            </a:solidFill>
          </a:ln>
        </p:spPr>
      </p:cxnSp>
      <p:cxnSp>
        <p:nvCxnSpPr>
          <p:cNvPr id="338" name="Connector 338"/>
          <p:cNvCxnSpPr/>
          <p:nvPr/>
        </p:nvCxnSpPr>
        <p:spPr>
          <a:xfrm>
            <a:off x="10094976" y="5568696"/>
            <a:ext cx="914" cy="429768"/>
          </a:xfrm>
          <a:prstGeom prst="straightConnector1">
            <a:avLst/>
          </a:prstGeom>
          <a:ln w="12700" cap="round">
            <a:solidFill>
              <a:srgbClr val="111827"/>
            </a:solidFill>
          </a:ln>
        </p:spPr>
      </p:cxnSp>
      <p:sp>
        <p:nvSpPr>
          <p:cNvPr id="339" name="Shape 339"/>
          <p:cNvSpPr txBox="1"/>
          <p:nvPr/>
        </p:nvSpPr>
        <p:spPr>
          <a:xfrm>
            <a:off x="8193024" y="5769864"/>
            <a:ext cx="1207008" cy="265176"/>
          </a:xfrm>
          <a:prstGeom prst="roundRect">
            <a:avLst/>
          </a:prstGeom>
          <a:solidFill>
            <a:srgbClr val="FBF8FF"/>
          </a:solidFill>
          <a:ln w="1016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无示例重试</a:t>
            </a:r>
            <a:endParaRPr lang="zh-CN" sz="650"/>
          </a:p>
          <a:p>
            <a:pPr algn="ctr"/>
            <a:r>
              <a:rPr lang="zh-CN" sz="650" b="0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重新进行无示例识别</a:t>
            </a:r>
            <a:endParaRPr lang="zh-CN" sz="650"/>
          </a:p>
        </p:txBody>
      </p:sp>
      <p:cxnSp>
        <p:nvCxnSpPr>
          <p:cNvPr id="340" name="Connector 340"/>
          <p:cNvCxnSpPr/>
          <p:nvPr/>
        </p:nvCxnSpPr>
        <p:spPr>
          <a:xfrm>
            <a:off x="10222992" y="5340096"/>
            <a:ext cx="192024" cy="914"/>
          </a:xfrm>
          <a:prstGeom prst="straightConnector1">
            <a:avLst/>
          </a:prstGeom>
          <a:ln w="20320" cap="round">
            <a:solidFill>
              <a:srgbClr val="111827"/>
            </a:solidFill>
            <a:tailEnd type="triangle"/>
          </a:ln>
        </p:spPr>
      </p:cxnSp>
      <p:sp>
        <p:nvSpPr>
          <p:cNvPr id="341" name="Shape 341"/>
          <p:cNvSpPr txBox="1"/>
          <p:nvPr/>
        </p:nvSpPr>
        <p:spPr>
          <a:xfrm>
            <a:off x="10405872" y="4562856"/>
            <a:ext cx="2615184" cy="15453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B4BB3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42" name="Shape 342"/>
          <p:cNvSpPr txBox="1"/>
          <p:nvPr/>
        </p:nvSpPr>
        <p:spPr>
          <a:xfrm>
            <a:off x="11247120" y="4645152"/>
            <a:ext cx="960120" cy="109728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8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结果组织与输出</a:t>
            </a:r>
            <a:endParaRPr lang="zh-CN" sz="680"/>
          </a:p>
        </p:txBody>
      </p:sp>
      <p:sp>
        <p:nvSpPr>
          <p:cNvPr id="343" name="Shape 343"/>
          <p:cNvSpPr txBox="1"/>
          <p:nvPr/>
        </p:nvSpPr>
        <p:spPr>
          <a:xfrm>
            <a:off x="10524744" y="4754880"/>
            <a:ext cx="612648" cy="658368"/>
          </a:xfrm>
          <a:prstGeom prst="roundRect">
            <a:avLst/>
          </a:prstGeom>
          <a:solidFill>
            <a:srgbClr val="FBF8FF"/>
          </a:solidFill>
          <a:ln w="1016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44" name="Shape 344"/>
          <p:cNvSpPr txBox="1"/>
          <p:nvPr/>
        </p:nvSpPr>
        <p:spPr>
          <a:xfrm>
            <a:off x="10579608" y="4846320"/>
            <a:ext cx="50292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1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HTML 结构</a:t>
            </a:r>
            <a:endParaRPr lang="zh-CN" sz="650"/>
          </a:p>
        </p:txBody>
      </p:sp>
      <p:sp>
        <p:nvSpPr>
          <p:cNvPr id="345" name="Shape 345"/>
          <p:cNvSpPr txBox="1"/>
          <p:nvPr/>
        </p:nvSpPr>
        <p:spPr>
          <a:xfrm>
            <a:off x="10680192" y="5065776"/>
            <a:ext cx="292608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&lt;/&gt;</a:t>
            </a:r>
            <a:endParaRPr lang="zh-CN" sz="1400"/>
          </a:p>
        </p:txBody>
      </p:sp>
      <p:sp>
        <p:nvSpPr>
          <p:cNvPr id="346" name="Shape 346"/>
          <p:cNvSpPr txBox="1"/>
          <p:nvPr/>
        </p:nvSpPr>
        <p:spPr>
          <a:xfrm>
            <a:off x="11402568" y="4754880"/>
            <a:ext cx="612648" cy="658368"/>
          </a:xfrm>
          <a:prstGeom prst="roundRect">
            <a:avLst/>
          </a:prstGeom>
          <a:solidFill>
            <a:srgbClr val="FBF8FF"/>
          </a:solidFill>
          <a:ln w="1016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47" name="Shape 347"/>
          <p:cNvSpPr txBox="1"/>
          <p:nvPr/>
        </p:nvSpPr>
        <p:spPr>
          <a:xfrm>
            <a:off x="11457432" y="4846320"/>
            <a:ext cx="50292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1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内容矩阵</a:t>
            </a:r>
            <a:endParaRPr lang="zh-CN" sz="650"/>
          </a:p>
        </p:txBody>
      </p:sp>
      <p:sp>
        <p:nvSpPr>
          <p:cNvPr id="348" name="Shape 348"/>
          <p:cNvSpPr txBox="1"/>
          <p:nvPr/>
        </p:nvSpPr>
        <p:spPr>
          <a:xfrm>
            <a:off x="11558016" y="5065776"/>
            <a:ext cx="292608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▦</a:t>
            </a:r>
            <a:endParaRPr lang="zh-CN" sz="1400"/>
          </a:p>
        </p:txBody>
      </p:sp>
      <p:sp>
        <p:nvSpPr>
          <p:cNvPr id="349" name="Shape 349"/>
          <p:cNvSpPr txBox="1"/>
          <p:nvPr/>
        </p:nvSpPr>
        <p:spPr>
          <a:xfrm>
            <a:off x="12298680" y="4754880"/>
            <a:ext cx="612648" cy="658368"/>
          </a:xfrm>
          <a:prstGeom prst="roundRect">
            <a:avLst/>
          </a:prstGeom>
          <a:solidFill>
            <a:srgbClr val="FBF8FF"/>
          </a:solidFill>
          <a:ln w="1016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50" name="Shape 350"/>
          <p:cNvSpPr txBox="1"/>
          <p:nvPr/>
        </p:nvSpPr>
        <p:spPr>
          <a:xfrm>
            <a:off x="12353544" y="4846320"/>
            <a:ext cx="502920" cy="12801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650" b="1">
                <a:solidFill>
                  <a:srgbClr val="2F2744"/>
                </a:solidFill>
                <a:latin typeface="Microsoft YaHei"/>
                <a:ea typeface="Microsoft YaHei"/>
                <a:cs typeface="Microsoft YaHei"/>
              </a:rPr>
              <a:t>单元格级明细</a:t>
            </a:r>
            <a:endParaRPr lang="zh-CN" sz="650"/>
          </a:p>
        </p:txBody>
      </p:sp>
      <p:sp>
        <p:nvSpPr>
          <p:cNvPr id="351" name="Shape 351"/>
          <p:cNvSpPr txBox="1"/>
          <p:nvPr/>
        </p:nvSpPr>
        <p:spPr>
          <a:xfrm>
            <a:off x="12454128" y="5065776"/>
            <a:ext cx="292608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▦</a:t>
            </a:r>
            <a:endParaRPr lang="zh-CN" sz="1400"/>
          </a:p>
        </p:txBody>
      </p:sp>
      <p:cxnSp>
        <p:nvCxnSpPr>
          <p:cNvPr id="352" name="Connector 352"/>
          <p:cNvCxnSpPr/>
          <p:nvPr/>
        </p:nvCxnSpPr>
        <p:spPr>
          <a:xfrm>
            <a:off x="11137392" y="5102352"/>
            <a:ext cx="265176" cy="914"/>
          </a:xfrm>
          <a:prstGeom prst="straightConnector1">
            <a:avLst/>
          </a:prstGeom>
          <a:ln w="16510" cap="round">
            <a:solidFill>
              <a:srgbClr val="111827"/>
            </a:solidFill>
            <a:tailEnd type="triangle"/>
          </a:ln>
        </p:spPr>
      </p:cxnSp>
      <p:cxnSp>
        <p:nvCxnSpPr>
          <p:cNvPr id="353" name="Connector 353"/>
          <p:cNvCxnSpPr/>
          <p:nvPr/>
        </p:nvCxnSpPr>
        <p:spPr>
          <a:xfrm>
            <a:off x="12015216" y="5102352"/>
            <a:ext cx="283464" cy="914"/>
          </a:xfrm>
          <a:prstGeom prst="straightConnector1">
            <a:avLst/>
          </a:prstGeom>
          <a:ln w="16510" cap="round">
            <a:solidFill>
              <a:srgbClr val="111827"/>
            </a:solidFill>
            <a:tailEnd type="triangle"/>
          </a:ln>
        </p:spPr>
      </p:cxnSp>
      <p:cxnSp>
        <p:nvCxnSpPr>
          <p:cNvPr id="354" name="Connector 354"/>
          <p:cNvCxnSpPr/>
          <p:nvPr/>
        </p:nvCxnSpPr>
        <p:spPr>
          <a:xfrm>
            <a:off x="10826496" y="5413248"/>
            <a:ext cx="914" cy="219456"/>
          </a:xfrm>
          <a:prstGeom prst="straightConnector1">
            <a:avLst/>
          </a:prstGeom>
          <a:ln w="12700" cap="round">
            <a:solidFill>
              <a:srgbClr val="111827"/>
            </a:solidFill>
          </a:ln>
        </p:spPr>
      </p:cxnSp>
      <p:cxnSp>
        <p:nvCxnSpPr>
          <p:cNvPr id="355" name="Connector 355"/>
          <p:cNvCxnSpPr/>
          <p:nvPr/>
        </p:nvCxnSpPr>
        <p:spPr>
          <a:xfrm>
            <a:off x="11713464" y="5413248"/>
            <a:ext cx="914" cy="219456"/>
          </a:xfrm>
          <a:prstGeom prst="straightConnector1">
            <a:avLst/>
          </a:prstGeom>
          <a:ln w="12700" cap="round">
            <a:solidFill>
              <a:srgbClr val="111827"/>
            </a:solidFill>
            <a:tailEnd type="triangle"/>
          </a:ln>
        </p:spPr>
      </p:cxnSp>
      <p:cxnSp>
        <p:nvCxnSpPr>
          <p:cNvPr id="356" name="Connector 356"/>
          <p:cNvCxnSpPr/>
          <p:nvPr/>
        </p:nvCxnSpPr>
        <p:spPr>
          <a:xfrm>
            <a:off x="12600432" y="5413248"/>
            <a:ext cx="914" cy="219456"/>
          </a:xfrm>
          <a:prstGeom prst="straightConnector1">
            <a:avLst/>
          </a:prstGeom>
          <a:ln w="12700" cap="round">
            <a:solidFill>
              <a:srgbClr val="111827"/>
            </a:solidFill>
          </a:ln>
        </p:spPr>
      </p:cxnSp>
      <p:cxnSp>
        <p:nvCxnSpPr>
          <p:cNvPr id="357" name="Connector 357"/>
          <p:cNvCxnSpPr/>
          <p:nvPr/>
        </p:nvCxnSpPr>
        <p:spPr>
          <a:xfrm>
            <a:off x="10826496" y="5632704"/>
            <a:ext cx="1773936" cy="914"/>
          </a:xfrm>
          <a:prstGeom prst="straightConnector1">
            <a:avLst/>
          </a:prstGeom>
          <a:ln w="12700" cap="round">
            <a:solidFill>
              <a:srgbClr val="111827"/>
            </a:solidFill>
          </a:ln>
        </p:spPr>
      </p:cxnSp>
      <p:sp>
        <p:nvSpPr>
          <p:cNvPr id="358" name="Shape 358"/>
          <p:cNvSpPr txBox="1"/>
          <p:nvPr/>
        </p:nvSpPr>
        <p:spPr>
          <a:xfrm>
            <a:off x="10561320" y="5742432"/>
            <a:ext cx="2157984" cy="448056"/>
          </a:xfrm>
          <a:prstGeom prst="roundRect">
            <a:avLst/>
          </a:prstGeom>
          <a:solidFill>
            <a:srgbClr val="FAF7FF"/>
          </a:solidFill>
          <a:ln w="12700">
            <a:solidFill>
              <a:srgbClr val="B59AE5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1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可解析表格结果</a:t>
            </a:r>
            <a:endParaRPr lang="zh-CN" sz="1100"/>
          </a:p>
        </p:txBody>
      </p:sp>
      <p:sp>
        <p:nvSpPr>
          <p:cNvPr id="359" name="Shape 359"/>
          <p:cNvSpPr txBox="1"/>
          <p:nvPr/>
        </p:nvSpPr>
        <p:spPr>
          <a:xfrm>
            <a:off x="10780776" y="5824728"/>
            <a:ext cx="256032" cy="25603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8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▤</a:t>
            </a:r>
            <a:endParaRPr lang="zh-CN" sz="1800"/>
          </a:p>
        </p:txBody>
      </p:sp>
      <p:sp>
        <p:nvSpPr>
          <p:cNvPr id="360" name="Shape 360"/>
          <p:cNvSpPr txBox="1"/>
          <p:nvPr/>
        </p:nvSpPr>
        <p:spPr>
          <a:xfrm>
            <a:off x="9116568" y="4407408"/>
            <a:ext cx="2523744" cy="219456"/>
          </a:xfrm>
          <a:prstGeom prst="rect">
            <a:avLst/>
          </a:prstGeom>
          <a:solidFill>
            <a:srgbClr val="FAF6FF"/>
          </a:solidFill>
          <a:ln w="1270">
            <a:solidFill>
              <a:srgbClr val="FAF6FF"/>
            </a:solidFill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61" name="Shape 361"/>
          <p:cNvSpPr txBox="1"/>
          <p:nvPr/>
        </p:nvSpPr>
        <p:spPr>
          <a:xfrm>
            <a:off x="9144000" y="4407408"/>
            <a:ext cx="2468880" cy="219456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4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3 自适应回退与结果组织</a:t>
            </a:r>
            <a:endParaRPr lang="zh-CN" sz="1400"/>
          </a:p>
        </p:txBody>
      </p:sp>
      <p:sp>
        <p:nvSpPr>
          <p:cNvPr id="362" name="Shape 362"/>
          <p:cNvSpPr txBox="1"/>
          <p:nvPr/>
        </p:nvSpPr>
        <p:spPr>
          <a:xfrm>
            <a:off x="3246120" y="5971032"/>
            <a:ext cx="2551176" cy="70408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B4BB3"/>
            </a:solidFill>
            <a:prstDash val="dash"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000" b="0">
                <a:solidFill>
                  <a:srgbClr val="222222"/>
                </a:solidFill>
                <a:latin typeface="Microsoft YaHei"/>
                <a:ea typeface="Microsoft YaHei"/>
                <a:cs typeface="Microsoft YaHei"/>
              </a:rPr>
              <a:t/>
            </a:r>
            <a:endParaRPr lang="zh-CN" sz="1000"/>
          </a:p>
        </p:txBody>
      </p:sp>
      <p:sp>
        <p:nvSpPr>
          <p:cNvPr id="363" name="Shape 363"/>
          <p:cNvSpPr txBox="1"/>
          <p:nvPr/>
        </p:nvSpPr>
        <p:spPr>
          <a:xfrm>
            <a:off x="3419856" y="6117336"/>
            <a:ext cx="356616" cy="283464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2200" b="1">
                <a:solidFill>
                  <a:srgbClr val="6B4BB3"/>
                </a:solidFill>
                <a:latin typeface="Microsoft YaHei"/>
                <a:ea typeface="Microsoft YaHei"/>
                <a:cs typeface="Microsoft YaHei"/>
              </a:rPr>
              <a:t>◎</a:t>
            </a:r>
            <a:endParaRPr lang="zh-CN" sz="2200"/>
          </a:p>
        </p:txBody>
      </p:sp>
      <p:sp>
        <p:nvSpPr>
          <p:cNvPr id="364" name="Shape 364"/>
          <p:cNvSpPr txBox="1"/>
          <p:nvPr/>
        </p:nvSpPr>
        <p:spPr>
          <a:xfrm>
            <a:off x="3849624" y="6071616"/>
            <a:ext cx="1673352" cy="22860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1200" b="1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失败样例与质量信息</a:t>
            </a:r>
            <a:endParaRPr lang="zh-CN" sz="1200"/>
          </a:p>
        </p:txBody>
      </p:sp>
      <p:sp>
        <p:nvSpPr>
          <p:cNvPr id="365" name="Shape 365"/>
          <p:cNvSpPr txBox="1"/>
          <p:nvPr/>
        </p:nvSpPr>
        <p:spPr>
          <a:xfrm>
            <a:off x="3721608" y="6364224"/>
            <a:ext cx="2029968" cy="137160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720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(识别失败案例、质量评估、错误类型等)</a:t>
            </a:r>
            <a:endParaRPr lang="zh-CN" sz="720"/>
          </a:p>
        </p:txBody>
      </p:sp>
      <p:sp>
        <p:nvSpPr>
          <p:cNvPr id="366" name="Shape 366"/>
          <p:cNvSpPr txBox="1"/>
          <p:nvPr/>
        </p:nvSpPr>
        <p:spPr>
          <a:xfrm>
            <a:off x="6099048" y="6108192"/>
            <a:ext cx="2157984" cy="164592"/>
          </a:xfrm>
          <a:prstGeom prst="rect">
            <a:avLst/>
          </a:prstGeom>
          <a:noFill/>
          <a:ln w="12700">
            <a:noFill/>
          </a:ln>
        </p:spPr>
        <p:txBody>
          <a:bodyPr wrap="square" anchor="mid" lIns="27432" rIns="27432" tIns="18288" bIns="18288">
            <a:spAutoFit/>
          </a:bodyPr>
          <a:lstStyle/>
          <a:p>
            <a:pPr algn="ctr"/>
            <a:r>
              <a:rPr lang="zh-CN" sz="819" b="0">
                <a:solidFill>
                  <a:srgbClr val="374151"/>
                </a:solidFill>
                <a:latin typeface="Microsoft YaHei"/>
                <a:ea typeface="Microsoft YaHei"/>
                <a:cs typeface="Microsoft YaHei"/>
              </a:rPr>
              <a:t>用于后续优化示例策略与提示模板</a:t>
            </a:r>
            <a:endParaRPr lang="zh-CN" sz="819"/>
          </a:p>
        </p:txBody>
      </p:sp>
      <p:cxnSp>
        <p:nvCxnSpPr>
          <p:cNvPr id="367" name="Connector 367"/>
          <p:cNvCxnSpPr/>
          <p:nvPr/>
        </p:nvCxnSpPr>
        <p:spPr>
          <a:xfrm>
            <a:off x="11119104" y="6291072"/>
            <a:ext cx="914" cy="128016"/>
          </a:xfrm>
          <a:prstGeom prst="straightConnector1">
            <a:avLst/>
          </a:prstGeom>
          <a:ln w="15240" cap="round">
            <a:solidFill>
              <a:srgbClr val="6B4BB3"/>
            </a:solidFill>
            <a:prstDash val="dash"/>
          </a:ln>
        </p:spPr>
      </p:cxnSp>
      <p:cxnSp>
        <p:nvCxnSpPr>
          <p:cNvPr id="368" name="Connector 368"/>
          <p:cNvCxnSpPr/>
          <p:nvPr/>
        </p:nvCxnSpPr>
        <p:spPr>
          <a:xfrm flipH="1">
            <a:off x="5870448" y="6419088"/>
            <a:ext cx="5248656" cy="914"/>
          </a:xfrm>
          <a:prstGeom prst="straightConnector1">
            <a:avLst/>
          </a:prstGeom>
          <a:ln w="15240" cap="round">
            <a:solidFill>
              <a:srgbClr val="6B4BB3"/>
            </a:solidFill>
            <a:prstDash val="dash"/>
            <a:tailEnd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EditableContextFlow">
  <a:themeElements>
    <a:clrScheme name="Custom">
      <a:dk1>
        <a:srgbClr val="111827"/>
      </a:dk1>
      <a:lt1>
        <a:srgbClr val="FFFFFF"/>
      </a:lt1>
      <a:dk2>
        <a:srgbClr val="1F2937"/>
      </a:dk2>
      <a:lt2>
        <a:srgbClr val="F8FAFC"/>
      </a:lt2>
      <a:accent1>
        <a:srgbClr val="2764BD"/>
      </a:accent1>
      <a:accent2>
        <a:srgbClr val="2F7D46"/>
      </a:accent2>
      <a:accent3>
        <a:srgbClr val="2F8FD5"/>
      </a:accent3>
      <a:accent4>
        <a:srgbClr val="6B4BB3"/>
      </a:accent4>
      <a:accent5>
        <a:srgbClr val="87B5F3"/>
      </a:accent5>
      <a:accent6>
        <a:srgbClr val="A88BE3"/>
      </a:accent6>
      <a:hlink>
        <a:srgbClr val="0563C1"/>
      </a:hlink>
      <a:folHlink>
        <a:srgbClr val="954F72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Custom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流程图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示例感知上下文构建流程可编辑复刻</dc:title>
  <dc:creator>Codex</dc:creator>
  <cp:lastModifiedBy>Codex</cp:lastModifiedBy>
  <dcterms:created xsi:type="dcterms:W3CDTF">2026-06-22T00:00:00Z</dcterms:created>
  <dcterms:modified xsi:type="dcterms:W3CDTF">2026-06-22T00:00:00Z</dcterms:modified>
</cp:coreProperties>
</file>