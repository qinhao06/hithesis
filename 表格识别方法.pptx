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4" r:id="rId13"/>
    <p:sldId id="265" r:id="rId14"/>
    <p:sldId id="266" r:id="rId15"/>
    <p:sldId id="268" r:id="rId16"/>
  </p:sldIdLst>
  <p:sldSz cx="11430000" cy="6429375"/>
  <p:notesSz cx="6429375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4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a5b032-5396-4553-be1a-2277d11157c0_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6426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jpe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10691" y="30"/>
            <a:ext cx="11430000" cy="6429375"/>
          </a:xfrm>
          <a:prstGeom prst="rect">
            <a:avLst/>
          </a:prstGeom>
          <a:solidFill>
            <a:srgbClr val="F7F9FC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95300"/>
            <a:ext cx="10287000" cy="54387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33500" y="1814661"/>
            <a:ext cx="8763000" cy="19050"/>
          </a:xfrm>
          <a:prstGeom prst="rect">
            <a:avLst/>
          </a:prstGeom>
          <a:solidFill>
            <a:srgbClr val="2E4E7E">
              <a:alpha val="20000"/>
            </a:srgbClr>
          </a:solidFill>
        </p:spPr>
      </p:sp>
      <p:sp>
        <p:nvSpPr>
          <p:cNvPr id="7" name="Shape 3"/>
          <p:cNvSpPr/>
          <p:nvPr/>
        </p:nvSpPr>
        <p:spPr>
          <a:xfrm>
            <a:off x="1333500" y="3705225"/>
            <a:ext cx="8763000" cy="1428750"/>
          </a:xfrm>
          <a:prstGeom prst="roundRect">
            <a:avLst>
              <a:gd name="adj" fmla="val 11947"/>
            </a:avLst>
          </a:prstGeom>
          <a:solidFill>
            <a:srgbClr val="F5F8FD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section&gt;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428875" y="1128713"/>
            <a:ext cx="7667625" cy="490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结合大模型的表格识别方法与系统</a:t>
            </a:r>
            <a:endParaRPr lang="en-US" sz="34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381500" y="2552700"/>
            <a:ext cx="5715000" cy="314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硕士学位论文中期答辩</a:t>
            </a:r>
            <a:endParaRPr lang="en-US" sz="21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762375" y="2972172"/>
            <a:ext cx="6334125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哈尔滨工业大学（深圳） · 计算机科学与技术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143500" y="3924300"/>
            <a:ext cx="1143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导师：卢光明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143500" y="4286250"/>
            <a:ext cx="1143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研究生：覃浩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26372" y="4648200"/>
            <a:ext cx="1377181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学号：24S151153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702820" y="5476875"/>
            <a:ext cx="539368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中期报告日期：2026年6月22日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14400"/>
          </a:xfrm>
          <a:prstGeom prst="roundRect">
            <a:avLst>
              <a:gd name="adj" fmla="val 2916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E0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5981700" cy="44577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1525" y="17621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1525" y="311467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1525" y="44672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524000"/>
            <a:ext cx="4152900" cy="44577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943725" y="1724025"/>
            <a:ext cx="3771900" cy="2710160"/>
          </a:xfrm>
          <a:prstGeom prst="roundRect">
            <a:avLst>
              <a:gd name="adj" fmla="val 2846"/>
            </a:avLst>
          </a:prstGeom>
          <a:solidFill>
            <a:srgbClr val="FFFFFF">
              <a:alpha val="0"/>
            </a:srgbClr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943725" y="4567535"/>
            <a:ext cx="3771900" cy="1214140"/>
          </a:xfrm>
          <a:prstGeom prst="roundRect">
            <a:avLst>
              <a:gd name="adj" fmla="val 14180"/>
            </a:avLst>
          </a:prstGeom>
          <a:solidFill>
            <a:srgbClr val="F3F7FD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66775" y="497607"/>
            <a:ext cx="9696450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研究背景</a:t>
            </a:r>
            <a:endParaRPr lang="en-US" sz="27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66775" y="986358"/>
            <a:ext cx="96964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复杂文档表格识别已由“标准场景优化”转向“真实场景鲁棒性提升”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914400" y="18907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任务价值：表格是文档核心结构化载体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14400" y="21526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财务报表、科研论文、政务档案等关键信息高度依赖表格组织，识别质量直接影响后续计算与分析。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14400" y="324326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场景挑战：输入质量与版式复杂度双重波动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914400" y="350520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PDF、扫描件、拍照文档常伴随噪声、模糊、阴影、透视畸变与弱线框，结构恢复难度显著增加。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14400" y="45958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方法瓶颈：传统流程在复杂样本泛化不足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14400" y="48577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固定预处理与单次识别易出现误差传播，面对复杂表头、跨行跨列与多表混排时稳定性不足。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067550" y="4677073"/>
            <a:ext cx="3524250" cy="174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研究动因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067550" y="4941838"/>
            <a:ext cx="35242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需构建“输入质量优化—结构理解—结果校验”一体化链路，才能提升复杂真实场景下的准确率与可用性。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71500" y="5739557"/>
            <a:ext cx="427620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 descr="upload_post_object_v2_31620991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643" y="1802703"/>
            <a:ext cx="3275057" cy="2552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705053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D6DF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7103"/>
            <a:ext cx="10363200" cy="17335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34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0527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771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53053"/>
            <a:ext cx="10363200" cy="2133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4375" y="4254008"/>
            <a:ext cx="10020300" cy="1466850"/>
          </a:xfrm>
          <a:prstGeom prst="roundRect">
            <a:avLst>
              <a:gd name="adj" fmla="val 9715"/>
            </a:avLst>
          </a:prstGeom>
          <a:solidFill>
            <a:srgbClr val="F6F9FE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76300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935114" y="4377833"/>
            <a:ext cx="1664791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94002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52816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11630" y="4377833"/>
            <a:ext cx="1461120" cy="1219200"/>
          </a:xfrm>
          <a:prstGeom prst="roundRect">
            <a:avLst>
              <a:gd name="adj" fmla="val 11719"/>
            </a:avLst>
          </a:prstGeom>
          <a:solidFill>
            <a:srgbClr val="EEF4FD"/>
          </a:solidFill>
          <a:ln w="9525">
            <a:solidFill>
              <a:srgbClr val="C7D5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7725" y="838403"/>
            <a:ext cx="9734550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研究目标</a:t>
            </a:r>
            <a:endParaRPr lang="en-US" sz="27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8237" y="1332542"/>
            <a:ext cx="97345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面向复杂文档场景，构建“可理解、可决策、可修复”的大模型表格识别完整链路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572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1：复杂场景鲁棒识别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38211" y="2633567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覆盖出版物、科研论文、弱线框复杂布局等多类型输入，提升复杂样本适应性。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22910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2：端到端闭环流程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219599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实现输入解析、动态预处理、结构识别、质量评估与后处理到结构化输出的全链路。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009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3：大模型能力融合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600906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利用上下文学习与决策机制提升结构理解、结果稳定性与复杂关系恢复能力。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14375" y="3914978"/>
            <a:ext cx="1000125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技术路线（总体链路）</a:t>
            </a:r>
            <a:endParaRPr lang="en-US" sz="13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1441921" y="4779818"/>
            <a:ext cx="533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299790" y="5016008"/>
            <a:ext cx="817662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图像 / PDF 页面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2642815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3434135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动态预处理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367460" y="5016008"/>
            <a:ext cx="8001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问题感知与优选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701704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549294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5407149" y="5016008"/>
            <a:ext cx="838349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特征+示例+提示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6760518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7351737" y="4779818"/>
            <a:ext cx="10668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7427937" y="5016008"/>
            <a:ext cx="914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校验、修复、重试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819331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950877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结构化输出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9489579" y="5016008"/>
            <a:ext cx="705148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HTML / JSON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19250"/>
            <a:ext cx="10363200" cy="35623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34" y="1821911"/>
            <a:ext cx="10020300" cy="2209800"/>
          </a:xfrm>
          <a:prstGeom prst="roundRect">
            <a:avLst>
              <a:gd name="adj" fmla="val 4281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143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08622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4580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33400" y="5334000"/>
            <a:ext cx="10363200" cy="685800"/>
          </a:xfrm>
          <a:prstGeom prst="roundRect">
            <a:avLst>
              <a:gd name="adj" fmla="val 44444"/>
            </a:avLst>
          </a:prstGeom>
          <a:solidFill>
            <a:srgbClr val="EEF4FD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8675" y="55245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总体方案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28675" y="103896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构建“输入解析—动态预处理—上下文识别—质量评估后处理—结构化输出”的闭环技术链路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382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输入解析与图像预处理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28710" y="4535809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支持图像/PDF页面输入，动态选择最优预处理链，提升结构可辨识性。</a:t>
            </a:r>
            <a:endParaRPr lang="en-US" sz="10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21005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上下文学习驱动结构识别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210057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通过特征提取、示例检索与提示构造，引导大模型生成表格结构与内容。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5819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质量评估与后处理输出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581904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基于合法性与一致性评估触发修复、重识别与细化，输出 HTML/JSON 结果。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95325" y="5424488"/>
            <a:ext cx="100393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14329" y="5587160"/>
            <a:ext cx="10039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将“大模型推理能力”与“传统工程闭环”结合，已实现从输入到结构化输出的可运行系统路径。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8" name="图片 7" descr="upload_post_object_v2_40903408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10" y="2239382"/>
            <a:ext cx="1779966" cy="1374943"/>
          </a:xfrm>
          <a:prstGeom prst="rect">
            <a:avLst/>
          </a:prstGeom>
        </p:spPr>
      </p:pic>
      <p:pic>
        <p:nvPicPr>
          <p:cNvPr id="23" name="图片 22" descr="upload_post_object_v2_25371574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467" y="2239393"/>
            <a:ext cx="1831949" cy="1415098"/>
          </a:xfrm>
          <a:prstGeom prst="rect">
            <a:avLst/>
          </a:prstGeom>
        </p:spPr>
      </p:pic>
      <p:pic>
        <p:nvPicPr>
          <p:cNvPr id="25" name="图片 24" descr="upload_post_object_v2_36960886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184" y="2279425"/>
            <a:ext cx="1799685" cy="1334931"/>
          </a:xfrm>
          <a:prstGeom prst="rect">
            <a:avLst/>
          </a:prstGeom>
        </p:spPr>
      </p:pic>
      <p:pic>
        <p:nvPicPr>
          <p:cNvPr id="26" name="图片 25" descr="upload_post_object_v2_2348475615"/>
          <p:cNvPicPr>
            <a:picLocks noChangeAspect="1"/>
          </p:cNvPicPr>
          <p:nvPr/>
        </p:nvPicPr>
        <p:blipFill>
          <a:blip r:embed="rId6"/>
          <a:srcRect r="24572"/>
          <a:stretch>
            <a:fillRect/>
          </a:stretch>
        </p:blipFill>
        <p:spPr>
          <a:xfrm>
            <a:off x="8395130" y="2298171"/>
            <a:ext cx="1888047" cy="1297439"/>
          </a:xfrm>
          <a:prstGeom prst="rect">
            <a:avLst/>
          </a:prstGeom>
        </p:spPr>
      </p:pic>
      <p:sp>
        <p:nvSpPr>
          <p:cNvPr id="27" name="右箭头 26"/>
          <p:cNvSpPr/>
          <p:nvPr userDrawn="1"/>
        </p:nvSpPr>
        <p:spPr>
          <a:xfrm>
            <a:off x="2782437" y="2940309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9" name="右箭头 28"/>
          <p:cNvSpPr/>
          <p:nvPr userDrawn="1"/>
        </p:nvSpPr>
        <p:spPr>
          <a:xfrm>
            <a:off x="7842511" y="2923336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1373229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原始图像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3772006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预处理图像</a:t>
            </a: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223527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识别结果</a:t>
            </a:r>
          </a:p>
        </p:txBody>
      </p:sp>
      <p:sp>
        <p:nvSpPr>
          <p:cNvPr id="34" name="文本框 33"/>
          <p:cNvSpPr txBox="1"/>
          <p:nvPr userDrawn="1"/>
        </p:nvSpPr>
        <p:spPr>
          <a:xfrm>
            <a:off x="9002915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后处理修复</a:t>
            </a:r>
          </a:p>
        </p:txBody>
      </p:sp>
      <p:sp>
        <p:nvSpPr>
          <p:cNvPr id="35" name="右箭头 34"/>
          <p:cNvSpPr/>
          <p:nvPr userDrawn="1"/>
        </p:nvSpPr>
        <p:spPr>
          <a:xfrm>
            <a:off x="5291696" y="2940334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4DD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62100"/>
            <a:ext cx="3714750" cy="400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4375" y="1743075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4375" y="2700412"/>
            <a:ext cx="3371850" cy="842963"/>
          </a:xfrm>
          <a:prstGeom prst="roundRect">
            <a:avLst>
              <a:gd name="adj" fmla="val 24514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4375" y="3657674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4375" y="4615011"/>
            <a:ext cx="3371850" cy="766614"/>
          </a:xfrm>
          <a:prstGeom prst="roundRect">
            <a:avLst>
              <a:gd name="adj" fmla="val 29640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562100"/>
            <a:ext cx="6438900" cy="4000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19625" y="1724025"/>
            <a:ext cx="6134100" cy="3105150"/>
          </a:xfrm>
          <a:prstGeom prst="roundRect">
            <a:avLst>
              <a:gd name="adj" fmla="val 2168"/>
            </a:avLst>
          </a:prstGeom>
          <a:solidFill>
            <a:srgbClr val="F7FA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05350" y="1809750"/>
            <a:ext cx="5962650" cy="29527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19625" y="4924425"/>
            <a:ext cx="6134100" cy="529977"/>
          </a:xfrm>
          <a:prstGeom prst="roundRect">
            <a:avLst>
              <a:gd name="adj" fmla="val 62018"/>
            </a:avLst>
          </a:prstGeom>
          <a:solidFill>
            <a:srgbClr val="FFFFFF"/>
          </a:solidFill>
          <a:ln w="9525">
            <a:solidFill>
              <a:srgbClr val="D5DFE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3400" y="5676900"/>
            <a:ext cx="10363200" cy="342900"/>
          </a:xfrm>
          <a:prstGeom prst="roundRect">
            <a:avLst>
              <a:gd name="adj" fmla="val 148148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优化。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53340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动态感知表格预处理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01991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核心思路：由固定预处理转向“问题感知—候选生成—并行比较—最优选择”的自适应流程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19150" y="1833563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图像退化问题感知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19150" y="2057400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大模型识别噪声、模糊、阴影、对比度不足与边界冗余等退化类型。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19150" y="2790899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候选链生成与并行执行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19150" y="301473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自动生成多条操作链（去噪/增强/锐化/裁剪等），并与原图共同比较。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19150" y="3748162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综合评分优选结果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9150" y="3971999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融合客观质量指标与大模型语义评分，输出更利于结构识别的图像。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19150" y="4700736"/>
            <a:ext cx="31623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19150" y="491787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预处理对 TEDS-Struct 改善更稳定，验证了“结构可恢复性优先”的价值。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743450" y="4991100"/>
            <a:ext cx="5886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图示要点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743450" y="5189190"/>
            <a:ext cx="5886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框架体现了“链间优选 + 步骤级接受/回退”的双层决策机制，避免固定流程过处理。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76275" y="5758607"/>
            <a:ext cx="541771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模块已完成原型实现并形成首轮实验验证，支撑后续识别链路稳定性优化。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4975"/>
            <a:ext cx="6362700" cy="39814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275" y="1947850"/>
            <a:ext cx="60960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33575"/>
            <a:ext cx="5924550" cy="3048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275" y="5243500"/>
            <a:ext cx="6096000" cy="400050"/>
          </a:xfrm>
          <a:prstGeom prst="roundRect">
            <a:avLst>
              <a:gd name="adj" fmla="val 10884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04975"/>
            <a:ext cx="3810000" cy="39814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248525" y="1966900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248525" y="2970225"/>
            <a:ext cx="3505200" cy="888950"/>
          </a:xfrm>
          <a:prstGeom prst="roundRect">
            <a:avLst>
              <a:gd name="adj" fmla="val 22043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248525" y="3973475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248525" y="4976800"/>
            <a:ext cx="3505200" cy="647700"/>
          </a:xfrm>
          <a:prstGeom prst="roundRect">
            <a:avLst>
              <a:gd name="adj" fmla="val 41522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以“特征—示例—提示—生成—解析”为主链路，提升复杂表格结构恢复与内容组织能力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0100" y="5353782"/>
            <a:ext cx="44785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主流程已打通，并支持示例不足时自动回退无示例模式。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353300" y="2057388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特征提取与示例检索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343734" y="2394875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提取表格视觉特征，按相似度筛选示例，并兼顾示例多样性以降低过拟合风险。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353300" y="3060712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提示构造引导结构生成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343734" y="339820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组织任务指令与参考示例，驱动大模型输出表格结构；异常时进入校验与有限重试。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353300" y="4063963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结构化解析与结果修复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343734" y="440145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输出 HTML 表格并解析单元格内容，形成内容矩阵与明细结果，支撑后续修复与展示。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353300" y="5062525"/>
            <a:ext cx="32956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阶段判断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517799" y="5222559"/>
            <a:ext cx="308349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上下文学习在复杂表格场景中已验证可行，核心瓶颈聚焦于示例匹配与复杂跨度恢复。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85925"/>
            <a:ext cx="4495800" cy="400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947850"/>
            <a:ext cx="4191000" cy="846758"/>
          </a:xfrm>
          <a:prstGeom prst="roundRect">
            <a:avLst>
              <a:gd name="adj" fmla="val 24295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5325" y="2908908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5325" y="3869891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5325" y="4830874"/>
            <a:ext cx="4191000" cy="793626"/>
          </a:xfrm>
          <a:prstGeom prst="roundRect">
            <a:avLst>
              <a:gd name="adj" fmla="val 27657"/>
            </a:avLst>
          </a:prstGeom>
          <a:solidFill>
            <a:srgbClr val="EDF3FC"/>
          </a:solidFill>
          <a:ln w="9525">
            <a:solidFill>
              <a:srgbClr val="CCD9E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785925"/>
            <a:ext cx="5676900" cy="4000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62575" y="1928800"/>
            <a:ext cx="54102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48300" y="2014525"/>
            <a:ext cx="5238750" cy="30480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62575" y="5224450"/>
            <a:ext cx="5410200" cy="419100"/>
          </a:xfrm>
          <a:prstGeom prst="roundRect">
            <a:avLst>
              <a:gd name="adj" fmla="val 9917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结果评估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构建“识别—评估—修复—再判定”闭环，提升复杂表格场景下结果稳定性与可用性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00100" y="203833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多维质量评估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28710" y="2312245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从结构合法性、拓扑一致性、图像对齐与内容质量等维度生成评估报告。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00100" y="2999395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反馈驱动修复与重识别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28710" y="3273303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针对异常类型触发结构修复、带反馈重识别与无示例重试，降低单次生成波动。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00100" y="396037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局部细化与拆分合并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28710" y="4234286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支持单元格级细化、区域拆分识别与结果合并，增强复杂布局处理能力。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00100" y="4916599"/>
            <a:ext cx="3981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28710" y="5164759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后处理模块将系统由“单次预测”升级为“可校验、可纠偏”的闭环决策框架。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5486400" y="5344257"/>
            <a:ext cx="4705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流程重点：评估单元先判定问题类型，再选择修复动作并回流重评分，形成闭环优化。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4025"/>
            <a:ext cx="6286500" cy="396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275" y="1966900"/>
            <a:ext cx="60198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07937"/>
            <a:ext cx="5685040" cy="30926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275" y="5262550"/>
            <a:ext cx="6019800" cy="381000"/>
          </a:xfrm>
          <a:prstGeom prst="roundRect">
            <a:avLst>
              <a:gd name="adj" fmla="val 12000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824025"/>
            <a:ext cx="3886200" cy="39624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172325" y="1985950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172325" y="2951696"/>
            <a:ext cx="3581400" cy="851371"/>
          </a:xfrm>
          <a:prstGeom prst="roundRect">
            <a:avLst>
              <a:gd name="adj" fmla="val 24032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172325" y="3917367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172325" y="4883113"/>
            <a:ext cx="3581400" cy="741387"/>
          </a:xfrm>
          <a:prstGeom prst="roundRect">
            <a:avLst>
              <a:gd name="adj" fmla="val 31691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div&gt;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系统实现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前后端分离 + 核心算法层协同，已形成可演示、可测试、可导出的表格识别原型系统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0100" y="5363307"/>
            <a:ext cx="39832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前端交互、后端服务与算法主流程已完成</a:t>
            </a:r>
            <a:r>
              <a:rPr lang="zh-CN" alt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初步</a:t>
            </a: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联通。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277100" y="2076437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前端层：交互与展示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277100" y="2309800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支持文件上传、结果查看、历史记录管理与结果下载。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277100" y="3042183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后端层：任务调度与持久化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277100" y="3275546"/>
            <a:ext cx="3371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接收请求并调度识别流程，负责结果保存、接口返回与状态管理。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277100" y="4007854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算法层：核心识别闭环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277100" y="4241217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统一封装预处理、上下文识别、质量评估与后处理模块。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277100" y="4968838"/>
            <a:ext cx="3371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277100" y="5185978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系统已具备“输入—识别—展示—导出”的完整工程化能力。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202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div&gt;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zh-CN" altLang="en-US" sz="2550" b="1" dirty="0">
                <a:solidFill>
                  <a:srgbClr val="000000"/>
                </a:solidFill>
              </a:rPr>
              <a:t>系统展示</a:t>
            </a:r>
          </a:p>
        </p:txBody>
      </p:sp>
      <p:sp>
        <p:nvSpPr>
          <p:cNvPr id="18" name="Text 12"/>
          <p:cNvSpPr/>
          <p:nvPr/>
        </p:nvSpPr>
        <p:spPr>
          <a:xfrm>
            <a:off x="828710" y="1304801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前后端分离 + 核心算法层协同，已形成可演示、可测试、可导出的表格识别原型系统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5" name="图片 14" descr="upload_post_object_v2_2339829697"/>
          <p:cNvPicPr>
            <a:picLocks noChangeAspect="1"/>
          </p:cNvPicPr>
          <p:nvPr/>
        </p:nvPicPr>
        <p:blipFill>
          <a:blip r:embed="rId2"/>
          <a:srcRect l="15693"/>
          <a:stretch>
            <a:fillRect/>
          </a:stretch>
        </p:blipFill>
        <p:spPr>
          <a:xfrm>
            <a:off x="533446" y="2390477"/>
            <a:ext cx="3292485" cy="1835525"/>
          </a:xfrm>
          <a:prstGeom prst="rect">
            <a:avLst/>
          </a:prstGeom>
        </p:spPr>
      </p:pic>
      <p:pic>
        <p:nvPicPr>
          <p:cNvPr id="28" name="图片 27" descr="upload_post_object_v2_578455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260" y="2457367"/>
            <a:ext cx="3138756" cy="1768598"/>
          </a:xfrm>
          <a:prstGeom prst="rect">
            <a:avLst/>
          </a:prstGeom>
        </p:spPr>
      </p:pic>
      <p:pic>
        <p:nvPicPr>
          <p:cNvPr id="29" name="图片 28" descr="upload_post_object_v2_13352047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537" y="2457367"/>
            <a:ext cx="3508016" cy="1768625"/>
          </a:xfrm>
          <a:prstGeom prst="rect">
            <a:avLst/>
          </a:prstGeom>
        </p:spPr>
      </p:pic>
      <p:sp>
        <p:nvSpPr>
          <p:cNvPr id="30" name="圆角矩形 29"/>
          <p:cNvSpPr/>
          <p:nvPr userDrawn="1"/>
        </p:nvSpPr>
        <p:spPr>
          <a:xfrm>
            <a:off x="666310" y="4889517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主界面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圆角矩形 30"/>
          <p:cNvSpPr/>
          <p:nvPr userDrawn="1"/>
        </p:nvSpPr>
        <p:spPr>
          <a:xfrm>
            <a:off x="4181650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上传图像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圆角矩形 31"/>
          <p:cNvSpPr/>
          <p:nvPr userDrawn="1"/>
        </p:nvSpPr>
        <p:spPr>
          <a:xfrm>
            <a:off x="7541422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查看结果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C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33450"/>
          </a:xfrm>
          <a:prstGeom prst="roundRect">
            <a:avLst>
              <a:gd name="adj" fmla="val 27988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10363200" cy="4038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685925"/>
            <a:ext cx="10058400" cy="580058"/>
          </a:xfrm>
          <a:prstGeom prst="roundRect">
            <a:avLst>
              <a:gd name="adj" fmla="val 51771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5325" y="2380283"/>
            <a:ext cx="10058400" cy="2074813"/>
          </a:xfrm>
          <a:prstGeom prst="roundRect">
            <a:avLst>
              <a:gd name="adj" fmla="val 4856"/>
            </a:avLst>
          </a:prstGeom>
          <a:solidFill>
            <a:srgbClr val="F8FB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0100" y="2485058"/>
            <a:ext cx="9867900" cy="266700"/>
          </a:xfrm>
          <a:prstGeom prst="roundRect">
            <a:avLst>
              <a:gd name="adj" fmla="val 146939"/>
            </a:avLst>
          </a:prstGeom>
          <a:solidFill>
            <a:srgbClr val="EAF1FB"/>
          </a:solidFill>
        </p:spPr>
      </p:sp>
      <p:sp>
        <p:nvSpPr>
          <p:cNvPr id="10" name="Shape 6"/>
          <p:cNvSpPr/>
          <p:nvPr/>
        </p:nvSpPr>
        <p:spPr>
          <a:xfrm>
            <a:off x="800100" y="2485058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609850" y="2485058"/>
            <a:ext cx="3048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57850" y="2485058"/>
            <a:ext cx="2000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0100" y="2808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9625" y="2808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16026" y="2808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58073" y="2808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0100" y="3189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625" y="3189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16026" y="3189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58073" y="3189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0100" y="3570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9625" y="3570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16026" y="3570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58073" y="3570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0100" y="3951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2F7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9625" y="3951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616026" y="3951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58073" y="3951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95325" y="4569396"/>
            <a:ext cx="10058400" cy="831279"/>
          </a:xfrm>
          <a:prstGeom prst="roundRect">
            <a:avLst>
              <a:gd name="adj" fmla="val 25208"/>
            </a:avLst>
          </a:prstGeom>
          <a:solidFill>
            <a:srgbClr val="EDF3FC"/>
          </a:solidFill>
          <a:ln w="9525">
            <a:solidFill>
              <a:srgbClr val="CCD9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09625" y="514350"/>
            <a:ext cx="98107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实验结果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09625" y="981819"/>
            <a:ext cx="98107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 TEDS 与 TEDS-Struct 的阶段性验证：结构恢复提升更稳定，示例学习在复杂表格场景收益显著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838200" y="1757363"/>
            <a:ext cx="9772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评价口径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838200" y="1962150"/>
            <a:ext cx="97726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衡量“结构+内容”整体质量；TEDS-Struct 聚焦结构骨架恢复，用于判断预处理与结构识别模块贡献。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95350" y="2529855"/>
            <a:ext cx="17145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实验组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2705100" y="2529855"/>
            <a:ext cx="29527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场景与设置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5753100" y="2529855"/>
            <a:ext cx="1905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变化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7753350" y="2529855"/>
            <a:ext cx="29146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TEDS-Struct 变化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904875" y="2881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2711276" y="2881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Pub：Baseline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5753323" y="2881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0.6951 → 0.6901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7749778" y="2881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0.8465 → 0.8573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904875" y="3262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2711276" y="3262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Sci：Baseline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5753323" y="3262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0.8360 → 0.8438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7749778" y="3262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0.9182 → 0.9206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904875" y="3643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2711276" y="3643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WTW：Baseline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5753323" y="3643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0.2301 → 0.2322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7749778" y="3643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0.3627 → 0.3828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904875" y="4024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Qwen3-VL-8B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2711276" y="4024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Sci：Baseline → demo+preprocess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5753323" y="4024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0.8530 → 0.8830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7749778" y="4024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0.9210 → 0.9410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800100" y="4655121"/>
            <a:ext cx="9848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阶段结论（3点）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800100" y="4872261"/>
            <a:ext cx="9848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1) 预处理对结构指标提升更稳定，验证“结构可恢复性优先”假设。 2) Sci/WTW 场景收益更明显，复杂场景对方法改进更敏感。 3) 示例学习与预处理联用在复杂论文表格中带来显著增益。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10363200" cy="396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200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9" name="Shape 5"/>
          <p:cNvSpPr/>
          <p:nvPr/>
        </p:nvSpPr>
        <p:spPr>
          <a:xfrm>
            <a:off x="838200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95750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38625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12" name="Shape 8"/>
          <p:cNvSpPr/>
          <p:nvPr/>
        </p:nvSpPr>
        <p:spPr>
          <a:xfrm>
            <a:off x="4238625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6175" y="1762125"/>
            <a:ext cx="3257550" cy="3657600"/>
          </a:xfrm>
          <a:prstGeom prst="roundRect">
            <a:avLst>
              <a:gd name="adj" fmla="val 1970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39050" y="1905000"/>
            <a:ext cx="2990850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15" name="Shape 11"/>
          <p:cNvSpPr/>
          <p:nvPr/>
        </p:nvSpPr>
        <p:spPr>
          <a:xfrm>
            <a:off x="7639050" y="4737943"/>
            <a:ext cx="2990850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3400" y="5676900"/>
            <a:ext cx="10363200" cy="323850"/>
          </a:xfrm>
          <a:prstGeom prst="roundRect">
            <a:avLst>
              <a:gd name="adj" fmla="val 166090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28675" y="53340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存在问题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28675" y="101991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中期阶段已验证技术路线可行，但复杂场景下稳定性与一致性仍是后续优化重点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33450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预处理收益场景依赖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38200" y="237246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不同数据场景对同一候选链响应不一致，收益波动明显。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38200" y="2820144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结构指标提升通常更稳定，但内容指标提升不总是同步。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38200" y="326781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评分机制与最终识别质量仍存在偏差，需进一步校准。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942975" y="4823668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关键词：场景差异、评分一致性、稳定增益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333875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大模型结构生成波动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238625" y="2372469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受提示组织与示例匹配影响，输出格式偶发不规范。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238625" y="2634407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复杂表头与跨行跨列场景中，局部结构遗漏仍会出现。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238625" y="3082082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已有校验与重试机制，但尚不能完全消除随机性。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448189" y="4823702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关键词：输出一致性、格式约束、重试鲁棒性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734300" y="1972494"/>
            <a:ext cx="178117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复杂结构与内容对齐困难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639050" y="2372469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多级表头、弱线框与密集文本场景下，边界判断易偏差。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639050" y="2820144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局部结构偏差会放大内容归属错误，影响最终可用性。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639050" y="3267819"/>
            <a:ext cx="29908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结构恢复与内容落位协同机制仍需持续强化。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743825" y="4823668"/>
            <a:ext cx="27813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关键词：单元格对齐、跨度恢复、复杂场景鲁棒性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76275" y="5749082"/>
            <a:ext cx="480454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结论：当前瓶颈集中于“稳定性与一致性”，后续工作将以问题驱动方式开展针对性优化。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928664"/>
            <a:ext cx="10424163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30" y="2109764"/>
            <a:ext cx="10488694" cy="3390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755" y="2271689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3630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E8F0FC"/>
          </a:solidFill>
        </p:spPr>
      </p:sp>
      <p:sp>
        <p:nvSpPr>
          <p:cNvPr id="9" name="Shape 5"/>
          <p:cNvSpPr/>
          <p:nvPr/>
        </p:nvSpPr>
        <p:spPr>
          <a:xfrm>
            <a:off x="773630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69317" y="2271728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12155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DFEAFB"/>
          </a:solidFill>
        </p:spPr>
      </p:sp>
      <p:sp>
        <p:nvSpPr>
          <p:cNvPr id="12" name="Shape 8"/>
          <p:cNvSpPr/>
          <p:nvPr/>
        </p:nvSpPr>
        <p:spPr>
          <a:xfrm>
            <a:off x="4212155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07805" y="2271689"/>
            <a:ext cx="3333750" cy="3086100"/>
          </a:xfrm>
          <a:prstGeom prst="roundRect">
            <a:avLst>
              <a:gd name="adj" fmla="val 2195"/>
            </a:avLst>
          </a:prstGeom>
          <a:solidFill>
            <a:srgbClr val="EEF5FF"/>
          </a:solidFill>
          <a:ln w="9525">
            <a:solidFill>
              <a:srgbClr val="C5D6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50680" y="2414564"/>
            <a:ext cx="3067050" cy="382563"/>
          </a:xfrm>
          <a:prstGeom prst="roundRect">
            <a:avLst>
              <a:gd name="adj" fmla="val 95217"/>
            </a:avLst>
          </a:prstGeom>
          <a:solidFill>
            <a:srgbClr val="BDD7EE">
              <a:alpha val="100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7650680" y="4813301"/>
            <a:ext cx="3067050" cy="401613"/>
          </a:xfrm>
          <a:prstGeom prst="roundRect">
            <a:avLst>
              <a:gd name="adj" fmla="val 86398"/>
            </a:avLst>
          </a:prstGeom>
          <a:solidFill>
            <a:srgbClr val="EDF3FC">
              <a:alpha val="100000"/>
            </a:srgbClr>
          </a:solidFill>
          <a:ln w="9525">
            <a:solidFill>
              <a:srgbClr val="B9CD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4105" y="1042964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后续计划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64105" y="1529483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围绕“方法优化—实验完善—系统打磨—论文答辩”四条主线推进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68880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阶段一：6–8月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73630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继续优化动态预处理与上下文学习识别引擎。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73630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补充困难样本分析，改进示例选择与提示构造。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73630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开展对比/消融实验，完成首轮误差归因整理。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78405" y="4924327"/>
            <a:ext cx="19812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目标：方法稳定性与证据充分性提升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307405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阶段二：8–9月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212155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完善系统联调，优化运行效率与异常处理能力。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212155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强化中间过程记录、结果回看与导出管理能力。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212155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形成可支撑论文复现与答辩演示的稳定原型。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316930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目标：系统完整度与可展示性提升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745930" y="2489648"/>
            <a:ext cx="1199406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阶段三：9–1</a:t>
            </a:r>
            <a:r>
              <a:rPr lang="en-US" altLang="zh-CN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650680" y="2897139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9–10月：完成论文初稿与图表材料整理。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650680" y="3159077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10–11月：根据导师反馈修改定稿并核对实验表述。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650680" y="3421014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同步完成答辩PPT、展示材料与预答辩准备。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755455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目标：高质量定稿并按期完成答辩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片 15" descr="upload_post_object_v2_255402833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355401" y="521795"/>
            <a:ext cx="3602163" cy="15879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34" name="文本框 33"/>
          <p:cNvSpPr txBox="1"/>
          <p:nvPr userDrawn="1"/>
        </p:nvSpPr>
        <p:spPr>
          <a:xfrm>
            <a:off x="5242017" y="2389289"/>
            <a:ext cx="1586112" cy="115149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4000">
                <a:latin typeface="微软雅黑" charset="0"/>
                <a:ea typeface="微软雅黑" charset="0"/>
                <a:cs typeface="微软雅黑" charset="0"/>
              </a:rPr>
              <a:t>谢谢</a:t>
            </a:r>
            <a:endParaRPr lang="zh-CN" altLang="en-US" sz="40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3208</Words>
  <Application>WPS Office WWO_feishu_20241028185521-3ecd29d096</Application>
  <PresentationFormat>On-screen Show (16:9)</PresentationFormat>
  <Paragraphs>346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汉仪旗黑KW 55S</vt:lpstr>
      <vt:lpstr>汉仪书宋二KW</vt:lpstr>
      <vt:lpstr>Calibri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PptxGenJS</cp:lastModifiedBy>
  <dcterms:created xsi:type="dcterms:W3CDTF">2026-06-18T08:17:27Z</dcterms:created>
  <dcterms:modified xsi:type="dcterms:W3CDTF">2026-06-18T08:17:27Z</dcterms:modified>
  <dc:description>﻿﻿﻿﻿​﻿⁠﻿﻿﻿﻿﻿﻿﻿﻿﻿﻿﻿﻿﻿‌‍⁢⁢‍﻿​‌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0BDC442A496CD090766D2F6A01166632_42</vt:lpwstr>
  </property>
  <property fmtid="{D5CDD505-2E9C-101B-9397-08002B2CF9AE}" pid="3" name="KSOProductBuildVer">
    <vt:lpwstr>2052-0.0.0.0</vt:lpwstr>
  </property>
</Properties>
</file>