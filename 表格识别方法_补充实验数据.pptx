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7" r:id="rId12"/>
    <p:sldId id="264" r:id="rId13"/>
    <p:sldId id="265" r:id="rId14"/>
    <p:sldId id="266" r:id="rId15"/>
    <p:sldId id="268" r:id="rId16"/>
  </p:sldIdLst>
  <p:sldSz cx="11430000" cy="6429375"/>
  <p:notesSz cx="6429375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da5b032-5396-4553-be1a-2277d11157c0_t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6426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-110691" y="30"/>
            <a:ext cx="11430000" cy="6429375"/>
          </a:xfrm>
          <a:prstGeom prst="rect">
            <a:avLst/>
          </a:prstGeom>
          <a:solidFill>
            <a:srgbClr val="F7F9FC"/>
          </a:solidFill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495300"/>
            <a:ext cx="10287000" cy="543877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333500" y="1814661"/>
            <a:ext cx="8763000" cy="19050"/>
          </a:xfrm>
          <a:prstGeom prst="rect">
            <a:avLst/>
          </a:prstGeom>
          <a:solidFill>
            <a:srgbClr val="2E4E7E">
              <a:alpha val="20000"/>
            </a:srgbClr>
          </a:solidFill>
        </p:spPr>
      </p:sp>
      <p:sp>
        <p:nvSpPr>
          <p:cNvPr id="7" name="Shape 3"/>
          <p:cNvSpPr/>
          <p:nvPr/>
        </p:nvSpPr>
        <p:spPr>
          <a:xfrm>
            <a:off x="1333500" y="3705225"/>
            <a:ext cx="8763000" cy="1428750"/>
          </a:xfrm>
          <a:prstGeom prst="roundRect">
            <a:avLst>
              <a:gd name="adj" fmla="val 11947"/>
            </a:avLst>
          </a:prstGeom>
          <a:solidFill>
            <a:srgbClr val="F5F8FD"/>
          </a:solidFill>
          <a:ln w="9525">
            <a:solidFill>
              <a:srgbClr val="D9E1E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0" y="6453188"/>
            <a:ext cx="11430000" cy="6429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section&gt;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2428875" y="1128713"/>
            <a:ext cx="7667625" cy="490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结合大模型的表格识别方法与系统</a:t>
            </a:r>
            <a:endParaRPr lang="en-US" sz="34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381500" y="2552700"/>
            <a:ext cx="5715000" cy="3146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硕士学位论文中期答辩</a:t>
            </a:r>
            <a:endParaRPr lang="en-US" sz="21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762375" y="2972172"/>
            <a:ext cx="6334125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哈尔滨工业大学（深圳） · 计算机科学与技术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143500" y="3924300"/>
            <a:ext cx="1143000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导师：卢光明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143500" y="4286250"/>
            <a:ext cx="1143000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研究生：覃浩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026372" y="4648200"/>
            <a:ext cx="1377181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学号：24S151153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702820" y="5476875"/>
            <a:ext cx="539368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中期报告日期：2026年6月22日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6F8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419100"/>
            <a:ext cx="10363200" cy="914400"/>
          </a:xfrm>
          <a:prstGeom prst="roundRect">
            <a:avLst>
              <a:gd name="adj" fmla="val 29167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D8E0EC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24000"/>
            <a:ext cx="5981700" cy="44577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71525" y="1762125"/>
            <a:ext cx="5524500" cy="1200150"/>
          </a:xfrm>
          <a:prstGeom prst="roundRect">
            <a:avLst>
              <a:gd name="adj" fmla="val 14512"/>
            </a:avLst>
          </a:prstGeom>
          <a:solidFill>
            <a:srgbClr val="F8FB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71525" y="3114675"/>
            <a:ext cx="5524500" cy="1200150"/>
          </a:xfrm>
          <a:prstGeom prst="roundRect">
            <a:avLst>
              <a:gd name="adj" fmla="val 14512"/>
            </a:avLst>
          </a:prstGeom>
          <a:solidFill>
            <a:srgbClr val="F8FB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71525" y="4467225"/>
            <a:ext cx="5524500" cy="1200150"/>
          </a:xfrm>
          <a:prstGeom prst="roundRect">
            <a:avLst>
              <a:gd name="adj" fmla="val 14512"/>
            </a:avLst>
          </a:prstGeom>
          <a:solidFill>
            <a:srgbClr val="F8FBFF"/>
          </a:solidFill>
          <a:ln w="9525">
            <a:solidFill>
              <a:srgbClr val="DBE3EF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0" y="1524000"/>
            <a:ext cx="4152900" cy="44577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943725" y="1724025"/>
            <a:ext cx="3771900" cy="2710160"/>
          </a:xfrm>
          <a:prstGeom prst="roundRect">
            <a:avLst>
              <a:gd name="adj" fmla="val 2846"/>
            </a:avLst>
          </a:prstGeom>
          <a:solidFill>
            <a:srgbClr val="FFFFFF">
              <a:alpha val="0"/>
            </a:srgbClr>
          </a:solidFill>
          <a:ln w="9525">
            <a:solidFill>
              <a:srgbClr val="D8E1EE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6943725" y="4567535"/>
            <a:ext cx="3771900" cy="1214140"/>
          </a:xfrm>
          <a:prstGeom prst="roundRect">
            <a:avLst>
              <a:gd name="adj" fmla="val 14180"/>
            </a:avLst>
          </a:prstGeom>
          <a:solidFill>
            <a:srgbClr val="F3F7FD"/>
          </a:solidFill>
          <a:ln w="9525">
            <a:solidFill>
              <a:srgbClr val="D7E0EC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0" y="6453188"/>
            <a:ext cx="11430000" cy="6429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866775" y="497607"/>
            <a:ext cx="9696450" cy="3839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研究背景</a:t>
            </a:r>
            <a:endParaRPr lang="en-US" sz="27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866775" y="986358"/>
            <a:ext cx="96964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复杂文档表格识别已由“标准场景优化”转向“真实场景鲁棒性提升”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914400" y="1890713"/>
            <a:ext cx="52387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任务价值：表格是文档核心结构化载体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914400" y="2152650"/>
            <a:ext cx="523875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财务报表、科研论文、政务档案等关键信息高度依赖表格组织，识别质量直接影响后续计算与分析。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914400" y="3243263"/>
            <a:ext cx="52387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场景挑战：输入质量与版式复杂度双重波动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914400" y="3505200"/>
            <a:ext cx="523875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PDF、扫描件、拍照文档常伴随噪声、模糊、阴影、透视畸变与弱线框，结构恢复难度显著增加。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914400" y="4595813"/>
            <a:ext cx="52387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方法瓶颈：传统流程在复杂样本泛化不足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914400" y="4857750"/>
            <a:ext cx="523875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固定预处理与单次识别易出现误差传播，面对复杂表头、跨行跨列与多表混排时稳定性不足。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067550" y="4677073"/>
            <a:ext cx="3524250" cy="1742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研究动因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7067550" y="4941838"/>
            <a:ext cx="352425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需构建“输入质量优化—结构理解—结果校验”一体化链路，才能提升复杂真实场景下的准确率与可用性。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571500" y="5739557"/>
            <a:ext cx="4276204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2" name="图片 11" descr="upload_post_object_v2_316209918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2643" y="1802703"/>
            <a:ext cx="3275057" cy="25527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Shape 2"/>
          <p:cNvSpPr/>
          <p:nvPr/>
        </p:nvSpPr>
        <p:spPr>
          <a:xfrm>
            <a:off x="533400" y="705053"/>
            <a:ext cx="10363200" cy="990600"/>
          </a:xfrm>
          <a:prstGeom prst="roundRect">
            <a:avLst>
              <a:gd name="adj" fmla="val 24852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D6DFEC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867103"/>
            <a:ext cx="10363200" cy="17335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3425" y="2067128"/>
            <a:ext cx="3219450" cy="1352550"/>
          </a:xfrm>
          <a:prstGeom prst="roundRect">
            <a:avLst>
              <a:gd name="adj" fmla="val 11426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105275" y="2067128"/>
            <a:ext cx="3219450" cy="1352550"/>
          </a:xfrm>
          <a:prstGeom prst="roundRect">
            <a:avLst>
              <a:gd name="adj" fmla="val 11426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477125" y="2067128"/>
            <a:ext cx="3219450" cy="1352550"/>
          </a:xfrm>
          <a:prstGeom prst="roundRect">
            <a:avLst>
              <a:gd name="adj" fmla="val 11426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753053"/>
            <a:ext cx="10363200" cy="21336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14375" y="4254008"/>
            <a:ext cx="10020300" cy="1466850"/>
          </a:xfrm>
          <a:prstGeom prst="roundRect">
            <a:avLst>
              <a:gd name="adj" fmla="val 9715"/>
            </a:avLst>
          </a:prstGeom>
          <a:solidFill>
            <a:srgbClr val="F6F9FE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76300" y="4377833"/>
            <a:ext cx="1664717" cy="1219200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9525">
            <a:solidFill>
              <a:srgbClr val="CFDAEA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935114" y="4377833"/>
            <a:ext cx="1664791" cy="1219200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9525">
            <a:solidFill>
              <a:srgbClr val="CFDAEA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994002" y="4377833"/>
            <a:ext cx="1664717" cy="1219200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9525">
            <a:solidFill>
              <a:srgbClr val="CFDA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052816" y="4377833"/>
            <a:ext cx="1664717" cy="1219200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9525">
            <a:solidFill>
              <a:srgbClr val="CFDA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111630" y="4377833"/>
            <a:ext cx="1461120" cy="1219200"/>
          </a:xfrm>
          <a:prstGeom prst="roundRect">
            <a:avLst>
              <a:gd name="adj" fmla="val 11719"/>
            </a:avLst>
          </a:prstGeom>
          <a:solidFill>
            <a:srgbClr val="EEF4FD"/>
          </a:solidFill>
          <a:ln w="9525">
            <a:solidFill>
              <a:srgbClr val="C7D5E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0" y="6453188"/>
            <a:ext cx="11430000" cy="6429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47725" y="838403"/>
            <a:ext cx="9734550" cy="3839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研究目标</a:t>
            </a:r>
            <a:endParaRPr lang="en-US" sz="27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838237" y="1332542"/>
            <a:ext cx="97345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面向复杂文档场景，构建“可理解、可决策、可修复”的大模型表格识别完整链路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857250" y="2176666"/>
            <a:ext cx="29718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 1：复杂场景鲁棒识别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838211" y="2633567"/>
            <a:ext cx="297180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覆盖出版物、科研论文、弱线框复杂布局等多类型输入，提升复杂样本适应性。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4229100" y="2176666"/>
            <a:ext cx="29718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 2：端到端闭环流程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4219599" y="2633534"/>
            <a:ext cx="297180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实现输入解析、动态预处理、结构识别、质量评估与后处理到结构化输出的全链路。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7600950" y="2176666"/>
            <a:ext cx="29718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 3：大模型能力融合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7600906" y="2633534"/>
            <a:ext cx="297180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利用上下文学习与决策机制提升结构理解、结果稳定性与复杂关系恢复能力。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714375" y="3914978"/>
            <a:ext cx="10001250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技术路线（总体链路）</a:t>
            </a:r>
            <a:endParaRPr lang="en-US" sz="13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1441921" y="4779818"/>
            <a:ext cx="53340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输入解析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1299790" y="5016008"/>
            <a:ext cx="817662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图像 / PDF 页面</a:t>
            </a:r>
            <a:endParaRPr 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2642815" y="4854083"/>
            <a:ext cx="190500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→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3434135" y="4779818"/>
            <a:ext cx="6667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动态预处理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3367460" y="5016008"/>
            <a:ext cx="80010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问题感知与优选</a:t>
            </a:r>
            <a:endParaRPr 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4701704" y="4854083"/>
            <a:ext cx="190500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→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5492948" y="4779818"/>
            <a:ext cx="6667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上下文识别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5407149" y="5016008"/>
            <a:ext cx="838349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特征+示例+提示</a:t>
            </a:r>
            <a:endParaRPr 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6760518" y="4854083"/>
            <a:ext cx="190500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→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7351737" y="4779818"/>
            <a:ext cx="106680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质量评估与后处理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7427937" y="5016008"/>
            <a:ext cx="91440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校验、修复、重试</a:t>
            </a:r>
            <a:endParaRPr 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8" name="Text 33"/>
          <p:cNvSpPr/>
          <p:nvPr/>
        </p:nvSpPr>
        <p:spPr>
          <a:xfrm>
            <a:off x="8819331" y="4854083"/>
            <a:ext cx="190500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→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9" name="Text 34"/>
          <p:cNvSpPr/>
          <p:nvPr/>
        </p:nvSpPr>
        <p:spPr>
          <a:xfrm>
            <a:off x="9508778" y="4779818"/>
            <a:ext cx="6667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结构化输出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9489579" y="5016008"/>
            <a:ext cx="705148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HTML / JSON</a:t>
            </a:r>
            <a:endParaRPr 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Shape 2"/>
          <p:cNvSpPr/>
          <p:nvPr/>
        </p:nvSpPr>
        <p:spPr>
          <a:xfrm>
            <a:off x="533400" y="419100"/>
            <a:ext cx="10363200" cy="1028700"/>
          </a:xfrm>
          <a:prstGeom prst="roundRect">
            <a:avLst>
              <a:gd name="adj" fmla="val 23045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5DE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619250"/>
            <a:ext cx="10363200" cy="35623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5334" y="1821911"/>
            <a:ext cx="10020300" cy="2209800"/>
          </a:xfrm>
          <a:prstGeom prst="roundRect">
            <a:avLst>
              <a:gd name="adj" fmla="val 4281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714375" y="4143375"/>
            <a:ext cx="3238500" cy="952500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D6DFED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4086225" y="4143375"/>
            <a:ext cx="3238500" cy="952500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D6DFED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7458075" y="4143375"/>
            <a:ext cx="3238500" cy="952500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D6DFED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33400" y="5334000"/>
            <a:ext cx="10363200" cy="685800"/>
          </a:xfrm>
          <a:prstGeom prst="roundRect">
            <a:avLst>
              <a:gd name="adj" fmla="val 44444"/>
            </a:avLst>
          </a:prstGeom>
          <a:solidFill>
            <a:srgbClr val="EEF4FD"/>
          </a:solidFill>
          <a:ln w="9525">
            <a:solidFill>
              <a:srgbClr val="CCD8E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28675" y="552450"/>
            <a:ext cx="97726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总体方案</a:t>
            </a:r>
            <a:endParaRPr lang="en-US" sz="25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828675" y="1038969"/>
            <a:ext cx="97726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构建“输入解析—动态预处理—上下文识别—质量评估后处理—结构化输出”的闭环技术链路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838200" y="4233863"/>
            <a:ext cx="2990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输入解析与图像预处理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828710" y="4535809"/>
            <a:ext cx="2990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支持图像/PDF页面输入，动态选择最优预处理链，提升结构可辨识性。</a:t>
            </a:r>
            <a:endParaRPr lang="en-US" sz="10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210050" y="4233863"/>
            <a:ext cx="2990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上下文学习驱动结构识别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4210057" y="4535767"/>
            <a:ext cx="2990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通过特征提取、示例检索与提示构造，引导大模型生成表格结构与内容。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7581900" y="4233863"/>
            <a:ext cx="2990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质量评估与后处理输出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7581904" y="4535767"/>
            <a:ext cx="2990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基于合法性与一致性评估触发修复、重识别与细化，输出 HTML/JSON 结果。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695325" y="5424488"/>
            <a:ext cx="100393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714329" y="5587160"/>
            <a:ext cx="100393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将“大模型推理能力”与“传统工程闭环”结合，已实现从输入到结构化输出的可运行系统路径。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8" name="图片 7" descr="upload_post_object_v2_40903408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710" y="2239382"/>
            <a:ext cx="1779966" cy="1374943"/>
          </a:xfrm>
          <a:prstGeom prst="rect">
            <a:avLst/>
          </a:prstGeom>
        </p:spPr>
      </p:pic>
      <p:pic>
        <p:nvPicPr>
          <p:cNvPr id="23" name="图片 22" descr="upload_post_object_v2_25371574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467" y="2239393"/>
            <a:ext cx="1831949" cy="1415098"/>
          </a:xfrm>
          <a:prstGeom prst="rect">
            <a:avLst/>
          </a:prstGeom>
        </p:spPr>
      </p:pic>
      <p:pic>
        <p:nvPicPr>
          <p:cNvPr id="25" name="图片 24" descr="upload_post_object_v2_36960886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2184" y="2279425"/>
            <a:ext cx="1799685" cy="1334931"/>
          </a:xfrm>
          <a:prstGeom prst="rect">
            <a:avLst/>
          </a:prstGeom>
        </p:spPr>
      </p:pic>
      <p:pic>
        <p:nvPicPr>
          <p:cNvPr id="26" name="图片 25" descr="upload_post_object_v2_2348475615"/>
          <p:cNvPicPr>
            <a:picLocks noChangeAspect="1"/>
          </p:cNvPicPr>
          <p:nvPr/>
        </p:nvPicPr>
        <p:blipFill>
          <a:blip r:embed="rId5"/>
          <a:srcRect r="24572"/>
          <a:stretch>
            <a:fillRect/>
          </a:stretch>
        </p:blipFill>
        <p:spPr>
          <a:xfrm>
            <a:off x="8395130" y="2298171"/>
            <a:ext cx="1888047" cy="1297439"/>
          </a:xfrm>
          <a:prstGeom prst="rect">
            <a:avLst/>
          </a:prstGeom>
        </p:spPr>
      </p:pic>
      <p:sp>
        <p:nvSpPr>
          <p:cNvPr id="27" name="右箭头 26"/>
          <p:cNvSpPr/>
          <p:nvPr userDrawn="1"/>
        </p:nvSpPr>
        <p:spPr>
          <a:xfrm>
            <a:off x="2782437" y="2940309"/>
            <a:ext cx="231681" cy="183414"/>
          </a:xfrm>
          <a:prstGeom prst="rightArrow">
            <a:avLst>
              <a:gd name="adj1" fmla="val 58740"/>
              <a:gd name="adj2" fmla="val 50000"/>
            </a:avLst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9" name="右箭头 28"/>
          <p:cNvSpPr/>
          <p:nvPr userDrawn="1"/>
        </p:nvSpPr>
        <p:spPr>
          <a:xfrm>
            <a:off x="7842511" y="2923336"/>
            <a:ext cx="231681" cy="183414"/>
          </a:xfrm>
          <a:prstGeom prst="rightArrow">
            <a:avLst>
              <a:gd name="adj1" fmla="val 58740"/>
              <a:gd name="adj2" fmla="val 50000"/>
            </a:avLst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0" name="文本框 29"/>
          <p:cNvSpPr txBox="1"/>
          <p:nvPr userDrawn="1"/>
        </p:nvSpPr>
        <p:spPr>
          <a:xfrm>
            <a:off x="1373229" y="1937101"/>
            <a:ext cx="690880" cy="24511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10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原始图像</a:t>
            </a:r>
            <a:endParaRPr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文本框 30"/>
          <p:cNvSpPr txBox="1"/>
          <p:nvPr userDrawn="1"/>
        </p:nvSpPr>
        <p:spPr>
          <a:xfrm>
            <a:off x="3772006" y="1937101"/>
            <a:ext cx="817880" cy="24511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1000">
                <a:solidFill>
                  <a:schemeClr val="tx1"/>
                </a:solidFill>
              </a:rPr>
              <a:t>预处理图像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文本框 32"/>
          <p:cNvSpPr txBox="1"/>
          <p:nvPr userDrawn="1"/>
        </p:nvSpPr>
        <p:spPr>
          <a:xfrm>
            <a:off x="6223527" y="1937101"/>
            <a:ext cx="690880" cy="24511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1000">
                <a:solidFill>
                  <a:schemeClr val="tx1"/>
                </a:solidFill>
              </a:rPr>
              <a:t>识别结果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4" name="文本框 33"/>
          <p:cNvSpPr txBox="1"/>
          <p:nvPr userDrawn="1"/>
        </p:nvSpPr>
        <p:spPr>
          <a:xfrm>
            <a:off x="9002915" y="1937101"/>
            <a:ext cx="817880" cy="24511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1000">
                <a:solidFill>
                  <a:schemeClr val="tx1"/>
                </a:solidFill>
              </a:rPr>
              <a:t>后处理修复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右箭头 34"/>
          <p:cNvSpPr/>
          <p:nvPr userDrawn="1"/>
        </p:nvSpPr>
        <p:spPr>
          <a:xfrm>
            <a:off x="5291696" y="2940334"/>
            <a:ext cx="231681" cy="183414"/>
          </a:xfrm>
          <a:prstGeom prst="rightArrow">
            <a:avLst>
              <a:gd name="adj1" fmla="val 58740"/>
              <a:gd name="adj2" fmla="val 50000"/>
            </a:avLst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419100"/>
            <a:ext cx="10363200" cy="990600"/>
          </a:xfrm>
          <a:prstGeom prst="roundRect">
            <a:avLst>
              <a:gd name="adj" fmla="val 24852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4DD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62100"/>
            <a:ext cx="3714750" cy="40005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14375" y="1743075"/>
            <a:ext cx="3371850" cy="843037"/>
          </a:xfrm>
          <a:prstGeom prst="roundRect">
            <a:avLst>
              <a:gd name="adj" fmla="val 24510"/>
            </a:avLst>
          </a:prstGeom>
          <a:solidFill>
            <a:srgbClr val="F7FAFF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14375" y="2700412"/>
            <a:ext cx="3371850" cy="842963"/>
          </a:xfrm>
          <a:prstGeom prst="roundRect">
            <a:avLst>
              <a:gd name="adj" fmla="val 24514"/>
            </a:avLst>
          </a:prstGeom>
          <a:solidFill>
            <a:srgbClr val="F7FAFF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14375" y="3657674"/>
            <a:ext cx="3371850" cy="843037"/>
          </a:xfrm>
          <a:prstGeom prst="roundRect">
            <a:avLst>
              <a:gd name="adj" fmla="val 24510"/>
            </a:avLst>
          </a:prstGeom>
          <a:solidFill>
            <a:srgbClr val="F7FAFF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14375" y="4615011"/>
            <a:ext cx="3371850" cy="766614"/>
          </a:xfrm>
          <a:prstGeom prst="roundRect">
            <a:avLst>
              <a:gd name="adj" fmla="val 29640"/>
            </a:avLst>
          </a:prstGeom>
          <a:solidFill>
            <a:srgbClr val="EEF4FD"/>
          </a:solidFill>
          <a:ln w="9525">
            <a:solidFill>
              <a:srgbClr val="CFDCED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1562100"/>
            <a:ext cx="6438900" cy="40005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619625" y="1724025"/>
            <a:ext cx="6134100" cy="3105150"/>
          </a:xfrm>
          <a:prstGeom prst="roundRect">
            <a:avLst>
              <a:gd name="adj" fmla="val 2168"/>
            </a:avLst>
          </a:prstGeom>
          <a:solidFill>
            <a:srgbClr val="F7FAFF"/>
          </a:solidFill>
          <a:ln w="9525">
            <a:solidFill>
              <a:srgbClr val="D8E1EE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705350" y="1809750"/>
            <a:ext cx="5962650" cy="295275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619625" y="4924425"/>
            <a:ext cx="6134100" cy="529977"/>
          </a:xfrm>
          <a:prstGeom prst="roundRect">
            <a:avLst>
              <a:gd name="adj" fmla="val 62018"/>
            </a:avLst>
          </a:prstGeom>
          <a:solidFill>
            <a:srgbClr val="FFFFFF"/>
          </a:solidFill>
          <a:ln w="9525">
            <a:solidFill>
              <a:srgbClr val="D5DFEC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533400" y="5676900"/>
            <a:ext cx="10363200" cy="342900"/>
          </a:xfrm>
          <a:prstGeom prst="roundRect">
            <a:avLst>
              <a:gd name="adj" fmla="val 148148"/>
            </a:avLst>
          </a:prstGeom>
          <a:solidFill>
            <a:srgbClr val="EDF3FC"/>
          </a:solidFill>
          <a:ln w="9525">
            <a:solidFill>
              <a:srgbClr val="CCD8E8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0" y="6453188"/>
            <a:ext cx="11430000" cy="6429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优化。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28675" y="533400"/>
            <a:ext cx="97726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动态感知表格预处理</a:t>
            </a:r>
            <a:endParaRPr lang="en-US" sz="25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828675" y="1019919"/>
            <a:ext cx="97726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核心思路：由固定预处理转向“问题感知—候选生成—并行比较—最优选择”的自适应流程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819150" y="1833563"/>
            <a:ext cx="31623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图像退化问题感知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819150" y="2057400"/>
            <a:ext cx="316230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大模型识别噪声、模糊、阴影、对比度不足与边界冗余等退化类型。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819150" y="2790899"/>
            <a:ext cx="31623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候选链生成与并行执行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819150" y="3014737"/>
            <a:ext cx="316230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自动生成多条操作链（去噪/增强/锐化/裁剪等），并与原图共同比较。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819150" y="3748162"/>
            <a:ext cx="31623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综合评分优选结果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819150" y="3971999"/>
            <a:ext cx="316230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融合客观质量指标与大模型语义评分，输出更利于结构识别的图像。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819150" y="4700736"/>
            <a:ext cx="316230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阶段结论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819150" y="4917877"/>
            <a:ext cx="316230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预处理对 TEDS-Struct 改善更稳定，验证了“结构可恢复性优先”的价值。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4743450" y="4991100"/>
            <a:ext cx="58864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图示要点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4743450" y="5189190"/>
            <a:ext cx="58864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框架体现了“链间优选 + 步骤级接受/回退”的双层决策机制，避免固定流程过处理。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676275" y="5758607"/>
            <a:ext cx="5417716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模块已完成原型实现并形成首轮实验验证，支撑后续识别链路稳定性优化。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5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642925"/>
            <a:ext cx="10363200" cy="1009650"/>
          </a:xfrm>
          <a:prstGeom prst="roundRect">
            <a:avLst>
              <a:gd name="adj" fmla="val 23923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5DE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04975"/>
            <a:ext cx="6362700" cy="39814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76275" y="1947850"/>
            <a:ext cx="6096000" cy="3200400"/>
          </a:xfrm>
          <a:prstGeom prst="roundRect">
            <a:avLst>
              <a:gd name="adj" fmla="val 2041"/>
            </a:avLst>
          </a:prstGeom>
          <a:solidFill>
            <a:srgbClr val="F8FBFF"/>
          </a:solidFill>
          <a:ln w="9525">
            <a:solidFill>
              <a:srgbClr val="D8E1EE"/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2033575"/>
            <a:ext cx="5924550" cy="30480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76275" y="5243500"/>
            <a:ext cx="6096000" cy="400050"/>
          </a:xfrm>
          <a:prstGeom prst="roundRect">
            <a:avLst>
              <a:gd name="adj" fmla="val 108844"/>
            </a:avLst>
          </a:prstGeom>
          <a:solidFill>
            <a:srgbClr val="EEF4FD"/>
          </a:solidFill>
          <a:ln w="9525">
            <a:solidFill>
              <a:srgbClr val="D4DEEC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804975"/>
            <a:ext cx="3810000" cy="398145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248525" y="1966900"/>
            <a:ext cx="3505200" cy="889025"/>
          </a:xfrm>
          <a:prstGeom prst="roundRect">
            <a:avLst>
              <a:gd name="adj" fmla="val 22040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7248525" y="2970225"/>
            <a:ext cx="3505200" cy="888950"/>
          </a:xfrm>
          <a:prstGeom prst="roundRect">
            <a:avLst>
              <a:gd name="adj" fmla="val 22043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7248525" y="3973475"/>
            <a:ext cx="3505200" cy="889025"/>
          </a:xfrm>
          <a:prstGeom prst="roundRect">
            <a:avLst>
              <a:gd name="adj" fmla="val 22040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248525" y="4976800"/>
            <a:ext cx="3505200" cy="647700"/>
          </a:xfrm>
          <a:prstGeom prst="roundRect">
            <a:avLst>
              <a:gd name="adj" fmla="val 41522"/>
            </a:avLst>
          </a:prstGeom>
          <a:solidFill>
            <a:srgbClr val="EDF3FC"/>
          </a:solidFill>
          <a:ln w="9525">
            <a:solidFill>
              <a:srgbClr val="CCDAE9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0" y="6453188"/>
            <a:ext cx="11430000" cy="6429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28675" y="757225"/>
            <a:ext cx="97726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上下文识别</a:t>
            </a:r>
            <a:endParaRPr lang="en-US" sz="25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828675" y="1243744"/>
            <a:ext cx="97726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以“特征—示例—提示—生成—解析”为主链路，提升复杂表格结构恢复与内容组织能力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800100" y="5353782"/>
            <a:ext cx="4478536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主流程已打通，并支持示例不足时自动回退无示例模式。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7353300" y="2057388"/>
            <a:ext cx="32956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特征提取与示例检索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7343734" y="2394875"/>
            <a:ext cx="32956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提取表格视觉特征，按相似度筛选示例，并兼顾示例多样性以降低过拟合风险。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7353300" y="3060712"/>
            <a:ext cx="32956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提示构造引导结构生成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343734" y="3398200"/>
            <a:ext cx="32956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组织任务指令与参考示例，驱动大模型输出表格结构；异常时进入校验与有限重试。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7353300" y="4063963"/>
            <a:ext cx="32956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结构化解析与结果修复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7343734" y="4401450"/>
            <a:ext cx="32956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输出 HTML 表格并解析单元格内容，形成内容矩阵与明细结果，支撑后续修复与展示。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7353300" y="5062525"/>
            <a:ext cx="32956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阶段判断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7517799" y="5222559"/>
            <a:ext cx="3083491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上下文学习在复杂表格场景中已验证可行，核心瓶颈聚焦于示例匹配与复杂跨度恢复。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642925"/>
            <a:ext cx="10363200" cy="990600"/>
          </a:xfrm>
          <a:prstGeom prst="roundRect">
            <a:avLst>
              <a:gd name="adj" fmla="val 24852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5DE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785925"/>
            <a:ext cx="4495800" cy="40005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5325" y="1947850"/>
            <a:ext cx="4191000" cy="846758"/>
          </a:xfrm>
          <a:prstGeom prst="roundRect">
            <a:avLst>
              <a:gd name="adj" fmla="val 24295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95325" y="2908908"/>
            <a:ext cx="4191000" cy="846683"/>
          </a:xfrm>
          <a:prstGeom prst="roundRect">
            <a:avLst>
              <a:gd name="adj" fmla="val 24299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95325" y="3869891"/>
            <a:ext cx="4191000" cy="846683"/>
          </a:xfrm>
          <a:prstGeom prst="roundRect">
            <a:avLst>
              <a:gd name="adj" fmla="val 24299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95325" y="4830874"/>
            <a:ext cx="4191000" cy="793626"/>
          </a:xfrm>
          <a:prstGeom prst="roundRect">
            <a:avLst>
              <a:gd name="adj" fmla="val 27657"/>
            </a:avLst>
          </a:prstGeom>
          <a:solidFill>
            <a:srgbClr val="EDF3FC"/>
          </a:solidFill>
          <a:ln w="9525">
            <a:solidFill>
              <a:srgbClr val="CCD9E9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0" y="1785925"/>
            <a:ext cx="5676900" cy="40005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362575" y="1928800"/>
            <a:ext cx="5410200" cy="3200400"/>
          </a:xfrm>
          <a:prstGeom prst="roundRect">
            <a:avLst>
              <a:gd name="adj" fmla="val 2041"/>
            </a:avLst>
          </a:prstGeom>
          <a:solidFill>
            <a:srgbClr val="F8FBFF"/>
          </a:solidFill>
          <a:ln w="9525">
            <a:solidFill>
              <a:srgbClr val="D8E1EE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448300" y="2014525"/>
            <a:ext cx="5238750" cy="30480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362575" y="5224450"/>
            <a:ext cx="5410200" cy="419100"/>
          </a:xfrm>
          <a:prstGeom prst="roundRect">
            <a:avLst>
              <a:gd name="adj" fmla="val 99174"/>
            </a:avLst>
          </a:prstGeom>
          <a:solidFill>
            <a:srgbClr val="EEF4FD"/>
          </a:solidFill>
          <a:ln w="9525">
            <a:solidFill>
              <a:srgbClr val="D4DEEC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828675" y="757225"/>
            <a:ext cx="97726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结果评估</a:t>
            </a:r>
            <a:endParaRPr lang="en-US" sz="25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28675" y="1243744"/>
            <a:ext cx="97726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构建“识别—评估—修复—再判定”闭环，提升复杂表格场景下结果稳定性与可用性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800100" y="2038338"/>
            <a:ext cx="39814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多维质量评估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828710" y="2312245"/>
            <a:ext cx="39814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从结构合法性、拓扑一致性、图像对齐与内容质量等维度生成评估报告。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800100" y="2999395"/>
            <a:ext cx="39814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反馈驱动修复与重识别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828710" y="3273303"/>
            <a:ext cx="39814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针对异常类型触发结构修复、带反馈重识别与无示例重试，降低单次生成波动。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800100" y="3960378"/>
            <a:ext cx="39814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局部细化与拆分合并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828710" y="4234286"/>
            <a:ext cx="39814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支持单元格级细化、区域拆分识别与结果合并，增强复杂布局处理能力。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800100" y="4916599"/>
            <a:ext cx="39814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结论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828710" y="5164759"/>
            <a:ext cx="39814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后处理模块将系统由“单次预测”升级为“可校验、可纠偏”的闭环决策框架。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5486400" y="5344257"/>
            <a:ext cx="47053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流程重点：评估单元先判定问题类型，再选择修复动作并回流重评分，形成闭环优化。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642925"/>
            <a:ext cx="10363200" cy="1028700"/>
          </a:xfrm>
          <a:prstGeom prst="roundRect">
            <a:avLst>
              <a:gd name="adj" fmla="val 23045"/>
            </a:avLst>
          </a:prstGeom>
          <a:solidFill>
            <a:srgbClr val="FFFFFF">
              <a:alpha val="93000"/>
            </a:srgbClr>
          </a:solidFill>
          <a:ln w="9525">
            <a:solidFill>
              <a:srgbClr val="D5DE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24025"/>
            <a:ext cx="6286500" cy="3962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76275" y="1966900"/>
            <a:ext cx="6019800" cy="3200400"/>
          </a:xfrm>
          <a:prstGeom prst="roundRect">
            <a:avLst>
              <a:gd name="adj" fmla="val 2041"/>
            </a:avLst>
          </a:prstGeom>
          <a:solidFill>
            <a:srgbClr val="F8FBFF"/>
          </a:solidFill>
          <a:ln w="9525">
            <a:solidFill>
              <a:srgbClr val="D8E1EE"/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2007937"/>
            <a:ext cx="5685040" cy="309268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76275" y="5262550"/>
            <a:ext cx="6019800" cy="381000"/>
          </a:xfrm>
          <a:prstGeom prst="roundRect">
            <a:avLst>
              <a:gd name="adj" fmla="val 120000"/>
            </a:avLst>
          </a:prstGeom>
          <a:solidFill>
            <a:srgbClr val="EEF4FD"/>
          </a:solidFill>
          <a:ln w="9525">
            <a:solidFill>
              <a:srgbClr val="D4DEEC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1824025"/>
            <a:ext cx="3886200" cy="396240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172325" y="1985950"/>
            <a:ext cx="3581400" cy="851446"/>
          </a:xfrm>
          <a:prstGeom prst="roundRect">
            <a:avLst>
              <a:gd name="adj" fmla="val 24028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7172325" y="2951696"/>
            <a:ext cx="3581400" cy="851371"/>
          </a:xfrm>
          <a:prstGeom prst="roundRect">
            <a:avLst>
              <a:gd name="adj" fmla="val 24032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7172325" y="3917367"/>
            <a:ext cx="3581400" cy="851446"/>
          </a:xfrm>
          <a:prstGeom prst="roundRect">
            <a:avLst>
              <a:gd name="adj" fmla="val 24028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172325" y="4883113"/>
            <a:ext cx="3581400" cy="741387"/>
          </a:xfrm>
          <a:prstGeom prst="roundRect">
            <a:avLst>
              <a:gd name="adj" fmla="val 31691"/>
            </a:avLst>
          </a:prstGeom>
          <a:solidFill>
            <a:srgbClr val="EDF3FC"/>
          </a:solidFill>
          <a:ln w="9525">
            <a:solidFill>
              <a:srgbClr val="CCDAE9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0" y="6453188"/>
            <a:ext cx="11430000" cy="6429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div&gt;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28675" y="757225"/>
            <a:ext cx="97726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系统实现</a:t>
            </a:r>
            <a:endParaRPr lang="en-US" sz="25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828675" y="1243744"/>
            <a:ext cx="97726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前后端分离 + 核心算法层协同，已形成可演示、可测试、可导出的表格识别原型系统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800100" y="5363307"/>
            <a:ext cx="3983236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前端交互、后端服务与算法主流程已完成</a:t>
            </a:r>
            <a:r>
              <a:rPr lang="zh-CN" alt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初步</a:t>
            </a: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联通。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7277100" y="2076437"/>
            <a:ext cx="3371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前端层：交互与展示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7277100" y="2309800"/>
            <a:ext cx="33718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支持文件上传、结果查看、历史记录管理与结果下载。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7277100" y="3042183"/>
            <a:ext cx="3371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后端层：任务调度与持久化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277100" y="3275546"/>
            <a:ext cx="3371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接收请求并调度识别流程，负责结果保存、接口返回与状态管理。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7277100" y="4007854"/>
            <a:ext cx="3371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算法层：核心识别闭环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7277100" y="4241217"/>
            <a:ext cx="33718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统一封装预处理、上下文识别、质量评估与后处理模块。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7277100" y="4968838"/>
            <a:ext cx="33718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结论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7277100" y="5185978"/>
            <a:ext cx="33718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系统已具备“输入—识别—展示—导出”的完整工程化能力。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1202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642925"/>
            <a:ext cx="10363200" cy="1028700"/>
          </a:xfrm>
          <a:prstGeom prst="roundRect">
            <a:avLst>
              <a:gd name="adj" fmla="val 23045"/>
            </a:avLst>
          </a:prstGeom>
          <a:solidFill>
            <a:srgbClr val="FFFFFF">
              <a:alpha val="93000"/>
            </a:srgbClr>
          </a:solidFill>
          <a:ln w="9525">
            <a:solidFill>
              <a:srgbClr val="D5DEEB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0" y="6453188"/>
            <a:ext cx="11430000" cy="6429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div&gt;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28675" y="757225"/>
            <a:ext cx="97726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zh-CN" altLang="en-US" sz="2550" b="1" dirty="0">
                <a:solidFill>
                  <a:srgbClr val="000000"/>
                </a:solidFill>
              </a:rPr>
              <a:t>系统展示</a:t>
            </a:r>
            <a:endParaRPr lang="zh-CN" altLang="en-US" sz="2550" b="1" dirty="0">
              <a:solidFill>
                <a:srgbClr val="000000"/>
              </a:solidFill>
            </a:endParaRPr>
          </a:p>
        </p:txBody>
      </p:sp>
      <p:sp>
        <p:nvSpPr>
          <p:cNvPr id="18" name="Text 12"/>
          <p:cNvSpPr/>
          <p:nvPr/>
        </p:nvSpPr>
        <p:spPr>
          <a:xfrm>
            <a:off x="828710" y="1304801"/>
            <a:ext cx="97726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前后端分离 + 核心算法层协同，已形成可演示、可测试、可导出的表格识别原型系统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5" name="图片 14" descr="upload_post_object_v2_2339829697"/>
          <p:cNvPicPr>
            <a:picLocks noChangeAspect="1"/>
          </p:cNvPicPr>
          <p:nvPr/>
        </p:nvPicPr>
        <p:blipFill>
          <a:blip r:embed="rId2"/>
          <a:srcRect l="15693"/>
          <a:stretch>
            <a:fillRect/>
          </a:stretch>
        </p:blipFill>
        <p:spPr>
          <a:xfrm>
            <a:off x="533446" y="2390477"/>
            <a:ext cx="3292485" cy="1835525"/>
          </a:xfrm>
          <a:prstGeom prst="rect">
            <a:avLst/>
          </a:prstGeom>
        </p:spPr>
      </p:pic>
      <p:pic>
        <p:nvPicPr>
          <p:cNvPr id="28" name="图片 27" descr="upload_post_object_v2_5784550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260" y="2457367"/>
            <a:ext cx="3138756" cy="1768598"/>
          </a:xfrm>
          <a:prstGeom prst="rect">
            <a:avLst/>
          </a:prstGeom>
        </p:spPr>
      </p:pic>
      <p:pic>
        <p:nvPicPr>
          <p:cNvPr id="29" name="图片 28" descr="upload_post_object_v2_13352047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537" y="2457367"/>
            <a:ext cx="3508016" cy="1768625"/>
          </a:xfrm>
          <a:prstGeom prst="rect">
            <a:avLst/>
          </a:prstGeom>
        </p:spPr>
      </p:pic>
      <p:sp>
        <p:nvSpPr>
          <p:cNvPr id="30" name="圆角矩形 29"/>
          <p:cNvSpPr/>
          <p:nvPr userDrawn="1"/>
        </p:nvSpPr>
        <p:spPr>
          <a:xfrm>
            <a:off x="666310" y="4889517"/>
            <a:ext cx="2905670" cy="511630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主界面</a:t>
            </a:r>
            <a:endParaRPr lang="zh-CN" altLang="en-US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圆角矩形 30"/>
          <p:cNvSpPr/>
          <p:nvPr userDrawn="1"/>
        </p:nvSpPr>
        <p:spPr>
          <a:xfrm>
            <a:off x="4181650" y="4889539"/>
            <a:ext cx="2905670" cy="511630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上传图像</a:t>
            </a:r>
            <a:endParaRPr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2" name="圆角矩形 31"/>
          <p:cNvSpPr/>
          <p:nvPr userDrawn="1"/>
        </p:nvSpPr>
        <p:spPr>
          <a:xfrm>
            <a:off x="7541422" y="4889539"/>
            <a:ext cx="2905670" cy="511630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查看结果</a:t>
            </a:r>
            <a:endParaRPr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6F8FC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419100"/>
            <a:ext cx="10363200" cy="933450"/>
          </a:xfrm>
          <a:prstGeom prst="roundRect">
            <a:avLst>
              <a:gd name="adj" fmla="val 27988"/>
            </a:avLst>
          </a:prstGeom>
          <a:solidFill>
            <a:srgbClr val="FFFFFF">
              <a:alpha val="94000"/>
            </a:srgbClr>
          </a:solidFill>
          <a:ln w="9525">
            <a:solidFill>
              <a:srgbClr val="D4DEE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533400" y="1524000"/>
            <a:ext cx="10363200" cy="4038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5325" y="1685925"/>
            <a:ext cx="10058400" cy="580058"/>
          </a:xfrm>
          <a:prstGeom prst="roundRect">
            <a:avLst>
              <a:gd name="adj" fmla="val 51771"/>
            </a:avLst>
          </a:prstGeom>
          <a:solidFill>
            <a:srgbClr val="EEF4FD"/>
          </a:solidFill>
          <a:ln w="9525">
            <a:solidFill>
              <a:srgbClr val="CFDCE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95325" y="2380283"/>
            <a:ext cx="10058400" cy="2074813"/>
          </a:xfrm>
          <a:prstGeom prst="roundRect">
            <a:avLst>
              <a:gd name="adj" fmla="val 4856"/>
            </a:avLst>
          </a:prstGeom>
          <a:solidFill>
            <a:srgbClr val="F8FB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00100" y="2485058"/>
            <a:ext cx="9867900" cy="266700"/>
          </a:xfrm>
          <a:prstGeom prst="roundRect">
            <a:avLst>
              <a:gd name="adj" fmla="val 146939"/>
            </a:avLst>
          </a:prstGeom>
          <a:solidFill>
            <a:srgbClr val="EAF1FB"/>
          </a:solidFill>
        </p:spPr>
      </p:sp>
      <p:sp>
        <p:nvSpPr>
          <p:cNvPr id="10" name="Shape 6"/>
          <p:cNvSpPr/>
          <p:nvPr/>
        </p:nvSpPr>
        <p:spPr>
          <a:xfrm>
            <a:off x="800100" y="2485058"/>
            <a:ext cx="1809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4DEE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609850" y="2485058"/>
            <a:ext cx="3048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4DEE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657850" y="2485058"/>
            <a:ext cx="200025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4DE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0100" y="2808908"/>
            <a:ext cx="9867900" cy="323850"/>
          </a:xfrm>
          <a:prstGeom prst="roundRect">
            <a:avLst>
              <a:gd name="adj" fmla="val 99654"/>
            </a:avLst>
          </a:prstGeom>
          <a:solidFill>
            <a:srgbClr val="FFFFFF"/>
          </a:solidFill>
          <a:ln w="9525">
            <a:solidFill>
              <a:srgbClr val="DDE5F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09625" y="2808908"/>
            <a:ext cx="1806401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616026" y="2808908"/>
            <a:ext cx="3042047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658073" y="2808908"/>
            <a:ext cx="1996455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0100" y="3189908"/>
            <a:ext cx="9867900" cy="323850"/>
          </a:xfrm>
          <a:prstGeom prst="roundRect">
            <a:avLst>
              <a:gd name="adj" fmla="val 99654"/>
            </a:avLst>
          </a:prstGeom>
          <a:solidFill>
            <a:srgbClr val="FFFFFF"/>
          </a:solidFill>
          <a:ln w="9525">
            <a:solidFill>
              <a:srgbClr val="DDE5F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09625" y="3189908"/>
            <a:ext cx="1806401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616026" y="3189908"/>
            <a:ext cx="3042047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658073" y="3189908"/>
            <a:ext cx="1996455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00100" y="3570908"/>
            <a:ext cx="9867900" cy="323850"/>
          </a:xfrm>
          <a:prstGeom prst="roundRect">
            <a:avLst>
              <a:gd name="adj" fmla="val 99654"/>
            </a:avLst>
          </a:prstGeom>
          <a:solidFill>
            <a:srgbClr val="FFFFFF"/>
          </a:solidFill>
          <a:ln w="9525">
            <a:solidFill>
              <a:srgbClr val="DDE5F1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09625" y="3570908"/>
            <a:ext cx="1806401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616026" y="3570908"/>
            <a:ext cx="3042047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658073" y="3570908"/>
            <a:ext cx="1996455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00100" y="3951908"/>
            <a:ext cx="9867900" cy="323850"/>
          </a:xfrm>
          <a:prstGeom prst="roundRect">
            <a:avLst>
              <a:gd name="adj" fmla="val 99654"/>
            </a:avLst>
          </a:prstGeom>
          <a:solidFill>
            <a:srgbClr val="F2F7FF"/>
          </a:solidFill>
          <a:ln w="9525">
            <a:solidFill>
              <a:srgbClr val="D7E2E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09625" y="3951908"/>
            <a:ext cx="1806401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2616026" y="3951908"/>
            <a:ext cx="3042047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658073" y="3951908"/>
            <a:ext cx="1996455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95325" y="4569396"/>
            <a:ext cx="10058400" cy="831279"/>
          </a:xfrm>
          <a:prstGeom prst="roundRect">
            <a:avLst>
              <a:gd name="adj" fmla="val 25208"/>
            </a:avLst>
          </a:prstGeom>
          <a:solidFill>
            <a:srgbClr val="EDF3FC"/>
          </a:solidFill>
          <a:ln w="9525">
            <a:solidFill>
              <a:srgbClr val="CCD9E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09625" y="514350"/>
            <a:ext cx="98107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实验结果</a:t>
            </a:r>
            <a:endParaRPr lang="en-US" sz="25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809625" y="981819"/>
            <a:ext cx="98107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补充具体数据：Qwen3-VL-8B 与 Gemma-4-E4B 在 Pub/Sci/WTW 场景的 Baseline、+Preprocess 与增益对照</a:t>
            </a:r>
            <a:endParaRPr lang="en-US" sz="8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838200" y="1757363"/>
            <a:ext cx="97726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评价口径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838200" y="1962150"/>
            <a:ext cx="97726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TEDS 衡量“结构+内容”整体质量；TEDS-Struct 聚焦结构骨架恢复，用于判断预处理与结构识别模块贡献。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895350" y="2529855"/>
            <a:ext cx="1714500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模型/场景</a:t>
            </a:r>
            <a:endParaRPr lang="en-US" sz="82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2705100" y="2529855"/>
            <a:ext cx="2952750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配置</a:t>
            </a:r>
            <a:endParaRPr lang="en-US" sz="82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6" name="Text 32"/>
          <p:cNvSpPr/>
          <p:nvPr/>
        </p:nvSpPr>
        <p:spPr>
          <a:xfrm>
            <a:off x="5753100" y="2529855"/>
            <a:ext cx="1905000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TEDS 基线→预处理（增益）</a:t>
            </a:r>
            <a:endParaRPr lang="en-US" sz="82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7753350" y="2529855"/>
            <a:ext cx="2914650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TEDS-Struct 基线→预处理（增益）</a:t>
            </a:r>
            <a:endParaRPr lang="en-US" sz="82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8" name="Text 34"/>
          <p:cNvSpPr/>
          <p:nvPr/>
        </p:nvSpPr>
        <p:spPr>
          <a:xfrm>
            <a:off x="904875" y="2846000"/>
            <a:ext cx="1711151" cy="28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Qwen3-VL-8B / Pub</a:t>
            </a:r>
            <a:endParaRPr lang="en-US" sz="76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9" name="Text 35"/>
          <p:cNvSpPr/>
          <p:nvPr/>
        </p:nvSpPr>
        <p:spPr>
          <a:xfrm>
            <a:off x="2711276" y="2846000"/>
            <a:ext cx="2946797" cy="28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Baseline → +Preprocess</a:t>
            </a:r>
            <a:endParaRPr lang="en-US" sz="76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0" name="Text 36"/>
          <p:cNvSpPr/>
          <p:nvPr/>
        </p:nvSpPr>
        <p:spPr>
          <a:xfrm>
            <a:off x="5753323" y="2846000"/>
            <a:ext cx="1901205" cy="28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68.33 → 68.51（+0.18）</a:t>
            </a:r>
            <a:endParaRPr lang="en-US" sz="76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1" name="Text 37"/>
          <p:cNvSpPr/>
          <p:nvPr/>
        </p:nvSpPr>
        <p:spPr>
          <a:xfrm>
            <a:off x="7749778" y="2846000"/>
            <a:ext cx="2908697" cy="28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85.00 → 87.76（+2.76）</a:t>
            </a:r>
            <a:endParaRPr lang="en-US" sz="76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2" name="Text 38"/>
          <p:cNvSpPr/>
          <p:nvPr/>
        </p:nvSpPr>
        <p:spPr>
          <a:xfrm>
            <a:off x="904875" y="3168000"/>
            <a:ext cx="1711151" cy="28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Qwen3-VL-8B / Sci</a:t>
            </a:r>
            <a:endParaRPr lang="en-US" sz="76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2711276" y="3168000"/>
            <a:ext cx="2946797" cy="28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Baseline → +Preprocess</a:t>
            </a:r>
            <a:endParaRPr lang="en-US" sz="76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5753323" y="3168000"/>
            <a:ext cx="1901205" cy="28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85.30 → 90.45（+5.15）</a:t>
            </a:r>
            <a:endParaRPr lang="en-US" sz="76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5" name="Text 41"/>
          <p:cNvSpPr/>
          <p:nvPr/>
        </p:nvSpPr>
        <p:spPr>
          <a:xfrm>
            <a:off x="7749778" y="3168000"/>
            <a:ext cx="2908697" cy="28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92.10 → 95.73（+3.63）</a:t>
            </a:r>
            <a:endParaRPr lang="en-US" sz="76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904875" y="3490000"/>
            <a:ext cx="1711151" cy="28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Qwen3-VL-8B / WTW</a:t>
            </a:r>
            <a:endParaRPr lang="en-US" sz="76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7" name="Text 43"/>
          <p:cNvSpPr/>
          <p:nvPr/>
        </p:nvSpPr>
        <p:spPr>
          <a:xfrm>
            <a:off x="2711276" y="3490000"/>
            <a:ext cx="2946797" cy="28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Baseline → +Preprocess</a:t>
            </a:r>
            <a:endParaRPr lang="en-US" sz="76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8" name="Text 44"/>
          <p:cNvSpPr/>
          <p:nvPr/>
        </p:nvSpPr>
        <p:spPr>
          <a:xfrm>
            <a:off x="5753323" y="3490000"/>
            <a:ext cx="1901205" cy="28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—</a:t>
            </a:r>
            <a:endParaRPr lang="en-US" sz="76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9" name="Text 45"/>
          <p:cNvSpPr/>
          <p:nvPr/>
        </p:nvSpPr>
        <p:spPr>
          <a:xfrm>
            <a:off x="7749778" y="3490000"/>
            <a:ext cx="2908697" cy="28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36.84 → 40.61（+3.77）</a:t>
            </a:r>
            <a:endParaRPr lang="en-US" sz="76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0" name="Text 46"/>
          <p:cNvSpPr/>
          <p:nvPr/>
        </p:nvSpPr>
        <p:spPr>
          <a:xfrm>
            <a:off x="904875" y="3812000"/>
            <a:ext cx="1711151" cy="28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Gemma-4-E4B / Pub</a:t>
            </a:r>
            <a:endParaRPr lang="en-US" sz="76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1" name="Text 47"/>
          <p:cNvSpPr/>
          <p:nvPr/>
        </p:nvSpPr>
        <p:spPr>
          <a:xfrm>
            <a:off x="2711276" y="3812000"/>
            <a:ext cx="2946797" cy="28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Baseline → +Preprocess</a:t>
            </a:r>
            <a:endParaRPr lang="en-US" sz="76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2" name="Text 48"/>
          <p:cNvSpPr/>
          <p:nvPr/>
        </p:nvSpPr>
        <p:spPr>
          <a:xfrm>
            <a:off x="5753323" y="3812000"/>
            <a:ext cx="1901205" cy="28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69.51 → 69.01（-0.50）</a:t>
            </a:r>
            <a:endParaRPr lang="en-US" sz="76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3" name="Text 49"/>
          <p:cNvSpPr/>
          <p:nvPr/>
        </p:nvSpPr>
        <p:spPr>
          <a:xfrm>
            <a:off x="7749778" y="3812000"/>
            <a:ext cx="2908697" cy="28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84.65 → 85.73（+1.08）</a:t>
            </a:r>
            <a:endParaRPr lang="en-US" sz="76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4" name="Text 50"/>
          <p:cNvSpPr/>
          <p:nvPr/>
        </p:nvSpPr>
        <p:spPr>
          <a:xfrm>
            <a:off x="800100" y="4776000"/>
            <a:ext cx="98488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阶段结论（3点）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5" name="Text 51"/>
          <p:cNvSpPr/>
          <p:nvPr/>
        </p:nvSpPr>
        <p:spPr>
          <a:xfrm>
            <a:off x="800100" y="4965000"/>
            <a:ext cx="9848850" cy="69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1) 结构指标全部正增益：Qwen 三场景 +2.76/+3.63/+3.77，Gemma 三场景 +1.08/+0.24/+2.01。 2) Qwen 在 Pub/Sci 的 TEDS 同步提升，Sci 提升最大（+5.15）。 3) Gemma 的 Pub 内容指标略降但结构提升，说明预处理首先改善骨架，内容落位仍需后续模块协同。</a:t>
            </a:r>
            <a:endParaRPr lang="en-US" sz="72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6" name="Added Data 5-1"/>
          <p:cNvSpPr/>
          <p:nvPr/>
        </p:nvSpPr>
        <p:spPr>
          <a:xfrm>
            <a:off x="904875" y="4134000"/>
            <a:ext cx="1711151" cy="28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Gemma-4-E4B / Sci</a:t>
            </a:r>
            <a:endParaRPr lang="en-US" sz="76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7" name="Added Data 5-2"/>
          <p:cNvSpPr/>
          <p:nvPr/>
        </p:nvSpPr>
        <p:spPr>
          <a:xfrm>
            <a:off x="2711276" y="4134000"/>
            <a:ext cx="2946797" cy="28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Baseline → +Preprocess</a:t>
            </a:r>
            <a:endParaRPr lang="en-US" sz="76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8" name="Added Data 5-3"/>
          <p:cNvSpPr/>
          <p:nvPr/>
        </p:nvSpPr>
        <p:spPr>
          <a:xfrm>
            <a:off x="5753323" y="4134000"/>
            <a:ext cx="1901205" cy="28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83.60 → 84.38（+0.78）</a:t>
            </a:r>
            <a:endParaRPr lang="en-US" sz="76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9" name="Added Data 5-4"/>
          <p:cNvSpPr/>
          <p:nvPr/>
        </p:nvSpPr>
        <p:spPr>
          <a:xfrm>
            <a:off x="7749778" y="4134000"/>
            <a:ext cx="2908697" cy="28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91.82 → 92.06（+0.24）</a:t>
            </a:r>
            <a:endParaRPr lang="en-US" sz="76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0" name="Added Data 6-1"/>
          <p:cNvSpPr/>
          <p:nvPr/>
        </p:nvSpPr>
        <p:spPr>
          <a:xfrm>
            <a:off x="904875" y="4456000"/>
            <a:ext cx="1711151" cy="28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Gemma-4-E4B / WTW</a:t>
            </a:r>
            <a:endParaRPr lang="en-US" sz="76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1" name="Added Data 6-2"/>
          <p:cNvSpPr/>
          <p:nvPr/>
        </p:nvSpPr>
        <p:spPr>
          <a:xfrm>
            <a:off x="2711276" y="4456000"/>
            <a:ext cx="2946797" cy="28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Baseline → +Preprocess</a:t>
            </a:r>
            <a:endParaRPr lang="en-US" sz="76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2" name="Added Data 6-3"/>
          <p:cNvSpPr/>
          <p:nvPr/>
        </p:nvSpPr>
        <p:spPr>
          <a:xfrm>
            <a:off x="5753323" y="4456000"/>
            <a:ext cx="1901205" cy="28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—</a:t>
            </a:r>
            <a:endParaRPr lang="en-US" sz="76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3" name="Added Data 6-4"/>
          <p:cNvSpPr/>
          <p:nvPr/>
        </p:nvSpPr>
        <p:spPr>
          <a:xfrm>
            <a:off x="7749778" y="4456000"/>
            <a:ext cx="2908697" cy="28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36.27 → 38.28（+2.01）</a:t>
            </a:r>
            <a:endParaRPr lang="en-US" sz="76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5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419100"/>
            <a:ext cx="10363200" cy="990600"/>
          </a:xfrm>
          <a:prstGeom prst="roundRect">
            <a:avLst>
              <a:gd name="adj" fmla="val 24852"/>
            </a:avLst>
          </a:prstGeom>
          <a:solidFill>
            <a:srgbClr val="FFFFFF">
              <a:alpha val="94000"/>
            </a:srgbClr>
          </a:solidFill>
          <a:ln w="9525">
            <a:solidFill>
              <a:srgbClr val="D4DE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00200"/>
            <a:ext cx="10363200" cy="3962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5325" y="1762125"/>
            <a:ext cx="3248025" cy="3657600"/>
          </a:xfrm>
          <a:prstGeom prst="roundRect">
            <a:avLst>
              <a:gd name="adj" fmla="val 1981"/>
            </a:avLst>
          </a:prstGeom>
          <a:solidFill>
            <a:srgbClr val="F8FBFF"/>
          </a:solidFill>
          <a:ln w="9525">
            <a:solidFill>
              <a:srgbClr val="D7E1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38200" y="1905000"/>
            <a:ext cx="2981325" cy="367457"/>
          </a:xfrm>
          <a:prstGeom prst="roundRect">
            <a:avLst>
              <a:gd name="adj" fmla="val 103207"/>
            </a:avLst>
          </a:prstGeom>
          <a:solidFill>
            <a:srgbClr val="EAF1FB"/>
          </a:solidFill>
        </p:spPr>
      </p:sp>
      <p:sp>
        <p:nvSpPr>
          <p:cNvPr id="9" name="Shape 5"/>
          <p:cNvSpPr/>
          <p:nvPr/>
        </p:nvSpPr>
        <p:spPr>
          <a:xfrm>
            <a:off x="838200" y="4737943"/>
            <a:ext cx="2981325" cy="538907"/>
          </a:xfrm>
          <a:prstGeom prst="roundRect">
            <a:avLst>
              <a:gd name="adj" fmla="val 47984"/>
            </a:avLst>
          </a:prstGeom>
          <a:solidFill>
            <a:srgbClr val="EDF3FC"/>
          </a:solidFill>
          <a:ln w="9525">
            <a:solidFill>
              <a:srgbClr val="CFDCE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095750" y="1762125"/>
            <a:ext cx="3248025" cy="3657600"/>
          </a:xfrm>
          <a:prstGeom prst="roundRect">
            <a:avLst>
              <a:gd name="adj" fmla="val 1981"/>
            </a:avLst>
          </a:prstGeom>
          <a:solidFill>
            <a:srgbClr val="F8FBFF"/>
          </a:solidFill>
          <a:ln w="9525">
            <a:solidFill>
              <a:srgbClr val="D7E1E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238625" y="1905000"/>
            <a:ext cx="2981325" cy="367457"/>
          </a:xfrm>
          <a:prstGeom prst="roundRect">
            <a:avLst>
              <a:gd name="adj" fmla="val 103207"/>
            </a:avLst>
          </a:prstGeom>
          <a:solidFill>
            <a:srgbClr val="EAF1FB"/>
          </a:solidFill>
        </p:spPr>
      </p:sp>
      <p:sp>
        <p:nvSpPr>
          <p:cNvPr id="12" name="Shape 8"/>
          <p:cNvSpPr/>
          <p:nvPr/>
        </p:nvSpPr>
        <p:spPr>
          <a:xfrm>
            <a:off x="4238625" y="4737943"/>
            <a:ext cx="2981325" cy="538907"/>
          </a:xfrm>
          <a:prstGeom prst="roundRect">
            <a:avLst>
              <a:gd name="adj" fmla="val 47984"/>
            </a:avLst>
          </a:prstGeom>
          <a:solidFill>
            <a:srgbClr val="EDF3FC"/>
          </a:solidFill>
          <a:ln w="9525">
            <a:solidFill>
              <a:srgbClr val="CFDCE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496175" y="1762125"/>
            <a:ext cx="3257550" cy="3657600"/>
          </a:xfrm>
          <a:prstGeom prst="roundRect">
            <a:avLst>
              <a:gd name="adj" fmla="val 1970"/>
            </a:avLst>
          </a:prstGeom>
          <a:solidFill>
            <a:srgbClr val="F8FBFF"/>
          </a:solidFill>
          <a:ln w="9525">
            <a:solidFill>
              <a:srgbClr val="D7E1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639050" y="1905000"/>
            <a:ext cx="2990850" cy="367457"/>
          </a:xfrm>
          <a:prstGeom prst="roundRect">
            <a:avLst>
              <a:gd name="adj" fmla="val 103207"/>
            </a:avLst>
          </a:prstGeom>
          <a:solidFill>
            <a:srgbClr val="EAF1FB"/>
          </a:solidFill>
        </p:spPr>
      </p:sp>
      <p:sp>
        <p:nvSpPr>
          <p:cNvPr id="15" name="Shape 11"/>
          <p:cNvSpPr/>
          <p:nvPr/>
        </p:nvSpPr>
        <p:spPr>
          <a:xfrm>
            <a:off x="7639050" y="4737943"/>
            <a:ext cx="2990850" cy="538907"/>
          </a:xfrm>
          <a:prstGeom prst="roundRect">
            <a:avLst>
              <a:gd name="adj" fmla="val 47984"/>
            </a:avLst>
          </a:prstGeom>
          <a:solidFill>
            <a:srgbClr val="EDF3FC"/>
          </a:solidFill>
          <a:ln w="9525">
            <a:solidFill>
              <a:srgbClr val="CFDC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33400" y="5676900"/>
            <a:ext cx="10363200" cy="323850"/>
          </a:xfrm>
          <a:prstGeom prst="roundRect">
            <a:avLst>
              <a:gd name="adj" fmla="val 166090"/>
            </a:avLst>
          </a:prstGeom>
          <a:solidFill>
            <a:srgbClr val="EDF3FC"/>
          </a:solidFill>
          <a:ln w="9525">
            <a:solidFill>
              <a:srgbClr val="CCD8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0" y="6453188"/>
            <a:ext cx="11430000" cy="6429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828675" y="533400"/>
            <a:ext cx="97726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存在问题</a:t>
            </a:r>
            <a:endParaRPr lang="en-US" sz="25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828675" y="1019919"/>
            <a:ext cx="97726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中期阶段已验证技术路线可行，但复杂场景下稳定性与一致性仍是后续优化重点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933450" y="1972494"/>
            <a:ext cx="1457325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预处理收益场景依赖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838200" y="2372469"/>
            <a:ext cx="2981325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不同数据场景对同一候选链响应不一致，收益波动明显。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838200" y="2820144"/>
            <a:ext cx="2981325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结构指标提升通常更稳定，但内容指标提升不总是同步。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838200" y="3267819"/>
            <a:ext cx="2981325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评分机制与最终识别质量仍存在偏差，需进一步校准。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942975" y="4823668"/>
            <a:ext cx="2771775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关键词：场景差异、评分一致性、稳定增益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4333875" y="1972494"/>
            <a:ext cx="1457325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大模型结构生成波动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4238625" y="2372469"/>
            <a:ext cx="29813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受提示组织与示例匹配影响，输出格式偶发不规范。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4238625" y="2634407"/>
            <a:ext cx="2981325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复杂表头与跨行跨列场景中，局部结构遗漏仍会出现。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4238625" y="3082082"/>
            <a:ext cx="29813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已有校验与重试机制，但尚不能完全消除随机性。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4448189" y="4823702"/>
            <a:ext cx="2771775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关键词：输出一致性、格式约束、重试鲁棒性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7734300" y="1972494"/>
            <a:ext cx="1781175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复杂结构与内容对齐困难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7639050" y="2372469"/>
            <a:ext cx="2990850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多级表头、弱线框与密集文本场景下，边界判断易偏差。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7639050" y="2820144"/>
            <a:ext cx="2990850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局部结构偏差会放大内容归属错误，影响最终可用性。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7639050" y="3267819"/>
            <a:ext cx="2990850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结构恢复与内容落位协同机制仍需持续强化。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7743825" y="4823668"/>
            <a:ext cx="278130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关键词：单元格对齐、跨度恢复、复杂场景鲁棒性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676275" y="5749082"/>
            <a:ext cx="4804544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结论：当前瓶颈集中于“稳定性与一致性”，后续工作将以问题驱动方式开展针对性优化。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928664"/>
            <a:ext cx="10424163" cy="1009650"/>
          </a:xfrm>
          <a:prstGeom prst="roundRect">
            <a:avLst>
              <a:gd name="adj" fmla="val 23923"/>
            </a:avLst>
          </a:prstGeom>
          <a:solidFill>
            <a:srgbClr val="FFFFFF">
              <a:alpha val="94000"/>
            </a:srgbClr>
          </a:solidFill>
          <a:ln w="9525">
            <a:solidFill>
              <a:srgbClr val="D4DE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30" y="2109764"/>
            <a:ext cx="10488694" cy="33909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30755" y="2271689"/>
            <a:ext cx="3286125" cy="3086100"/>
          </a:xfrm>
          <a:prstGeom prst="roundRect">
            <a:avLst>
              <a:gd name="adj" fmla="val 2195"/>
            </a:avLst>
          </a:prstGeom>
          <a:solidFill>
            <a:srgbClr val="F7FAFF"/>
          </a:solidFill>
          <a:ln w="9525">
            <a:solidFill>
              <a:srgbClr val="D8E2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73630" y="2414564"/>
            <a:ext cx="3019425" cy="382563"/>
          </a:xfrm>
          <a:prstGeom prst="roundRect">
            <a:avLst>
              <a:gd name="adj" fmla="val 95217"/>
            </a:avLst>
          </a:prstGeom>
          <a:solidFill>
            <a:srgbClr val="E8F0FC"/>
          </a:solidFill>
        </p:spPr>
      </p:sp>
      <p:sp>
        <p:nvSpPr>
          <p:cNvPr id="9" name="Shape 5"/>
          <p:cNvSpPr/>
          <p:nvPr/>
        </p:nvSpPr>
        <p:spPr>
          <a:xfrm>
            <a:off x="773630" y="4813301"/>
            <a:ext cx="3019425" cy="401613"/>
          </a:xfrm>
          <a:prstGeom prst="roundRect">
            <a:avLst>
              <a:gd name="adj" fmla="val 86398"/>
            </a:avLst>
          </a:prstGeom>
          <a:solidFill>
            <a:srgbClr val="EDF3FC"/>
          </a:solidFill>
          <a:ln w="9525">
            <a:solidFill>
              <a:srgbClr val="CEDBE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069317" y="2271728"/>
            <a:ext cx="3286125" cy="3086100"/>
          </a:xfrm>
          <a:prstGeom prst="roundRect">
            <a:avLst>
              <a:gd name="adj" fmla="val 2195"/>
            </a:avLst>
          </a:prstGeom>
          <a:solidFill>
            <a:srgbClr val="F7FAFF"/>
          </a:solidFill>
          <a:ln w="9525">
            <a:solidFill>
              <a:srgbClr val="D8E2E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212155" y="2414564"/>
            <a:ext cx="3019425" cy="382563"/>
          </a:xfrm>
          <a:prstGeom prst="roundRect">
            <a:avLst>
              <a:gd name="adj" fmla="val 95217"/>
            </a:avLst>
          </a:prstGeom>
          <a:solidFill>
            <a:srgbClr val="DFEAFB"/>
          </a:solidFill>
        </p:spPr>
      </p:sp>
      <p:sp>
        <p:nvSpPr>
          <p:cNvPr id="12" name="Shape 8"/>
          <p:cNvSpPr/>
          <p:nvPr/>
        </p:nvSpPr>
        <p:spPr>
          <a:xfrm>
            <a:off x="4212155" y="4813301"/>
            <a:ext cx="3019425" cy="401613"/>
          </a:xfrm>
          <a:prstGeom prst="roundRect">
            <a:avLst>
              <a:gd name="adj" fmla="val 86398"/>
            </a:avLst>
          </a:prstGeom>
          <a:solidFill>
            <a:srgbClr val="EDF3FC"/>
          </a:solidFill>
          <a:ln w="9525">
            <a:solidFill>
              <a:srgbClr val="CEDB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507805" y="2271689"/>
            <a:ext cx="3333750" cy="3086100"/>
          </a:xfrm>
          <a:prstGeom prst="roundRect">
            <a:avLst>
              <a:gd name="adj" fmla="val 2195"/>
            </a:avLst>
          </a:prstGeom>
          <a:solidFill>
            <a:srgbClr val="EEF5FF"/>
          </a:solidFill>
          <a:ln w="9525">
            <a:solidFill>
              <a:srgbClr val="C5D6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650680" y="2414564"/>
            <a:ext cx="3067050" cy="382563"/>
          </a:xfrm>
          <a:prstGeom prst="roundRect">
            <a:avLst>
              <a:gd name="adj" fmla="val 95217"/>
            </a:avLst>
          </a:prstGeom>
          <a:solidFill>
            <a:srgbClr val="BDD7EE">
              <a:alpha val="100000"/>
            </a:srgbClr>
          </a:solidFill>
        </p:spPr>
      </p:sp>
      <p:sp>
        <p:nvSpPr>
          <p:cNvPr id="15" name="Shape 11"/>
          <p:cNvSpPr/>
          <p:nvPr/>
        </p:nvSpPr>
        <p:spPr>
          <a:xfrm>
            <a:off x="7650680" y="4813301"/>
            <a:ext cx="3067050" cy="401613"/>
          </a:xfrm>
          <a:prstGeom prst="roundRect">
            <a:avLst>
              <a:gd name="adj" fmla="val 86398"/>
            </a:avLst>
          </a:prstGeom>
          <a:solidFill>
            <a:srgbClr val="EDF3FC">
              <a:alpha val="100000"/>
            </a:srgbClr>
          </a:solidFill>
          <a:ln w="9525">
            <a:solidFill>
              <a:srgbClr val="B9CD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64105" y="1042964"/>
            <a:ext cx="97726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后续计划</a:t>
            </a:r>
            <a:endParaRPr lang="en-US" sz="25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764105" y="1529483"/>
            <a:ext cx="97726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围绕“方法优化—实验完善—系统打磨—论文答辩”四条主线推进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868880" y="2489648"/>
            <a:ext cx="1123504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阶段一：6–8月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773630" y="2897139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继续优化动态预处理与上下文学习识别引擎。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773630" y="3159077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补充困难样本分析，改进示例选择与提示构造。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773630" y="3421014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开展对比/消融实验，完成首轮误差归因整理。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878405" y="4924327"/>
            <a:ext cx="198120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目标：方法稳定性与证据充分性提升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4307405" y="2489648"/>
            <a:ext cx="1123504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阶段二：8–9月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4212155" y="2897139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完善系统联调，优化运行效率与异常处理能力。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4212155" y="3159077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强化中间过程记录、结果回看与导出管理能力。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4212155" y="3421014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形成可支撑论文复现与答辩演示的稳定原型。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4316930" y="4924327"/>
            <a:ext cx="1857375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目标：系统完整度与可展示性提升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7745930" y="2489648"/>
            <a:ext cx="1199406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阶段三：9–1</a:t>
            </a:r>
            <a:r>
              <a:rPr lang="en-US" altLang="zh-CN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月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7650680" y="2897139"/>
            <a:ext cx="3067050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9–10月：完成论文初稿与图表材料整理。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7650680" y="3159077"/>
            <a:ext cx="3067050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10–11月：根据导师反馈修改定稿并核对实验表述。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7650680" y="3421014"/>
            <a:ext cx="3067050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同步完成答辩PPT、展示材料与预答辩准备。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7755455" y="4924327"/>
            <a:ext cx="1857375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目标：高质量定稿并按期完成答辩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6" name="图片 15" descr="upload_post_object_v2_2554028333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7355401" y="521795"/>
            <a:ext cx="3602163" cy="15879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34" name="文本框 33"/>
          <p:cNvSpPr txBox="1"/>
          <p:nvPr userDrawn="1"/>
        </p:nvSpPr>
        <p:spPr>
          <a:xfrm>
            <a:off x="5242017" y="2389289"/>
            <a:ext cx="1586112" cy="115149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4000">
                <a:latin typeface="微软雅黑" charset="0"/>
                <a:ea typeface="微软雅黑" charset="0"/>
                <a:cs typeface="微软雅黑" charset="0"/>
              </a:rPr>
              <a:t>谢谢</a:t>
            </a:r>
            <a:endParaRPr lang="zh-CN" altLang="en-US" sz="4000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3208</Words>
  <Application>WPS 演示</Application>
  <PresentationFormat>On-screen Show (16:9)</PresentationFormat>
  <Paragraphs>346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汉仪旗黑</vt:lpstr>
      <vt:lpstr>微软雅黑</vt:lpstr>
      <vt:lpstr>Calibri</vt:lpstr>
      <vt:lpstr>Helvetica Neue</vt:lpstr>
      <vt:lpstr>宋体-简</vt:lpstr>
      <vt:lpstr>等线</vt:lpstr>
      <vt:lpstr>宋体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description>﻿﻿﻿﻿​﻿⁠﻿﻿﻿﻿﻿﻿﻿﻿﻿﻿﻿﻿﻿‌‍⁢⁢‍﻿​‌</dc:description>
  <dc:subject>PptxGenJS Presentation</dc:subject>
  <cp:lastModifiedBy>灿烂</cp:lastModifiedBy>
  <cp:revision>1</cp:revision>
  <dcterms:created xsi:type="dcterms:W3CDTF">2026-06-24T03:15:25Z</dcterms:created>
  <dcterms:modified xsi:type="dcterms:W3CDTF">2026-06-24T03:15:25Z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0BDC442A496CD090766D2F6A01166632_42</vt:lpwstr>
  </property>
  <property fmtid="{D5CDD505-2E9C-101B-9397-08002B2CF9AE}" pid="3" name="KSOProductBuildVer">
    <vt:lpwstr>2052-12.1.26016.26016</vt:lpwstr>
  </property>
</Properties>
</file>