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3679170" cy="7022465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55B5"/>
    <a:srgbClr val="2F7D46"/>
    <a:srgbClr val="F4FBF4"/>
    <a:srgbClr val="F8F4FF"/>
    <a:srgbClr val="476CBE"/>
    <a:srgbClr val="FB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3" Type="http://schemas.openxmlformats.org/officeDocument/2006/relationships/slideLayout" Target="../slideLayouts/slideLayout1.xml"/><Relationship Id="rId42" Type="http://schemas.openxmlformats.org/officeDocument/2006/relationships/image" Target="../media/image42.svg"/><Relationship Id="rId41" Type="http://schemas.openxmlformats.org/officeDocument/2006/relationships/image" Target="../media/image41.png"/><Relationship Id="rId40" Type="http://schemas.openxmlformats.org/officeDocument/2006/relationships/image" Target="../media/image40.svg"/><Relationship Id="rId4" Type="http://schemas.openxmlformats.org/officeDocument/2006/relationships/image" Target="../media/image4.svg"/><Relationship Id="rId39" Type="http://schemas.openxmlformats.org/officeDocument/2006/relationships/image" Target="../media/image39.png"/><Relationship Id="rId38" Type="http://schemas.openxmlformats.org/officeDocument/2006/relationships/image" Target="../media/image38.svg"/><Relationship Id="rId37" Type="http://schemas.openxmlformats.org/officeDocument/2006/relationships/image" Target="../media/image37.png"/><Relationship Id="rId36" Type="http://schemas.openxmlformats.org/officeDocument/2006/relationships/image" Target="../media/image36.svg"/><Relationship Id="rId35" Type="http://schemas.openxmlformats.org/officeDocument/2006/relationships/image" Target="../media/image35.png"/><Relationship Id="rId34" Type="http://schemas.openxmlformats.org/officeDocument/2006/relationships/image" Target="../media/image34.svg"/><Relationship Id="rId33" Type="http://schemas.openxmlformats.org/officeDocument/2006/relationships/image" Target="../media/image33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svg"/><Relationship Id="rId27" Type="http://schemas.openxmlformats.org/officeDocument/2006/relationships/image" Target="../media/image27.png"/><Relationship Id="rId26" Type="http://schemas.openxmlformats.org/officeDocument/2006/relationships/image" Target="../media/image26.svg"/><Relationship Id="rId25" Type="http://schemas.openxmlformats.org/officeDocument/2006/relationships/image" Target="../media/image25.png"/><Relationship Id="rId24" Type="http://schemas.openxmlformats.org/officeDocument/2006/relationships/image" Target="../media/image24.svg"/><Relationship Id="rId23" Type="http://schemas.openxmlformats.org/officeDocument/2006/relationships/image" Target="../media/image23.png"/><Relationship Id="rId22" Type="http://schemas.openxmlformats.org/officeDocument/2006/relationships/image" Target="../media/image22.svg"/><Relationship Id="rId21" Type="http://schemas.openxmlformats.org/officeDocument/2006/relationships/image" Target="../media/image21.png"/><Relationship Id="rId20" Type="http://schemas.openxmlformats.org/officeDocument/2006/relationships/image" Target="../media/image20.sv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svg"/><Relationship Id="rId17" Type="http://schemas.openxmlformats.org/officeDocument/2006/relationships/image" Target="../media/image17.png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182880" y="201168"/>
            <a:ext cx="1874520" cy="610819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9CA3AF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200"/>
          </a:p>
        </p:txBody>
      </p:sp>
      <p:sp>
        <p:nvSpPr>
          <p:cNvPr id="32" name="Shape 32"/>
          <p:cNvSpPr txBox="1"/>
          <p:nvPr/>
        </p:nvSpPr>
        <p:spPr>
          <a:xfrm>
            <a:off x="603504" y="1398905"/>
            <a:ext cx="1024128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输入表格图像</a:t>
            </a:r>
            <a:endParaRPr lang="zh-CN" sz="1100"/>
          </a:p>
        </p:txBody>
      </p:sp>
      <p:cxnSp>
        <p:nvCxnSpPr>
          <p:cNvPr id="33" name="Connector 33"/>
          <p:cNvCxnSpPr/>
          <p:nvPr/>
        </p:nvCxnSpPr>
        <p:spPr>
          <a:xfrm>
            <a:off x="1116838" y="1639189"/>
            <a:ext cx="914" cy="256032"/>
          </a:xfrm>
          <a:prstGeom prst="straightConnector1">
            <a:avLst/>
          </a:prstGeom>
          <a:ln w="38100" cap="sq" cmpd="sng">
            <a:solidFill>
              <a:schemeClr val="tx1"/>
            </a:solidFill>
            <a:prstDash val="solid"/>
            <a:headEnd type="none"/>
            <a:tailEnd type="triangle" w="med" len="med"/>
          </a:ln>
        </p:spPr>
      </p:cxnSp>
      <p:sp>
        <p:nvSpPr>
          <p:cNvPr id="34" name="Shape 34"/>
          <p:cNvSpPr txBox="1"/>
          <p:nvPr/>
        </p:nvSpPr>
        <p:spPr>
          <a:xfrm>
            <a:off x="329184" y="1947672"/>
            <a:ext cx="1563624" cy="548640"/>
          </a:xfrm>
          <a:prstGeom prst="roundRect">
            <a:avLst/>
          </a:prstGeom>
          <a:solidFill>
            <a:srgbClr val="F9FAFB"/>
          </a:solidFill>
          <a:ln w="13970">
            <a:solidFill>
              <a:srgbClr val="9CA3AF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200"/>
          </a:p>
        </p:txBody>
      </p:sp>
      <p:sp>
        <p:nvSpPr>
          <p:cNvPr id="35" name="Shape 35"/>
          <p:cNvSpPr txBox="1"/>
          <p:nvPr/>
        </p:nvSpPr>
        <p:spPr>
          <a:xfrm>
            <a:off x="420624" y="2084832"/>
            <a:ext cx="265176" cy="265176"/>
          </a:xfrm>
          <a:prstGeom prst="ellipse">
            <a:avLst/>
          </a:prstGeom>
          <a:solidFill>
            <a:srgbClr val="2F59B6"/>
          </a:solidFill>
          <a:ln w="10160">
            <a:solidFill>
              <a:srgbClr val="2F59B6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lang="zh-CN" sz="1400"/>
          </a:p>
        </p:txBody>
      </p:sp>
      <p:sp>
        <p:nvSpPr>
          <p:cNvPr id="36" name="Shape 36"/>
          <p:cNvSpPr txBox="1"/>
          <p:nvPr/>
        </p:nvSpPr>
        <p:spPr>
          <a:xfrm>
            <a:off x="731520" y="2029968"/>
            <a:ext cx="1115568" cy="384048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1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退化感知与</a:t>
            </a:r>
            <a:endParaRPr lang="zh-CN" sz="1100"/>
          </a:p>
          <a:p>
            <a:pPr algn="ctr"/>
            <a:r>
              <a:rPr lang="zh-CN" sz="11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候选路径生成</a:t>
            </a:r>
            <a:endParaRPr lang="zh-CN" sz="1100"/>
          </a:p>
        </p:txBody>
      </p:sp>
      <p:sp>
        <p:nvSpPr>
          <p:cNvPr id="38" name="Shape 38"/>
          <p:cNvSpPr txBox="1"/>
          <p:nvPr/>
        </p:nvSpPr>
        <p:spPr>
          <a:xfrm>
            <a:off x="329184" y="2916936"/>
            <a:ext cx="1563624" cy="548640"/>
          </a:xfrm>
          <a:prstGeom prst="roundRect">
            <a:avLst/>
          </a:prstGeom>
          <a:solidFill>
            <a:srgbClr val="F9FAFB"/>
          </a:solidFill>
          <a:ln w="13970">
            <a:solidFill>
              <a:srgbClr val="9CA3AF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200"/>
          </a:p>
        </p:txBody>
      </p:sp>
      <p:sp>
        <p:nvSpPr>
          <p:cNvPr id="39" name="Shape 39"/>
          <p:cNvSpPr txBox="1"/>
          <p:nvPr/>
        </p:nvSpPr>
        <p:spPr>
          <a:xfrm>
            <a:off x="420624" y="3054096"/>
            <a:ext cx="265176" cy="265176"/>
          </a:xfrm>
          <a:prstGeom prst="ellipse">
            <a:avLst/>
          </a:prstGeom>
          <a:solidFill>
            <a:srgbClr val="2F59B6"/>
          </a:solidFill>
          <a:ln w="10160">
            <a:solidFill>
              <a:srgbClr val="2F59B6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lang="zh-CN" sz="1400"/>
          </a:p>
        </p:txBody>
      </p:sp>
      <p:sp>
        <p:nvSpPr>
          <p:cNvPr id="40" name="Shape 40"/>
          <p:cNvSpPr txBox="1"/>
          <p:nvPr/>
        </p:nvSpPr>
        <p:spPr>
          <a:xfrm>
            <a:off x="731520" y="3004248"/>
            <a:ext cx="1115568" cy="374015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1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候选执行与</a:t>
            </a:r>
            <a:endParaRPr lang="zh-CN" sz="1100" b="1"/>
          </a:p>
          <a:p>
            <a:pPr algn="ctr"/>
            <a:r>
              <a:rPr lang="zh-CN" sz="11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质量评估</a:t>
            </a:r>
            <a:endParaRPr lang="zh-CN" sz="1100" b="1"/>
          </a:p>
        </p:txBody>
      </p:sp>
      <p:sp>
        <p:nvSpPr>
          <p:cNvPr id="42" name="Shape 42"/>
          <p:cNvSpPr txBox="1"/>
          <p:nvPr/>
        </p:nvSpPr>
        <p:spPr>
          <a:xfrm>
            <a:off x="329184" y="3895090"/>
            <a:ext cx="1563624" cy="548640"/>
          </a:xfrm>
          <a:prstGeom prst="roundRect">
            <a:avLst/>
          </a:prstGeom>
          <a:solidFill>
            <a:srgbClr val="F9FAFB"/>
          </a:solidFill>
          <a:ln w="13970">
            <a:solidFill>
              <a:srgbClr val="9CA3AF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200"/>
          </a:p>
        </p:txBody>
      </p:sp>
      <p:sp>
        <p:nvSpPr>
          <p:cNvPr id="43" name="Shape 43"/>
          <p:cNvSpPr txBox="1"/>
          <p:nvPr/>
        </p:nvSpPr>
        <p:spPr>
          <a:xfrm>
            <a:off x="420624" y="4032250"/>
            <a:ext cx="265176" cy="265176"/>
          </a:xfrm>
          <a:prstGeom prst="ellipse">
            <a:avLst/>
          </a:prstGeom>
          <a:solidFill>
            <a:srgbClr val="2F59B6"/>
          </a:solidFill>
          <a:ln w="10160">
            <a:solidFill>
              <a:srgbClr val="2F59B6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lang="zh-CN" sz="1400"/>
          </a:p>
        </p:txBody>
      </p:sp>
      <p:sp>
        <p:nvSpPr>
          <p:cNvPr id="44" name="Shape 44"/>
          <p:cNvSpPr txBox="1"/>
          <p:nvPr/>
        </p:nvSpPr>
        <p:spPr>
          <a:xfrm>
            <a:off x="731520" y="3982403"/>
            <a:ext cx="1115568" cy="374015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1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反思驱动</a:t>
            </a:r>
            <a:endParaRPr lang="zh-CN" sz="1100" b="1"/>
          </a:p>
          <a:p>
            <a:pPr algn="ctr"/>
            <a:r>
              <a:rPr lang="zh-CN" sz="11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步骤选择</a:t>
            </a:r>
            <a:endParaRPr lang="zh-CN" sz="1100" b="1"/>
          </a:p>
        </p:txBody>
      </p:sp>
      <p:sp>
        <p:nvSpPr>
          <p:cNvPr id="46" name="Shape 46"/>
          <p:cNvSpPr txBox="1"/>
          <p:nvPr/>
        </p:nvSpPr>
        <p:spPr>
          <a:xfrm>
            <a:off x="574421" y="4846066"/>
            <a:ext cx="1060704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1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高质量表格图像</a:t>
            </a:r>
            <a:endParaRPr lang="zh-CN" sz="1100"/>
          </a:p>
        </p:txBody>
      </p:sp>
      <p:sp>
        <p:nvSpPr>
          <p:cNvPr id="76" name="Shape 76"/>
          <p:cNvSpPr txBox="1"/>
          <p:nvPr/>
        </p:nvSpPr>
        <p:spPr>
          <a:xfrm>
            <a:off x="2217420" y="201295"/>
            <a:ext cx="5728970" cy="6125845"/>
          </a:xfrm>
          <a:prstGeom prst="roundRect">
            <a:avLst>
              <a:gd name="adj" fmla="val 6694"/>
            </a:avLst>
          </a:prstGeom>
          <a:solidFill>
            <a:srgbClr val="F6FAFF"/>
          </a:solidFill>
          <a:ln w="15875" cap="flat">
            <a:solidFill>
              <a:schemeClr val="accent1"/>
            </a:solidFill>
            <a:round/>
          </a:ln>
        </p:spPr>
        <p:txBody>
          <a:bodyPr wrap="square" lIns="27432" tIns="0" rIns="27432" bIns="18288" anchor="ctr">
            <a:noAutofit/>
          </a:bodyPr>
          <a:lstStyle/>
          <a:p>
            <a:pPr algn="ctr"/>
            <a:endParaRPr lang="zh-CN" sz="1200"/>
          </a:p>
        </p:txBody>
      </p:sp>
      <p:sp>
        <p:nvSpPr>
          <p:cNvPr id="77" name="Shape 77"/>
          <p:cNvSpPr txBox="1"/>
          <p:nvPr/>
        </p:nvSpPr>
        <p:spPr>
          <a:xfrm>
            <a:off x="3703320" y="347472"/>
            <a:ext cx="265176" cy="265176"/>
          </a:xfrm>
          <a:prstGeom prst="ellipse">
            <a:avLst/>
          </a:prstGeom>
          <a:solidFill>
            <a:srgbClr val="2F59B6"/>
          </a:solidFill>
          <a:ln w="6350">
            <a:solidFill>
              <a:srgbClr val="2F59B6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lang="zh-CN" sz="1400"/>
          </a:p>
        </p:txBody>
      </p:sp>
      <p:sp>
        <p:nvSpPr>
          <p:cNvPr id="78" name="Shape 78"/>
          <p:cNvSpPr txBox="1"/>
          <p:nvPr/>
        </p:nvSpPr>
        <p:spPr>
          <a:xfrm>
            <a:off x="4050792" y="347599"/>
            <a:ext cx="301752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lang="zh-CN" sz="1700" b="1">
                <a:solidFill>
                  <a:srgbClr val="2F59B6"/>
                </a:solidFill>
                <a:latin typeface="微软雅黑"/>
                <a:ea typeface="微软雅黑"/>
                <a:cs typeface="微软雅黑"/>
              </a:rPr>
              <a:t>退化感知与候选路径生成</a:t>
            </a:r>
            <a:endParaRPr lang="zh-CN" sz="1700"/>
          </a:p>
        </p:txBody>
      </p:sp>
      <p:sp>
        <p:nvSpPr>
          <p:cNvPr id="79" name="Shape 79"/>
          <p:cNvSpPr txBox="1"/>
          <p:nvPr/>
        </p:nvSpPr>
        <p:spPr>
          <a:xfrm>
            <a:off x="2423160" y="789305"/>
            <a:ext cx="5386070" cy="2569845"/>
          </a:xfrm>
          <a:prstGeom prst="roundRect">
            <a:avLst>
              <a:gd name="adj" fmla="val 9612"/>
            </a:avLst>
          </a:prstGeom>
          <a:solidFill>
            <a:srgbClr val="FBFDFF"/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lIns="27432" tIns="18288" rIns="27432" bIns="18288" anchor="ctr">
            <a:noAutofit/>
          </a:bodyPr>
          <a:lstStyle/>
          <a:p>
            <a:pPr algn="ctr"/>
            <a:endParaRPr lang="zh-CN" sz="1200"/>
          </a:p>
        </p:txBody>
      </p:sp>
      <p:sp>
        <p:nvSpPr>
          <p:cNvPr id="80" name="Shape 80"/>
          <p:cNvSpPr txBox="1"/>
          <p:nvPr/>
        </p:nvSpPr>
        <p:spPr>
          <a:xfrm>
            <a:off x="4206240" y="922084"/>
            <a:ext cx="1828800" cy="281305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600" b="1">
                <a:solidFill>
                  <a:srgbClr val="2F59B6"/>
                </a:solidFill>
                <a:latin typeface="微软雅黑"/>
                <a:ea typeface="微软雅黑"/>
                <a:cs typeface="微软雅黑"/>
              </a:rPr>
              <a:t>1.1 图像退化分析</a:t>
            </a:r>
            <a:endParaRPr lang="zh-CN" sz="1600" b="1"/>
          </a:p>
        </p:txBody>
      </p:sp>
      <p:cxnSp>
        <p:nvCxnSpPr>
          <p:cNvPr id="110" name="Connector 110"/>
          <p:cNvCxnSpPr/>
          <p:nvPr/>
        </p:nvCxnSpPr>
        <p:spPr>
          <a:xfrm>
            <a:off x="3703320" y="2160778"/>
            <a:ext cx="329184" cy="914"/>
          </a:xfrm>
          <a:prstGeom prst="straightConnector1">
            <a:avLst/>
          </a:prstGeom>
          <a:ln w="50800" cap="sq">
            <a:solidFill>
              <a:srgbClr val="111827"/>
            </a:solidFill>
            <a:tailEnd type="triangle"/>
          </a:ln>
        </p:spPr>
      </p:cxnSp>
      <p:sp>
        <p:nvSpPr>
          <p:cNvPr id="117" name="Shape 117"/>
          <p:cNvSpPr txBox="1"/>
          <p:nvPr/>
        </p:nvSpPr>
        <p:spPr>
          <a:xfrm>
            <a:off x="3703320" y="2445385"/>
            <a:ext cx="1390015" cy="43815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noAutofit/>
          </a:bodyPr>
          <a:lstStyle/>
          <a:p>
            <a:pPr algn="ctr"/>
            <a:r>
              <a:rPr lang="zh-CN" sz="1200" b="1">
                <a:solidFill>
                  <a:srgbClr val="253858"/>
                </a:solidFill>
                <a:latin typeface="黑体" charset="0"/>
                <a:ea typeface="黑体" charset="0"/>
                <a:cs typeface="微软雅黑"/>
              </a:rPr>
              <a:t>大模型</a:t>
            </a:r>
            <a:endParaRPr lang="zh-CN" sz="1200" b="1">
              <a:solidFill>
                <a:srgbClr val="253858"/>
              </a:solidFill>
              <a:latin typeface="黑体" charset="0"/>
              <a:ea typeface="黑体" charset="0"/>
              <a:cs typeface="微软雅黑"/>
            </a:endParaRPr>
          </a:p>
          <a:p>
            <a:pPr algn="ctr"/>
            <a:r>
              <a:rPr lang="en-US" altLang="zh-CN" sz="1200" b="1">
                <a:solidFill>
                  <a:srgbClr val="253858"/>
                </a:solidFill>
                <a:latin typeface="黑体" charset="0"/>
                <a:ea typeface="黑体" charset="0"/>
                <a:cs typeface="微软雅黑"/>
              </a:rPr>
              <a:t>（</a:t>
            </a:r>
            <a:r>
              <a:rPr lang="zh-CN" altLang="en-US" sz="1200" b="1">
                <a:solidFill>
                  <a:srgbClr val="253858"/>
                </a:solidFill>
                <a:latin typeface="黑体" charset="0"/>
                <a:ea typeface="黑体" charset="0"/>
                <a:cs typeface="微软雅黑"/>
              </a:rPr>
              <a:t>视觉理解与分析</a:t>
            </a:r>
            <a:r>
              <a:rPr lang="en-US" altLang="zh-CN" sz="1200" b="1">
                <a:solidFill>
                  <a:srgbClr val="253858"/>
                </a:solidFill>
                <a:latin typeface="黑体" charset="0"/>
                <a:ea typeface="黑体" charset="0"/>
                <a:cs typeface="微软雅黑"/>
              </a:rPr>
              <a:t>）</a:t>
            </a:r>
            <a:endParaRPr lang="zh-CN" sz="1200">
              <a:latin typeface="黑体" charset="0"/>
              <a:ea typeface="黑体" charset="0"/>
            </a:endParaRPr>
          </a:p>
        </p:txBody>
      </p:sp>
      <p:cxnSp>
        <p:nvCxnSpPr>
          <p:cNvPr id="142" name="Connector 142"/>
          <p:cNvCxnSpPr/>
          <p:nvPr/>
        </p:nvCxnSpPr>
        <p:spPr>
          <a:xfrm flipH="1">
            <a:off x="4974336" y="3905885"/>
            <a:ext cx="2478024" cy="914"/>
          </a:xfrm>
          <a:prstGeom prst="straightConnector1">
            <a:avLst/>
          </a:prstGeom>
          <a:ln w="13970" cap="sq">
            <a:solidFill>
              <a:srgbClr val="333333"/>
            </a:solidFill>
          </a:ln>
        </p:spPr>
      </p:cxnSp>
      <p:sp>
        <p:nvSpPr>
          <p:cNvPr id="144" name="Shape 144"/>
          <p:cNvSpPr txBox="1"/>
          <p:nvPr/>
        </p:nvSpPr>
        <p:spPr>
          <a:xfrm>
            <a:off x="2423160" y="3905885"/>
            <a:ext cx="5386070" cy="2261235"/>
          </a:xfrm>
          <a:prstGeom prst="roundRect">
            <a:avLst>
              <a:gd name="adj" fmla="val 9463"/>
            </a:avLst>
          </a:prstGeom>
          <a:solidFill>
            <a:srgbClr val="FBFDFF"/>
          </a:solidFill>
          <a:ln w="12700">
            <a:solidFill>
              <a:srgbClr val="8DB3F1"/>
            </a:solidFill>
          </a:ln>
        </p:spPr>
        <p:txBody>
          <a:bodyPr wrap="square" lIns="27432" tIns="18288" rIns="27432" bIns="18288" anchor="ctr">
            <a:noAutofit/>
          </a:bodyPr>
          <a:lstStyle/>
          <a:p>
            <a:pPr algn="ctr"/>
            <a:endParaRPr lang="zh-CN" sz="1200"/>
          </a:p>
        </p:txBody>
      </p:sp>
      <p:sp>
        <p:nvSpPr>
          <p:cNvPr id="145" name="Shape 145"/>
          <p:cNvSpPr txBox="1"/>
          <p:nvPr/>
        </p:nvSpPr>
        <p:spPr>
          <a:xfrm>
            <a:off x="4103497" y="4014597"/>
            <a:ext cx="2048256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400" b="1">
                <a:solidFill>
                  <a:srgbClr val="2F59B6"/>
                </a:solidFill>
                <a:latin typeface="微软雅黑"/>
                <a:ea typeface="微软雅黑"/>
                <a:cs typeface="微软雅黑"/>
              </a:rPr>
              <a:t>1.2 多路径预处理规划</a:t>
            </a:r>
            <a:endParaRPr lang="zh-CN" sz="1400"/>
          </a:p>
        </p:txBody>
      </p:sp>
      <p:sp>
        <p:nvSpPr>
          <p:cNvPr id="186" name="Shape 186"/>
          <p:cNvSpPr txBox="1"/>
          <p:nvPr/>
        </p:nvSpPr>
        <p:spPr>
          <a:xfrm>
            <a:off x="8053451" y="2070100"/>
            <a:ext cx="5038344" cy="2743200"/>
          </a:xfrm>
          <a:prstGeom prst="roundRect">
            <a:avLst/>
          </a:prstGeom>
          <a:solidFill>
            <a:srgbClr val="F2F9FF"/>
          </a:solidFill>
          <a:ln w="15240">
            <a:solidFill>
              <a:srgbClr val="77B5EB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200"/>
          </a:p>
        </p:txBody>
      </p:sp>
      <p:sp>
        <p:nvSpPr>
          <p:cNvPr id="187" name="Shape 187"/>
          <p:cNvSpPr txBox="1"/>
          <p:nvPr/>
        </p:nvSpPr>
        <p:spPr>
          <a:xfrm>
            <a:off x="9278747" y="2435860"/>
            <a:ext cx="246888" cy="246888"/>
          </a:xfrm>
          <a:prstGeom prst="ellipse">
            <a:avLst/>
          </a:prstGeom>
          <a:solidFill>
            <a:srgbClr val="2D7FC4"/>
          </a:solidFill>
          <a:ln w="12700">
            <a:solidFill>
              <a:srgbClr val="2D7FC4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lang="zh-CN" sz="1400"/>
          </a:p>
        </p:txBody>
      </p:sp>
      <p:sp>
        <p:nvSpPr>
          <p:cNvPr id="188" name="Shape 188"/>
          <p:cNvSpPr txBox="1"/>
          <p:nvPr/>
        </p:nvSpPr>
        <p:spPr>
          <a:xfrm>
            <a:off x="9598787" y="2426716"/>
            <a:ext cx="1828800" cy="246888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500" b="1">
                <a:solidFill>
                  <a:srgbClr val="2D7FC4"/>
                </a:solidFill>
                <a:latin typeface="微软雅黑"/>
                <a:ea typeface="微软雅黑"/>
                <a:cs typeface="微软雅黑"/>
              </a:rPr>
              <a:t>候选执行与质量评估</a:t>
            </a:r>
            <a:endParaRPr lang="zh-CN" sz="1500"/>
          </a:p>
        </p:txBody>
      </p:sp>
      <p:sp>
        <p:nvSpPr>
          <p:cNvPr id="189" name="Shape 189"/>
          <p:cNvSpPr txBox="1"/>
          <p:nvPr/>
        </p:nvSpPr>
        <p:spPr>
          <a:xfrm>
            <a:off x="8474075" y="2810764"/>
            <a:ext cx="877824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候选路径输出</a:t>
            </a:r>
            <a:endParaRPr lang="zh-CN" sz="950"/>
          </a:p>
        </p:txBody>
      </p:sp>
      <p:sp>
        <p:nvSpPr>
          <p:cNvPr id="190" name="Shape 190"/>
          <p:cNvSpPr txBox="1"/>
          <p:nvPr/>
        </p:nvSpPr>
        <p:spPr>
          <a:xfrm>
            <a:off x="8144891" y="3057652"/>
            <a:ext cx="438912" cy="13716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lang="zh-CN" sz="820" b="1">
                <a:solidFill>
                  <a:srgbClr val="263238"/>
                </a:solidFill>
                <a:latin typeface="微软雅黑"/>
                <a:ea typeface="微软雅黑"/>
                <a:cs typeface="微软雅黑"/>
              </a:rPr>
              <a:t>路径 1</a:t>
            </a:r>
            <a:endParaRPr lang="zh-CN" sz="820"/>
          </a:p>
        </p:txBody>
      </p:sp>
      <p:cxnSp>
        <p:nvCxnSpPr>
          <p:cNvPr id="191" name="Connector 191"/>
          <p:cNvCxnSpPr/>
          <p:nvPr/>
        </p:nvCxnSpPr>
        <p:spPr>
          <a:xfrm>
            <a:off x="8538083" y="3121660"/>
            <a:ext cx="128016" cy="914"/>
          </a:xfrm>
          <a:prstGeom prst="straightConnector1">
            <a:avLst/>
          </a:prstGeom>
          <a:ln w="13970" cap="sq">
            <a:solidFill>
              <a:srgbClr val="111827"/>
            </a:solidFill>
            <a:tailEnd type="triangle"/>
          </a:ln>
        </p:spPr>
      </p:cxnSp>
      <p:cxnSp>
        <p:nvCxnSpPr>
          <p:cNvPr id="221" name="Connector 221"/>
          <p:cNvCxnSpPr/>
          <p:nvPr/>
        </p:nvCxnSpPr>
        <p:spPr>
          <a:xfrm>
            <a:off x="9287891" y="3130804"/>
            <a:ext cx="338328" cy="914"/>
          </a:xfrm>
          <a:prstGeom prst="straightConnector1">
            <a:avLst/>
          </a:prstGeom>
          <a:ln w="21590" cap="sq">
            <a:solidFill>
              <a:srgbClr val="111827"/>
            </a:solidFill>
            <a:tailEnd type="triangle"/>
          </a:ln>
        </p:spPr>
      </p:cxnSp>
      <p:sp>
        <p:nvSpPr>
          <p:cNvPr id="222" name="Shape 222"/>
          <p:cNvSpPr txBox="1"/>
          <p:nvPr/>
        </p:nvSpPr>
        <p:spPr>
          <a:xfrm>
            <a:off x="8144891" y="3450844"/>
            <a:ext cx="438912" cy="13716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lang="zh-CN" sz="820" b="1">
                <a:solidFill>
                  <a:srgbClr val="263238"/>
                </a:solidFill>
                <a:latin typeface="微软雅黑"/>
                <a:ea typeface="微软雅黑"/>
                <a:cs typeface="微软雅黑"/>
              </a:rPr>
              <a:t>路径 2</a:t>
            </a:r>
            <a:endParaRPr lang="zh-CN" sz="820"/>
          </a:p>
        </p:txBody>
      </p:sp>
      <p:cxnSp>
        <p:nvCxnSpPr>
          <p:cNvPr id="223" name="Connector 223"/>
          <p:cNvCxnSpPr/>
          <p:nvPr/>
        </p:nvCxnSpPr>
        <p:spPr>
          <a:xfrm>
            <a:off x="8538083" y="3514852"/>
            <a:ext cx="128016" cy="914"/>
          </a:xfrm>
          <a:prstGeom prst="straightConnector1">
            <a:avLst/>
          </a:prstGeom>
          <a:ln w="13970" cap="sq">
            <a:solidFill>
              <a:srgbClr val="111827"/>
            </a:solidFill>
            <a:tailEnd type="triangle"/>
          </a:ln>
        </p:spPr>
      </p:cxnSp>
      <p:cxnSp>
        <p:nvCxnSpPr>
          <p:cNvPr id="253" name="Connector 253"/>
          <p:cNvCxnSpPr/>
          <p:nvPr/>
        </p:nvCxnSpPr>
        <p:spPr>
          <a:xfrm>
            <a:off x="9287891" y="3523996"/>
            <a:ext cx="338328" cy="914"/>
          </a:xfrm>
          <a:prstGeom prst="straightConnector1">
            <a:avLst/>
          </a:prstGeom>
          <a:ln w="21590" cap="sq">
            <a:solidFill>
              <a:srgbClr val="111827"/>
            </a:solidFill>
            <a:tailEnd type="triangle"/>
          </a:ln>
        </p:spPr>
      </p:cxnSp>
      <p:sp>
        <p:nvSpPr>
          <p:cNvPr id="254" name="Shape 254"/>
          <p:cNvSpPr txBox="1"/>
          <p:nvPr/>
        </p:nvSpPr>
        <p:spPr>
          <a:xfrm>
            <a:off x="8144891" y="3844036"/>
            <a:ext cx="438912" cy="13716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lang="zh-CN" sz="820" b="1">
                <a:solidFill>
                  <a:srgbClr val="263238"/>
                </a:solidFill>
                <a:latin typeface="微软雅黑"/>
                <a:ea typeface="微软雅黑"/>
                <a:cs typeface="微软雅黑"/>
              </a:rPr>
              <a:t>路径 3</a:t>
            </a:r>
            <a:endParaRPr lang="zh-CN" sz="820"/>
          </a:p>
        </p:txBody>
      </p:sp>
      <p:cxnSp>
        <p:nvCxnSpPr>
          <p:cNvPr id="255" name="Connector 255"/>
          <p:cNvCxnSpPr/>
          <p:nvPr/>
        </p:nvCxnSpPr>
        <p:spPr>
          <a:xfrm>
            <a:off x="8538083" y="3908044"/>
            <a:ext cx="128016" cy="914"/>
          </a:xfrm>
          <a:prstGeom prst="straightConnector1">
            <a:avLst/>
          </a:prstGeom>
          <a:ln w="13970" cap="sq">
            <a:solidFill>
              <a:srgbClr val="111827"/>
            </a:solidFill>
            <a:tailEnd type="triangle"/>
          </a:ln>
        </p:spPr>
      </p:cxnSp>
      <p:cxnSp>
        <p:nvCxnSpPr>
          <p:cNvPr id="285" name="Connector 285"/>
          <p:cNvCxnSpPr/>
          <p:nvPr/>
        </p:nvCxnSpPr>
        <p:spPr>
          <a:xfrm>
            <a:off x="9287891" y="3917188"/>
            <a:ext cx="338328" cy="914"/>
          </a:xfrm>
          <a:prstGeom prst="straightConnector1">
            <a:avLst/>
          </a:prstGeom>
          <a:ln w="21590" cap="sq">
            <a:solidFill>
              <a:srgbClr val="111827"/>
            </a:solidFill>
            <a:tailEnd type="triangle"/>
          </a:ln>
        </p:spPr>
      </p:cxnSp>
      <p:sp>
        <p:nvSpPr>
          <p:cNvPr id="286" name="Shape 286"/>
          <p:cNvSpPr txBox="1"/>
          <p:nvPr/>
        </p:nvSpPr>
        <p:spPr>
          <a:xfrm>
            <a:off x="8144891" y="4237228"/>
            <a:ext cx="438912" cy="13716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lang="zh-CN" sz="820" b="1">
                <a:solidFill>
                  <a:srgbClr val="263238"/>
                </a:solidFill>
                <a:latin typeface="微软雅黑"/>
                <a:ea typeface="微软雅黑"/>
                <a:cs typeface="微软雅黑"/>
              </a:rPr>
              <a:t>路径 4</a:t>
            </a:r>
            <a:endParaRPr lang="zh-CN" sz="820"/>
          </a:p>
        </p:txBody>
      </p:sp>
      <p:cxnSp>
        <p:nvCxnSpPr>
          <p:cNvPr id="287" name="Connector 287"/>
          <p:cNvCxnSpPr/>
          <p:nvPr/>
        </p:nvCxnSpPr>
        <p:spPr>
          <a:xfrm>
            <a:off x="8538083" y="4301236"/>
            <a:ext cx="128016" cy="914"/>
          </a:xfrm>
          <a:prstGeom prst="straightConnector1">
            <a:avLst/>
          </a:prstGeom>
          <a:ln w="13970" cap="sq">
            <a:solidFill>
              <a:srgbClr val="111827"/>
            </a:solidFill>
            <a:tailEnd type="triangle"/>
          </a:ln>
        </p:spPr>
      </p:cxnSp>
      <p:cxnSp>
        <p:nvCxnSpPr>
          <p:cNvPr id="317" name="Connector 317"/>
          <p:cNvCxnSpPr/>
          <p:nvPr/>
        </p:nvCxnSpPr>
        <p:spPr>
          <a:xfrm>
            <a:off x="9287891" y="4310380"/>
            <a:ext cx="338328" cy="914"/>
          </a:xfrm>
          <a:prstGeom prst="straightConnector1">
            <a:avLst/>
          </a:prstGeom>
          <a:ln w="21590" cap="sq">
            <a:solidFill>
              <a:srgbClr val="111827"/>
            </a:solidFill>
            <a:tailEnd type="triangle"/>
          </a:ln>
        </p:spPr>
      </p:cxnSp>
      <p:sp>
        <p:nvSpPr>
          <p:cNvPr id="324" name="Shape 324"/>
          <p:cNvSpPr txBox="1"/>
          <p:nvPr/>
        </p:nvSpPr>
        <p:spPr>
          <a:xfrm>
            <a:off x="11002772" y="2783205"/>
            <a:ext cx="804672" cy="146304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00" b="1">
                <a:solidFill>
                  <a:srgbClr val="263238"/>
                </a:solidFill>
                <a:latin typeface="微软雅黑"/>
                <a:ea typeface="微软雅黑"/>
                <a:cs typeface="微软雅黑"/>
              </a:rPr>
              <a:t>综合得分</a:t>
            </a:r>
            <a:endParaRPr lang="zh-CN" sz="900"/>
          </a:p>
        </p:txBody>
      </p:sp>
      <p:cxnSp>
        <p:nvCxnSpPr>
          <p:cNvPr id="325" name="Connector 325"/>
          <p:cNvCxnSpPr/>
          <p:nvPr/>
        </p:nvCxnSpPr>
        <p:spPr>
          <a:xfrm>
            <a:off x="10878947" y="3130804"/>
            <a:ext cx="265176" cy="914"/>
          </a:xfrm>
          <a:prstGeom prst="straightConnector1">
            <a:avLst/>
          </a:prstGeom>
          <a:ln w="12700" cap="sq">
            <a:solidFill>
              <a:srgbClr val="2E5D85"/>
            </a:solidFill>
            <a:tailEnd type="triangle"/>
          </a:ln>
        </p:spPr>
      </p:cxnSp>
      <p:sp>
        <p:nvSpPr>
          <p:cNvPr id="326" name="Shape 326"/>
          <p:cNvSpPr txBox="1"/>
          <p:nvPr/>
        </p:nvSpPr>
        <p:spPr>
          <a:xfrm>
            <a:off x="11180699" y="3002788"/>
            <a:ext cx="448056" cy="256032"/>
          </a:xfrm>
          <a:prstGeom prst="roundRect">
            <a:avLst/>
          </a:prstGeom>
          <a:solidFill>
            <a:srgbClr val="EAF6FF"/>
          </a:solidFill>
          <a:ln w="10160">
            <a:solidFill>
              <a:srgbClr val="93C6ED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0.86</a:t>
            </a:r>
            <a:endParaRPr lang="zh-CN" sz="950"/>
          </a:p>
        </p:txBody>
      </p:sp>
      <p:cxnSp>
        <p:nvCxnSpPr>
          <p:cNvPr id="327" name="Connector 327"/>
          <p:cNvCxnSpPr/>
          <p:nvPr/>
        </p:nvCxnSpPr>
        <p:spPr>
          <a:xfrm>
            <a:off x="10878947" y="3523996"/>
            <a:ext cx="265176" cy="914"/>
          </a:xfrm>
          <a:prstGeom prst="straightConnector1">
            <a:avLst/>
          </a:prstGeom>
          <a:ln w="12700" cap="sq">
            <a:solidFill>
              <a:srgbClr val="2E5D85"/>
            </a:solidFill>
            <a:tailEnd type="triangle"/>
          </a:ln>
        </p:spPr>
      </p:cxnSp>
      <p:sp>
        <p:nvSpPr>
          <p:cNvPr id="328" name="Shape 328"/>
          <p:cNvSpPr txBox="1"/>
          <p:nvPr/>
        </p:nvSpPr>
        <p:spPr>
          <a:xfrm>
            <a:off x="11180699" y="3395980"/>
            <a:ext cx="448056" cy="256032"/>
          </a:xfrm>
          <a:prstGeom prst="roundRect">
            <a:avLst/>
          </a:prstGeom>
          <a:solidFill>
            <a:srgbClr val="EAF6FF"/>
          </a:solidFill>
          <a:ln w="10160">
            <a:solidFill>
              <a:srgbClr val="93C6ED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0.72</a:t>
            </a:r>
            <a:endParaRPr lang="zh-CN" sz="950"/>
          </a:p>
        </p:txBody>
      </p:sp>
      <p:cxnSp>
        <p:nvCxnSpPr>
          <p:cNvPr id="329" name="Connector 329"/>
          <p:cNvCxnSpPr/>
          <p:nvPr/>
        </p:nvCxnSpPr>
        <p:spPr>
          <a:xfrm>
            <a:off x="10878947" y="3917188"/>
            <a:ext cx="265176" cy="914"/>
          </a:xfrm>
          <a:prstGeom prst="straightConnector1">
            <a:avLst/>
          </a:prstGeom>
          <a:ln w="12700" cap="sq">
            <a:solidFill>
              <a:srgbClr val="2E5D85"/>
            </a:solidFill>
            <a:tailEnd type="triangle"/>
          </a:ln>
        </p:spPr>
      </p:cxnSp>
      <p:sp>
        <p:nvSpPr>
          <p:cNvPr id="330" name="Shape 330"/>
          <p:cNvSpPr txBox="1"/>
          <p:nvPr/>
        </p:nvSpPr>
        <p:spPr>
          <a:xfrm>
            <a:off x="11180699" y="3789172"/>
            <a:ext cx="448056" cy="256032"/>
          </a:xfrm>
          <a:prstGeom prst="roundRect">
            <a:avLst/>
          </a:prstGeom>
          <a:solidFill>
            <a:srgbClr val="EAF6FF"/>
          </a:solidFill>
          <a:ln w="10160">
            <a:solidFill>
              <a:srgbClr val="93C6ED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0.78</a:t>
            </a:r>
            <a:endParaRPr lang="zh-CN" sz="950"/>
          </a:p>
        </p:txBody>
      </p:sp>
      <p:cxnSp>
        <p:nvCxnSpPr>
          <p:cNvPr id="331" name="Connector 331"/>
          <p:cNvCxnSpPr/>
          <p:nvPr/>
        </p:nvCxnSpPr>
        <p:spPr>
          <a:xfrm>
            <a:off x="10878947" y="4310380"/>
            <a:ext cx="265176" cy="914"/>
          </a:xfrm>
          <a:prstGeom prst="straightConnector1">
            <a:avLst/>
          </a:prstGeom>
          <a:ln w="12700" cap="sq">
            <a:solidFill>
              <a:srgbClr val="2E5D85"/>
            </a:solidFill>
            <a:tailEnd type="triangle"/>
          </a:ln>
        </p:spPr>
      </p:cxnSp>
      <p:sp>
        <p:nvSpPr>
          <p:cNvPr id="332" name="Shape 332"/>
          <p:cNvSpPr txBox="1"/>
          <p:nvPr/>
        </p:nvSpPr>
        <p:spPr>
          <a:xfrm>
            <a:off x="11180699" y="4182364"/>
            <a:ext cx="448056" cy="256032"/>
          </a:xfrm>
          <a:prstGeom prst="roundRect">
            <a:avLst/>
          </a:prstGeom>
          <a:solidFill>
            <a:srgbClr val="EAF6FF"/>
          </a:solidFill>
          <a:ln w="10160">
            <a:solidFill>
              <a:srgbClr val="93C6ED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0.91</a:t>
            </a:r>
            <a:endParaRPr lang="zh-CN" sz="950"/>
          </a:p>
        </p:txBody>
      </p:sp>
      <p:cxnSp>
        <p:nvCxnSpPr>
          <p:cNvPr id="333" name="Connector 333"/>
          <p:cNvCxnSpPr/>
          <p:nvPr/>
        </p:nvCxnSpPr>
        <p:spPr>
          <a:xfrm>
            <a:off x="11591798" y="3701288"/>
            <a:ext cx="292608" cy="914"/>
          </a:xfrm>
          <a:prstGeom prst="straightConnector1">
            <a:avLst/>
          </a:prstGeom>
          <a:ln w="12700" cap="sq">
            <a:solidFill>
              <a:srgbClr val="2E5D85"/>
            </a:solidFill>
            <a:tailEnd type="triangle"/>
          </a:ln>
        </p:spPr>
      </p:cxnSp>
      <p:sp>
        <p:nvSpPr>
          <p:cNvPr id="334" name="Shape 334"/>
          <p:cNvSpPr txBox="1"/>
          <p:nvPr/>
        </p:nvSpPr>
        <p:spPr>
          <a:xfrm>
            <a:off x="11913870" y="2773680"/>
            <a:ext cx="1014730" cy="1819275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8798AA"/>
            </a:solidFill>
          </a:ln>
        </p:spPr>
        <p:txBody>
          <a:bodyPr wrap="square" lIns="27432" tIns="18288" rIns="27432" bIns="18288" anchor="ctr">
            <a:noAutofit/>
          </a:bodyPr>
          <a:lstStyle/>
          <a:p>
            <a:pPr algn="ctr"/>
            <a:endParaRPr lang="zh-CN" sz="1200"/>
          </a:p>
        </p:txBody>
      </p:sp>
      <p:sp>
        <p:nvSpPr>
          <p:cNvPr id="335" name="Shape 335"/>
          <p:cNvSpPr txBox="1"/>
          <p:nvPr/>
        </p:nvSpPr>
        <p:spPr>
          <a:xfrm>
            <a:off x="12145645" y="2846070"/>
            <a:ext cx="628015" cy="17399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noAutofit/>
          </a:bodyPr>
          <a:lstStyle/>
          <a:p>
            <a:pPr algn="ctr"/>
            <a:r>
              <a:rPr lang="zh-CN" sz="1200" b="1">
                <a:solidFill>
                  <a:srgbClr val="1F2937"/>
                </a:solidFill>
                <a:latin typeface="黑体" charset="0"/>
                <a:ea typeface="黑体" charset="0"/>
                <a:cs typeface="微软雅黑"/>
              </a:rPr>
              <a:t>得分</a:t>
            </a:r>
            <a:endParaRPr lang="zh-CN" sz="1200" b="1">
              <a:solidFill>
                <a:srgbClr val="1F2937"/>
              </a:solidFill>
              <a:latin typeface="黑体" charset="0"/>
              <a:ea typeface="黑体" charset="0"/>
              <a:cs typeface="微软雅黑"/>
            </a:endParaRPr>
          </a:p>
        </p:txBody>
      </p:sp>
      <p:sp>
        <p:nvSpPr>
          <p:cNvPr id="337" name="Shape 337"/>
          <p:cNvSpPr txBox="1"/>
          <p:nvPr/>
        </p:nvSpPr>
        <p:spPr>
          <a:xfrm>
            <a:off x="11942445" y="3165602"/>
            <a:ext cx="146304" cy="18923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0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🥇</a:t>
            </a:r>
            <a:endParaRPr lang="zh-CN" sz="1000" b="0">
              <a:solidFill>
                <a:srgbClr val="11182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8" name="Shape 338"/>
          <p:cNvSpPr txBox="1"/>
          <p:nvPr/>
        </p:nvSpPr>
        <p:spPr>
          <a:xfrm>
            <a:off x="12116181" y="3175762"/>
            <a:ext cx="475488" cy="16891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lang="zh-CN" sz="87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路径 4</a:t>
            </a:r>
            <a:endParaRPr lang="zh-CN" sz="870" b="0">
              <a:solidFill>
                <a:srgbClr val="1F29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9" name="Shape 339"/>
          <p:cNvSpPr txBox="1"/>
          <p:nvPr/>
        </p:nvSpPr>
        <p:spPr>
          <a:xfrm>
            <a:off x="12489815" y="3195955"/>
            <a:ext cx="311785" cy="146685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noAutofit/>
          </a:bodyPr>
          <a:lstStyle/>
          <a:p>
            <a:pPr algn="r"/>
            <a:r>
              <a:rPr lang="zh-CN" sz="87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0.91</a:t>
            </a:r>
            <a:endParaRPr lang="zh-CN" sz="870" b="0">
              <a:solidFill>
                <a:srgbClr val="1F29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0" name="Shape 340"/>
          <p:cNvSpPr txBox="1"/>
          <p:nvPr/>
        </p:nvSpPr>
        <p:spPr>
          <a:xfrm>
            <a:off x="11942445" y="3513074"/>
            <a:ext cx="146304" cy="18923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0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🥈</a:t>
            </a:r>
            <a:endParaRPr lang="zh-CN" sz="1000" b="0">
              <a:solidFill>
                <a:srgbClr val="11182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1" name="Shape 341"/>
          <p:cNvSpPr txBox="1"/>
          <p:nvPr/>
        </p:nvSpPr>
        <p:spPr>
          <a:xfrm>
            <a:off x="12116181" y="3523234"/>
            <a:ext cx="475488" cy="16891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lang="zh-CN" sz="87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路径 1</a:t>
            </a:r>
            <a:endParaRPr lang="zh-CN" sz="870" b="0">
              <a:solidFill>
                <a:srgbClr val="1F29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2" name="Shape 342"/>
          <p:cNvSpPr txBox="1"/>
          <p:nvPr/>
        </p:nvSpPr>
        <p:spPr>
          <a:xfrm>
            <a:off x="12533630" y="3507740"/>
            <a:ext cx="293370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noAutofit/>
          </a:bodyPr>
          <a:lstStyle/>
          <a:p>
            <a:pPr algn="r"/>
            <a:r>
              <a:rPr lang="zh-CN" sz="87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0.86</a:t>
            </a:r>
            <a:endParaRPr lang="zh-CN" sz="870" b="0">
              <a:solidFill>
                <a:srgbClr val="1F29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3" name="Shape 343"/>
          <p:cNvSpPr txBox="1"/>
          <p:nvPr/>
        </p:nvSpPr>
        <p:spPr>
          <a:xfrm>
            <a:off x="11942445" y="3860546"/>
            <a:ext cx="146304" cy="18923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0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🥉</a:t>
            </a:r>
            <a:endParaRPr lang="zh-CN" sz="1000" b="0">
              <a:solidFill>
                <a:srgbClr val="11182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4" name="Shape 344"/>
          <p:cNvSpPr txBox="1"/>
          <p:nvPr/>
        </p:nvSpPr>
        <p:spPr>
          <a:xfrm>
            <a:off x="12116181" y="3870706"/>
            <a:ext cx="475488" cy="16891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lang="zh-CN" sz="87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路径 3</a:t>
            </a:r>
            <a:endParaRPr lang="zh-CN" sz="870" b="0">
              <a:solidFill>
                <a:srgbClr val="1F29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5" name="Shape 345"/>
          <p:cNvSpPr txBox="1"/>
          <p:nvPr/>
        </p:nvSpPr>
        <p:spPr>
          <a:xfrm>
            <a:off x="12541885" y="3855085"/>
            <a:ext cx="293370" cy="182245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noAutofit/>
          </a:bodyPr>
          <a:lstStyle/>
          <a:p>
            <a:pPr algn="r"/>
            <a:r>
              <a:rPr lang="zh-CN" sz="87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0.78</a:t>
            </a:r>
            <a:endParaRPr lang="zh-CN" sz="870" b="0">
              <a:solidFill>
                <a:srgbClr val="1F29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6" name="Shape 346"/>
          <p:cNvSpPr txBox="1"/>
          <p:nvPr/>
        </p:nvSpPr>
        <p:spPr>
          <a:xfrm>
            <a:off x="11942445" y="4208018"/>
            <a:ext cx="146304" cy="18923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000" b="0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4</a:t>
            </a:r>
            <a:endParaRPr lang="zh-CN" sz="1000" b="0">
              <a:solidFill>
                <a:srgbClr val="11182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7" name="Shape 347"/>
          <p:cNvSpPr txBox="1"/>
          <p:nvPr/>
        </p:nvSpPr>
        <p:spPr>
          <a:xfrm>
            <a:off x="12116181" y="4218178"/>
            <a:ext cx="475488" cy="16891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lang="zh-CN" sz="87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路径 2</a:t>
            </a:r>
            <a:endParaRPr lang="zh-CN" sz="870" b="0">
              <a:solidFill>
                <a:srgbClr val="1F29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8" name="Shape 348"/>
          <p:cNvSpPr txBox="1"/>
          <p:nvPr/>
        </p:nvSpPr>
        <p:spPr>
          <a:xfrm>
            <a:off x="12537440" y="4239260"/>
            <a:ext cx="293370" cy="145415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noAutofit/>
          </a:bodyPr>
          <a:lstStyle/>
          <a:p>
            <a:pPr algn="r"/>
            <a:r>
              <a:rPr lang="zh-CN" sz="87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0.72</a:t>
            </a:r>
            <a:endParaRPr lang="zh-CN" sz="870" b="0">
              <a:solidFill>
                <a:srgbClr val="1F2937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349" name="Connector 349"/>
          <p:cNvCxnSpPr/>
          <p:nvPr/>
        </p:nvCxnSpPr>
        <p:spPr>
          <a:xfrm>
            <a:off x="10655300" y="4822825"/>
            <a:ext cx="635" cy="266065"/>
          </a:xfrm>
          <a:prstGeom prst="straightConnector1">
            <a:avLst/>
          </a:prstGeom>
          <a:ln w="12700" cap="sq">
            <a:solidFill>
              <a:srgbClr val="77B5EB"/>
            </a:solidFill>
            <a:prstDash val="dash"/>
            <a:tailEnd type="triangle"/>
          </a:ln>
        </p:spPr>
      </p:cxnSp>
      <p:sp>
        <p:nvSpPr>
          <p:cNvPr id="350" name="Shape 350"/>
          <p:cNvSpPr txBox="1"/>
          <p:nvPr/>
        </p:nvSpPr>
        <p:spPr>
          <a:xfrm>
            <a:off x="8053705" y="5133975"/>
            <a:ext cx="5057775" cy="1622425"/>
          </a:xfrm>
          <a:prstGeom prst="roundRect">
            <a:avLst/>
          </a:prstGeom>
          <a:solidFill>
            <a:srgbClr val="F8F4FF"/>
          </a:solidFill>
          <a:ln w="15240">
            <a:solidFill>
              <a:srgbClr val="B79DE8"/>
            </a:solidFill>
          </a:ln>
        </p:spPr>
        <p:txBody>
          <a:bodyPr wrap="square" lIns="27432" tIns="18288" rIns="27432" bIns="18288" anchor="ctr">
            <a:noAutofit/>
          </a:bodyPr>
          <a:lstStyle/>
          <a:p>
            <a:pPr algn="ctr"/>
            <a:endParaRPr lang="zh-CN" sz="1200"/>
          </a:p>
        </p:txBody>
      </p:sp>
      <p:sp>
        <p:nvSpPr>
          <p:cNvPr id="351" name="Shape 351"/>
          <p:cNvSpPr txBox="1"/>
          <p:nvPr/>
        </p:nvSpPr>
        <p:spPr>
          <a:xfrm>
            <a:off x="9342755" y="5309870"/>
            <a:ext cx="246888" cy="246888"/>
          </a:xfrm>
          <a:prstGeom prst="ellipse">
            <a:avLst/>
          </a:prstGeom>
          <a:solidFill>
            <a:srgbClr val="6F55B5"/>
          </a:solidFill>
          <a:ln w="12700">
            <a:solidFill>
              <a:srgbClr val="6F55B5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lang="zh-CN" sz="1400"/>
          </a:p>
        </p:txBody>
      </p:sp>
      <p:sp>
        <p:nvSpPr>
          <p:cNvPr id="352" name="Shape 352"/>
          <p:cNvSpPr txBox="1"/>
          <p:nvPr/>
        </p:nvSpPr>
        <p:spPr>
          <a:xfrm>
            <a:off x="9662795" y="5291582"/>
            <a:ext cx="173736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500" b="1">
                <a:solidFill>
                  <a:srgbClr val="6F55B5"/>
                </a:solidFill>
                <a:latin typeface="微软雅黑"/>
                <a:ea typeface="微软雅黑"/>
                <a:cs typeface="微软雅黑"/>
              </a:rPr>
              <a:t>反思驱动步骤选择</a:t>
            </a:r>
            <a:endParaRPr lang="zh-CN" sz="1500"/>
          </a:p>
        </p:txBody>
      </p:sp>
      <p:sp>
        <p:nvSpPr>
          <p:cNvPr id="353" name="Shape 353"/>
          <p:cNvSpPr txBox="1"/>
          <p:nvPr/>
        </p:nvSpPr>
        <p:spPr>
          <a:xfrm>
            <a:off x="8187817" y="5569585"/>
            <a:ext cx="996696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9DE8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200"/>
          </a:p>
        </p:txBody>
      </p:sp>
      <p:sp>
        <p:nvSpPr>
          <p:cNvPr id="355" name="Shape 355"/>
          <p:cNvSpPr txBox="1"/>
          <p:nvPr/>
        </p:nvSpPr>
        <p:spPr>
          <a:xfrm>
            <a:off x="8291195" y="6022340"/>
            <a:ext cx="786384" cy="31242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00" b="0">
                <a:solidFill>
                  <a:srgbClr val="2F2744"/>
                </a:solidFill>
                <a:latin typeface="微软雅黑" charset="0"/>
                <a:ea typeface="微软雅黑" charset="0"/>
                <a:cs typeface="微软雅黑" charset="0"/>
              </a:rPr>
              <a:t>当前步骤/</a:t>
            </a:r>
            <a:endParaRPr lang="zh-CN" sz="900" b="0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sz="900" b="0">
                <a:solidFill>
                  <a:srgbClr val="2F2744"/>
                </a:solidFill>
                <a:latin typeface="微软雅黑" charset="0"/>
                <a:ea typeface="微软雅黑" charset="0"/>
                <a:cs typeface="微软雅黑" charset="0"/>
              </a:rPr>
              <a:t>当前候选操作</a:t>
            </a:r>
            <a:endParaRPr lang="zh-CN" sz="900" b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56" name="Shape 356"/>
          <p:cNvSpPr txBox="1"/>
          <p:nvPr/>
        </p:nvSpPr>
        <p:spPr>
          <a:xfrm>
            <a:off x="9452483" y="5584190"/>
            <a:ext cx="996696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9DE8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200"/>
          </a:p>
        </p:txBody>
      </p:sp>
      <p:sp>
        <p:nvSpPr>
          <p:cNvPr id="358" name="Shape 358"/>
          <p:cNvSpPr txBox="1"/>
          <p:nvPr/>
        </p:nvSpPr>
        <p:spPr>
          <a:xfrm>
            <a:off x="9562211" y="6022340"/>
            <a:ext cx="786384" cy="31242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00" b="0">
                <a:solidFill>
                  <a:srgbClr val="2F2744"/>
                </a:solidFill>
                <a:latin typeface="微软雅黑"/>
                <a:ea typeface="微软雅黑"/>
                <a:cs typeface="微软雅黑"/>
              </a:rPr>
              <a:t>是否提升</a:t>
            </a:r>
            <a:endParaRPr lang="zh-CN" sz="900" b="0"/>
          </a:p>
          <a:p>
            <a:pPr algn="ctr"/>
            <a:r>
              <a:rPr lang="zh-CN" sz="900" b="0">
                <a:solidFill>
                  <a:srgbClr val="2F2744"/>
                </a:solidFill>
                <a:latin typeface="微软雅黑"/>
                <a:ea typeface="微软雅黑"/>
                <a:cs typeface="微软雅黑"/>
              </a:rPr>
              <a:t>图像质量</a:t>
            </a:r>
            <a:endParaRPr lang="zh-CN" sz="900" b="0"/>
          </a:p>
        </p:txBody>
      </p:sp>
      <p:sp>
        <p:nvSpPr>
          <p:cNvPr id="359" name="Shape 359"/>
          <p:cNvSpPr txBox="1"/>
          <p:nvPr/>
        </p:nvSpPr>
        <p:spPr>
          <a:xfrm>
            <a:off x="10750931" y="5584190"/>
            <a:ext cx="996696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9DE8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200"/>
          </a:p>
        </p:txBody>
      </p:sp>
      <p:sp>
        <p:nvSpPr>
          <p:cNvPr id="361" name="Shape 361"/>
          <p:cNvSpPr txBox="1"/>
          <p:nvPr/>
        </p:nvSpPr>
        <p:spPr>
          <a:xfrm>
            <a:off x="10860659" y="6022340"/>
            <a:ext cx="786384" cy="31242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00" b="0">
                <a:solidFill>
                  <a:srgbClr val="2F2744"/>
                </a:solidFill>
                <a:latin typeface="微软雅黑"/>
                <a:ea typeface="微软雅黑"/>
                <a:cs typeface="微软雅黑"/>
              </a:rPr>
              <a:t>接受或</a:t>
            </a:r>
            <a:endParaRPr lang="zh-CN" sz="900" b="0">
              <a:solidFill>
                <a:srgbClr val="2F2744"/>
              </a:solidFill>
              <a:latin typeface="微软雅黑"/>
              <a:ea typeface="微软雅黑"/>
              <a:cs typeface="微软雅黑"/>
            </a:endParaRPr>
          </a:p>
          <a:p>
            <a:pPr algn="ctr"/>
            <a:r>
              <a:rPr lang="zh-CN" sz="900" b="0">
                <a:solidFill>
                  <a:srgbClr val="2F2744"/>
                </a:solidFill>
                <a:latin typeface="微软雅黑"/>
                <a:ea typeface="微软雅黑"/>
                <a:cs typeface="微软雅黑"/>
              </a:rPr>
              <a:t>回退</a:t>
            </a:r>
            <a:endParaRPr lang="zh-CN" sz="900" b="0">
              <a:solidFill>
                <a:srgbClr val="2F274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2" name="Shape 362"/>
          <p:cNvSpPr txBox="1"/>
          <p:nvPr/>
        </p:nvSpPr>
        <p:spPr>
          <a:xfrm>
            <a:off x="12072747" y="5556885"/>
            <a:ext cx="996696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9DE8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200"/>
          </a:p>
        </p:txBody>
      </p:sp>
      <p:sp>
        <p:nvSpPr>
          <p:cNvPr id="364" name="Shape 364"/>
          <p:cNvSpPr txBox="1"/>
          <p:nvPr/>
        </p:nvSpPr>
        <p:spPr>
          <a:xfrm>
            <a:off x="12157710" y="6022340"/>
            <a:ext cx="786384" cy="31242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00" b="0">
                <a:solidFill>
                  <a:srgbClr val="2F2744"/>
                </a:solidFill>
                <a:latin typeface="微软雅黑"/>
                <a:ea typeface="微软雅黑"/>
                <a:cs typeface="微软雅黑"/>
              </a:rPr>
              <a:t>进入</a:t>
            </a:r>
            <a:endParaRPr lang="zh-CN" sz="900" b="0">
              <a:solidFill>
                <a:srgbClr val="2F2744"/>
              </a:solidFill>
              <a:latin typeface="微软雅黑"/>
              <a:ea typeface="微软雅黑"/>
              <a:cs typeface="微软雅黑"/>
            </a:endParaRPr>
          </a:p>
          <a:p>
            <a:pPr algn="ctr"/>
            <a:r>
              <a:rPr lang="zh-CN" sz="900" b="0">
                <a:solidFill>
                  <a:srgbClr val="2F2744"/>
                </a:solidFill>
                <a:latin typeface="微软雅黑"/>
                <a:ea typeface="微软雅黑"/>
                <a:cs typeface="微软雅黑"/>
              </a:rPr>
              <a:t>下一步</a:t>
            </a:r>
            <a:endParaRPr lang="zh-CN" sz="900" b="0">
              <a:solidFill>
                <a:srgbClr val="2F2744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366" name="Connector 366"/>
          <p:cNvCxnSpPr/>
          <p:nvPr/>
        </p:nvCxnSpPr>
        <p:spPr>
          <a:xfrm>
            <a:off x="10458323" y="6013958"/>
            <a:ext cx="292608" cy="914"/>
          </a:xfrm>
          <a:prstGeom prst="straightConnector1">
            <a:avLst/>
          </a:prstGeom>
          <a:ln w="20320" cap="sq">
            <a:solidFill>
              <a:srgbClr val="6F55B5"/>
            </a:solidFill>
            <a:tailEnd type="triangle"/>
          </a:ln>
        </p:spPr>
      </p:cxnSp>
      <p:pic>
        <p:nvPicPr>
          <p:cNvPr id="375" name="图片 3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165" y="456565"/>
            <a:ext cx="1390015" cy="864235"/>
          </a:xfrm>
          <a:prstGeom prst="rect">
            <a:avLst/>
          </a:prstGeom>
        </p:spPr>
      </p:pic>
      <p:pic>
        <p:nvPicPr>
          <p:cNvPr id="376" name="图片 37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70" y="5120640"/>
            <a:ext cx="1372235" cy="889000"/>
          </a:xfrm>
          <a:prstGeom prst="rect">
            <a:avLst/>
          </a:prstGeom>
        </p:spPr>
      </p:pic>
      <p:pic>
        <p:nvPicPr>
          <p:cNvPr id="377" name="图片 3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0475" y="1840865"/>
            <a:ext cx="1072515" cy="667385"/>
          </a:xfrm>
          <a:prstGeom prst="rect">
            <a:avLst/>
          </a:prstGeom>
        </p:spPr>
      </p:pic>
      <p:pic>
        <p:nvPicPr>
          <p:cNvPr id="381" name="图片 380" descr="大模型训练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54805" y="1886585"/>
            <a:ext cx="476885" cy="476885"/>
          </a:xfrm>
          <a:prstGeom prst="rect">
            <a:avLst/>
          </a:prstGeom>
        </p:spPr>
      </p:pic>
      <p:cxnSp>
        <p:nvCxnSpPr>
          <p:cNvPr id="382" name="Connector 33"/>
          <p:cNvCxnSpPr/>
          <p:nvPr/>
        </p:nvCxnSpPr>
        <p:spPr>
          <a:xfrm>
            <a:off x="1113663" y="2589149"/>
            <a:ext cx="914" cy="256032"/>
          </a:xfrm>
          <a:prstGeom prst="straightConnector1">
            <a:avLst/>
          </a:prstGeom>
          <a:ln w="38100" cap="sq">
            <a:solidFill>
              <a:srgbClr val="111827"/>
            </a:solidFill>
            <a:tailEnd type="triangle"/>
          </a:ln>
        </p:spPr>
      </p:cxnSp>
      <p:cxnSp>
        <p:nvCxnSpPr>
          <p:cNvPr id="383" name="Connector 33"/>
          <p:cNvCxnSpPr/>
          <p:nvPr/>
        </p:nvCxnSpPr>
        <p:spPr>
          <a:xfrm>
            <a:off x="1113028" y="3566414"/>
            <a:ext cx="914" cy="256032"/>
          </a:xfrm>
          <a:prstGeom prst="straightConnector1">
            <a:avLst/>
          </a:prstGeom>
          <a:ln w="38100" cap="sq">
            <a:solidFill>
              <a:srgbClr val="111827"/>
            </a:solidFill>
            <a:tailEnd type="triangle"/>
          </a:ln>
        </p:spPr>
      </p:cxnSp>
      <p:cxnSp>
        <p:nvCxnSpPr>
          <p:cNvPr id="384" name="Connector 33"/>
          <p:cNvCxnSpPr/>
          <p:nvPr/>
        </p:nvCxnSpPr>
        <p:spPr>
          <a:xfrm>
            <a:off x="1112393" y="4526534"/>
            <a:ext cx="914" cy="256032"/>
          </a:xfrm>
          <a:prstGeom prst="straightConnector1">
            <a:avLst/>
          </a:prstGeom>
          <a:ln w="38100" cap="sq">
            <a:solidFill>
              <a:srgbClr val="111827"/>
            </a:solidFill>
            <a:tailEnd type="triangle"/>
          </a:ln>
        </p:spPr>
      </p:cxnSp>
      <p:grpSp>
        <p:nvGrpSpPr>
          <p:cNvPr id="390" name="组合 389"/>
          <p:cNvGrpSpPr/>
          <p:nvPr/>
        </p:nvGrpSpPr>
        <p:grpSpPr>
          <a:xfrm>
            <a:off x="5433695" y="1282700"/>
            <a:ext cx="1034415" cy="1884045"/>
            <a:chOff x="8675" y="2203"/>
            <a:chExt cx="1629" cy="2967"/>
          </a:xfrm>
        </p:grpSpPr>
        <p:sp>
          <p:nvSpPr>
            <p:cNvPr id="118" name="Shape 118"/>
            <p:cNvSpPr txBox="1"/>
            <p:nvPr/>
          </p:nvSpPr>
          <p:spPr>
            <a:xfrm>
              <a:off x="8677" y="2203"/>
              <a:ext cx="1627" cy="54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B7BEC8"/>
              </a:solidFill>
            </a:ln>
          </p:spPr>
          <p:txBody>
            <a:bodyPr wrap="square" lIns="27432" tIns="18288" rIns="27432" bIns="18288" anchor="ctr">
              <a:noAutofit/>
            </a:bodyPr>
            <a:lstStyle/>
            <a:p>
              <a:pPr algn="ctr"/>
              <a:endParaRPr lang="zh-CN" sz="1200"/>
            </a:p>
          </p:txBody>
        </p:sp>
        <p:sp>
          <p:nvSpPr>
            <p:cNvPr id="120" name="Shape 120"/>
            <p:cNvSpPr txBox="1"/>
            <p:nvPr/>
          </p:nvSpPr>
          <p:spPr>
            <a:xfrm>
              <a:off x="8957" y="2302"/>
              <a:ext cx="1343" cy="34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1200" b="1">
                  <a:solidFill>
                    <a:srgbClr val="1F2937"/>
                  </a:solidFill>
                  <a:latin typeface="黑体" charset="0"/>
                  <a:ea typeface="黑体" charset="0"/>
                  <a:cs typeface="微软雅黑"/>
                </a:rPr>
                <a:t>图像模糊</a:t>
              </a:r>
              <a:endParaRPr lang="zh-CN" sz="1200">
                <a:latin typeface="黑体" charset="0"/>
                <a:ea typeface="黑体" charset="0"/>
              </a:endParaRPr>
            </a:p>
          </p:txBody>
        </p:sp>
        <p:sp>
          <p:nvSpPr>
            <p:cNvPr id="121" name="Shape 121"/>
            <p:cNvSpPr txBox="1"/>
            <p:nvPr/>
          </p:nvSpPr>
          <p:spPr>
            <a:xfrm>
              <a:off x="8676" y="2951"/>
              <a:ext cx="1627" cy="60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B7BEC8"/>
              </a:solidFill>
            </a:ln>
          </p:spPr>
          <p:txBody>
            <a:bodyPr wrap="square" lIns="27432" tIns="18288" rIns="27432" bIns="18288" anchor="ctr">
              <a:noAutofit/>
            </a:bodyPr>
            <a:lstStyle/>
            <a:p>
              <a:pPr algn="ctr"/>
              <a:endParaRPr lang="zh-CN" sz="1200"/>
            </a:p>
          </p:txBody>
        </p:sp>
        <p:sp>
          <p:nvSpPr>
            <p:cNvPr id="123" name="Shape 123"/>
            <p:cNvSpPr txBox="1"/>
            <p:nvPr/>
          </p:nvSpPr>
          <p:spPr>
            <a:xfrm>
              <a:off x="9130" y="3089"/>
              <a:ext cx="1124" cy="34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noAutofit/>
            </a:bodyPr>
            <a:lstStyle/>
            <a:p>
              <a:pPr algn="ctr"/>
              <a:r>
                <a:rPr lang="zh-CN" sz="1200" b="1">
                  <a:solidFill>
                    <a:srgbClr val="1F2937"/>
                  </a:solidFill>
                  <a:latin typeface="黑体" charset="0"/>
                  <a:ea typeface="黑体" charset="0"/>
                  <a:cs typeface="微软雅黑"/>
                </a:rPr>
                <a:t>低清晰度</a:t>
              </a:r>
              <a:endParaRPr lang="zh-CN" sz="1200" b="1">
                <a:solidFill>
                  <a:srgbClr val="1F2937"/>
                </a:solidFill>
                <a:latin typeface="黑体" charset="0"/>
                <a:ea typeface="黑体" charset="0"/>
                <a:cs typeface="微软雅黑"/>
              </a:endParaRPr>
            </a:p>
          </p:txBody>
        </p:sp>
        <p:sp>
          <p:nvSpPr>
            <p:cNvPr id="124" name="Shape 124"/>
            <p:cNvSpPr txBox="1"/>
            <p:nvPr/>
          </p:nvSpPr>
          <p:spPr>
            <a:xfrm>
              <a:off x="8675" y="3757"/>
              <a:ext cx="1629" cy="60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B7BEC8"/>
              </a:solidFill>
            </a:ln>
          </p:spPr>
          <p:txBody>
            <a:bodyPr wrap="square" lIns="27432" tIns="18288" rIns="27432" bIns="18288" anchor="ctr">
              <a:noAutofit/>
            </a:bodyPr>
            <a:lstStyle/>
            <a:p>
              <a:pPr algn="ctr"/>
              <a:endParaRPr lang="zh-CN" sz="1200"/>
            </a:p>
          </p:txBody>
        </p:sp>
        <p:sp>
          <p:nvSpPr>
            <p:cNvPr id="126" name="Shape 126"/>
            <p:cNvSpPr txBox="1"/>
            <p:nvPr/>
          </p:nvSpPr>
          <p:spPr>
            <a:xfrm>
              <a:off x="9174" y="3872"/>
              <a:ext cx="1126" cy="31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noAutofit/>
            </a:bodyPr>
            <a:lstStyle/>
            <a:p>
              <a:pPr algn="ctr"/>
              <a:r>
                <a:rPr lang="zh-CN" sz="1200" b="1">
                  <a:solidFill>
                    <a:srgbClr val="1F2937"/>
                  </a:solidFill>
                  <a:latin typeface="黑体" charset="0"/>
                  <a:ea typeface="黑体" charset="0"/>
                  <a:cs typeface="微软雅黑"/>
                </a:rPr>
                <a:t>噪声干扰</a:t>
              </a:r>
              <a:endParaRPr lang="zh-CN" sz="1200" b="1">
                <a:solidFill>
                  <a:srgbClr val="1F2937"/>
                </a:solidFill>
                <a:latin typeface="黑体" charset="0"/>
                <a:ea typeface="黑体" charset="0"/>
                <a:cs typeface="微软雅黑"/>
              </a:endParaRPr>
            </a:p>
          </p:txBody>
        </p:sp>
        <p:sp>
          <p:nvSpPr>
            <p:cNvPr id="127" name="Shape 127"/>
            <p:cNvSpPr txBox="1"/>
            <p:nvPr/>
          </p:nvSpPr>
          <p:spPr>
            <a:xfrm>
              <a:off x="8675" y="4564"/>
              <a:ext cx="1629" cy="60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B7BEC8"/>
              </a:solidFill>
            </a:ln>
          </p:spPr>
          <p:txBody>
            <a:bodyPr wrap="square" lIns="27432" tIns="18288" rIns="27432" bIns="18288" anchor="ctr">
              <a:noAutofit/>
            </a:bodyPr>
            <a:lstStyle/>
            <a:p>
              <a:pPr algn="ctr"/>
              <a:endParaRPr lang="zh-CN" sz="1200"/>
            </a:p>
          </p:txBody>
        </p:sp>
        <p:sp>
          <p:nvSpPr>
            <p:cNvPr id="129" name="Shape 129"/>
            <p:cNvSpPr txBox="1"/>
            <p:nvPr/>
          </p:nvSpPr>
          <p:spPr>
            <a:xfrm>
              <a:off x="9251" y="4693"/>
              <a:ext cx="1053" cy="33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noAutofit/>
            </a:bodyPr>
            <a:lstStyle/>
            <a:p>
              <a:pPr algn="ctr"/>
              <a:r>
                <a:rPr lang="zh-CN" sz="1200" b="1">
                  <a:solidFill>
                    <a:srgbClr val="1F2937"/>
                  </a:solidFill>
                  <a:latin typeface="黑体" charset="0"/>
                  <a:ea typeface="黑体" charset="0"/>
                  <a:cs typeface="微软雅黑"/>
                </a:rPr>
                <a:t>阴影干扰</a:t>
              </a:r>
              <a:endParaRPr lang="zh-CN" sz="1200" b="1">
                <a:solidFill>
                  <a:srgbClr val="1F2937"/>
                </a:solidFill>
                <a:latin typeface="黑体" charset="0"/>
                <a:ea typeface="黑体" charset="0"/>
                <a:cs typeface="微软雅黑"/>
              </a:endParaRPr>
            </a:p>
          </p:txBody>
        </p:sp>
        <p:pic>
          <p:nvPicPr>
            <p:cNvPr id="385" name="图片 384" descr="模糊磨皮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712" y="2259"/>
              <a:ext cx="491" cy="491"/>
            </a:xfrm>
            <a:prstGeom prst="rect">
              <a:avLst/>
            </a:prstGeom>
          </p:spPr>
        </p:pic>
        <p:pic>
          <p:nvPicPr>
            <p:cNvPr id="387" name="图片 386" descr="高清晰度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741" y="3035"/>
              <a:ext cx="462" cy="462"/>
            </a:xfrm>
            <a:prstGeom prst="rect">
              <a:avLst/>
            </a:prstGeom>
          </p:spPr>
        </p:pic>
        <p:pic>
          <p:nvPicPr>
            <p:cNvPr id="388" name="图片 387" descr="噪声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843" y="3853"/>
              <a:ext cx="360" cy="360"/>
            </a:xfrm>
            <a:prstGeom prst="rect">
              <a:avLst/>
            </a:prstGeom>
          </p:spPr>
        </p:pic>
        <p:pic>
          <p:nvPicPr>
            <p:cNvPr id="389" name="图片 388" descr="shadow-line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770" y="4637"/>
              <a:ext cx="460" cy="460"/>
            </a:xfrm>
            <a:prstGeom prst="rect">
              <a:avLst/>
            </a:prstGeom>
          </p:spPr>
        </p:pic>
      </p:grpSp>
      <p:cxnSp>
        <p:nvCxnSpPr>
          <p:cNvPr id="396" name="肘形连接符 395"/>
          <p:cNvCxnSpPr>
            <a:stCxn id="381" idx="3"/>
            <a:endCxn id="124" idx="1"/>
          </p:cNvCxnSpPr>
          <p:nvPr/>
        </p:nvCxnSpPr>
        <p:spPr>
          <a:xfrm>
            <a:off x="4631690" y="2125345"/>
            <a:ext cx="802005" cy="336550"/>
          </a:xfrm>
          <a:prstGeom prst="bentConnector3">
            <a:avLst>
              <a:gd name="adj1" fmla="val 50040"/>
            </a:avLst>
          </a:prstGeom>
          <a:ln w="12700">
            <a:solidFill>
              <a:schemeClr val="accent1"/>
            </a:solidFill>
            <a:prstDash val="dash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8" name="肘形连接符 397"/>
          <p:cNvCxnSpPr>
            <a:stCxn id="381" idx="3"/>
            <a:endCxn id="127" idx="1"/>
          </p:cNvCxnSpPr>
          <p:nvPr/>
        </p:nvCxnSpPr>
        <p:spPr>
          <a:xfrm>
            <a:off x="4631690" y="2125345"/>
            <a:ext cx="802005" cy="848995"/>
          </a:xfrm>
          <a:prstGeom prst="bentConnector3">
            <a:avLst>
              <a:gd name="adj1" fmla="val 50040"/>
            </a:avLst>
          </a:prstGeom>
          <a:ln w="12700">
            <a:solidFill>
              <a:schemeClr val="accent1"/>
            </a:solidFill>
            <a:prstDash val="dash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0" name="肘形连接符 399"/>
          <p:cNvCxnSpPr>
            <a:stCxn id="381" idx="3"/>
            <a:endCxn id="121" idx="1"/>
          </p:cNvCxnSpPr>
          <p:nvPr/>
        </p:nvCxnSpPr>
        <p:spPr>
          <a:xfrm flipV="1">
            <a:off x="4631690" y="1950085"/>
            <a:ext cx="802640" cy="17526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prstDash val="dash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01" name="图片 400" descr="摘要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31990" y="1996440"/>
            <a:ext cx="521335" cy="521335"/>
          </a:xfrm>
          <a:prstGeom prst="rect">
            <a:avLst/>
          </a:prstGeom>
        </p:spPr>
      </p:pic>
      <p:sp>
        <p:nvSpPr>
          <p:cNvPr id="402" name="Shape 117"/>
          <p:cNvSpPr txBox="1"/>
          <p:nvPr/>
        </p:nvSpPr>
        <p:spPr>
          <a:xfrm>
            <a:off x="6583680" y="2447925"/>
            <a:ext cx="1390015" cy="43815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noAutofit/>
          </a:bodyPr>
          <a:lstStyle/>
          <a:p>
            <a:pPr algn="ctr"/>
            <a:r>
              <a:rPr lang="zh-CN" sz="1200" b="1">
                <a:solidFill>
                  <a:srgbClr val="253858"/>
                </a:solidFill>
                <a:latin typeface="黑体" charset="0"/>
                <a:ea typeface="黑体" charset="0"/>
                <a:cs typeface="微软雅黑"/>
              </a:rPr>
              <a:t>问题</a:t>
            </a:r>
            <a:r>
              <a:rPr lang="zh-CN" sz="1200" b="1">
                <a:solidFill>
                  <a:srgbClr val="253858"/>
                </a:solidFill>
                <a:latin typeface="黑体" charset="0"/>
                <a:ea typeface="黑体" charset="0"/>
                <a:cs typeface="微软雅黑"/>
              </a:rPr>
              <a:t>摘要</a:t>
            </a:r>
            <a:endParaRPr lang="zh-CN" sz="1200" b="1">
              <a:solidFill>
                <a:srgbClr val="253858"/>
              </a:solidFill>
              <a:latin typeface="黑体" charset="0"/>
              <a:ea typeface="黑体" charset="0"/>
              <a:cs typeface="微软雅黑"/>
            </a:endParaRPr>
          </a:p>
        </p:txBody>
      </p:sp>
      <p:cxnSp>
        <p:nvCxnSpPr>
          <p:cNvPr id="403" name="肘形连接符 402"/>
          <p:cNvCxnSpPr>
            <a:stCxn id="120" idx="3"/>
            <a:endCxn id="401" idx="1"/>
          </p:cNvCxnSpPr>
          <p:nvPr/>
        </p:nvCxnSpPr>
        <p:spPr>
          <a:xfrm>
            <a:off x="6465570" y="1455420"/>
            <a:ext cx="566420" cy="802005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prstDash val="dash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6" name="肘形连接符 405"/>
          <p:cNvCxnSpPr>
            <a:stCxn id="381" idx="3"/>
            <a:endCxn id="385" idx="1"/>
          </p:cNvCxnSpPr>
          <p:nvPr/>
        </p:nvCxnSpPr>
        <p:spPr>
          <a:xfrm flipV="1">
            <a:off x="4631690" y="1474470"/>
            <a:ext cx="825500" cy="650875"/>
          </a:xfrm>
          <a:prstGeom prst="bentConnector3">
            <a:avLst>
              <a:gd name="adj1" fmla="val 48076"/>
            </a:avLst>
          </a:prstGeom>
          <a:ln w="12700">
            <a:solidFill>
              <a:schemeClr val="accent1"/>
            </a:solidFill>
            <a:prstDash val="dash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9" name="肘形连接符 408"/>
          <p:cNvCxnSpPr>
            <a:stCxn id="121" idx="3"/>
            <a:endCxn id="401" idx="1"/>
          </p:cNvCxnSpPr>
          <p:nvPr/>
        </p:nvCxnSpPr>
        <p:spPr>
          <a:xfrm>
            <a:off x="6467475" y="1950085"/>
            <a:ext cx="564515" cy="307340"/>
          </a:xfrm>
          <a:prstGeom prst="bentConnector3">
            <a:avLst>
              <a:gd name="adj1" fmla="val 50056"/>
            </a:avLst>
          </a:prstGeom>
          <a:ln w="12700">
            <a:solidFill>
              <a:schemeClr val="accent1"/>
            </a:solidFill>
            <a:prstDash val="dash"/>
            <a:tailEnd type="non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1" name="肘形连接符 410"/>
          <p:cNvCxnSpPr>
            <a:stCxn id="126" idx="3"/>
            <a:endCxn id="401" idx="1"/>
          </p:cNvCxnSpPr>
          <p:nvPr/>
        </p:nvCxnSpPr>
        <p:spPr>
          <a:xfrm flipV="1">
            <a:off x="6465570" y="2257425"/>
            <a:ext cx="566420" cy="18669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prstDash val="dash"/>
            <a:tailEnd type="non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4" name="肘形连接符 413"/>
          <p:cNvCxnSpPr>
            <a:stCxn id="129" idx="3"/>
            <a:endCxn id="401" idx="1"/>
          </p:cNvCxnSpPr>
          <p:nvPr/>
        </p:nvCxnSpPr>
        <p:spPr>
          <a:xfrm flipV="1">
            <a:off x="6468110" y="2257425"/>
            <a:ext cx="563880" cy="711835"/>
          </a:xfrm>
          <a:prstGeom prst="bentConnector3">
            <a:avLst>
              <a:gd name="adj1" fmla="val 50000"/>
            </a:avLst>
          </a:prstGeom>
          <a:ln w="9525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6" name="肘形连接符 415"/>
          <p:cNvCxnSpPr/>
          <p:nvPr/>
        </p:nvCxnSpPr>
        <p:spPr>
          <a:xfrm rot="5400000">
            <a:off x="5718810" y="2336800"/>
            <a:ext cx="948055" cy="2162810"/>
          </a:xfrm>
          <a:prstGeom prst="bentConnector3">
            <a:avLst>
              <a:gd name="adj1" fmla="val 68955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32" name="组合 431"/>
          <p:cNvGrpSpPr/>
          <p:nvPr/>
        </p:nvGrpSpPr>
        <p:grpSpPr>
          <a:xfrm>
            <a:off x="2620010" y="4801870"/>
            <a:ext cx="1097280" cy="1032510"/>
            <a:chOff x="3946" y="7223"/>
            <a:chExt cx="1728" cy="1626"/>
          </a:xfrm>
        </p:grpSpPr>
        <p:sp>
          <p:nvSpPr>
            <p:cNvPr id="152" name="Shape 152"/>
            <p:cNvSpPr txBox="1"/>
            <p:nvPr/>
          </p:nvSpPr>
          <p:spPr>
            <a:xfrm>
              <a:off x="3946" y="7223"/>
              <a:ext cx="1728" cy="1627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819CE3"/>
              </a:solidFill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endParaRPr lang="zh-CN" sz="1200"/>
            </a:p>
          </p:txBody>
        </p:sp>
        <p:sp>
          <p:nvSpPr>
            <p:cNvPr id="154" name="Shape 154"/>
            <p:cNvSpPr txBox="1"/>
            <p:nvPr/>
          </p:nvSpPr>
          <p:spPr>
            <a:xfrm>
              <a:off x="4080" y="8138"/>
              <a:ext cx="1394" cy="56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1050" b="0">
                  <a:solidFill>
                    <a:srgbClr val="253858"/>
                  </a:solidFill>
                  <a:latin typeface="微软雅黑"/>
                  <a:ea typeface="微软雅黑"/>
                  <a:cs typeface="微软雅黑"/>
                </a:rPr>
                <a:t>对比度增强</a:t>
              </a:r>
              <a:endParaRPr lang="zh-CN" sz="1050" b="0"/>
            </a:p>
            <a:p>
              <a:pPr algn="ctr"/>
              <a:r>
                <a:rPr lang="zh-CN" sz="1050" b="0">
                  <a:solidFill>
                    <a:srgbClr val="253858"/>
                  </a:solidFill>
                  <a:latin typeface="微软雅黑"/>
                  <a:ea typeface="微软雅黑"/>
                  <a:cs typeface="微软雅黑"/>
                </a:rPr>
                <a:t>+ 表格线增强</a:t>
              </a:r>
              <a:endParaRPr lang="zh-CN" sz="1050" b="0"/>
            </a:p>
          </p:txBody>
        </p:sp>
        <p:pic>
          <p:nvPicPr>
            <p:cNvPr id="422" name="图片 421" descr="表格_o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942" y="7492"/>
              <a:ext cx="520" cy="520"/>
            </a:xfrm>
            <a:prstGeom prst="rect">
              <a:avLst/>
            </a:prstGeom>
          </p:spPr>
        </p:pic>
        <p:pic>
          <p:nvPicPr>
            <p:cNvPr id="423" name="图片 422" descr="43_色调对比度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194" y="7571"/>
              <a:ext cx="360" cy="360"/>
            </a:xfrm>
            <a:prstGeom prst="rect">
              <a:avLst/>
            </a:prstGeom>
          </p:spPr>
        </p:pic>
        <p:pic>
          <p:nvPicPr>
            <p:cNvPr id="424" name="图片 423" descr="加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 flipH="1">
              <a:off x="4647" y="7624"/>
              <a:ext cx="295" cy="295"/>
            </a:xfrm>
            <a:prstGeom prst="rect">
              <a:avLst/>
            </a:prstGeom>
          </p:spPr>
        </p:pic>
      </p:grpSp>
      <p:grpSp>
        <p:nvGrpSpPr>
          <p:cNvPr id="433" name="组合 432"/>
          <p:cNvGrpSpPr/>
          <p:nvPr/>
        </p:nvGrpSpPr>
        <p:grpSpPr>
          <a:xfrm>
            <a:off x="3950970" y="4801870"/>
            <a:ext cx="1097280" cy="1032510"/>
            <a:chOff x="5918" y="7223"/>
            <a:chExt cx="1728" cy="1626"/>
          </a:xfrm>
        </p:grpSpPr>
        <p:sp>
          <p:nvSpPr>
            <p:cNvPr id="155" name="Shape 155"/>
            <p:cNvSpPr txBox="1"/>
            <p:nvPr/>
          </p:nvSpPr>
          <p:spPr>
            <a:xfrm>
              <a:off x="5918" y="7223"/>
              <a:ext cx="1728" cy="1627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819CE3"/>
              </a:solidFill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endParaRPr lang="zh-CN" sz="1200"/>
            </a:p>
          </p:txBody>
        </p:sp>
        <p:sp>
          <p:nvSpPr>
            <p:cNvPr id="157" name="Shape 157"/>
            <p:cNvSpPr txBox="1"/>
            <p:nvPr/>
          </p:nvSpPr>
          <p:spPr>
            <a:xfrm>
              <a:off x="6034" y="8138"/>
              <a:ext cx="1496" cy="56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1050" b="0">
                  <a:solidFill>
                    <a:srgbClr val="253858"/>
                  </a:solidFill>
                  <a:latin typeface="微软雅黑"/>
                  <a:ea typeface="微软雅黑"/>
                  <a:cs typeface="微软雅黑"/>
                </a:rPr>
                <a:t>去噪</a:t>
              </a:r>
              <a:endParaRPr lang="zh-CN" sz="1050" b="0"/>
            </a:p>
            <a:p>
              <a:pPr algn="ctr"/>
              <a:r>
                <a:rPr lang="zh-CN" sz="1050" b="0">
                  <a:solidFill>
                    <a:srgbClr val="253858"/>
                  </a:solidFill>
                  <a:latin typeface="微软雅黑"/>
                  <a:ea typeface="微软雅黑"/>
                  <a:cs typeface="微软雅黑"/>
                </a:rPr>
                <a:t>+ 对比度增强</a:t>
              </a:r>
              <a:endParaRPr lang="zh-CN" sz="1050" b="0"/>
            </a:p>
          </p:txBody>
        </p:sp>
        <p:pic>
          <p:nvPicPr>
            <p:cNvPr id="421" name="图片 420" descr="插入-去噪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6060" y="7571"/>
              <a:ext cx="402" cy="402"/>
            </a:xfrm>
            <a:prstGeom prst="rect">
              <a:avLst/>
            </a:prstGeom>
          </p:spPr>
        </p:pic>
        <p:pic>
          <p:nvPicPr>
            <p:cNvPr id="425" name="图片 424" descr="加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 flipH="1">
              <a:off x="6575" y="7624"/>
              <a:ext cx="295" cy="295"/>
            </a:xfrm>
            <a:prstGeom prst="rect">
              <a:avLst/>
            </a:prstGeom>
          </p:spPr>
        </p:pic>
        <p:pic>
          <p:nvPicPr>
            <p:cNvPr id="426" name="图片 425" descr="43_色调对比度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029" y="7571"/>
              <a:ext cx="360" cy="360"/>
            </a:xfrm>
            <a:prstGeom prst="rect">
              <a:avLst/>
            </a:prstGeom>
          </p:spPr>
        </p:pic>
      </p:grpSp>
      <p:grpSp>
        <p:nvGrpSpPr>
          <p:cNvPr id="434" name="组合 433"/>
          <p:cNvGrpSpPr/>
          <p:nvPr/>
        </p:nvGrpSpPr>
        <p:grpSpPr>
          <a:xfrm>
            <a:off x="5255260" y="4801870"/>
            <a:ext cx="1097280" cy="1032510"/>
            <a:chOff x="7891" y="7223"/>
            <a:chExt cx="1728" cy="1626"/>
          </a:xfrm>
        </p:grpSpPr>
        <p:sp>
          <p:nvSpPr>
            <p:cNvPr id="158" name="Shape 158"/>
            <p:cNvSpPr txBox="1"/>
            <p:nvPr/>
          </p:nvSpPr>
          <p:spPr>
            <a:xfrm>
              <a:off x="7891" y="7223"/>
              <a:ext cx="1728" cy="1627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819CE3"/>
              </a:solidFill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endParaRPr lang="zh-CN" sz="1200"/>
            </a:p>
          </p:txBody>
        </p:sp>
        <p:sp>
          <p:nvSpPr>
            <p:cNvPr id="160" name="Shape 160"/>
            <p:cNvSpPr txBox="1"/>
            <p:nvPr/>
          </p:nvSpPr>
          <p:spPr>
            <a:xfrm>
              <a:off x="8122" y="8142"/>
              <a:ext cx="1267" cy="56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1050" b="0">
                  <a:solidFill>
                    <a:srgbClr val="253858"/>
                  </a:solidFill>
                  <a:latin typeface="微软雅黑"/>
                  <a:ea typeface="微软雅黑"/>
                  <a:cs typeface="微软雅黑"/>
                </a:rPr>
                <a:t>伽马校正</a:t>
              </a:r>
              <a:endParaRPr lang="zh-CN" sz="1050" b="0"/>
            </a:p>
            <a:p>
              <a:pPr algn="ctr"/>
              <a:r>
                <a:rPr lang="zh-CN" sz="1050" b="0">
                  <a:solidFill>
                    <a:srgbClr val="253858"/>
                  </a:solidFill>
                  <a:latin typeface="微软雅黑"/>
                  <a:ea typeface="微软雅黑"/>
                  <a:cs typeface="微软雅黑"/>
                </a:rPr>
                <a:t>+ 锐化</a:t>
              </a:r>
              <a:endParaRPr lang="zh-CN" sz="1050" b="0"/>
            </a:p>
          </p:txBody>
        </p:sp>
        <p:pic>
          <p:nvPicPr>
            <p:cNvPr id="419" name="图片 418" descr="伽马"/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050" y="7612"/>
              <a:ext cx="319" cy="319"/>
            </a:xfrm>
            <a:prstGeom prst="rect">
              <a:avLst/>
            </a:prstGeom>
          </p:spPr>
        </p:pic>
        <p:pic>
          <p:nvPicPr>
            <p:cNvPr id="420" name="图片 419" descr="锐化"/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8956" y="7514"/>
              <a:ext cx="459" cy="459"/>
            </a:xfrm>
            <a:prstGeom prst="rect">
              <a:avLst/>
            </a:prstGeom>
          </p:spPr>
        </p:pic>
        <p:pic>
          <p:nvPicPr>
            <p:cNvPr id="427" name="图片 426" descr="加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 flipH="1">
              <a:off x="8544" y="7624"/>
              <a:ext cx="295" cy="295"/>
            </a:xfrm>
            <a:prstGeom prst="rect">
              <a:avLst/>
            </a:prstGeom>
          </p:spPr>
        </p:pic>
      </p:grpSp>
      <p:grpSp>
        <p:nvGrpSpPr>
          <p:cNvPr id="435" name="组合 434"/>
          <p:cNvGrpSpPr/>
          <p:nvPr/>
        </p:nvGrpSpPr>
        <p:grpSpPr>
          <a:xfrm>
            <a:off x="6551295" y="4801870"/>
            <a:ext cx="1097280" cy="1032510"/>
            <a:chOff x="10138" y="7223"/>
            <a:chExt cx="1728" cy="1626"/>
          </a:xfrm>
        </p:grpSpPr>
        <p:sp>
          <p:nvSpPr>
            <p:cNvPr id="161" name="Shape 161"/>
            <p:cNvSpPr txBox="1"/>
            <p:nvPr/>
          </p:nvSpPr>
          <p:spPr>
            <a:xfrm>
              <a:off x="10138" y="7223"/>
              <a:ext cx="1728" cy="1627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819CE3"/>
              </a:solidFill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endParaRPr lang="zh-CN" sz="1200"/>
            </a:p>
          </p:txBody>
        </p:sp>
        <p:sp>
          <p:nvSpPr>
            <p:cNvPr id="163" name="Shape 163"/>
            <p:cNvSpPr txBox="1"/>
            <p:nvPr/>
          </p:nvSpPr>
          <p:spPr>
            <a:xfrm>
              <a:off x="10317" y="8134"/>
              <a:ext cx="1394" cy="56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1050" b="0">
                  <a:solidFill>
                    <a:srgbClr val="253858"/>
                  </a:solidFill>
                  <a:latin typeface="微软雅黑" charset="0"/>
                  <a:ea typeface="微软雅黑" charset="0"/>
                  <a:cs typeface="微软雅黑" charset="0"/>
                </a:rPr>
                <a:t>智能裁剪</a:t>
              </a:r>
              <a:endParaRPr lang="zh-CN" sz="1050" b="0">
                <a:latin typeface="微软雅黑" charset="0"/>
                <a:ea typeface="微软雅黑" charset="0"/>
                <a:cs typeface="微软雅黑" charset="0"/>
              </a:endParaRPr>
            </a:p>
            <a:p>
              <a:pPr algn="ctr"/>
              <a:r>
                <a:rPr lang="zh-CN" sz="1050" b="0">
                  <a:solidFill>
                    <a:srgbClr val="253858"/>
                  </a:solidFill>
                  <a:latin typeface="微软雅黑" charset="0"/>
                  <a:ea typeface="微软雅黑" charset="0"/>
                  <a:cs typeface="微软雅黑" charset="0"/>
                </a:rPr>
                <a:t>+ 去</a:t>
              </a:r>
              <a:r>
                <a:rPr lang="zh-CN" sz="1050" b="0">
                  <a:solidFill>
                    <a:srgbClr val="253858"/>
                  </a:solidFill>
                  <a:latin typeface="微软雅黑" charset="0"/>
                  <a:ea typeface="微软雅黑" charset="0"/>
                  <a:cs typeface="微软雅黑" charset="0"/>
                </a:rPr>
                <a:t>噪</a:t>
              </a:r>
              <a:endParaRPr lang="zh-CN" sz="1050" b="0">
                <a:solidFill>
                  <a:srgbClr val="253858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pic>
          <p:nvPicPr>
            <p:cNvPr id="428" name="图片 427" descr="裁剪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0317" y="7585"/>
              <a:ext cx="388" cy="388"/>
            </a:xfrm>
            <a:prstGeom prst="rect">
              <a:avLst/>
            </a:prstGeom>
          </p:spPr>
        </p:pic>
        <p:pic>
          <p:nvPicPr>
            <p:cNvPr id="429" name="图片 428" descr="加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 flipH="1">
              <a:off x="10884" y="7636"/>
              <a:ext cx="295" cy="295"/>
            </a:xfrm>
            <a:prstGeom prst="rect">
              <a:avLst/>
            </a:prstGeom>
          </p:spPr>
        </p:pic>
        <p:pic>
          <p:nvPicPr>
            <p:cNvPr id="431" name="图片 430" descr="插入-去噪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338" y="7571"/>
              <a:ext cx="402" cy="402"/>
            </a:xfrm>
            <a:prstGeom prst="rect">
              <a:avLst/>
            </a:prstGeom>
          </p:spPr>
        </p:pic>
      </p:grpSp>
      <p:cxnSp>
        <p:nvCxnSpPr>
          <p:cNvPr id="436" name="肘形连接符 435"/>
          <p:cNvCxnSpPr>
            <a:stCxn id="145" idx="2"/>
            <a:endCxn id="152" idx="0"/>
          </p:cNvCxnSpPr>
          <p:nvPr/>
        </p:nvCxnSpPr>
        <p:spPr>
          <a:xfrm rot="5400000">
            <a:off x="3872865" y="3547110"/>
            <a:ext cx="549910" cy="1958975"/>
          </a:xfrm>
          <a:prstGeom prst="bentConnector3">
            <a:avLst>
              <a:gd name="adj1" fmla="val 49942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7" name="肘形连接符 436"/>
          <p:cNvCxnSpPr>
            <a:stCxn id="145" idx="2"/>
            <a:endCxn id="155" idx="0"/>
          </p:cNvCxnSpPr>
          <p:nvPr/>
        </p:nvCxnSpPr>
        <p:spPr>
          <a:xfrm rot="5400000">
            <a:off x="4538345" y="4212590"/>
            <a:ext cx="549910" cy="628015"/>
          </a:xfrm>
          <a:prstGeom prst="bentConnector3">
            <a:avLst>
              <a:gd name="adj1" fmla="val 49942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0" name="肘形连接符 439"/>
          <p:cNvCxnSpPr>
            <a:stCxn id="145" idx="2"/>
            <a:endCxn id="158" idx="0"/>
          </p:cNvCxnSpPr>
          <p:nvPr/>
        </p:nvCxnSpPr>
        <p:spPr>
          <a:xfrm rot="5400000" flipV="1">
            <a:off x="5190490" y="4188460"/>
            <a:ext cx="549910" cy="676275"/>
          </a:xfrm>
          <a:prstGeom prst="bentConnector3">
            <a:avLst>
              <a:gd name="adj1" fmla="val 49942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3" name="肘形连接符 442"/>
          <p:cNvCxnSpPr>
            <a:stCxn id="145" idx="2"/>
            <a:endCxn id="161" idx="0"/>
          </p:cNvCxnSpPr>
          <p:nvPr/>
        </p:nvCxnSpPr>
        <p:spPr>
          <a:xfrm rot="5400000" flipV="1">
            <a:off x="5838825" y="3540760"/>
            <a:ext cx="549910" cy="197231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0" name="Shape 164"/>
          <p:cNvSpPr txBox="1"/>
          <p:nvPr/>
        </p:nvSpPr>
        <p:spPr>
          <a:xfrm>
            <a:off x="8053705" y="196850"/>
            <a:ext cx="4874895" cy="1540510"/>
          </a:xfrm>
          <a:prstGeom prst="roundRect">
            <a:avLst/>
          </a:prstGeom>
          <a:solidFill>
            <a:srgbClr val="F4FBF4"/>
          </a:solidFill>
          <a:ln w="13970">
            <a:solidFill>
              <a:srgbClr val="77A883"/>
            </a:solidFill>
          </a:ln>
        </p:spPr>
        <p:txBody>
          <a:bodyPr wrap="square" lIns="27432" tIns="18288" rIns="27432" bIns="18288" anchor="ctr">
            <a:noAutofit/>
          </a:bodyPr>
          <a:lstStyle/>
          <a:p>
            <a:pPr algn="ctr"/>
            <a:endParaRPr lang="zh-CN" sz="1200"/>
          </a:p>
        </p:txBody>
      </p:sp>
      <p:sp>
        <p:nvSpPr>
          <p:cNvPr id="451" name="Shape 165"/>
          <p:cNvSpPr txBox="1"/>
          <p:nvPr/>
        </p:nvSpPr>
        <p:spPr>
          <a:xfrm>
            <a:off x="9690481" y="283464"/>
            <a:ext cx="246888" cy="246888"/>
          </a:xfrm>
          <a:prstGeom prst="ellipse">
            <a:avLst/>
          </a:prstGeom>
          <a:solidFill>
            <a:srgbClr val="5D8C62"/>
          </a:solidFill>
          <a:ln w="12700">
            <a:solidFill>
              <a:srgbClr val="5D8C62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</a:t>
            </a:r>
            <a:endParaRPr lang="zh-CN" sz="1400"/>
          </a:p>
        </p:txBody>
      </p:sp>
      <p:sp>
        <p:nvSpPr>
          <p:cNvPr id="452" name="Shape 166"/>
          <p:cNvSpPr txBox="1"/>
          <p:nvPr/>
        </p:nvSpPr>
        <p:spPr>
          <a:xfrm>
            <a:off x="10010521" y="274320"/>
            <a:ext cx="153619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600" b="1">
                <a:solidFill>
                  <a:srgbClr val="2F7D46"/>
                </a:solidFill>
                <a:latin typeface="微软雅黑"/>
                <a:ea typeface="微软雅黑"/>
                <a:cs typeface="微软雅黑"/>
              </a:rPr>
              <a:t>原子操作工具库</a:t>
            </a:r>
            <a:endParaRPr lang="zh-CN" sz="1600"/>
          </a:p>
        </p:txBody>
      </p:sp>
      <p:sp>
        <p:nvSpPr>
          <p:cNvPr id="453" name="Shape 167"/>
          <p:cNvSpPr txBox="1"/>
          <p:nvPr/>
        </p:nvSpPr>
        <p:spPr>
          <a:xfrm>
            <a:off x="8396986" y="612648"/>
            <a:ext cx="117043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DA292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200"/>
          </a:p>
        </p:txBody>
      </p:sp>
      <p:sp>
        <p:nvSpPr>
          <p:cNvPr id="454" name="Shape 169"/>
          <p:cNvSpPr txBox="1"/>
          <p:nvPr/>
        </p:nvSpPr>
        <p:spPr>
          <a:xfrm>
            <a:off x="8726170" y="728726"/>
            <a:ext cx="658368" cy="19685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0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去噪</a:t>
            </a:r>
            <a:endParaRPr lang="zh-CN" sz="1050" b="0"/>
          </a:p>
        </p:txBody>
      </p:sp>
      <p:sp>
        <p:nvSpPr>
          <p:cNvPr id="455" name="Shape 170"/>
          <p:cNvSpPr txBox="1"/>
          <p:nvPr/>
        </p:nvSpPr>
        <p:spPr>
          <a:xfrm>
            <a:off x="9904349" y="612648"/>
            <a:ext cx="117043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DA292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200"/>
          </a:p>
        </p:txBody>
      </p:sp>
      <p:sp>
        <p:nvSpPr>
          <p:cNvPr id="456" name="Shape 172"/>
          <p:cNvSpPr txBox="1"/>
          <p:nvPr/>
        </p:nvSpPr>
        <p:spPr>
          <a:xfrm>
            <a:off x="10215880" y="719455"/>
            <a:ext cx="767715" cy="18923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对比度增强</a:t>
            </a:r>
            <a:endParaRPr lang="zh-CN" sz="1000" b="0"/>
          </a:p>
        </p:txBody>
      </p:sp>
      <p:sp>
        <p:nvSpPr>
          <p:cNvPr id="457" name="Shape 173"/>
          <p:cNvSpPr txBox="1"/>
          <p:nvPr/>
        </p:nvSpPr>
        <p:spPr>
          <a:xfrm>
            <a:off x="11469370" y="612648"/>
            <a:ext cx="117043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DA292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200"/>
          </a:p>
        </p:txBody>
      </p:sp>
      <p:sp>
        <p:nvSpPr>
          <p:cNvPr id="458" name="Shape 175"/>
          <p:cNvSpPr txBox="1"/>
          <p:nvPr/>
        </p:nvSpPr>
        <p:spPr>
          <a:xfrm>
            <a:off x="11780520" y="719455"/>
            <a:ext cx="767715" cy="18923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表格线增强</a:t>
            </a:r>
            <a:endParaRPr lang="zh-CN" sz="1000" b="0"/>
          </a:p>
        </p:txBody>
      </p:sp>
      <p:sp>
        <p:nvSpPr>
          <p:cNvPr id="459" name="Shape 176"/>
          <p:cNvSpPr txBox="1"/>
          <p:nvPr/>
        </p:nvSpPr>
        <p:spPr>
          <a:xfrm>
            <a:off x="8396986" y="1161288"/>
            <a:ext cx="117043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DA292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200"/>
          </a:p>
        </p:txBody>
      </p:sp>
      <p:sp>
        <p:nvSpPr>
          <p:cNvPr id="460" name="Shape 178"/>
          <p:cNvSpPr txBox="1"/>
          <p:nvPr/>
        </p:nvSpPr>
        <p:spPr>
          <a:xfrm>
            <a:off x="8817610" y="1267841"/>
            <a:ext cx="658368" cy="18923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智能裁剪</a:t>
            </a:r>
            <a:endParaRPr lang="zh-CN" sz="1000" b="0"/>
          </a:p>
        </p:txBody>
      </p:sp>
      <p:sp>
        <p:nvSpPr>
          <p:cNvPr id="461" name="Shape 179"/>
          <p:cNvSpPr txBox="1"/>
          <p:nvPr/>
        </p:nvSpPr>
        <p:spPr>
          <a:xfrm>
            <a:off x="9904349" y="1161288"/>
            <a:ext cx="117043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DA292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200"/>
          </a:p>
        </p:txBody>
      </p:sp>
      <p:sp>
        <p:nvSpPr>
          <p:cNvPr id="462" name="Shape 181"/>
          <p:cNvSpPr txBox="1"/>
          <p:nvPr/>
        </p:nvSpPr>
        <p:spPr>
          <a:xfrm>
            <a:off x="10324973" y="1264031"/>
            <a:ext cx="658368" cy="19685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0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伽马校正</a:t>
            </a:r>
            <a:endParaRPr lang="zh-CN" sz="1050" b="0"/>
          </a:p>
        </p:txBody>
      </p:sp>
      <p:sp>
        <p:nvSpPr>
          <p:cNvPr id="463" name="Shape 182"/>
          <p:cNvSpPr txBox="1"/>
          <p:nvPr/>
        </p:nvSpPr>
        <p:spPr>
          <a:xfrm>
            <a:off x="11469370" y="1161288"/>
            <a:ext cx="117043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DA292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200"/>
          </a:p>
        </p:txBody>
      </p:sp>
      <p:sp>
        <p:nvSpPr>
          <p:cNvPr id="464" name="Shape 184"/>
          <p:cNvSpPr txBox="1"/>
          <p:nvPr/>
        </p:nvSpPr>
        <p:spPr>
          <a:xfrm>
            <a:off x="11889994" y="1264031"/>
            <a:ext cx="658368" cy="19685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0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锐化</a:t>
            </a:r>
            <a:endParaRPr lang="zh-CN" sz="1050" b="0"/>
          </a:p>
        </p:txBody>
      </p:sp>
      <p:pic>
        <p:nvPicPr>
          <p:cNvPr id="465" name="图片 464" descr="插入-去噪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534400" y="702945"/>
            <a:ext cx="255270" cy="255270"/>
          </a:xfrm>
          <a:prstGeom prst="rect">
            <a:avLst/>
          </a:prstGeom>
        </p:spPr>
      </p:pic>
      <p:pic>
        <p:nvPicPr>
          <p:cNvPr id="466" name="图片 465" descr="锐化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1598275" y="1207135"/>
            <a:ext cx="291465" cy="291465"/>
          </a:xfrm>
          <a:prstGeom prst="rect">
            <a:avLst/>
          </a:prstGeom>
        </p:spPr>
      </p:pic>
      <p:pic>
        <p:nvPicPr>
          <p:cNvPr id="467" name="图片 466" descr="裁剪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571230" y="1228090"/>
            <a:ext cx="246380" cy="246380"/>
          </a:xfrm>
          <a:prstGeom prst="rect">
            <a:avLst/>
          </a:prstGeom>
        </p:spPr>
      </p:pic>
      <p:pic>
        <p:nvPicPr>
          <p:cNvPr id="468" name="图片 467" descr="伽马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079990" y="1254760"/>
            <a:ext cx="202565" cy="202565"/>
          </a:xfrm>
          <a:prstGeom prst="rect">
            <a:avLst/>
          </a:prstGeom>
        </p:spPr>
      </p:pic>
      <p:pic>
        <p:nvPicPr>
          <p:cNvPr id="469" name="图片 468" descr="43_色调对比度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987280" y="702945"/>
            <a:ext cx="228600" cy="228600"/>
          </a:xfrm>
          <a:prstGeom prst="rect">
            <a:avLst/>
          </a:prstGeom>
        </p:spPr>
      </p:pic>
      <p:pic>
        <p:nvPicPr>
          <p:cNvPr id="470" name="图片 469" descr="表格_o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469370" y="631190"/>
            <a:ext cx="330200" cy="330200"/>
          </a:xfrm>
          <a:prstGeom prst="rect">
            <a:avLst/>
          </a:prstGeom>
        </p:spPr>
      </p:pic>
      <p:pic>
        <p:nvPicPr>
          <p:cNvPr id="471" name="图片 47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738870" y="3021330"/>
            <a:ext cx="415290" cy="246380"/>
          </a:xfrm>
          <a:prstGeom prst="rect">
            <a:avLst/>
          </a:prstGeom>
        </p:spPr>
      </p:pic>
      <p:pic>
        <p:nvPicPr>
          <p:cNvPr id="472" name="图片 471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738870" y="3404235"/>
            <a:ext cx="439420" cy="260985"/>
          </a:xfrm>
          <a:prstGeom prst="rect">
            <a:avLst/>
          </a:prstGeom>
        </p:spPr>
      </p:pic>
      <p:pic>
        <p:nvPicPr>
          <p:cNvPr id="473" name="图片 472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38870" y="3783330"/>
            <a:ext cx="438785" cy="261620"/>
          </a:xfrm>
          <a:prstGeom prst="rect">
            <a:avLst/>
          </a:prstGeom>
        </p:spPr>
      </p:pic>
      <p:pic>
        <p:nvPicPr>
          <p:cNvPr id="474" name="图片 473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760460" y="4154805"/>
            <a:ext cx="393700" cy="238760"/>
          </a:xfrm>
          <a:prstGeom prst="rect">
            <a:avLst/>
          </a:prstGeom>
        </p:spPr>
      </p:pic>
      <p:grpSp>
        <p:nvGrpSpPr>
          <p:cNvPr id="481" name="组合 480"/>
          <p:cNvGrpSpPr/>
          <p:nvPr/>
        </p:nvGrpSpPr>
        <p:grpSpPr>
          <a:xfrm>
            <a:off x="9625965" y="2748915"/>
            <a:ext cx="1207770" cy="1844040"/>
            <a:chOff x="15422" y="3877"/>
            <a:chExt cx="1902" cy="2904"/>
          </a:xfrm>
        </p:grpSpPr>
        <p:sp>
          <p:nvSpPr>
            <p:cNvPr id="318" name="Shape 318"/>
            <p:cNvSpPr txBox="1"/>
            <p:nvPr/>
          </p:nvSpPr>
          <p:spPr>
            <a:xfrm>
              <a:off x="15480" y="3877"/>
              <a:ext cx="1844" cy="2905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AA7D9"/>
              </a:solidFill>
            </a:ln>
          </p:spPr>
          <p:txBody>
            <a:bodyPr wrap="square" lIns="27432" tIns="18288" rIns="27432" bIns="18288" anchor="ctr">
              <a:noAutofit/>
            </a:bodyPr>
            <a:lstStyle/>
            <a:p>
              <a:pPr algn="ctr"/>
              <a:endParaRPr lang="zh-CN" sz="1200"/>
            </a:p>
          </p:txBody>
        </p:sp>
        <p:sp>
          <p:nvSpPr>
            <p:cNvPr id="323" name="Shape 323"/>
            <p:cNvSpPr txBox="1"/>
            <p:nvPr/>
          </p:nvSpPr>
          <p:spPr>
            <a:xfrm>
              <a:off x="15698" y="6420"/>
              <a:ext cx="1496" cy="31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noAutofit/>
            </a:bodyPr>
            <a:lstStyle/>
            <a:p>
              <a:pPr algn="ctr"/>
              <a:r>
                <a:rPr lang="zh-CN" sz="1000" b="0">
                  <a:solidFill>
                    <a:srgbClr val="1F2937"/>
                  </a:solidFill>
                  <a:latin typeface="微软雅黑"/>
                  <a:ea typeface="微软雅黑"/>
                  <a:cs typeface="微软雅黑"/>
                </a:rPr>
                <a:t>模型质量评分</a:t>
              </a:r>
              <a:endParaRPr lang="zh-CN" sz="1000" b="0"/>
            </a:p>
          </p:txBody>
        </p:sp>
        <p:pic>
          <p:nvPicPr>
            <p:cNvPr id="475" name="图片 474" descr="打分 (1)"/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16194" y="4478"/>
              <a:ext cx="416" cy="393"/>
            </a:xfrm>
            <a:prstGeom prst="rect">
              <a:avLst/>
            </a:prstGeom>
          </p:spPr>
        </p:pic>
        <p:pic>
          <p:nvPicPr>
            <p:cNvPr id="476" name="图片 475" descr="大模型训练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6118" y="5815"/>
              <a:ext cx="492" cy="492"/>
            </a:xfrm>
            <a:prstGeom prst="rect">
              <a:avLst/>
            </a:prstGeom>
          </p:spPr>
        </p:pic>
        <p:sp>
          <p:nvSpPr>
            <p:cNvPr id="477" name="Shape 323"/>
            <p:cNvSpPr txBox="1"/>
            <p:nvPr/>
          </p:nvSpPr>
          <p:spPr>
            <a:xfrm>
              <a:off x="15760" y="5001"/>
              <a:ext cx="1354" cy="29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1000" b="0">
                  <a:solidFill>
                    <a:srgbClr val="1F2937"/>
                  </a:solidFill>
                  <a:latin typeface="微软雅黑"/>
                  <a:ea typeface="微软雅黑"/>
                  <a:cs typeface="微软雅黑"/>
                </a:rPr>
                <a:t>图像客观指标</a:t>
              </a:r>
              <a:endParaRPr lang="zh-CN"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pic>
          <p:nvPicPr>
            <p:cNvPr id="479" name="图片 478" descr="加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 flipH="1">
              <a:off x="16214" y="5407"/>
              <a:ext cx="295" cy="295"/>
            </a:xfrm>
            <a:prstGeom prst="rect">
              <a:avLst/>
            </a:prstGeom>
          </p:spPr>
        </p:pic>
        <p:sp>
          <p:nvSpPr>
            <p:cNvPr id="480" name="Shape 323"/>
            <p:cNvSpPr txBox="1"/>
            <p:nvPr/>
          </p:nvSpPr>
          <p:spPr>
            <a:xfrm>
              <a:off x="15422" y="3974"/>
              <a:ext cx="1887" cy="34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1200" b="1">
                  <a:solidFill>
                    <a:srgbClr val="1F2937"/>
                  </a:solidFill>
                  <a:latin typeface="黑体" charset="0"/>
                  <a:ea typeface="黑体" charset="0"/>
                  <a:cs typeface="微软雅黑"/>
                </a:rPr>
                <a:t>统一评估单元</a:t>
              </a:r>
              <a:endParaRPr lang="zh-CN" sz="1200" b="1">
                <a:solidFill>
                  <a:srgbClr val="1F2937"/>
                </a:solidFill>
                <a:latin typeface="黑体" charset="0"/>
                <a:ea typeface="黑体" charset="0"/>
                <a:cs typeface="微软雅黑"/>
              </a:endParaRPr>
            </a:p>
          </p:txBody>
        </p:sp>
      </p:grpSp>
      <p:pic>
        <p:nvPicPr>
          <p:cNvPr id="483" name="图片 482" descr="步骤列表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571865" y="5694680"/>
            <a:ext cx="238125" cy="238125"/>
          </a:xfrm>
          <a:prstGeom prst="rect">
            <a:avLst/>
          </a:prstGeom>
        </p:spPr>
      </p:pic>
      <p:pic>
        <p:nvPicPr>
          <p:cNvPr id="484" name="图片 483" descr="循环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1137265" y="5694680"/>
            <a:ext cx="238125" cy="238125"/>
          </a:xfrm>
          <a:prstGeom prst="rect">
            <a:avLst/>
          </a:prstGeom>
        </p:spPr>
      </p:pic>
      <p:pic>
        <p:nvPicPr>
          <p:cNvPr id="485" name="图片 484" descr="天平,公平,天平秤"/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810750" y="5716905"/>
            <a:ext cx="238125" cy="238125"/>
          </a:xfrm>
          <a:prstGeom prst="rect">
            <a:avLst/>
          </a:prstGeom>
        </p:spPr>
      </p:pic>
      <p:pic>
        <p:nvPicPr>
          <p:cNvPr id="486" name="图片 485" descr="下一步"/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2432665" y="5758180"/>
            <a:ext cx="213360" cy="196850"/>
          </a:xfrm>
          <a:prstGeom prst="rect">
            <a:avLst/>
          </a:prstGeom>
        </p:spPr>
      </p:pic>
      <p:cxnSp>
        <p:nvCxnSpPr>
          <p:cNvPr id="487" name="Connector 366"/>
          <p:cNvCxnSpPr/>
          <p:nvPr/>
        </p:nvCxnSpPr>
        <p:spPr>
          <a:xfrm>
            <a:off x="11775313" y="6013958"/>
            <a:ext cx="292608" cy="914"/>
          </a:xfrm>
          <a:prstGeom prst="straightConnector1">
            <a:avLst/>
          </a:prstGeom>
          <a:ln w="20320" cap="sq">
            <a:solidFill>
              <a:srgbClr val="6F55B5"/>
            </a:solidFill>
            <a:tailEnd type="triangle"/>
          </a:ln>
        </p:spPr>
      </p:cxnSp>
      <p:cxnSp>
        <p:nvCxnSpPr>
          <p:cNvPr id="488" name="Connector 366"/>
          <p:cNvCxnSpPr/>
          <p:nvPr/>
        </p:nvCxnSpPr>
        <p:spPr>
          <a:xfrm>
            <a:off x="9184513" y="5954903"/>
            <a:ext cx="292608" cy="914"/>
          </a:xfrm>
          <a:prstGeom prst="straightConnector1">
            <a:avLst/>
          </a:prstGeom>
          <a:ln w="20320" cap="sq">
            <a:solidFill>
              <a:srgbClr val="6F55B5"/>
            </a:solidFill>
            <a:tailEnd type="triangle"/>
          </a:ln>
        </p:spPr>
      </p:cxnSp>
      <p:cxnSp>
        <p:nvCxnSpPr>
          <p:cNvPr id="489" name="肘形连接符 488"/>
          <p:cNvCxnSpPr>
            <a:stCxn id="362" idx="2"/>
            <a:endCxn id="353" idx="2"/>
          </p:cNvCxnSpPr>
          <p:nvPr/>
        </p:nvCxnSpPr>
        <p:spPr>
          <a:xfrm rot="5400000">
            <a:off x="10622280" y="4480560"/>
            <a:ext cx="12700" cy="3884930"/>
          </a:xfrm>
          <a:prstGeom prst="bentConnector3">
            <a:avLst>
              <a:gd name="adj1" fmla="val 1530000"/>
            </a:avLst>
          </a:prstGeom>
          <a:ln w="20320" cmpd="sng">
            <a:solidFill>
              <a:srgbClr val="6F55B5"/>
            </a:solidFill>
            <a:prstDash val="solid"/>
            <a:tailEnd type="triangle" w="lg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0" name="Connector 349"/>
          <p:cNvCxnSpPr/>
          <p:nvPr/>
        </p:nvCxnSpPr>
        <p:spPr>
          <a:xfrm>
            <a:off x="8759825" y="1747232"/>
            <a:ext cx="635" cy="266065"/>
          </a:xfrm>
          <a:prstGeom prst="straightConnector1">
            <a:avLst/>
          </a:prstGeom>
          <a:ln w="12700" cap="sq">
            <a:solidFill>
              <a:srgbClr val="2F7D46"/>
            </a:solidFill>
            <a:prstDash val="dash"/>
            <a:tailEnd type="triangle"/>
          </a:ln>
        </p:spPr>
      </p:cxnSp>
      <p:cxnSp>
        <p:nvCxnSpPr>
          <p:cNvPr id="492" name="肘形连接符 491"/>
          <p:cNvCxnSpPr>
            <a:endCxn id="76" idx="2"/>
          </p:cNvCxnSpPr>
          <p:nvPr/>
        </p:nvCxnSpPr>
        <p:spPr>
          <a:xfrm rot="10800000">
            <a:off x="5081270" y="6326505"/>
            <a:ext cx="2963545" cy="196215"/>
          </a:xfrm>
          <a:prstGeom prst="bentConnector2">
            <a:avLst/>
          </a:prstGeom>
          <a:ln w="12700" cmpd="sng">
            <a:solidFill>
              <a:srgbClr val="6F55B5"/>
            </a:solidFill>
            <a:prstDash val="lgDash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EditableFlowTheme">
  <a:themeElements>
    <a:clrScheme name="Custom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2F59B6"/>
      </a:accent1>
      <a:accent2>
        <a:srgbClr val="2F7D46"/>
      </a:accent2>
      <a:accent3>
        <a:srgbClr val="2D7FC4"/>
      </a:accent3>
      <a:accent4>
        <a:srgbClr val="6F55B5"/>
      </a:accent4>
      <a:accent5>
        <a:srgbClr val="8DB3F1"/>
      </a:accent5>
      <a:accent6>
        <a:srgbClr val="B79DE8"/>
      </a:accent6>
      <a:hlink>
        <a:srgbClr val="0563C1"/>
      </a:hlink>
      <a:folHlink>
        <a:srgbClr val="954F72"/>
      </a:folHlink>
    </a:clrScheme>
    <a:fontScheme name="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</Words>
  <Application>WPS 演示</Application>
  <PresentationFormat>Custom</PresentationFormat>
  <Paragraphs>140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汉仪旗黑</vt:lpstr>
      <vt:lpstr>宋体-简</vt:lpstr>
      <vt:lpstr>Arial Unicode MS</vt:lpstr>
      <vt:lpstr>Apple Color Emoji</vt:lpstr>
      <vt:lpstr>MS PGothic</vt:lpstr>
      <vt:lpstr>苹方-简</vt:lpstr>
      <vt:lpstr>微软雅黑</vt:lpstr>
      <vt:lpstr>宋体</vt:lpstr>
      <vt:lpstr>Calibri</vt:lpstr>
      <vt:lpstr>Helvetica Neue</vt:lpstr>
      <vt:lpstr>微软雅黑</vt:lpstr>
      <vt:lpstr>黑体</vt:lpstr>
      <vt:lpstr>黑体-简</vt:lpstr>
      <vt:lpstr>微软雅黑</vt:lpstr>
      <vt:lpstr>EditableFlowTheme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表格图像增强流程可编辑复刻</dc:title>
  <dc:creator>Codex</dc:creator>
  <cp:lastModifiedBy>灿烂</cp:lastModifiedBy>
  <cp:revision>4</cp:revision>
  <dcterms:created xsi:type="dcterms:W3CDTF">2026-06-23T03:00:40Z</dcterms:created>
  <dcterms:modified xsi:type="dcterms:W3CDTF">2026-06-23T03:00:40Z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834D36E4A618F6976C03396ACF86FDC3_42</vt:lpwstr>
  </property>
</Properties>
</file>