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1.svg" ContentType="image/svg+xml"/>
  <Override PartName="/ppt/media/image13.svg" ContentType="image/svg+xml"/>
  <Override PartName="/ppt/media/image30.svg" ContentType="image/svg+xml"/>
  <Override PartName="/ppt/media/image32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handoutMasterIdLst>
    <p:handoutMasterId r:id="rId14"/>
  </p:handoutMasterIdLst>
  <p:sldIdLst>
    <p:sldId id="298" r:id="rId3"/>
    <p:sldId id="390" r:id="rId5"/>
    <p:sldId id="406" r:id="rId6"/>
    <p:sldId id="398" r:id="rId7"/>
    <p:sldId id="407" r:id="rId8"/>
    <p:sldId id="400" r:id="rId9"/>
    <p:sldId id="402" r:id="rId10"/>
    <p:sldId id="387" r:id="rId11"/>
    <p:sldId id="404" r:id="rId12"/>
    <p:sldId id="328" r:id="rId13"/>
  </p:sldIdLst>
  <p:sldSz cx="12192000" cy="6858000"/>
  <p:notesSz cx="6858000" cy="9144000"/>
  <p:custDataLst>
    <p:tags r:id="rId18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2" userDrawn="1">
          <p15:clr>
            <a:srgbClr val="F26B43"/>
          </p15:clr>
        </p15:guide>
        <p15:guide id="6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F81BD"/>
    <a:srgbClr val="0151D9"/>
    <a:srgbClr val="FF0000"/>
    <a:srgbClr val="E46C0A"/>
    <a:srgbClr val="F79646"/>
    <a:srgbClr val="2359A8"/>
    <a:srgbClr val="E7E8EA"/>
    <a:srgbClr val="CCCCCC"/>
    <a:srgbClr val="33CC33"/>
    <a:srgbClr val="8082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81293" autoAdjust="0"/>
  </p:normalViewPr>
  <p:slideViewPr>
    <p:cSldViewPr showGuides="1">
      <p:cViewPr varScale="1">
        <p:scale>
          <a:sx n="103" d="100"/>
          <a:sy n="103" d="100"/>
        </p:scale>
        <p:origin x="1464" y="168"/>
      </p:cViewPr>
      <p:guideLst>
        <p:guide orient="horz" pos="214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45" d="100"/>
          <a:sy n="45" d="100"/>
        </p:scale>
        <p:origin x="2760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gs" Target="tags/tag1.xml"/><Relationship Id="rId17" Type="http://schemas.openxmlformats.org/officeDocument/2006/relationships/tableStyles" Target="tableStyles.xml"/><Relationship Id="rId16" Type="http://schemas.openxmlformats.org/officeDocument/2006/relationships/viewProps" Target="viewProps.xml"/><Relationship Id="rId15" Type="http://schemas.openxmlformats.org/officeDocument/2006/relationships/presProps" Target="presProps.xml"/><Relationship Id="rId14" Type="http://schemas.openxmlformats.org/officeDocument/2006/relationships/handoutMaster" Target="handoutMasters/handoutMaster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CAFED6-BBFF-47F8-BA67-8C89EF98F2F9}" type="datetimeFigureOut">
              <a:rPr lang="en-MY" smtClean="0"/>
            </a:fld>
            <a:endParaRPr lang="en-MY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CEAD88-E094-40E6-89E6-169A6FA4014E}" type="slidenum">
              <a:rPr lang="en-MY" smtClean="0"/>
            </a:fld>
            <a:endParaRPr lang="en-MY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33130F-E62B-4865-9403-AFA4411E240C}" type="datetimeFigureOut">
              <a:rPr lang="en-MY" smtClean="0"/>
            </a:fld>
            <a:endParaRPr lang="en-MY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79D891-9604-4945-B734-849E67A857E2}" type="slidenum">
              <a:rPr lang="en-MY" smtClean="0"/>
            </a:fld>
            <a:endParaRPr lang="en-MY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各位老师大家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下午</a:t>
            </a:r>
            <a:r>
              <a:rPr lang="zh-CN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好，我的开题答辩题目是“</a:t>
            </a:r>
            <a:r>
              <a:rPr lang="zh-CN" altLang="en-US" dirty="0"/>
              <a:t>结合大模型的表格识别方法与系统</a:t>
            </a:r>
            <a:r>
              <a:rPr lang="zh-CN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，我的导师是</a:t>
            </a:r>
            <a:r>
              <a:rPr lang="zh-CN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卢光明老师</a:t>
            </a:r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79D891-9604-4945-B734-849E67A857E2}" type="slidenum">
              <a:rPr lang="en-MY" smtClean="0"/>
            </a:fld>
            <a:endParaRPr lang="en-MY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79D891-9604-4945-B734-849E67A857E2}" type="slidenum">
              <a:rPr lang="en-MY" smtClean="0"/>
            </a:fld>
            <a:endParaRPr lang="en-MY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MY" dirty="0" err="1"/>
              <a:t>其中表格检测主要是基于目标检查</a:t>
            </a:r>
            <a:r>
              <a:rPr lang="zh-CN" altLang="en-US" dirty="0"/>
              <a:t>，如</a:t>
            </a:r>
            <a:r>
              <a:rPr lang="en-US" altLang="zh-CN" dirty="0"/>
              <a:t> YOLO </a:t>
            </a:r>
            <a:r>
              <a:rPr lang="zh-CN" altLang="en-US" dirty="0"/>
              <a:t>模型</a:t>
            </a:r>
            <a:r>
              <a:rPr lang="en-MY" dirty="0" err="1"/>
              <a:t>和基于语义分割</a:t>
            </a:r>
            <a:r>
              <a:rPr lang="zh-CN" altLang="en-US" dirty="0"/>
              <a:t>，表格识别则是全部都有，当前效果比较好的是基于图像到序列的模型。主要也是利用</a:t>
            </a:r>
            <a:r>
              <a:rPr lang="en-US" altLang="zh-CN" dirty="0"/>
              <a:t> </a:t>
            </a:r>
            <a:r>
              <a:rPr lang="en-US" altLang="zh-CN" dirty="0" err="1"/>
              <a:t>tramsformer</a:t>
            </a:r>
            <a:r>
              <a:rPr lang="en-US" altLang="zh-CN" dirty="0"/>
              <a:t> </a:t>
            </a:r>
            <a:r>
              <a:rPr lang="zh-CN" altLang="en-US" dirty="0"/>
              <a:t>的强大能力来更好的识别表格结构，比如论文</a:t>
            </a:r>
            <a:r>
              <a:rPr lang="en-GB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Huang Y, Lu N, Chen D, et al. Improving table structure recognition with visual-alignment sequential coordinate modeling[C]//Proceedings of the IEEE/CVF Conference on Computer Vision and Pattern Recognition. 2023: 11134-11143.</a:t>
            </a:r>
            <a:r>
              <a:rPr lang="zh-CN" altLang="en-US" dirty="0"/>
              <a:t>，比较经典的论文有，内容识别当前主要是基于图像到序列，也就是端到端，比较有名的是</a:t>
            </a:r>
            <a:r>
              <a:rPr lang="en-US" altLang="zh-CN" dirty="0"/>
              <a:t> </a:t>
            </a:r>
            <a:r>
              <a:rPr lang="en-US" altLang="zh-CN" dirty="0" err="1"/>
              <a:t>TrOCR</a:t>
            </a:r>
            <a:r>
              <a:rPr lang="en-US" altLang="zh-CN" dirty="0"/>
              <a:t> </a:t>
            </a:r>
            <a:r>
              <a:rPr lang="zh-CN" altLang="en-US" dirty="0"/>
              <a:t>， </a:t>
            </a:r>
            <a:br>
              <a:rPr lang="en-GB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altLang="zh-CN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YOLO-OCR</a:t>
            </a:r>
            <a:endParaRPr lang="en-GB" altLang="zh-CN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MY" dirty="0" err="1"/>
              <a:t>等等</a:t>
            </a:r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79D891-9604-4945-B734-849E67A857E2}" type="slidenum">
              <a:rPr lang="en-MY" smtClean="0"/>
            </a:fld>
            <a:endParaRPr lang="en-MY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79D891-9604-4945-B734-849E67A857E2}" type="slidenum">
              <a:rPr lang="en-MY" smtClean="0"/>
            </a:fld>
            <a:endParaRPr lang="en-MY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79D891-9604-4945-B734-849E67A857E2}" type="slidenum">
              <a:rPr lang="en-MY" smtClean="0"/>
            </a:fld>
            <a:endParaRPr lang="en-MY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79D891-9604-4945-B734-849E67A857E2}" type="slidenum">
              <a:rPr lang="en-MY" smtClean="0"/>
            </a:fld>
            <a:endParaRPr lang="en-MY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79D891-9604-4945-B734-849E67A857E2}" type="slidenum">
              <a:rPr lang="en-MY" smtClean="0"/>
            </a:fld>
            <a:endParaRPr lang="en-MY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最后介绍一下课题的研究进度安排。</a:t>
            </a:r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79D891-9604-4945-B734-849E67A857E2}" type="slidenum">
              <a:rPr lang="en-MY" smtClean="0"/>
            </a:fld>
            <a:endParaRPr lang="en-MY" dirty="0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79D891-9604-4945-B734-849E67A857E2}" type="slidenum">
              <a:rPr lang="en-MY" smtClean="0"/>
            </a:fld>
            <a:endParaRPr lang="en-MY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zh-CN" altLang="zh-CN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我的汇报到此结束，敬请各位评委老师批评指正。</a:t>
            </a:r>
            <a:endParaRPr lang="zh-CN" altLang="zh-CN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079D891-9604-4945-B734-849E67A857E2}" type="slidenum">
              <a:rPr lang="en-MY" smtClean="0"/>
            </a:fld>
            <a:endParaRPr lang="en-MY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7" Type="http://schemas.openxmlformats.org/officeDocument/2006/relationships/image" Target="../media/image3.png"/><Relationship Id="rId6" Type="http://schemas.openxmlformats.org/officeDocument/2006/relationships/image" Target="../media/image2.png"/><Relationship Id="rId5" Type="http://schemas.openxmlformats.org/officeDocument/2006/relationships/image" Target="../media/image13.svg"/><Relationship Id="rId4" Type="http://schemas.openxmlformats.org/officeDocument/2006/relationships/image" Target="../media/image12.png"/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4" Type="http://schemas.openxmlformats.org/officeDocument/2006/relationships/image" Target="../media/image3.png"/><Relationship Id="rId3" Type="http://schemas.openxmlformats.org/officeDocument/2006/relationships/image" Target="../media/image2.pn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/>
          <a:srcRect b="15407"/>
          <a:stretch>
            <a:fillRect/>
          </a:stretch>
        </p:blipFill>
        <p:spPr>
          <a:xfrm>
            <a:off x="0" y="-1"/>
            <a:ext cx="12204000" cy="6872933"/>
          </a:xfrm>
          <a:prstGeom prst="rect">
            <a:avLst/>
          </a:prstGeom>
          <a:solidFill>
            <a:schemeClr val="accent1"/>
          </a:solidFill>
        </p:spPr>
      </p:pic>
      <p:sp>
        <p:nvSpPr>
          <p:cNvPr id="12" name="矩形 11"/>
          <p:cNvSpPr/>
          <p:nvPr userDrawn="1"/>
        </p:nvSpPr>
        <p:spPr>
          <a:xfrm>
            <a:off x="-332" y="0"/>
            <a:ext cx="12240000" cy="6858000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524100" y="2500306"/>
            <a:ext cx="7239000" cy="1330325"/>
          </a:xfrm>
        </p:spPr>
        <p:txBody>
          <a:bodyPr lIns="0" tIns="0" rIns="0" bIns="0" anchor="b">
            <a:normAutofit/>
          </a:bodyPr>
          <a:lstStyle>
            <a:lvl1pPr algn="ctr">
              <a:defRPr sz="4800" b="1"/>
            </a:lvl1pPr>
          </a:lstStyle>
          <a:p>
            <a:r>
              <a:rPr lang="en-US" dirty="0"/>
              <a:t>CLICK TO EDIT YOUR TITLE STYLE</a:t>
            </a:r>
            <a:endParaRPr lang="en-MY" dirty="0"/>
          </a:p>
        </p:txBody>
      </p:sp>
      <p:sp>
        <p:nvSpPr>
          <p:cNvPr id="10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371872" y="5000636"/>
            <a:ext cx="5867400" cy="425450"/>
          </a:xfrm>
        </p:spPr>
        <p:txBody>
          <a:bodyPr lIns="0" tIns="0" rIns="0" bIns="0"/>
          <a:lstStyle>
            <a:lvl1pPr marL="0" indent="0" algn="ctr">
              <a:buNone/>
              <a:defRPr sz="2400" b="1" baseline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Reporter:  XXXX    Time: XXXXX</a:t>
            </a:r>
            <a:endParaRPr lang="en-MY" dirty="0"/>
          </a:p>
        </p:txBody>
      </p:sp>
      <p:pic>
        <p:nvPicPr>
          <p:cNvPr id="7" name="图片 6" descr="logo[1].png"/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lum bright="-40000"/>
          </a:blip>
          <a:stretch>
            <a:fillRect/>
          </a:stretch>
        </p:blipFill>
        <p:spPr>
          <a:xfrm>
            <a:off x="380961" y="285728"/>
            <a:ext cx="4476789" cy="821767"/>
          </a:xfrm>
          <a:prstGeom prst="rect">
            <a:avLst/>
          </a:prstGeom>
        </p:spPr>
      </p:pic>
      <p:pic>
        <p:nvPicPr>
          <p:cNvPr id="11" name="图片 10" descr="透明版.png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11582401" y="381000"/>
            <a:ext cx="609600" cy="6477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/>
          </a:p>
        </p:txBody>
      </p:sp>
      <p:sp>
        <p:nvSpPr>
          <p:cNvPr id="5" name="Rectangle 4"/>
          <p:cNvSpPr/>
          <p:nvPr userDrawn="1"/>
        </p:nvSpPr>
        <p:spPr>
          <a:xfrm>
            <a:off x="11582400" y="0"/>
            <a:ext cx="612648" cy="6126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6" name="TextBox 5"/>
          <p:cNvSpPr txBox="1"/>
          <p:nvPr userDrawn="1"/>
        </p:nvSpPr>
        <p:spPr>
          <a:xfrm>
            <a:off x="4267200" y="480536"/>
            <a:ext cx="2975173" cy="73866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US" sz="4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CONTENT</a:t>
            </a:r>
            <a:endParaRPr lang="en-MY" sz="4800" b="1" dirty="0">
              <a:solidFill>
                <a:schemeClr val="tx1">
                  <a:lumMod val="85000"/>
                  <a:lumOff val="15000"/>
                </a:schemeClr>
              </a:solidFill>
              <a:latin typeface="+mj-lt"/>
            </a:endParaRPr>
          </a:p>
        </p:txBody>
      </p:sp>
      <p:sp>
        <p:nvSpPr>
          <p:cNvPr id="29" name="Picture Placeholder 28"/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3352800" cy="6858000"/>
          </a:xfrm>
        </p:spPr>
        <p:txBody>
          <a:bodyPr/>
          <a:lstStyle/>
          <a:p>
            <a:endParaRPr lang="en-MY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oup of people in a room&#10;&#10;Description automatically generated"/>
          <p:cNvPicPr>
            <a:picLocks noChangeAspect="1"/>
          </p:cNvPicPr>
          <p:nvPr userDrawn="1"/>
        </p:nvPicPr>
        <p:blipFill>
          <a:blip r:embed="rId2"/>
          <a:srcRect b="1555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-47668" y="0"/>
            <a:ext cx="12192000" cy="6858000"/>
          </a:xfrm>
          <a:prstGeom prst="rect">
            <a:avLst/>
          </a:prstGeom>
          <a:solidFill>
            <a:schemeClr val="bg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00400" y="2676173"/>
            <a:ext cx="5791200" cy="1477328"/>
          </a:xfrm>
        </p:spPr>
        <p:txBody>
          <a:bodyPr/>
          <a:lstStyle>
            <a:lvl1pPr algn="ctr">
              <a:defRPr sz="4800" b="1"/>
            </a:lvl1pPr>
          </a:lstStyle>
          <a:p>
            <a:r>
              <a:rPr lang="en-US" dirty="0"/>
              <a:t>Click to edit</a:t>
            </a:r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11582401" y="381000"/>
            <a:ext cx="609600" cy="6477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/>
          </a:p>
        </p:txBody>
      </p:sp>
      <p:sp>
        <p:nvSpPr>
          <p:cNvPr id="4" name="Rectangle 3"/>
          <p:cNvSpPr/>
          <p:nvPr userDrawn="1"/>
        </p:nvSpPr>
        <p:spPr>
          <a:xfrm>
            <a:off x="11582401" y="0"/>
            <a:ext cx="609600" cy="6126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/>
          </a:p>
        </p:txBody>
      </p:sp>
      <p:grpSp>
        <p:nvGrpSpPr>
          <p:cNvPr id="6" name="Group 5"/>
          <p:cNvGrpSpPr/>
          <p:nvPr userDrawn="1"/>
        </p:nvGrpSpPr>
        <p:grpSpPr>
          <a:xfrm>
            <a:off x="4541217" y="1516136"/>
            <a:ext cx="3109566" cy="911046"/>
            <a:chOff x="4541217" y="1177231"/>
            <a:chExt cx="3109566" cy="911046"/>
          </a:xfrm>
        </p:grpSpPr>
        <p:sp>
          <p:nvSpPr>
            <p:cNvPr id="9" name="Rectangle 8"/>
            <p:cNvSpPr/>
            <p:nvPr/>
          </p:nvSpPr>
          <p:spPr>
            <a:xfrm>
              <a:off x="4541217" y="1177231"/>
              <a:ext cx="3109566" cy="651569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 sz="2800" b="1" dirty="0">
                <a:solidFill>
                  <a:schemeClr val="accent1"/>
                </a:solidFill>
                <a:latin typeface="+mj-lt"/>
              </a:endParaRPr>
            </a:p>
          </p:txBody>
        </p:sp>
        <p:sp>
          <p:nvSpPr>
            <p:cNvPr id="10" name="Right Triangle 9"/>
            <p:cNvSpPr/>
            <p:nvPr/>
          </p:nvSpPr>
          <p:spPr>
            <a:xfrm rot="18900000">
              <a:off x="5913103" y="1717294"/>
              <a:ext cx="365794" cy="370983"/>
            </a:xfrm>
            <a:prstGeom prst="rtTriangl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hapter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oup of people in a room&#10;&#10;Description automatically generated"/>
          <p:cNvPicPr>
            <a:picLocks noChangeAspect="1"/>
          </p:cNvPicPr>
          <p:nvPr userDrawn="1"/>
        </p:nvPicPr>
        <p:blipFill>
          <a:blip r:embed="rId2"/>
          <a:srcRect b="2500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-47668" y="0"/>
            <a:ext cx="12192000" cy="6858000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00400" y="2676173"/>
            <a:ext cx="5791200" cy="1477328"/>
          </a:xfrm>
        </p:spPr>
        <p:txBody>
          <a:bodyPr/>
          <a:lstStyle>
            <a:lvl1pPr algn="ctr">
              <a:defRPr sz="4800" b="1"/>
            </a:lvl1pPr>
          </a:lstStyle>
          <a:p>
            <a:r>
              <a:rPr lang="en-US" dirty="0"/>
              <a:t>Click to edit</a:t>
            </a:r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11582401" y="381000"/>
            <a:ext cx="609600" cy="6477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/>
          </a:p>
        </p:txBody>
      </p:sp>
      <p:sp>
        <p:nvSpPr>
          <p:cNvPr id="4" name="Rectangle 3"/>
          <p:cNvSpPr/>
          <p:nvPr userDrawn="1"/>
        </p:nvSpPr>
        <p:spPr>
          <a:xfrm>
            <a:off x="11582401" y="0"/>
            <a:ext cx="609600" cy="6126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/>
          </a:p>
        </p:txBody>
      </p:sp>
      <p:grpSp>
        <p:nvGrpSpPr>
          <p:cNvPr id="5" name="Group 5"/>
          <p:cNvGrpSpPr/>
          <p:nvPr userDrawn="1"/>
        </p:nvGrpSpPr>
        <p:grpSpPr>
          <a:xfrm>
            <a:off x="4541217" y="1516136"/>
            <a:ext cx="3109566" cy="911046"/>
            <a:chOff x="4541217" y="1177231"/>
            <a:chExt cx="3109566" cy="911046"/>
          </a:xfrm>
        </p:grpSpPr>
        <p:sp>
          <p:nvSpPr>
            <p:cNvPr id="9" name="Rectangle 8"/>
            <p:cNvSpPr/>
            <p:nvPr/>
          </p:nvSpPr>
          <p:spPr>
            <a:xfrm>
              <a:off x="4541217" y="1177231"/>
              <a:ext cx="3109566" cy="651569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 sz="2800" b="1" dirty="0">
                <a:solidFill>
                  <a:schemeClr val="accent1"/>
                </a:solidFill>
                <a:latin typeface="+mj-lt"/>
              </a:endParaRPr>
            </a:p>
          </p:txBody>
        </p:sp>
        <p:sp>
          <p:nvSpPr>
            <p:cNvPr id="10" name="Right Triangle 9"/>
            <p:cNvSpPr/>
            <p:nvPr/>
          </p:nvSpPr>
          <p:spPr>
            <a:xfrm rot="18900000">
              <a:off x="5913103" y="1717294"/>
              <a:ext cx="365794" cy="370983"/>
            </a:xfrm>
            <a:prstGeom prst="rtTriangl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1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/>
          </a:p>
        </p:txBody>
      </p:sp>
      <p:grpSp>
        <p:nvGrpSpPr>
          <p:cNvPr id="15" name="Group 14"/>
          <p:cNvGrpSpPr/>
          <p:nvPr/>
        </p:nvGrpSpPr>
        <p:grpSpPr>
          <a:xfrm>
            <a:off x="609600" y="4419369"/>
            <a:ext cx="2971800" cy="776529"/>
            <a:chOff x="380999" y="4419913"/>
            <a:chExt cx="2971800" cy="776529"/>
          </a:xfrm>
        </p:grpSpPr>
        <p:sp>
          <p:nvSpPr>
            <p:cNvPr id="17" name="Right Triangle 16"/>
            <p:cNvSpPr/>
            <p:nvPr/>
          </p:nvSpPr>
          <p:spPr>
            <a:xfrm rot="18900000">
              <a:off x="1671374" y="4805390"/>
              <a:ext cx="391052" cy="391052"/>
            </a:xfrm>
            <a:prstGeom prst="rtTriangle">
              <a:avLst/>
            </a:prstGeom>
            <a:solidFill>
              <a:schemeClr val="accent6"/>
            </a:solidFill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80999" y="4419913"/>
              <a:ext cx="2971800" cy="55303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sz="2400" b="1" dirty="0">
                <a:latin typeface="+mj-lt"/>
              </a:endParaRPr>
            </a:p>
          </p:txBody>
        </p:sp>
      </p:grp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609600" y="1309547"/>
            <a:ext cx="2971800" cy="2971800"/>
          </a:xfrm>
        </p:spPr>
        <p:txBody>
          <a:bodyPr/>
          <a:lstStyle/>
          <a:p>
            <a:endParaRPr lang="en-MY"/>
          </a:p>
        </p:txBody>
      </p:sp>
      <p:grpSp>
        <p:nvGrpSpPr>
          <p:cNvPr id="25" name="Group 24"/>
          <p:cNvGrpSpPr/>
          <p:nvPr userDrawn="1"/>
        </p:nvGrpSpPr>
        <p:grpSpPr>
          <a:xfrm>
            <a:off x="8610602" y="4419369"/>
            <a:ext cx="2971800" cy="776529"/>
            <a:chOff x="380999" y="4419913"/>
            <a:chExt cx="2971800" cy="776529"/>
          </a:xfrm>
        </p:grpSpPr>
        <p:sp>
          <p:nvSpPr>
            <p:cNvPr id="26" name="Right Triangle 25"/>
            <p:cNvSpPr/>
            <p:nvPr/>
          </p:nvSpPr>
          <p:spPr>
            <a:xfrm rot="18900000">
              <a:off x="1671374" y="4805390"/>
              <a:ext cx="391052" cy="391052"/>
            </a:xfrm>
            <a:prstGeom prst="rtTriangle">
              <a:avLst/>
            </a:prstGeom>
            <a:solidFill>
              <a:schemeClr val="accent6"/>
            </a:solidFill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380999" y="4419913"/>
              <a:ext cx="2971800" cy="55303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sz="2400" b="1" dirty="0">
                <a:latin typeface="+mj-lt"/>
              </a:endParaRPr>
            </a:p>
          </p:txBody>
        </p:sp>
      </p:grpSp>
      <p:sp>
        <p:nvSpPr>
          <p:cNvPr id="29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8610602" y="1309547"/>
            <a:ext cx="2971800" cy="2971800"/>
          </a:xfrm>
        </p:spPr>
        <p:txBody>
          <a:bodyPr/>
          <a:lstStyle/>
          <a:p>
            <a:endParaRPr lang="en-MY"/>
          </a:p>
        </p:txBody>
      </p:sp>
      <p:grpSp>
        <p:nvGrpSpPr>
          <p:cNvPr id="30" name="Group 29"/>
          <p:cNvGrpSpPr/>
          <p:nvPr userDrawn="1"/>
        </p:nvGrpSpPr>
        <p:grpSpPr>
          <a:xfrm>
            <a:off x="4604784" y="4421496"/>
            <a:ext cx="2971800" cy="776529"/>
            <a:chOff x="380999" y="4419913"/>
            <a:chExt cx="2971800" cy="776529"/>
          </a:xfrm>
        </p:grpSpPr>
        <p:sp>
          <p:nvSpPr>
            <p:cNvPr id="31" name="Right Triangle 30"/>
            <p:cNvSpPr/>
            <p:nvPr/>
          </p:nvSpPr>
          <p:spPr>
            <a:xfrm rot="18900000">
              <a:off x="1671374" y="4805390"/>
              <a:ext cx="391052" cy="391052"/>
            </a:xfrm>
            <a:prstGeom prst="rtTriangle">
              <a:avLst/>
            </a:prstGeom>
            <a:solidFill>
              <a:schemeClr val="accent6"/>
            </a:solidFill>
            <a:ln w="571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380999" y="4419913"/>
              <a:ext cx="2971800" cy="55303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sz="2400" b="1" dirty="0">
                <a:latin typeface="+mj-lt"/>
              </a:endParaRPr>
            </a:p>
          </p:txBody>
        </p:sp>
      </p:grpSp>
      <p:sp>
        <p:nvSpPr>
          <p:cNvPr id="34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604784" y="1311674"/>
            <a:ext cx="2971800" cy="2971800"/>
          </a:xfrm>
        </p:spPr>
        <p:txBody>
          <a:bodyPr/>
          <a:lstStyle/>
          <a:p>
            <a:endParaRPr lang="en-MY"/>
          </a:p>
        </p:txBody>
      </p:sp>
      <p:pic>
        <p:nvPicPr>
          <p:cNvPr id="22" name="图片 21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23" name="图片 22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co Memb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icture Placeholder 4"/>
          <p:cNvSpPr>
            <a:spLocks noGrp="1"/>
          </p:cNvSpPr>
          <p:nvPr>
            <p:ph type="pic" sz="quarter" idx="11"/>
          </p:nvPr>
        </p:nvSpPr>
        <p:spPr>
          <a:xfrm>
            <a:off x="5166360" y="1309941"/>
            <a:ext cx="1691640" cy="1691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MY" dirty="0"/>
            </a:lvl1pPr>
          </a:lstStyle>
          <a:p>
            <a:pPr lvl="0"/>
            <a:endParaRPr lang="en-MY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15" name="Rectangle 14"/>
          <p:cNvSpPr/>
          <p:nvPr/>
        </p:nvSpPr>
        <p:spPr>
          <a:xfrm>
            <a:off x="623316" y="5162279"/>
            <a:ext cx="3858768" cy="8688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622623" y="1306913"/>
            <a:ext cx="3860154" cy="3855366"/>
          </a:xfrm>
        </p:spPr>
        <p:txBody>
          <a:bodyPr/>
          <a:lstStyle/>
          <a:p>
            <a:endParaRPr lang="en-MY" dirty="0"/>
          </a:p>
        </p:txBody>
      </p:sp>
      <p:sp>
        <p:nvSpPr>
          <p:cNvPr id="48" name="Rectangle 47"/>
          <p:cNvSpPr/>
          <p:nvPr userDrawn="1"/>
        </p:nvSpPr>
        <p:spPr>
          <a:xfrm>
            <a:off x="5166360" y="2990356"/>
            <a:ext cx="169164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59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5166360" y="3802091"/>
            <a:ext cx="1691640" cy="1691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MY" dirty="0"/>
            </a:lvl1pPr>
          </a:lstStyle>
          <a:p>
            <a:pPr lvl="0"/>
            <a:endParaRPr lang="en-MY" dirty="0"/>
          </a:p>
        </p:txBody>
      </p:sp>
      <p:sp>
        <p:nvSpPr>
          <p:cNvPr id="60" name="Rectangle 59"/>
          <p:cNvSpPr/>
          <p:nvPr userDrawn="1"/>
        </p:nvSpPr>
        <p:spPr>
          <a:xfrm>
            <a:off x="5166360" y="5482506"/>
            <a:ext cx="169164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61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9890760" y="1309941"/>
            <a:ext cx="1691640" cy="1691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MY" dirty="0"/>
            </a:lvl1pPr>
          </a:lstStyle>
          <a:p>
            <a:pPr lvl="0"/>
            <a:endParaRPr lang="en-MY" dirty="0"/>
          </a:p>
        </p:txBody>
      </p:sp>
      <p:sp>
        <p:nvSpPr>
          <p:cNvPr id="62" name="Rectangle 61"/>
          <p:cNvSpPr/>
          <p:nvPr userDrawn="1"/>
        </p:nvSpPr>
        <p:spPr>
          <a:xfrm>
            <a:off x="9890760" y="2990356"/>
            <a:ext cx="169164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63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9890760" y="3802091"/>
            <a:ext cx="1691640" cy="1691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MY" dirty="0"/>
            </a:lvl1pPr>
          </a:lstStyle>
          <a:p>
            <a:pPr lvl="0"/>
            <a:endParaRPr lang="en-MY" dirty="0"/>
          </a:p>
        </p:txBody>
      </p:sp>
      <p:sp>
        <p:nvSpPr>
          <p:cNvPr id="64" name="Rectangle 63"/>
          <p:cNvSpPr/>
          <p:nvPr userDrawn="1"/>
        </p:nvSpPr>
        <p:spPr>
          <a:xfrm>
            <a:off x="9890760" y="5482506"/>
            <a:ext cx="169164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65" name="Picture Placeholder 4"/>
          <p:cNvSpPr>
            <a:spLocks noGrp="1"/>
          </p:cNvSpPr>
          <p:nvPr>
            <p:ph type="pic" sz="quarter" idx="15"/>
          </p:nvPr>
        </p:nvSpPr>
        <p:spPr>
          <a:xfrm>
            <a:off x="7528560" y="1309941"/>
            <a:ext cx="1691640" cy="1691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MY" dirty="0"/>
            </a:lvl1pPr>
          </a:lstStyle>
          <a:p>
            <a:pPr lvl="0"/>
            <a:endParaRPr lang="en-MY" dirty="0"/>
          </a:p>
        </p:txBody>
      </p:sp>
      <p:sp>
        <p:nvSpPr>
          <p:cNvPr id="66" name="Rectangle 65"/>
          <p:cNvSpPr/>
          <p:nvPr userDrawn="1"/>
        </p:nvSpPr>
        <p:spPr>
          <a:xfrm>
            <a:off x="7528560" y="2990356"/>
            <a:ext cx="169164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67" name="Picture Placeholder 4"/>
          <p:cNvSpPr>
            <a:spLocks noGrp="1"/>
          </p:cNvSpPr>
          <p:nvPr>
            <p:ph type="pic" sz="quarter" idx="16"/>
          </p:nvPr>
        </p:nvSpPr>
        <p:spPr>
          <a:xfrm>
            <a:off x="7528560" y="3802091"/>
            <a:ext cx="1691640" cy="1691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MY" dirty="0"/>
            </a:lvl1pPr>
          </a:lstStyle>
          <a:p>
            <a:pPr lvl="0"/>
            <a:endParaRPr lang="en-MY" dirty="0"/>
          </a:p>
        </p:txBody>
      </p:sp>
      <p:sp>
        <p:nvSpPr>
          <p:cNvPr id="68" name="Rectangle 67"/>
          <p:cNvSpPr/>
          <p:nvPr userDrawn="1"/>
        </p:nvSpPr>
        <p:spPr>
          <a:xfrm>
            <a:off x="7528560" y="5482506"/>
            <a:ext cx="1691640" cy="54864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pic>
        <p:nvPicPr>
          <p:cNvPr id="24" name="图片 23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25" name="图片 24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pic>
        <p:nvPicPr>
          <p:cNvPr id="13" name="图片 12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4" name="图片 13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quar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609600" y="1485899"/>
            <a:ext cx="4343400" cy="4343400"/>
          </a:xfrm>
        </p:spPr>
        <p:txBody>
          <a:bodyPr/>
          <a:lstStyle/>
          <a:p>
            <a:endParaRPr lang="en-MY" dirty="0"/>
          </a:p>
        </p:txBody>
      </p:sp>
      <p:pic>
        <p:nvPicPr>
          <p:cNvPr id="13" name="图片 12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4" name="图片 13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13" name="Picture Placeholder 12"/>
          <p:cNvSpPr>
            <a:spLocks noGrp="1"/>
          </p:cNvSpPr>
          <p:nvPr>
            <p:ph type="pic" sz="quarter" idx="10"/>
          </p:nvPr>
        </p:nvSpPr>
        <p:spPr>
          <a:xfrm>
            <a:off x="7781260" y="1757030"/>
            <a:ext cx="3801140" cy="3801140"/>
          </a:xfrm>
          <a:custGeom>
            <a:avLst/>
            <a:gdLst>
              <a:gd name="connsiteX0" fmla="*/ 1848652 w 3763963"/>
              <a:gd name="connsiteY0" fmla="*/ 0 h 3763963"/>
              <a:gd name="connsiteX1" fmla="*/ 1915311 w 3763963"/>
              <a:gd name="connsiteY1" fmla="*/ 0 h 3763963"/>
              <a:gd name="connsiteX2" fmla="*/ 2074575 w 3763963"/>
              <a:gd name="connsiteY2" fmla="*/ 8042 h 3763963"/>
              <a:gd name="connsiteX3" fmla="*/ 3755920 w 3763963"/>
              <a:gd name="connsiteY3" fmla="*/ 1689387 h 3763963"/>
              <a:gd name="connsiteX4" fmla="*/ 3763963 w 3763963"/>
              <a:gd name="connsiteY4" fmla="*/ 1848670 h 3763963"/>
              <a:gd name="connsiteX5" fmla="*/ 3763963 w 3763963"/>
              <a:gd name="connsiteY5" fmla="*/ 1915292 h 3763963"/>
              <a:gd name="connsiteX6" fmla="*/ 3755920 w 3763963"/>
              <a:gd name="connsiteY6" fmla="*/ 2074575 h 3763963"/>
              <a:gd name="connsiteX7" fmla="*/ 2074575 w 3763963"/>
              <a:gd name="connsiteY7" fmla="*/ 3755920 h 3763963"/>
              <a:gd name="connsiteX8" fmla="*/ 1915291 w 3763963"/>
              <a:gd name="connsiteY8" fmla="*/ 3763963 h 3763963"/>
              <a:gd name="connsiteX9" fmla="*/ 1848672 w 3763963"/>
              <a:gd name="connsiteY9" fmla="*/ 3763963 h 3763963"/>
              <a:gd name="connsiteX10" fmla="*/ 1689388 w 3763963"/>
              <a:gd name="connsiteY10" fmla="*/ 3755920 h 3763963"/>
              <a:gd name="connsiteX11" fmla="*/ 8042 w 3763963"/>
              <a:gd name="connsiteY11" fmla="*/ 2074575 h 3763963"/>
              <a:gd name="connsiteX12" fmla="*/ 0 w 3763963"/>
              <a:gd name="connsiteY12" fmla="*/ 1915311 h 3763963"/>
              <a:gd name="connsiteX13" fmla="*/ 0 w 3763963"/>
              <a:gd name="connsiteY13" fmla="*/ 1848651 h 3763963"/>
              <a:gd name="connsiteX14" fmla="*/ 8042 w 3763963"/>
              <a:gd name="connsiteY14" fmla="*/ 1689387 h 3763963"/>
              <a:gd name="connsiteX15" fmla="*/ 1689388 w 3763963"/>
              <a:gd name="connsiteY15" fmla="*/ 8042 h 37639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763963" h="3763963">
                <a:moveTo>
                  <a:pt x="1848652" y="0"/>
                </a:moveTo>
                <a:lnTo>
                  <a:pt x="1915311" y="0"/>
                </a:lnTo>
                <a:lnTo>
                  <a:pt x="2074575" y="8042"/>
                </a:lnTo>
                <a:cubicBezTo>
                  <a:pt x="2961101" y="98074"/>
                  <a:pt x="3665888" y="802862"/>
                  <a:pt x="3755920" y="1689387"/>
                </a:cubicBezTo>
                <a:lnTo>
                  <a:pt x="3763963" y="1848670"/>
                </a:lnTo>
                <a:lnTo>
                  <a:pt x="3763963" y="1915292"/>
                </a:lnTo>
                <a:lnTo>
                  <a:pt x="3755920" y="2074575"/>
                </a:lnTo>
                <a:cubicBezTo>
                  <a:pt x="3665888" y="2961101"/>
                  <a:pt x="2961101" y="3665889"/>
                  <a:pt x="2074575" y="3755920"/>
                </a:cubicBezTo>
                <a:lnTo>
                  <a:pt x="1915291" y="3763963"/>
                </a:lnTo>
                <a:lnTo>
                  <a:pt x="1848672" y="3763963"/>
                </a:lnTo>
                <a:lnTo>
                  <a:pt x="1689388" y="3755920"/>
                </a:lnTo>
                <a:cubicBezTo>
                  <a:pt x="802862" y="3665889"/>
                  <a:pt x="98074" y="2961101"/>
                  <a:pt x="8042" y="2074575"/>
                </a:cubicBezTo>
                <a:lnTo>
                  <a:pt x="0" y="1915311"/>
                </a:lnTo>
                <a:lnTo>
                  <a:pt x="0" y="1848651"/>
                </a:lnTo>
                <a:lnTo>
                  <a:pt x="8042" y="1689387"/>
                </a:lnTo>
                <a:cubicBezTo>
                  <a:pt x="98074" y="802862"/>
                  <a:pt x="802862" y="98074"/>
                  <a:pt x="1689388" y="8042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MY" dirty="0"/>
          </a:p>
        </p:txBody>
      </p:sp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2"/>
          <a:srcRect l="36064" t="20617" r="35753" b="58813"/>
          <a:stretch>
            <a:fillRect/>
          </a:stretch>
        </p:blipFill>
        <p:spPr>
          <a:xfrm>
            <a:off x="341887" y="1408687"/>
            <a:ext cx="1410713" cy="1410713"/>
          </a:xfrm>
          <a:custGeom>
            <a:avLst/>
            <a:gdLst>
              <a:gd name="connsiteX0" fmla="*/ 0 w 1410713"/>
              <a:gd name="connsiteY0" fmla="*/ 0 h 1410713"/>
              <a:gd name="connsiteX1" fmla="*/ 1410713 w 1410713"/>
              <a:gd name="connsiteY1" fmla="*/ 0 h 1410713"/>
              <a:gd name="connsiteX2" fmla="*/ 1410713 w 1410713"/>
              <a:gd name="connsiteY2" fmla="*/ 1410713 h 1410713"/>
              <a:gd name="connsiteX3" fmla="*/ 0 w 1410713"/>
              <a:gd name="connsiteY3" fmla="*/ 1410713 h 14107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10713" h="1410713">
                <a:moveTo>
                  <a:pt x="0" y="0"/>
                </a:moveTo>
                <a:lnTo>
                  <a:pt x="1410713" y="0"/>
                </a:lnTo>
                <a:lnTo>
                  <a:pt x="1410713" y="1410713"/>
                </a:lnTo>
                <a:lnTo>
                  <a:pt x="0" y="1410713"/>
                </a:lnTo>
                <a:close/>
              </a:path>
            </a:pathLst>
          </a:custGeom>
        </p:spPr>
      </p:pic>
      <p:pic>
        <p:nvPicPr>
          <p:cNvPr id="16" name="图片 15" descr="logo[1].pn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7" name="图片 16" descr="透明版.png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Bar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609600" y="1600200"/>
            <a:ext cx="10972800" cy="2239963"/>
          </a:xfrm>
        </p:spPr>
        <p:txBody>
          <a:bodyPr/>
          <a:lstStyle/>
          <a:p>
            <a:endParaRPr lang="en-MY" dirty="0"/>
          </a:p>
        </p:txBody>
      </p:sp>
      <p:pic>
        <p:nvPicPr>
          <p:cNvPr id="11" name="图片 10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2" name="图片 11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609600" y="1485899"/>
            <a:ext cx="2743200" cy="4343400"/>
          </a:xfrm>
        </p:spPr>
        <p:txBody>
          <a:bodyPr/>
          <a:lstStyle/>
          <a:p>
            <a:endParaRPr lang="en-MY" dirty="0"/>
          </a:p>
        </p:txBody>
      </p:sp>
      <p:sp>
        <p:nvSpPr>
          <p:cNvPr id="4" name="Rectangle 3"/>
          <p:cNvSpPr/>
          <p:nvPr userDrawn="1"/>
        </p:nvSpPr>
        <p:spPr>
          <a:xfrm>
            <a:off x="3657600" y="1485898"/>
            <a:ext cx="2743200" cy="4343400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pic>
        <p:nvPicPr>
          <p:cNvPr id="11" name="图片 10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2" name="图片 11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hapter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oup of people in a room&#10;&#10;Description automatically generated"/>
          <p:cNvPicPr>
            <a:picLocks noChangeAspect="1"/>
          </p:cNvPicPr>
          <p:nvPr userDrawn="1"/>
        </p:nvPicPr>
        <p:blipFill>
          <a:blip r:embed="rId2"/>
          <a:srcRect b="156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-47668" y="0"/>
            <a:ext cx="12192000" cy="6858000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00400" y="2676173"/>
            <a:ext cx="5791200" cy="1477328"/>
          </a:xfrm>
        </p:spPr>
        <p:txBody>
          <a:bodyPr/>
          <a:lstStyle>
            <a:lvl1pPr algn="ctr">
              <a:defRPr sz="4800" b="1"/>
            </a:lvl1pPr>
          </a:lstStyle>
          <a:p>
            <a:r>
              <a:rPr lang="en-US" dirty="0"/>
              <a:t>Click to edit</a:t>
            </a:r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11582401" y="381000"/>
            <a:ext cx="609600" cy="6477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/>
          </a:p>
        </p:txBody>
      </p:sp>
      <p:sp>
        <p:nvSpPr>
          <p:cNvPr id="4" name="Rectangle 3"/>
          <p:cNvSpPr/>
          <p:nvPr userDrawn="1"/>
        </p:nvSpPr>
        <p:spPr>
          <a:xfrm>
            <a:off x="11582401" y="0"/>
            <a:ext cx="609600" cy="6126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/>
          </a:p>
        </p:txBody>
      </p:sp>
      <p:grpSp>
        <p:nvGrpSpPr>
          <p:cNvPr id="5" name="Group 5"/>
          <p:cNvGrpSpPr/>
          <p:nvPr userDrawn="1"/>
        </p:nvGrpSpPr>
        <p:grpSpPr>
          <a:xfrm>
            <a:off x="4541217" y="1516136"/>
            <a:ext cx="3109566" cy="911046"/>
            <a:chOff x="4541217" y="1177231"/>
            <a:chExt cx="3109566" cy="911046"/>
          </a:xfrm>
        </p:grpSpPr>
        <p:sp>
          <p:nvSpPr>
            <p:cNvPr id="9" name="Rectangle 8"/>
            <p:cNvSpPr/>
            <p:nvPr/>
          </p:nvSpPr>
          <p:spPr>
            <a:xfrm>
              <a:off x="4541217" y="1177231"/>
              <a:ext cx="3109566" cy="651569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 sz="2800" b="1" dirty="0">
                <a:solidFill>
                  <a:schemeClr val="accent1"/>
                </a:solidFill>
                <a:latin typeface="+mj-lt"/>
              </a:endParaRPr>
            </a:p>
          </p:txBody>
        </p:sp>
        <p:sp>
          <p:nvSpPr>
            <p:cNvPr id="10" name="Right Triangle 9"/>
            <p:cNvSpPr/>
            <p:nvPr/>
          </p:nvSpPr>
          <p:spPr>
            <a:xfrm rot="18900000">
              <a:off x="5913103" y="1717294"/>
              <a:ext cx="365794" cy="370983"/>
            </a:xfrm>
            <a:prstGeom prst="rtTriangl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r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0"/>
          </p:nvPr>
        </p:nvSpPr>
        <p:spPr>
          <a:xfrm>
            <a:off x="4533900" y="2106929"/>
            <a:ext cx="3124200" cy="3124200"/>
          </a:xfrm>
          <a:custGeom>
            <a:avLst/>
            <a:gdLst>
              <a:gd name="connsiteX0" fmla="*/ 1448904 w 3124200"/>
              <a:gd name="connsiteY0" fmla="*/ 0 h 3124200"/>
              <a:gd name="connsiteX1" fmla="*/ 1675299 w 3124200"/>
              <a:gd name="connsiteY1" fmla="*/ 0 h 3124200"/>
              <a:gd name="connsiteX2" fmla="*/ 1722401 w 3124200"/>
              <a:gd name="connsiteY2" fmla="*/ 2379 h 3124200"/>
              <a:gd name="connsiteX3" fmla="*/ 3121824 w 3124200"/>
              <a:gd name="connsiteY3" fmla="*/ 1401801 h 3124200"/>
              <a:gd name="connsiteX4" fmla="*/ 3124200 w 3124200"/>
              <a:gd name="connsiteY4" fmla="*/ 1448864 h 3124200"/>
              <a:gd name="connsiteX5" fmla="*/ 3124200 w 3124200"/>
              <a:gd name="connsiteY5" fmla="*/ 1675339 h 3124200"/>
              <a:gd name="connsiteX6" fmla="*/ 3121824 w 3124200"/>
              <a:gd name="connsiteY6" fmla="*/ 1722401 h 3124200"/>
              <a:gd name="connsiteX7" fmla="*/ 1722401 w 3124200"/>
              <a:gd name="connsiteY7" fmla="*/ 3121824 h 3124200"/>
              <a:gd name="connsiteX8" fmla="*/ 1675338 w 3124200"/>
              <a:gd name="connsiteY8" fmla="*/ 3124200 h 3124200"/>
              <a:gd name="connsiteX9" fmla="*/ 1448865 w 3124200"/>
              <a:gd name="connsiteY9" fmla="*/ 3124200 h 3124200"/>
              <a:gd name="connsiteX10" fmla="*/ 1401801 w 3124200"/>
              <a:gd name="connsiteY10" fmla="*/ 3121824 h 3124200"/>
              <a:gd name="connsiteX11" fmla="*/ 2379 w 3124200"/>
              <a:gd name="connsiteY11" fmla="*/ 1722401 h 3124200"/>
              <a:gd name="connsiteX12" fmla="*/ 0 w 3124200"/>
              <a:gd name="connsiteY12" fmla="*/ 1675299 h 3124200"/>
              <a:gd name="connsiteX13" fmla="*/ 0 w 3124200"/>
              <a:gd name="connsiteY13" fmla="*/ 1448903 h 3124200"/>
              <a:gd name="connsiteX14" fmla="*/ 2379 w 3124200"/>
              <a:gd name="connsiteY14" fmla="*/ 1401801 h 3124200"/>
              <a:gd name="connsiteX15" fmla="*/ 1401801 w 3124200"/>
              <a:gd name="connsiteY15" fmla="*/ 2379 h 3124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124200" h="3124200">
                <a:moveTo>
                  <a:pt x="1448904" y="0"/>
                </a:moveTo>
                <a:lnTo>
                  <a:pt x="1675299" y="0"/>
                </a:lnTo>
                <a:lnTo>
                  <a:pt x="1722401" y="2379"/>
                </a:lnTo>
                <a:cubicBezTo>
                  <a:pt x="2460277" y="77314"/>
                  <a:pt x="3046888" y="663925"/>
                  <a:pt x="3121824" y="1401801"/>
                </a:cubicBezTo>
                <a:lnTo>
                  <a:pt x="3124200" y="1448864"/>
                </a:lnTo>
                <a:lnTo>
                  <a:pt x="3124200" y="1675339"/>
                </a:lnTo>
                <a:lnTo>
                  <a:pt x="3121824" y="1722401"/>
                </a:lnTo>
                <a:cubicBezTo>
                  <a:pt x="3046888" y="2460277"/>
                  <a:pt x="2460277" y="3046888"/>
                  <a:pt x="1722401" y="3121824"/>
                </a:cubicBezTo>
                <a:lnTo>
                  <a:pt x="1675338" y="3124200"/>
                </a:lnTo>
                <a:lnTo>
                  <a:pt x="1448865" y="3124200"/>
                </a:lnTo>
                <a:lnTo>
                  <a:pt x="1401801" y="3121824"/>
                </a:lnTo>
                <a:cubicBezTo>
                  <a:pt x="663926" y="3046888"/>
                  <a:pt x="77314" y="2460277"/>
                  <a:pt x="2379" y="1722401"/>
                </a:cubicBezTo>
                <a:lnTo>
                  <a:pt x="0" y="1675299"/>
                </a:lnTo>
                <a:lnTo>
                  <a:pt x="0" y="1448903"/>
                </a:lnTo>
                <a:lnTo>
                  <a:pt x="2379" y="1401801"/>
                </a:lnTo>
                <a:cubicBezTo>
                  <a:pt x="77314" y="663925"/>
                  <a:pt x="663926" y="77314"/>
                  <a:pt x="1401801" y="2379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MY" dirty="0"/>
          </a:p>
        </p:txBody>
      </p:sp>
      <p:pic>
        <p:nvPicPr>
          <p:cNvPr id="11" name="图片 10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2" name="图片 11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609601" y="1545248"/>
            <a:ext cx="6096000" cy="1908221"/>
          </a:xfrm>
        </p:spPr>
        <p:txBody>
          <a:bodyPr/>
          <a:lstStyle/>
          <a:p>
            <a:endParaRPr lang="en-MY" dirty="0"/>
          </a:p>
        </p:txBody>
      </p:sp>
      <p:sp>
        <p:nvSpPr>
          <p:cNvPr id="13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5486400" y="3884589"/>
            <a:ext cx="6096000" cy="1908221"/>
          </a:xfrm>
        </p:spPr>
        <p:txBody>
          <a:bodyPr/>
          <a:lstStyle/>
          <a:p>
            <a:endParaRPr lang="en-MY" dirty="0"/>
          </a:p>
        </p:txBody>
      </p:sp>
      <p:pic>
        <p:nvPicPr>
          <p:cNvPr id="11" name="图片 10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2" name="图片 11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Images -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609601" y="1545248"/>
            <a:ext cx="2743199" cy="4247562"/>
          </a:xfrm>
        </p:spPr>
        <p:txBody>
          <a:bodyPr/>
          <a:lstStyle/>
          <a:p>
            <a:endParaRPr lang="en-MY" dirty="0"/>
          </a:p>
        </p:txBody>
      </p:sp>
      <p:sp>
        <p:nvSpPr>
          <p:cNvPr id="13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8839200" y="1545249"/>
            <a:ext cx="2743200" cy="4247561"/>
          </a:xfrm>
        </p:spPr>
        <p:txBody>
          <a:bodyPr/>
          <a:lstStyle/>
          <a:p>
            <a:endParaRPr lang="en-MY" dirty="0"/>
          </a:p>
        </p:txBody>
      </p:sp>
      <p:pic>
        <p:nvPicPr>
          <p:cNvPr id="11" name="图片 10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2" name="图片 11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 -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0"/>
          <p:cNvSpPr>
            <a:spLocks noGrp="1"/>
          </p:cNvSpPr>
          <p:nvPr>
            <p:ph type="pic" sz="quarter" idx="10"/>
          </p:nvPr>
        </p:nvSpPr>
        <p:spPr>
          <a:xfrm>
            <a:off x="1181100" y="1752600"/>
            <a:ext cx="2133600" cy="2133600"/>
          </a:xfrm>
          <a:custGeom>
            <a:avLst/>
            <a:gdLst>
              <a:gd name="connsiteX0" fmla="*/ 1066800 w 2133600"/>
              <a:gd name="connsiteY0" fmla="*/ 0 h 2133600"/>
              <a:gd name="connsiteX1" fmla="*/ 2133600 w 2133600"/>
              <a:gd name="connsiteY1" fmla="*/ 1066800 h 2133600"/>
              <a:gd name="connsiteX2" fmla="*/ 1066800 w 2133600"/>
              <a:gd name="connsiteY2" fmla="*/ 2133600 h 2133600"/>
              <a:gd name="connsiteX3" fmla="*/ 0 w 2133600"/>
              <a:gd name="connsiteY3" fmla="*/ 1066800 h 2133600"/>
              <a:gd name="connsiteX4" fmla="*/ 1066800 w 2133600"/>
              <a:gd name="connsiteY4" fmla="*/ 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33600" h="2133600">
                <a:moveTo>
                  <a:pt x="1066800" y="0"/>
                </a:moveTo>
                <a:cubicBezTo>
                  <a:pt x="1655977" y="0"/>
                  <a:pt x="2133600" y="477623"/>
                  <a:pt x="2133600" y="1066800"/>
                </a:cubicBezTo>
                <a:cubicBezTo>
                  <a:pt x="2133600" y="1655977"/>
                  <a:pt x="1655977" y="2133600"/>
                  <a:pt x="1066800" y="2133600"/>
                </a:cubicBezTo>
                <a:cubicBezTo>
                  <a:pt x="477623" y="2133600"/>
                  <a:pt x="0" y="1655977"/>
                  <a:pt x="0" y="1066800"/>
                </a:cubicBez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MY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23" name="Picture Placeholder 22"/>
          <p:cNvSpPr>
            <a:spLocks noGrp="1"/>
          </p:cNvSpPr>
          <p:nvPr>
            <p:ph type="pic" sz="quarter" idx="11"/>
          </p:nvPr>
        </p:nvSpPr>
        <p:spPr>
          <a:xfrm>
            <a:off x="8877300" y="1752600"/>
            <a:ext cx="2133600" cy="2133600"/>
          </a:xfrm>
          <a:custGeom>
            <a:avLst/>
            <a:gdLst>
              <a:gd name="connsiteX0" fmla="*/ 1066800 w 2133600"/>
              <a:gd name="connsiteY0" fmla="*/ 0 h 2133600"/>
              <a:gd name="connsiteX1" fmla="*/ 2133600 w 2133600"/>
              <a:gd name="connsiteY1" fmla="*/ 1066800 h 2133600"/>
              <a:gd name="connsiteX2" fmla="*/ 1066800 w 2133600"/>
              <a:gd name="connsiteY2" fmla="*/ 2133600 h 2133600"/>
              <a:gd name="connsiteX3" fmla="*/ 0 w 2133600"/>
              <a:gd name="connsiteY3" fmla="*/ 1066800 h 2133600"/>
              <a:gd name="connsiteX4" fmla="*/ 1066800 w 2133600"/>
              <a:gd name="connsiteY4" fmla="*/ 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33600" h="2133600">
                <a:moveTo>
                  <a:pt x="1066800" y="0"/>
                </a:moveTo>
                <a:cubicBezTo>
                  <a:pt x="1655977" y="0"/>
                  <a:pt x="2133600" y="477623"/>
                  <a:pt x="2133600" y="1066800"/>
                </a:cubicBezTo>
                <a:cubicBezTo>
                  <a:pt x="2133600" y="1655977"/>
                  <a:pt x="1655977" y="2133600"/>
                  <a:pt x="1066800" y="2133600"/>
                </a:cubicBezTo>
                <a:cubicBezTo>
                  <a:pt x="477623" y="2133600"/>
                  <a:pt x="0" y="1655977"/>
                  <a:pt x="0" y="1066800"/>
                </a:cubicBez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MY" dirty="0"/>
          </a:p>
        </p:txBody>
      </p:sp>
      <p:sp>
        <p:nvSpPr>
          <p:cNvPr id="25" name="Picture Placeholder 24"/>
          <p:cNvSpPr>
            <a:spLocks noGrp="1"/>
          </p:cNvSpPr>
          <p:nvPr>
            <p:ph type="pic" sz="quarter" idx="12"/>
          </p:nvPr>
        </p:nvSpPr>
        <p:spPr>
          <a:xfrm>
            <a:off x="5029200" y="1752600"/>
            <a:ext cx="2133600" cy="2133600"/>
          </a:xfrm>
          <a:custGeom>
            <a:avLst/>
            <a:gdLst>
              <a:gd name="connsiteX0" fmla="*/ 1066800 w 2133600"/>
              <a:gd name="connsiteY0" fmla="*/ 0 h 2133600"/>
              <a:gd name="connsiteX1" fmla="*/ 2133600 w 2133600"/>
              <a:gd name="connsiteY1" fmla="*/ 1066800 h 2133600"/>
              <a:gd name="connsiteX2" fmla="*/ 1066800 w 2133600"/>
              <a:gd name="connsiteY2" fmla="*/ 2133600 h 2133600"/>
              <a:gd name="connsiteX3" fmla="*/ 0 w 2133600"/>
              <a:gd name="connsiteY3" fmla="*/ 1066800 h 2133600"/>
              <a:gd name="connsiteX4" fmla="*/ 1066800 w 2133600"/>
              <a:gd name="connsiteY4" fmla="*/ 0 h 2133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33600" h="2133600">
                <a:moveTo>
                  <a:pt x="1066800" y="0"/>
                </a:moveTo>
                <a:cubicBezTo>
                  <a:pt x="1655977" y="0"/>
                  <a:pt x="2133600" y="477623"/>
                  <a:pt x="2133600" y="1066800"/>
                </a:cubicBezTo>
                <a:cubicBezTo>
                  <a:pt x="2133600" y="1655977"/>
                  <a:pt x="1655977" y="2133600"/>
                  <a:pt x="1066800" y="2133600"/>
                </a:cubicBezTo>
                <a:cubicBezTo>
                  <a:pt x="477623" y="2133600"/>
                  <a:pt x="0" y="1655977"/>
                  <a:pt x="0" y="1066800"/>
                </a:cubicBezTo>
                <a:cubicBezTo>
                  <a:pt x="0" y="477623"/>
                  <a:pt x="477623" y="0"/>
                  <a:pt x="106680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MY" dirty="0"/>
          </a:p>
        </p:txBody>
      </p:sp>
      <p:pic>
        <p:nvPicPr>
          <p:cNvPr id="11" name="图片 10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2" name="图片 11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609601" y="1545248"/>
            <a:ext cx="3200399" cy="1883752"/>
          </a:xfrm>
        </p:spPr>
        <p:txBody>
          <a:bodyPr/>
          <a:lstStyle/>
          <a:p>
            <a:endParaRPr lang="en-MY" dirty="0"/>
          </a:p>
        </p:txBody>
      </p:sp>
      <p:sp>
        <p:nvSpPr>
          <p:cNvPr id="15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8382001" y="1545248"/>
            <a:ext cx="3200399" cy="1883752"/>
          </a:xfrm>
        </p:spPr>
        <p:txBody>
          <a:bodyPr/>
          <a:lstStyle/>
          <a:p>
            <a:endParaRPr lang="en-MY" dirty="0"/>
          </a:p>
        </p:txBody>
      </p:sp>
      <p:sp>
        <p:nvSpPr>
          <p:cNvPr id="16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4495801" y="1545248"/>
            <a:ext cx="3200399" cy="1883752"/>
          </a:xfrm>
        </p:spPr>
        <p:txBody>
          <a:bodyPr/>
          <a:lstStyle/>
          <a:p>
            <a:endParaRPr lang="en-MY" dirty="0"/>
          </a:p>
        </p:txBody>
      </p:sp>
      <p:pic>
        <p:nvPicPr>
          <p:cNvPr id="11" name="图片 10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2" name="图片 11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6" name="Picture Placeholder 5"/>
          <p:cNvSpPr>
            <a:spLocks noGrp="1"/>
          </p:cNvSpPr>
          <p:nvPr>
            <p:ph type="pic" sz="quarter" idx="10"/>
          </p:nvPr>
        </p:nvSpPr>
        <p:spPr>
          <a:xfrm>
            <a:off x="609600" y="1600200"/>
            <a:ext cx="1828800" cy="1828800"/>
          </a:xfrm>
        </p:spPr>
        <p:txBody>
          <a:bodyPr/>
          <a:lstStyle/>
          <a:p>
            <a:endParaRPr lang="en-MY" dirty="0"/>
          </a:p>
        </p:txBody>
      </p:sp>
      <p:sp>
        <p:nvSpPr>
          <p:cNvPr id="13" name="Picture Placeholder 5"/>
          <p:cNvSpPr>
            <a:spLocks noGrp="1"/>
          </p:cNvSpPr>
          <p:nvPr>
            <p:ph type="pic" sz="quarter" idx="11"/>
          </p:nvPr>
        </p:nvSpPr>
        <p:spPr>
          <a:xfrm>
            <a:off x="609600" y="3907788"/>
            <a:ext cx="1828800" cy="1828800"/>
          </a:xfrm>
        </p:spPr>
        <p:txBody>
          <a:bodyPr/>
          <a:lstStyle/>
          <a:p>
            <a:endParaRPr lang="en-MY" dirty="0"/>
          </a:p>
        </p:txBody>
      </p:sp>
      <p:sp>
        <p:nvSpPr>
          <p:cNvPr id="14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6096000" y="1600200"/>
            <a:ext cx="1828800" cy="1828800"/>
          </a:xfrm>
        </p:spPr>
        <p:txBody>
          <a:bodyPr/>
          <a:lstStyle/>
          <a:p>
            <a:endParaRPr lang="en-MY" dirty="0"/>
          </a:p>
        </p:txBody>
      </p:sp>
      <p:sp>
        <p:nvSpPr>
          <p:cNvPr id="15" name="Picture Placeholder 5"/>
          <p:cNvSpPr>
            <a:spLocks noGrp="1"/>
          </p:cNvSpPr>
          <p:nvPr>
            <p:ph type="pic" sz="quarter" idx="13"/>
          </p:nvPr>
        </p:nvSpPr>
        <p:spPr>
          <a:xfrm>
            <a:off x="6096000" y="3907788"/>
            <a:ext cx="1828800" cy="1828800"/>
          </a:xfrm>
        </p:spPr>
        <p:txBody>
          <a:bodyPr/>
          <a:lstStyle/>
          <a:p>
            <a:endParaRPr lang="en-MY" dirty="0"/>
          </a:p>
        </p:txBody>
      </p:sp>
      <p:pic>
        <p:nvPicPr>
          <p:cNvPr id="12" name="图片 11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6" name="图片 15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hapter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oup of people in a room&#10;&#10;Description automatically generated"/>
          <p:cNvPicPr>
            <a:picLocks noChangeAspect="1"/>
          </p:cNvPicPr>
          <p:nvPr userDrawn="1"/>
        </p:nvPicPr>
        <p:blipFill>
          <a:blip r:embed="rId2"/>
          <a:srcRect t="3125" b="2187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矩形 10"/>
          <p:cNvSpPr/>
          <p:nvPr userDrawn="1"/>
        </p:nvSpPr>
        <p:spPr>
          <a:xfrm>
            <a:off x="-23770" y="0"/>
            <a:ext cx="12192000" cy="6858000"/>
          </a:xfrm>
          <a:prstGeom prst="rect">
            <a:avLst/>
          </a:prstGeom>
          <a:solidFill>
            <a:schemeClr val="bg1"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200400" y="2676173"/>
            <a:ext cx="5791200" cy="1477328"/>
          </a:xfrm>
        </p:spPr>
        <p:txBody>
          <a:bodyPr/>
          <a:lstStyle>
            <a:lvl1pPr algn="ctr">
              <a:defRPr sz="4800" b="1"/>
            </a:lvl1pPr>
          </a:lstStyle>
          <a:p>
            <a:r>
              <a:rPr lang="en-US" dirty="0"/>
              <a:t>Click to edit</a:t>
            </a:r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11582401" y="381000"/>
            <a:ext cx="609600" cy="6477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/>
          </a:p>
        </p:txBody>
      </p:sp>
      <p:sp>
        <p:nvSpPr>
          <p:cNvPr id="4" name="Rectangle 3"/>
          <p:cNvSpPr/>
          <p:nvPr userDrawn="1"/>
        </p:nvSpPr>
        <p:spPr>
          <a:xfrm>
            <a:off x="11582401" y="0"/>
            <a:ext cx="609600" cy="612648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/>
          </a:p>
        </p:txBody>
      </p:sp>
      <p:grpSp>
        <p:nvGrpSpPr>
          <p:cNvPr id="5" name="Group 5"/>
          <p:cNvGrpSpPr/>
          <p:nvPr userDrawn="1"/>
        </p:nvGrpSpPr>
        <p:grpSpPr>
          <a:xfrm>
            <a:off x="4541217" y="1516136"/>
            <a:ext cx="3109566" cy="911046"/>
            <a:chOff x="4541217" y="1177231"/>
            <a:chExt cx="3109566" cy="911046"/>
          </a:xfrm>
        </p:grpSpPr>
        <p:sp>
          <p:nvSpPr>
            <p:cNvPr id="9" name="Rectangle 8"/>
            <p:cNvSpPr/>
            <p:nvPr/>
          </p:nvSpPr>
          <p:spPr>
            <a:xfrm>
              <a:off x="4541217" y="1177231"/>
              <a:ext cx="3109566" cy="651569"/>
            </a:xfrm>
            <a:prstGeom prst="rect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 sz="2800" b="1" dirty="0">
                <a:solidFill>
                  <a:schemeClr val="accent1"/>
                </a:solidFill>
                <a:latin typeface="+mj-lt"/>
              </a:endParaRPr>
            </a:p>
          </p:txBody>
        </p:sp>
        <p:sp>
          <p:nvSpPr>
            <p:cNvPr id="10" name="Right Triangle 9"/>
            <p:cNvSpPr/>
            <p:nvPr/>
          </p:nvSpPr>
          <p:spPr>
            <a:xfrm rot="18900000">
              <a:off x="5913103" y="1717294"/>
              <a:ext cx="365794" cy="370983"/>
            </a:xfrm>
            <a:prstGeom prst="rtTriangle">
              <a:avLst/>
            </a:prstGeom>
            <a:solidFill>
              <a:schemeClr val="accent6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icture Placeholder 17"/>
          <p:cNvSpPr>
            <a:spLocks noGrp="1"/>
          </p:cNvSpPr>
          <p:nvPr>
            <p:ph type="pic" sz="quarter" idx="10"/>
          </p:nvPr>
        </p:nvSpPr>
        <p:spPr>
          <a:xfrm>
            <a:off x="5147925" y="1733551"/>
            <a:ext cx="1896150" cy="4077630"/>
          </a:xfrm>
          <a:custGeom>
            <a:avLst/>
            <a:gdLst>
              <a:gd name="connsiteX0" fmla="*/ 288075 w 1896150"/>
              <a:gd name="connsiteY0" fmla="*/ 0 h 4077630"/>
              <a:gd name="connsiteX1" fmla="*/ 1608074 w 1896150"/>
              <a:gd name="connsiteY1" fmla="*/ 0 h 4077630"/>
              <a:gd name="connsiteX2" fmla="*/ 1608074 w 1896150"/>
              <a:gd name="connsiteY2" fmla="*/ 4590 h 4077630"/>
              <a:gd name="connsiteX3" fmla="*/ 1695196 w 1896150"/>
              <a:gd name="connsiteY3" fmla="*/ 4590 h 4077630"/>
              <a:gd name="connsiteX4" fmla="*/ 1896150 w 1896150"/>
              <a:gd name="connsiteY4" fmla="*/ 206242 h 4077630"/>
              <a:gd name="connsiteX5" fmla="*/ 1896150 w 1896150"/>
              <a:gd name="connsiteY5" fmla="*/ 3875978 h 4077630"/>
              <a:gd name="connsiteX6" fmla="*/ 1695196 w 1896150"/>
              <a:gd name="connsiteY6" fmla="*/ 4077630 h 4077630"/>
              <a:gd name="connsiteX7" fmla="*/ 200954 w 1896150"/>
              <a:gd name="connsiteY7" fmla="*/ 4077630 h 4077630"/>
              <a:gd name="connsiteX8" fmla="*/ 0 w 1896150"/>
              <a:gd name="connsiteY8" fmla="*/ 3875978 h 4077630"/>
              <a:gd name="connsiteX9" fmla="*/ 0 w 1896150"/>
              <a:gd name="connsiteY9" fmla="*/ 206242 h 4077630"/>
              <a:gd name="connsiteX10" fmla="*/ 200954 w 1896150"/>
              <a:gd name="connsiteY10" fmla="*/ 4590 h 4077630"/>
              <a:gd name="connsiteX11" fmla="*/ 288075 w 1896150"/>
              <a:gd name="connsiteY11" fmla="*/ 4590 h 4077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96150" h="4077630">
                <a:moveTo>
                  <a:pt x="288075" y="0"/>
                </a:moveTo>
                <a:lnTo>
                  <a:pt x="1608074" y="0"/>
                </a:lnTo>
                <a:lnTo>
                  <a:pt x="1608074" y="4590"/>
                </a:lnTo>
                <a:lnTo>
                  <a:pt x="1695196" y="4590"/>
                </a:lnTo>
                <a:cubicBezTo>
                  <a:pt x="1806180" y="4590"/>
                  <a:pt x="1896150" y="94873"/>
                  <a:pt x="1896150" y="206242"/>
                </a:cubicBezTo>
                <a:lnTo>
                  <a:pt x="1896150" y="3875978"/>
                </a:lnTo>
                <a:cubicBezTo>
                  <a:pt x="1896150" y="3987347"/>
                  <a:pt x="1806180" y="4077630"/>
                  <a:pt x="1695196" y="4077630"/>
                </a:cubicBezTo>
                <a:lnTo>
                  <a:pt x="200954" y="4077630"/>
                </a:lnTo>
                <a:cubicBezTo>
                  <a:pt x="89970" y="4077630"/>
                  <a:pt x="0" y="3987347"/>
                  <a:pt x="0" y="3875978"/>
                </a:cubicBezTo>
                <a:lnTo>
                  <a:pt x="0" y="206242"/>
                </a:lnTo>
                <a:cubicBezTo>
                  <a:pt x="0" y="94872"/>
                  <a:pt x="89970" y="4590"/>
                  <a:pt x="200954" y="4590"/>
                </a:cubicBezTo>
                <a:lnTo>
                  <a:pt x="288075" y="459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MY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ptop Mock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20"/>
          <p:cNvSpPr>
            <a:spLocks noGrp="1"/>
          </p:cNvSpPr>
          <p:nvPr>
            <p:ph type="pic" sz="quarter" idx="10"/>
          </p:nvPr>
        </p:nvSpPr>
        <p:spPr>
          <a:xfrm>
            <a:off x="-35952" y="2391156"/>
            <a:ext cx="4599432" cy="2602410"/>
          </a:xfrm>
          <a:custGeom>
            <a:avLst/>
            <a:gdLst>
              <a:gd name="connsiteX0" fmla="*/ 0 w 4599432"/>
              <a:gd name="connsiteY0" fmla="*/ 0 h 2602410"/>
              <a:gd name="connsiteX1" fmla="*/ 4599432 w 4599432"/>
              <a:gd name="connsiteY1" fmla="*/ 0 h 2602410"/>
              <a:gd name="connsiteX2" fmla="*/ 4599432 w 4599432"/>
              <a:gd name="connsiteY2" fmla="*/ 2602410 h 2602410"/>
              <a:gd name="connsiteX3" fmla="*/ 0 w 4599432"/>
              <a:gd name="connsiteY3" fmla="*/ 2602410 h 2602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99432" h="2602410">
                <a:moveTo>
                  <a:pt x="0" y="0"/>
                </a:moveTo>
                <a:lnTo>
                  <a:pt x="4599432" y="0"/>
                </a:lnTo>
                <a:lnTo>
                  <a:pt x="4599432" y="2602410"/>
                </a:lnTo>
                <a:lnTo>
                  <a:pt x="0" y="260241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en-MY" dirty="0"/>
          </a:p>
        </p:txBody>
      </p:sp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pic>
        <p:nvPicPr>
          <p:cNvPr id="22" name="Picture 21" descr="A screenshot of a computer screen&#10;&#10;Description automatically generated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-967333" y="2254186"/>
            <a:ext cx="6462194" cy="3003486"/>
          </a:xfrm>
          <a:custGeom>
            <a:avLst/>
            <a:gdLst>
              <a:gd name="connsiteX0" fmla="*/ 1143000 w 7772400"/>
              <a:gd name="connsiteY0" fmla="*/ 194854 h 4180114"/>
              <a:gd name="connsiteX1" fmla="*/ 1143000 w 7772400"/>
              <a:gd name="connsiteY1" fmla="*/ 3776254 h 4180114"/>
              <a:gd name="connsiteX2" fmla="*/ 6629402 w 7772400"/>
              <a:gd name="connsiteY2" fmla="*/ 3776254 h 4180114"/>
              <a:gd name="connsiteX3" fmla="*/ 6629402 w 7772400"/>
              <a:gd name="connsiteY3" fmla="*/ 194854 h 4180114"/>
              <a:gd name="connsiteX4" fmla="*/ 0 w 7772400"/>
              <a:gd name="connsiteY4" fmla="*/ 0 h 4180114"/>
              <a:gd name="connsiteX5" fmla="*/ 7772400 w 7772400"/>
              <a:gd name="connsiteY5" fmla="*/ 0 h 4180114"/>
              <a:gd name="connsiteX6" fmla="*/ 7772400 w 7772400"/>
              <a:gd name="connsiteY6" fmla="*/ 4180114 h 4180114"/>
              <a:gd name="connsiteX7" fmla="*/ 0 w 7772400"/>
              <a:gd name="connsiteY7" fmla="*/ 4180114 h 41801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772400" h="4180114">
                <a:moveTo>
                  <a:pt x="1143000" y="194854"/>
                </a:moveTo>
                <a:lnTo>
                  <a:pt x="1143000" y="3776254"/>
                </a:lnTo>
                <a:lnTo>
                  <a:pt x="6629402" y="3776254"/>
                </a:lnTo>
                <a:lnTo>
                  <a:pt x="6629402" y="194854"/>
                </a:lnTo>
                <a:close/>
                <a:moveTo>
                  <a:pt x="0" y="0"/>
                </a:moveTo>
                <a:lnTo>
                  <a:pt x="7772400" y="0"/>
                </a:lnTo>
                <a:lnTo>
                  <a:pt x="7772400" y="4180114"/>
                </a:lnTo>
                <a:lnTo>
                  <a:pt x="0" y="4180114"/>
                </a:lnTo>
                <a:close/>
              </a:path>
            </a:pathLst>
          </a:custGeom>
        </p:spPr>
      </p:pic>
      <p:pic>
        <p:nvPicPr>
          <p:cNvPr id="11" name="图片 10" descr="logo[1].png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2" name="图片 11" descr="透明版.png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9" name="Rectangle 8"/>
          <p:cNvSpPr/>
          <p:nvPr userDrawn="1"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3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5" name="Picture Placeholder 4"/>
          <p:cNvSpPr>
            <a:spLocks noGrp="1"/>
          </p:cNvSpPr>
          <p:nvPr>
            <p:ph type="pic" sz="quarter" idx="10"/>
          </p:nvPr>
        </p:nvSpPr>
        <p:spPr>
          <a:xfrm>
            <a:off x="3352800" y="1600200"/>
            <a:ext cx="1828800" cy="1828800"/>
          </a:xfrm>
        </p:spPr>
        <p:txBody>
          <a:bodyPr/>
          <a:lstStyle/>
          <a:p>
            <a:endParaRPr lang="en-MY" dirty="0"/>
          </a:p>
        </p:txBody>
      </p:sp>
      <p:sp>
        <p:nvSpPr>
          <p:cNvPr id="13" name="Picture Placeholder 4"/>
          <p:cNvSpPr>
            <a:spLocks noGrp="1"/>
          </p:cNvSpPr>
          <p:nvPr>
            <p:ph type="pic" sz="quarter" idx="11"/>
          </p:nvPr>
        </p:nvSpPr>
        <p:spPr>
          <a:xfrm>
            <a:off x="7010400" y="1600200"/>
            <a:ext cx="1828800" cy="1828800"/>
          </a:xfrm>
        </p:spPr>
        <p:txBody>
          <a:bodyPr/>
          <a:lstStyle/>
          <a:p>
            <a:endParaRPr lang="en-MY" dirty="0"/>
          </a:p>
        </p:txBody>
      </p:sp>
      <p:pic>
        <p:nvPicPr>
          <p:cNvPr id="11" name="图片 10" descr="logo[1].png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2" name="图片 11" descr="透明版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s and C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 userDrawn="1"/>
        </p:nvGrpSpPr>
        <p:grpSpPr>
          <a:xfrm>
            <a:off x="609600" y="1043940"/>
            <a:ext cx="10972800" cy="45719"/>
            <a:chOff x="0" y="990600"/>
            <a:chExt cx="12192001" cy="45719"/>
          </a:xfrm>
        </p:grpSpPr>
        <p:sp>
          <p:nvSpPr>
            <p:cNvPr id="7" name="Rectangle 6"/>
            <p:cNvSpPr/>
            <p:nvPr/>
          </p:nvSpPr>
          <p:spPr>
            <a:xfrm>
              <a:off x="0" y="990600"/>
              <a:ext cx="11811000" cy="45719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1623040" y="990600"/>
              <a:ext cx="568961" cy="45719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609600" y="230151"/>
            <a:ext cx="10972800" cy="813789"/>
          </a:xfrm>
        </p:spPr>
        <p:txBody>
          <a:bodyPr lIns="0" tIns="0" rIns="0" bIns="0">
            <a:normAutofit/>
          </a:bodyPr>
          <a:lstStyle>
            <a:lvl1pPr algn="l">
              <a:defRPr sz="4000" b="1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  <a:endParaRPr lang="en-MY" dirty="0"/>
          </a:p>
        </p:txBody>
      </p:sp>
      <p:pic>
        <p:nvPicPr>
          <p:cNvPr id="13" name="Graphic 12" descr="Thumbs Up Sign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228600" y="1905000"/>
            <a:ext cx="2438400" cy="2438400"/>
          </a:xfrm>
          <a:prstGeom prst="rect">
            <a:avLst/>
          </a:prstGeom>
        </p:spPr>
      </p:pic>
      <p:pic>
        <p:nvPicPr>
          <p:cNvPr id="14" name="Graphic 13" descr="Thumbs Up Sign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800000">
            <a:off x="9982200" y="2514600"/>
            <a:ext cx="2438400" cy="2438400"/>
          </a:xfrm>
          <a:prstGeom prst="rect">
            <a:avLst/>
          </a:prstGeom>
        </p:spPr>
      </p:pic>
      <p:sp>
        <p:nvSpPr>
          <p:cNvPr id="18" name="Rectangle 8"/>
          <p:cNvSpPr/>
          <p:nvPr userDrawn="1"/>
        </p:nvSpPr>
        <p:spPr>
          <a:xfrm>
            <a:off x="0" y="6248400"/>
            <a:ext cx="12192000" cy="609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sp>
        <p:nvSpPr>
          <p:cNvPr id="19" name="Rectangle 2"/>
          <p:cNvSpPr/>
          <p:nvPr userDrawn="1"/>
        </p:nvSpPr>
        <p:spPr>
          <a:xfrm>
            <a:off x="0" y="6248400"/>
            <a:ext cx="152400" cy="609600"/>
          </a:xfrm>
          <a:prstGeom prst="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en-MY" dirty="0"/>
          </a:p>
        </p:txBody>
      </p:sp>
      <p:pic>
        <p:nvPicPr>
          <p:cNvPr id="11" name="图片 10" descr="logo[1].png"/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9425284" y="6361766"/>
            <a:ext cx="2314318" cy="424820"/>
          </a:xfrm>
          <a:prstGeom prst="rect">
            <a:avLst/>
          </a:prstGeom>
        </p:spPr>
      </p:pic>
      <p:pic>
        <p:nvPicPr>
          <p:cNvPr id="12" name="图片 11" descr="透明版.png"/>
          <p:cNvPicPr>
            <a:picLocks noChangeAspect="1"/>
          </p:cNvPicPr>
          <p:nvPr userDrawn="1"/>
        </p:nvPicPr>
        <p:blipFill>
          <a:blip r:embed="rId7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tore front at day&#10;&#10;Description automatically generated"/>
          <p:cNvPicPr>
            <a:picLocks noChangeAspect="1"/>
          </p:cNvPicPr>
          <p:nvPr userDrawn="1"/>
        </p:nvPicPr>
        <p:blipFill>
          <a:blip r:embed="rId2">
            <a:grayscl/>
            <a:lum bright="30000"/>
          </a:blip>
          <a:srcRect b="1562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矩形 15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8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95274" y="2719385"/>
            <a:ext cx="10972800" cy="638177"/>
          </a:xfrm>
        </p:spPr>
        <p:txBody>
          <a:bodyPr lIns="0" tIns="0" rIns="0" bIns="0" anchor="b">
            <a:noAutofit/>
          </a:bodyPr>
          <a:lstStyle>
            <a:lvl1pPr algn="ctr">
              <a:defRPr sz="3600" b="1"/>
            </a:lvl1pPr>
          </a:lstStyle>
          <a:p>
            <a:r>
              <a:rPr lang="en-US" dirty="0"/>
              <a:t>THANKS FOR YOUR ATTENTION!</a:t>
            </a:r>
            <a:endParaRPr lang="en-MY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3300434" y="4503748"/>
            <a:ext cx="5867400" cy="425450"/>
          </a:xfrm>
        </p:spPr>
        <p:txBody>
          <a:bodyPr lIns="0" tIns="0" rIns="0" bIns="0"/>
          <a:lstStyle>
            <a:lvl1pPr marL="0" indent="0" algn="ctr">
              <a:buNone/>
              <a:defRPr sz="2400" b="1" baseline="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Reporter:  XXXX    Time: XXXXX</a:t>
            </a:r>
            <a:endParaRPr lang="en-MY" dirty="0"/>
          </a:p>
        </p:txBody>
      </p:sp>
      <p:grpSp>
        <p:nvGrpSpPr>
          <p:cNvPr id="21" name="组合 20"/>
          <p:cNvGrpSpPr/>
          <p:nvPr userDrawn="1"/>
        </p:nvGrpSpPr>
        <p:grpSpPr>
          <a:xfrm flipV="1">
            <a:off x="-47668" y="2786058"/>
            <a:ext cx="2119306" cy="500066"/>
            <a:chOff x="0" y="3571876"/>
            <a:chExt cx="12192000" cy="112297"/>
          </a:xfrm>
        </p:grpSpPr>
        <p:sp>
          <p:nvSpPr>
            <p:cNvPr id="10" name="Rectangle 9"/>
            <p:cNvSpPr/>
            <p:nvPr userDrawn="1"/>
          </p:nvSpPr>
          <p:spPr>
            <a:xfrm rot="5400000">
              <a:off x="6060280" y="-2488404"/>
              <a:ext cx="71439" cy="1219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18" name="Rectangle 2"/>
            <p:cNvSpPr/>
            <p:nvPr userDrawn="1"/>
          </p:nvSpPr>
          <p:spPr>
            <a:xfrm rot="5400000">
              <a:off x="6073140" y="-2434686"/>
              <a:ext cx="45719" cy="12192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grpSp>
        <p:nvGrpSpPr>
          <p:cNvPr id="12" name="组合 11"/>
          <p:cNvGrpSpPr/>
          <p:nvPr userDrawn="1"/>
        </p:nvGrpSpPr>
        <p:grpSpPr>
          <a:xfrm flipV="1">
            <a:off x="10096528" y="2803530"/>
            <a:ext cx="2119306" cy="500066"/>
            <a:chOff x="0" y="3571876"/>
            <a:chExt cx="12192000" cy="112297"/>
          </a:xfrm>
        </p:grpSpPr>
        <p:sp>
          <p:nvSpPr>
            <p:cNvPr id="13" name="Rectangle 9"/>
            <p:cNvSpPr/>
            <p:nvPr userDrawn="1"/>
          </p:nvSpPr>
          <p:spPr>
            <a:xfrm rot="5400000">
              <a:off x="6060280" y="-2488404"/>
              <a:ext cx="71439" cy="12192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  <p:sp>
          <p:nvSpPr>
            <p:cNvPr id="14" name="Rectangle 2"/>
            <p:cNvSpPr/>
            <p:nvPr userDrawn="1"/>
          </p:nvSpPr>
          <p:spPr>
            <a:xfrm rot="5400000">
              <a:off x="6073140" y="-2434686"/>
              <a:ext cx="45719" cy="12192000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en-MY" dirty="0"/>
            </a:p>
          </p:txBody>
        </p:sp>
      </p:grpSp>
      <p:pic>
        <p:nvPicPr>
          <p:cNvPr id="17" name="图片 16" descr="logo[1].png"/>
          <p:cNvPicPr>
            <a:picLocks noChangeAspect="1"/>
          </p:cNvPicPr>
          <p:nvPr userDrawn="1"/>
        </p:nvPicPr>
        <p:blipFill>
          <a:blip r:embed="rId3">
            <a:duotone>
              <a:prstClr val="black"/>
              <a:schemeClr val="tx2">
                <a:tint val="45000"/>
                <a:satMod val="400000"/>
              </a:schemeClr>
            </a:duotone>
            <a:lum bright="-40000"/>
          </a:blip>
          <a:stretch>
            <a:fillRect/>
          </a:stretch>
        </p:blipFill>
        <p:spPr>
          <a:xfrm>
            <a:off x="380961" y="285728"/>
            <a:ext cx="4476789" cy="821767"/>
          </a:xfrm>
          <a:prstGeom prst="rect">
            <a:avLst/>
          </a:prstGeom>
        </p:spPr>
      </p:pic>
      <p:pic>
        <p:nvPicPr>
          <p:cNvPr id="19" name="图片 18" descr="透明版.png"/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9525024" y="-642966"/>
            <a:ext cx="2324106" cy="2324106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5" Type="http://schemas.openxmlformats.org/officeDocument/2006/relationships/theme" Target="../theme/theme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MY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MY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7.jpe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3.xml"/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4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6.xml"/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7.xml"/><Relationship Id="rId6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svg"/><Relationship Id="rId3" Type="http://schemas.openxmlformats.org/officeDocument/2006/relationships/image" Target="../media/image31.png"/><Relationship Id="rId2" Type="http://schemas.openxmlformats.org/officeDocument/2006/relationships/image" Target="../media/image30.svg"/><Relationship Id="rId1" Type="http://schemas.openxmlformats.org/officeDocument/2006/relationships/image" Target="../media/image2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89606" y="2564904"/>
            <a:ext cx="9612788" cy="1330325"/>
          </a:xfrm>
        </p:spPr>
        <p:txBody>
          <a:bodyPr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zh-CN" altLang="en-US" b="0" dirty="0">
                <a:latin typeface="微软雅黑" charset="0"/>
                <a:ea typeface="微软雅黑" charset="0"/>
                <a:cs typeface="微软雅黑" charset="0"/>
              </a:rPr>
              <a:t>结合大模型的表格识别方法与系统</a:t>
            </a:r>
            <a:br>
              <a:rPr lang="zh-CN" altLang="en-US" b="0" dirty="0">
                <a:latin typeface="微软雅黑" charset="0"/>
                <a:ea typeface="微软雅黑" charset="0"/>
                <a:cs typeface="微软雅黑" charset="0"/>
              </a:rPr>
            </a:br>
            <a:r>
              <a:rPr lang="zh-CN" altLang="en-US" sz="2700" b="0" dirty="0">
                <a:latin typeface="微软雅黑" charset="0"/>
                <a:ea typeface="微软雅黑" charset="0"/>
                <a:cs typeface="微软雅黑" charset="0"/>
              </a:rPr>
              <a:t>中期答辩</a:t>
            </a:r>
            <a:endParaRPr lang="zh-CN" altLang="en-US" sz="2700" b="0" dirty="0"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4294967295"/>
          </p:nvPr>
        </p:nvSpPr>
        <p:spPr>
          <a:xfrm>
            <a:off x="2500338" y="4509120"/>
            <a:ext cx="7268070" cy="1656184"/>
          </a:xfrm>
        </p:spPr>
        <p:txBody>
          <a:bodyPr>
            <a:normAutofit fontScale="77500" lnSpcReduction="20000"/>
          </a:bodyPr>
          <a:lstStyle/>
          <a:p>
            <a:pPr algn="ctr"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2359A8"/>
                </a:solidFill>
                <a:latin typeface="+mj-lt"/>
                <a:ea typeface="宋体" pitchFamily="2" charset="-122"/>
              </a:rPr>
              <a:t>报告人：覃浩</a:t>
            </a:r>
            <a:endParaRPr lang="en-US" altLang="zh-CN" b="1" dirty="0">
              <a:solidFill>
                <a:srgbClr val="2359A8"/>
              </a:solidFill>
              <a:latin typeface="+mj-lt"/>
              <a:ea typeface="宋体" pitchFamily="2" charset="-122"/>
            </a:endParaRPr>
          </a:p>
          <a:p>
            <a:pPr algn="ctr">
              <a:lnSpc>
                <a:spcPct val="150000"/>
              </a:lnSpc>
              <a:buNone/>
            </a:pPr>
            <a:r>
              <a:rPr lang="zh-CN" altLang="en-US" b="1" dirty="0">
                <a:solidFill>
                  <a:srgbClr val="2359A8"/>
                </a:solidFill>
                <a:latin typeface="+mj-lt"/>
                <a:ea typeface="宋体" pitchFamily="2" charset="-122"/>
              </a:rPr>
              <a:t>指导老师：卢光明</a:t>
            </a:r>
            <a:endParaRPr lang="en-US" altLang="zh-CN" b="1" dirty="0">
              <a:solidFill>
                <a:srgbClr val="2359A8"/>
              </a:solidFill>
              <a:latin typeface="+mj-lt"/>
              <a:ea typeface="宋体" pitchFamily="2" charset="-122"/>
            </a:endParaRPr>
          </a:p>
          <a:p>
            <a:pPr algn="ctr">
              <a:lnSpc>
                <a:spcPct val="150000"/>
              </a:lnSpc>
              <a:buNone/>
            </a:pPr>
            <a:r>
              <a:rPr lang="en-US" altLang="zh-CN" b="1" dirty="0">
                <a:solidFill>
                  <a:srgbClr val="2359A8"/>
                </a:solidFill>
                <a:latin typeface="+mj-lt"/>
                <a:ea typeface="宋体" pitchFamily="2" charset="-122"/>
              </a:rPr>
              <a:t>2026</a:t>
            </a:r>
            <a:r>
              <a:rPr lang="zh-CN" altLang="en-US" b="1" dirty="0">
                <a:solidFill>
                  <a:srgbClr val="2359A8"/>
                </a:solidFill>
                <a:latin typeface="+mj-lt"/>
                <a:ea typeface="宋体" pitchFamily="2" charset="-122"/>
              </a:rPr>
              <a:t>年</a:t>
            </a:r>
            <a:r>
              <a:rPr lang="en-US" altLang="zh-CN" b="1" dirty="0">
                <a:solidFill>
                  <a:srgbClr val="2359A8"/>
                </a:solidFill>
                <a:latin typeface="+mj-lt"/>
                <a:ea typeface="宋体" pitchFamily="2" charset="-122"/>
              </a:rPr>
              <a:t>6</a:t>
            </a:r>
            <a:r>
              <a:rPr lang="zh-CN" altLang="en-US" b="1" dirty="0">
                <a:solidFill>
                  <a:srgbClr val="2359A8"/>
                </a:solidFill>
                <a:latin typeface="+mj-lt"/>
                <a:ea typeface="宋体" pitchFamily="2" charset="-122"/>
              </a:rPr>
              <a:t>月</a:t>
            </a:r>
            <a:r>
              <a:rPr lang="en-US" altLang="zh-CN" b="1" dirty="0">
                <a:solidFill>
                  <a:srgbClr val="2359A8"/>
                </a:solidFill>
                <a:latin typeface="+mj-lt"/>
                <a:ea typeface="宋体" pitchFamily="2" charset="-122"/>
              </a:rPr>
              <a:t>29</a:t>
            </a:r>
            <a:r>
              <a:rPr lang="zh-CN" altLang="en-US" b="1" dirty="0">
                <a:solidFill>
                  <a:srgbClr val="2359A8"/>
                </a:solidFill>
                <a:latin typeface="+mj-lt"/>
                <a:ea typeface="宋体" pitchFamily="2" charset="-122"/>
              </a:rPr>
              <a:t>日</a:t>
            </a:r>
            <a:endParaRPr lang="en-MY" b="1" dirty="0">
              <a:solidFill>
                <a:srgbClr val="2359A8"/>
              </a:solidFill>
              <a:latin typeface="+mj-lt"/>
              <a:ea typeface="宋体" pitchFamily="2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研究目的及意义</a:t>
            </a:r>
            <a:endParaRPr lang="en-MY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205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2025" y="1340485"/>
            <a:ext cx="5981700" cy="4457700"/>
          </a:xfrm>
          <a:prstGeom prst="rect">
            <a:avLst/>
          </a:prstGeom>
        </p:spPr>
      </p:pic>
      <p:sp>
        <p:nvSpPr>
          <p:cNvPr id="206" name="Shape 3"/>
          <p:cNvSpPr/>
          <p:nvPr/>
        </p:nvSpPr>
        <p:spPr>
          <a:xfrm>
            <a:off x="1200150" y="1578610"/>
            <a:ext cx="5524500" cy="1200150"/>
          </a:xfrm>
          <a:prstGeom prst="roundRect">
            <a:avLst>
              <a:gd name="adj" fmla="val 14512"/>
            </a:avLst>
          </a:prstGeom>
          <a:solidFill>
            <a:srgbClr val="F8FBFF"/>
          </a:solidFill>
          <a:ln w="9525">
            <a:solidFill>
              <a:srgbClr val="DBE3EF"/>
            </a:solidFill>
            <a:prstDash val="solid"/>
          </a:ln>
        </p:spPr>
      </p:sp>
      <p:sp>
        <p:nvSpPr>
          <p:cNvPr id="207" name="Shape 4"/>
          <p:cNvSpPr/>
          <p:nvPr/>
        </p:nvSpPr>
        <p:spPr>
          <a:xfrm>
            <a:off x="1200150" y="2931160"/>
            <a:ext cx="5524500" cy="1200150"/>
          </a:xfrm>
          <a:prstGeom prst="roundRect">
            <a:avLst>
              <a:gd name="adj" fmla="val 14512"/>
            </a:avLst>
          </a:prstGeom>
          <a:solidFill>
            <a:srgbClr val="F8FBFF"/>
          </a:solidFill>
          <a:ln w="9525">
            <a:solidFill>
              <a:srgbClr val="DBE3EF"/>
            </a:solidFill>
            <a:prstDash val="solid"/>
          </a:ln>
        </p:spPr>
      </p:sp>
      <p:sp>
        <p:nvSpPr>
          <p:cNvPr id="208" name="Shape 5"/>
          <p:cNvSpPr/>
          <p:nvPr/>
        </p:nvSpPr>
        <p:spPr>
          <a:xfrm>
            <a:off x="1200150" y="4283710"/>
            <a:ext cx="5524500" cy="1200150"/>
          </a:xfrm>
          <a:prstGeom prst="roundRect">
            <a:avLst>
              <a:gd name="adj" fmla="val 14512"/>
            </a:avLst>
          </a:prstGeom>
          <a:solidFill>
            <a:srgbClr val="F8FBFF"/>
          </a:solidFill>
          <a:ln w="9525">
            <a:solidFill>
              <a:srgbClr val="DBE3EF"/>
            </a:solidFill>
            <a:prstDash val="solid"/>
          </a:ln>
        </p:spPr>
      </p:sp>
      <p:pic>
        <p:nvPicPr>
          <p:cNvPr id="209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2325" y="1340485"/>
            <a:ext cx="4152900" cy="4457700"/>
          </a:xfrm>
          <a:prstGeom prst="rect">
            <a:avLst/>
          </a:prstGeom>
        </p:spPr>
      </p:pic>
      <p:sp>
        <p:nvSpPr>
          <p:cNvPr id="210" name="Shape 6"/>
          <p:cNvSpPr/>
          <p:nvPr/>
        </p:nvSpPr>
        <p:spPr>
          <a:xfrm>
            <a:off x="7372350" y="1540510"/>
            <a:ext cx="3771900" cy="2710160"/>
          </a:xfrm>
          <a:prstGeom prst="roundRect">
            <a:avLst>
              <a:gd name="adj" fmla="val 2846"/>
            </a:avLst>
          </a:prstGeom>
          <a:solidFill>
            <a:srgbClr val="FFFFFF">
              <a:alpha val="0"/>
            </a:srgbClr>
          </a:solidFill>
          <a:ln w="9525">
            <a:solidFill>
              <a:srgbClr val="D8E1EE"/>
            </a:solidFill>
            <a:prstDash val="solid"/>
          </a:ln>
        </p:spPr>
      </p:sp>
      <p:sp>
        <p:nvSpPr>
          <p:cNvPr id="211" name="Shape 7"/>
          <p:cNvSpPr/>
          <p:nvPr/>
        </p:nvSpPr>
        <p:spPr>
          <a:xfrm>
            <a:off x="7372350" y="4384020"/>
            <a:ext cx="3771900" cy="1214140"/>
          </a:xfrm>
          <a:prstGeom prst="roundRect">
            <a:avLst>
              <a:gd name="adj" fmla="val 14180"/>
            </a:avLst>
          </a:prstGeom>
          <a:solidFill>
            <a:srgbClr val="F3F7FD"/>
          </a:solidFill>
          <a:ln w="9525">
            <a:solidFill>
              <a:srgbClr val="D7E0EC"/>
            </a:solidFill>
            <a:prstDash val="solid"/>
          </a:ln>
        </p:spPr>
      </p:sp>
      <p:sp>
        <p:nvSpPr>
          <p:cNvPr id="212" name="Text 11"/>
          <p:cNvSpPr/>
          <p:nvPr/>
        </p:nvSpPr>
        <p:spPr>
          <a:xfrm>
            <a:off x="1343025" y="1707198"/>
            <a:ext cx="52387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① 任务价值：表格是文档核心结构化载体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3" name="Text 12"/>
          <p:cNvSpPr/>
          <p:nvPr/>
        </p:nvSpPr>
        <p:spPr>
          <a:xfrm>
            <a:off x="1343025" y="1969135"/>
            <a:ext cx="5238750" cy="3866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财务报表、科研论文、政务档案等关键信息高度依赖表格组织，识别质量直接影响后续计算与分析。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4" name="Text 13"/>
          <p:cNvSpPr/>
          <p:nvPr/>
        </p:nvSpPr>
        <p:spPr>
          <a:xfrm>
            <a:off x="1343025" y="3059748"/>
            <a:ext cx="52387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② 场景挑战：输入质量与版式复杂度双重波动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5" name="Text 14"/>
          <p:cNvSpPr/>
          <p:nvPr/>
        </p:nvSpPr>
        <p:spPr>
          <a:xfrm>
            <a:off x="1343025" y="3321685"/>
            <a:ext cx="5238750" cy="3866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PDF、扫描件、拍照文档常伴随噪声、模糊、阴影、透视畸变与弱线框，结构恢复难度显著增加。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6" name="Text 15"/>
          <p:cNvSpPr/>
          <p:nvPr/>
        </p:nvSpPr>
        <p:spPr>
          <a:xfrm>
            <a:off x="1343025" y="4412298"/>
            <a:ext cx="52387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③ 方法瓶颈：传统流程在复杂样本泛化不足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7" name="Text 16"/>
          <p:cNvSpPr/>
          <p:nvPr/>
        </p:nvSpPr>
        <p:spPr>
          <a:xfrm>
            <a:off x="1343025" y="4674235"/>
            <a:ext cx="5238750" cy="3866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固定预处理与单次识别易出现误差传播，面对复杂表头、跨行跨列与多表混排时稳定性不足。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8" name="Text 17"/>
          <p:cNvSpPr/>
          <p:nvPr/>
        </p:nvSpPr>
        <p:spPr>
          <a:xfrm>
            <a:off x="7496175" y="4493558"/>
            <a:ext cx="3524250" cy="174278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研究动因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9" name="Text 18"/>
          <p:cNvSpPr/>
          <p:nvPr/>
        </p:nvSpPr>
        <p:spPr>
          <a:xfrm>
            <a:off x="7496175" y="4758323"/>
            <a:ext cx="3524250" cy="386655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需构建“输入质量优化—结构理解—结果校验”一体化链路，才能提升复杂真实场景下的准确率与可用性。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0" name="Text 19"/>
          <p:cNvSpPr/>
          <p:nvPr/>
        </p:nvSpPr>
        <p:spPr>
          <a:xfrm>
            <a:off x="1000125" y="5556042"/>
            <a:ext cx="4276204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21" name="图片 11" descr="upload_post_object_v2_316209918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1268" y="1619188"/>
            <a:ext cx="3275057" cy="255273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总体方案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175" y="1403985"/>
            <a:ext cx="10363200" cy="356235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054109" y="1606646"/>
            <a:ext cx="10020300" cy="2209800"/>
          </a:xfrm>
          <a:prstGeom prst="roundRect">
            <a:avLst>
              <a:gd name="adj" fmla="val 4281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4" name="Shape 4"/>
          <p:cNvSpPr/>
          <p:nvPr/>
        </p:nvSpPr>
        <p:spPr>
          <a:xfrm>
            <a:off x="1073150" y="3928110"/>
            <a:ext cx="3238500" cy="952500"/>
          </a:xfrm>
          <a:prstGeom prst="roundRect">
            <a:avLst>
              <a:gd name="adj" fmla="val 19200"/>
            </a:avLst>
          </a:prstGeom>
          <a:solidFill>
            <a:srgbClr val="FFFFFF"/>
          </a:solidFill>
          <a:ln w="9525">
            <a:solidFill>
              <a:srgbClr val="D6DFED"/>
            </a:solidFill>
            <a:prstDash val="solid"/>
          </a:ln>
        </p:spPr>
      </p:sp>
      <p:sp>
        <p:nvSpPr>
          <p:cNvPr id="19" name="Shape 5"/>
          <p:cNvSpPr/>
          <p:nvPr/>
        </p:nvSpPr>
        <p:spPr>
          <a:xfrm>
            <a:off x="4445000" y="3928110"/>
            <a:ext cx="3238500" cy="952500"/>
          </a:xfrm>
          <a:prstGeom prst="roundRect">
            <a:avLst>
              <a:gd name="adj" fmla="val 19200"/>
            </a:avLst>
          </a:prstGeom>
          <a:solidFill>
            <a:srgbClr val="FFFFFF"/>
          </a:solidFill>
          <a:ln w="9525">
            <a:solidFill>
              <a:srgbClr val="D6DFED"/>
            </a:solidFill>
            <a:prstDash val="solid"/>
          </a:ln>
        </p:spPr>
      </p:sp>
      <p:sp>
        <p:nvSpPr>
          <p:cNvPr id="20" name="Shape 6"/>
          <p:cNvSpPr/>
          <p:nvPr/>
        </p:nvSpPr>
        <p:spPr>
          <a:xfrm>
            <a:off x="7816850" y="3928110"/>
            <a:ext cx="3238500" cy="952500"/>
          </a:xfrm>
          <a:prstGeom prst="roundRect">
            <a:avLst>
              <a:gd name="adj" fmla="val 19200"/>
            </a:avLst>
          </a:prstGeom>
          <a:solidFill>
            <a:srgbClr val="FFFFFF"/>
          </a:solidFill>
          <a:ln w="9525">
            <a:solidFill>
              <a:srgbClr val="D6DFED"/>
            </a:solidFill>
            <a:prstDash val="solid"/>
          </a:ln>
        </p:spPr>
      </p:sp>
      <p:sp>
        <p:nvSpPr>
          <p:cNvPr id="42" name="Shape 7"/>
          <p:cNvSpPr/>
          <p:nvPr/>
        </p:nvSpPr>
        <p:spPr>
          <a:xfrm>
            <a:off x="892175" y="5118735"/>
            <a:ext cx="10363200" cy="685800"/>
          </a:xfrm>
          <a:prstGeom prst="roundRect">
            <a:avLst>
              <a:gd name="adj" fmla="val 44444"/>
            </a:avLst>
          </a:prstGeom>
          <a:solidFill>
            <a:srgbClr val="EEF4FD"/>
          </a:solidFill>
          <a:ln w="9525">
            <a:solidFill>
              <a:srgbClr val="CCD8E8"/>
            </a:solidFill>
            <a:prstDash val="solid"/>
          </a:ln>
        </p:spPr>
      </p:sp>
      <p:sp>
        <p:nvSpPr>
          <p:cNvPr id="45" name="Text 10"/>
          <p:cNvSpPr/>
          <p:nvPr/>
        </p:nvSpPr>
        <p:spPr>
          <a:xfrm>
            <a:off x="1196975" y="4018598"/>
            <a:ext cx="29908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输入解析与图像预处理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6" name="Text 11"/>
          <p:cNvSpPr/>
          <p:nvPr/>
        </p:nvSpPr>
        <p:spPr>
          <a:xfrm>
            <a:off x="1187485" y="4320544"/>
            <a:ext cx="29908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支持图像/PDF页面输入，动态选择最优预处理链，提升结构可辨识性。</a:t>
            </a:r>
            <a:endParaRPr lang="en-US" sz="10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4568825" y="4018598"/>
            <a:ext cx="29908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上下文学习驱动结构识别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4568832" y="4320502"/>
            <a:ext cx="29908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通过特征提取、示例检索与提示构造，引导大模型生成表格结构与内容。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7940675" y="4018598"/>
            <a:ext cx="29908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质量评估与后处理输出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0" name="Text 15"/>
          <p:cNvSpPr/>
          <p:nvPr/>
        </p:nvSpPr>
        <p:spPr>
          <a:xfrm>
            <a:off x="7940679" y="4320502"/>
            <a:ext cx="29908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75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基于合法性与一致性评估触发修复、重识别与细化，输出 HTML/JSON 结果。</a:t>
            </a:r>
            <a:endParaRPr lang="en-US" sz="97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1" name="Text 16"/>
          <p:cNvSpPr/>
          <p:nvPr/>
        </p:nvSpPr>
        <p:spPr>
          <a:xfrm>
            <a:off x="1054100" y="5209223"/>
            <a:ext cx="100393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endParaRPr lang="en-US" sz="1125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52" name="Text 17"/>
          <p:cNvSpPr/>
          <p:nvPr/>
        </p:nvSpPr>
        <p:spPr>
          <a:xfrm>
            <a:off x="1073104" y="5371895"/>
            <a:ext cx="10039350" cy="179487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将“大模型推理能力”与“传统工程闭环”结合，已实现从输入到结构化输出的可运行系统路径。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53" name="图片 52" descr="upload_post_object_v2_409034086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485" y="2024117"/>
            <a:ext cx="1779966" cy="1374943"/>
          </a:xfrm>
          <a:prstGeom prst="rect">
            <a:avLst/>
          </a:prstGeom>
        </p:spPr>
      </p:pic>
      <p:pic>
        <p:nvPicPr>
          <p:cNvPr id="54" name="图片 53" descr="upload_post_object_v2_253715740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0242" y="2024128"/>
            <a:ext cx="1831949" cy="1415098"/>
          </a:xfrm>
          <a:prstGeom prst="rect">
            <a:avLst/>
          </a:prstGeom>
        </p:spPr>
      </p:pic>
      <p:pic>
        <p:nvPicPr>
          <p:cNvPr id="55" name="图片 54" descr="upload_post_object_v2_369608863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0959" y="2064160"/>
            <a:ext cx="1799685" cy="1334931"/>
          </a:xfrm>
          <a:prstGeom prst="rect">
            <a:avLst/>
          </a:prstGeom>
        </p:spPr>
      </p:pic>
      <p:pic>
        <p:nvPicPr>
          <p:cNvPr id="56" name="图片 55" descr="upload_post_object_v2_2348475615"/>
          <p:cNvPicPr>
            <a:picLocks noChangeAspect="1"/>
          </p:cNvPicPr>
          <p:nvPr/>
        </p:nvPicPr>
        <p:blipFill>
          <a:blip r:embed="rId5"/>
          <a:srcRect r="24572"/>
          <a:stretch>
            <a:fillRect/>
          </a:stretch>
        </p:blipFill>
        <p:spPr>
          <a:xfrm>
            <a:off x="8753905" y="2082906"/>
            <a:ext cx="1888047" cy="1297439"/>
          </a:xfrm>
          <a:prstGeom prst="rect">
            <a:avLst/>
          </a:prstGeom>
        </p:spPr>
      </p:pic>
      <p:sp>
        <p:nvSpPr>
          <p:cNvPr id="57" name="右箭头 56"/>
          <p:cNvSpPr/>
          <p:nvPr userDrawn="1"/>
        </p:nvSpPr>
        <p:spPr>
          <a:xfrm>
            <a:off x="3141212" y="2725044"/>
            <a:ext cx="231681" cy="183414"/>
          </a:xfrm>
          <a:prstGeom prst="rightArrow">
            <a:avLst>
              <a:gd name="adj1" fmla="val 58740"/>
              <a:gd name="adj2" fmla="val 50000"/>
            </a:avLst>
          </a:prstGeom>
          <a:solidFill>
            <a:srgbClr val="E2E6ED">
              <a:alpha val="100000"/>
            </a:srgbClr>
          </a:solidFill>
          <a:ln w="12700" cap="flat" cmpd="sng" algn="ctr">
            <a:solidFill>
              <a:srgbClr val="AEB5C0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58" name="右箭头 57"/>
          <p:cNvSpPr/>
          <p:nvPr userDrawn="1"/>
        </p:nvSpPr>
        <p:spPr>
          <a:xfrm>
            <a:off x="8201286" y="2708071"/>
            <a:ext cx="231681" cy="183414"/>
          </a:xfrm>
          <a:prstGeom prst="rightArrow">
            <a:avLst>
              <a:gd name="adj1" fmla="val 58740"/>
              <a:gd name="adj2" fmla="val 50000"/>
            </a:avLst>
          </a:prstGeom>
          <a:solidFill>
            <a:srgbClr val="E2E6ED">
              <a:alpha val="100000"/>
            </a:srgbClr>
          </a:solidFill>
          <a:ln w="12700" cap="flat" cmpd="sng" algn="ctr">
            <a:solidFill>
              <a:srgbClr val="AEB5C0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  <p:sp>
        <p:nvSpPr>
          <p:cNvPr id="59" name="文本框 58"/>
          <p:cNvSpPr txBox="1"/>
          <p:nvPr userDrawn="1"/>
        </p:nvSpPr>
        <p:spPr>
          <a:xfrm>
            <a:off x="1732004" y="1721836"/>
            <a:ext cx="690880" cy="245110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 sz="1000">
                <a:solidFill>
                  <a:schemeClr val="tx1"/>
                </a:solidFill>
                <a:latin typeface="微软雅黑" charset="0"/>
                <a:ea typeface="微软雅黑" charset="0"/>
                <a:cs typeface="微软雅黑" charset="0"/>
              </a:rPr>
              <a:t>原始图像</a:t>
            </a:r>
            <a:endParaRPr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0" name="文本框 59"/>
          <p:cNvSpPr txBox="1"/>
          <p:nvPr userDrawn="1"/>
        </p:nvSpPr>
        <p:spPr>
          <a:xfrm>
            <a:off x="4130781" y="1721836"/>
            <a:ext cx="817880" cy="245110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 sz="1000">
                <a:solidFill>
                  <a:schemeClr val="tx1"/>
                </a:solidFill>
              </a:rPr>
              <a:t>预处理图像</a:t>
            </a:r>
            <a:endParaRPr lang="zh-CN" altLang="en-US" sz="1000">
              <a:solidFill>
                <a:schemeClr val="tx1"/>
              </a:solidFill>
            </a:endParaRPr>
          </a:p>
        </p:txBody>
      </p:sp>
      <p:sp>
        <p:nvSpPr>
          <p:cNvPr id="61" name="文本框 60"/>
          <p:cNvSpPr txBox="1"/>
          <p:nvPr userDrawn="1"/>
        </p:nvSpPr>
        <p:spPr>
          <a:xfrm>
            <a:off x="6582302" y="1721836"/>
            <a:ext cx="690880" cy="245110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 sz="1000">
                <a:solidFill>
                  <a:schemeClr val="tx1"/>
                </a:solidFill>
              </a:rPr>
              <a:t>识别结果</a:t>
            </a:r>
            <a:endParaRPr lang="zh-CN" altLang="en-US" sz="1000">
              <a:solidFill>
                <a:schemeClr val="tx1"/>
              </a:solidFill>
            </a:endParaRPr>
          </a:p>
        </p:txBody>
      </p:sp>
      <p:sp>
        <p:nvSpPr>
          <p:cNvPr id="62" name="文本框 61"/>
          <p:cNvSpPr txBox="1"/>
          <p:nvPr userDrawn="1"/>
        </p:nvSpPr>
        <p:spPr>
          <a:xfrm>
            <a:off x="9361690" y="1721836"/>
            <a:ext cx="817880" cy="245110"/>
          </a:xfrm>
          <a:prstGeom prst="rect">
            <a:avLst/>
          </a:prstGeom>
        </p:spPr>
        <p:txBody>
          <a:bodyPr wrap="none" rtlCol="0">
            <a:spAutoFit/>
          </a:bodyPr>
          <a:p>
            <a:r>
              <a:rPr lang="zh-CN" altLang="en-US" sz="1000">
                <a:solidFill>
                  <a:schemeClr val="tx1"/>
                </a:solidFill>
              </a:rPr>
              <a:t>后处理修复</a:t>
            </a:r>
            <a:endParaRPr lang="zh-CN" altLang="en-US" sz="1000">
              <a:solidFill>
                <a:schemeClr val="tx1"/>
              </a:solidFill>
            </a:endParaRPr>
          </a:p>
        </p:txBody>
      </p:sp>
      <p:sp>
        <p:nvSpPr>
          <p:cNvPr id="63" name="右箭头 62"/>
          <p:cNvSpPr/>
          <p:nvPr userDrawn="1"/>
        </p:nvSpPr>
        <p:spPr>
          <a:xfrm>
            <a:off x="5650471" y="2725069"/>
            <a:ext cx="231681" cy="183414"/>
          </a:xfrm>
          <a:prstGeom prst="rightArrow">
            <a:avLst>
              <a:gd name="adj1" fmla="val 58740"/>
              <a:gd name="adj2" fmla="val 50000"/>
            </a:avLst>
          </a:prstGeom>
          <a:solidFill>
            <a:srgbClr val="E2E6ED">
              <a:alpha val="100000"/>
            </a:srgbClr>
          </a:solidFill>
          <a:ln w="12700" cap="flat" cmpd="sng" algn="ctr">
            <a:solidFill>
              <a:srgbClr val="AEB5C0">
                <a:alpha val="100000"/>
              </a:srgbClr>
            </a:solidFill>
            <a:prstDash val="solid"/>
            <a:miter lim="800000"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>
            <a:noAutofit/>
          </a:bodyPr>
          <a:p>
            <a:pPr algn="ctr"/>
            <a:endParaRPr lang="zh-CN" altLang="en-US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主要研究内容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动态感知的表格预处理</a:t>
            </a:r>
            <a:endParaRPr lang="en-MY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9890" y="1356360"/>
            <a:ext cx="4024630" cy="4726305"/>
          </a:xfrm>
          <a:prstGeom prst="rect">
            <a:avLst/>
          </a:prstGeom>
        </p:spPr>
      </p:pic>
      <p:sp>
        <p:nvSpPr>
          <p:cNvPr id="38" name="Shape 3"/>
          <p:cNvSpPr/>
          <p:nvPr/>
        </p:nvSpPr>
        <p:spPr>
          <a:xfrm>
            <a:off x="570865" y="1698625"/>
            <a:ext cx="3703320" cy="887730"/>
          </a:xfrm>
          <a:prstGeom prst="roundRect">
            <a:avLst>
              <a:gd name="adj" fmla="val 16309"/>
            </a:avLst>
          </a:prstGeom>
          <a:solidFill>
            <a:srgbClr val="F7FAFF"/>
          </a:solidFill>
          <a:ln w="9525">
            <a:solidFill>
              <a:srgbClr val="DCE4F0"/>
            </a:solidFill>
            <a:prstDash val="solid"/>
          </a:ln>
        </p:spPr>
      </p:sp>
      <p:sp>
        <p:nvSpPr>
          <p:cNvPr id="41" name="Shape 4"/>
          <p:cNvSpPr/>
          <p:nvPr/>
        </p:nvSpPr>
        <p:spPr>
          <a:xfrm>
            <a:off x="570865" y="2799715"/>
            <a:ext cx="3703320" cy="971550"/>
          </a:xfrm>
          <a:prstGeom prst="roundRect">
            <a:avLst>
              <a:gd name="adj" fmla="val 12549"/>
            </a:avLst>
          </a:prstGeom>
          <a:solidFill>
            <a:srgbClr val="F7FAFF"/>
          </a:solidFill>
          <a:ln w="9525">
            <a:solidFill>
              <a:srgbClr val="DCE4F0"/>
            </a:solidFill>
            <a:prstDash val="solid"/>
          </a:ln>
        </p:spPr>
      </p:sp>
      <p:sp>
        <p:nvSpPr>
          <p:cNvPr id="61" name="Shape 5"/>
          <p:cNvSpPr/>
          <p:nvPr/>
        </p:nvSpPr>
        <p:spPr>
          <a:xfrm>
            <a:off x="570865" y="3900170"/>
            <a:ext cx="3703320" cy="971550"/>
          </a:xfrm>
          <a:prstGeom prst="roundRect">
            <a:avLst>
              <a:gd name="adj" fmla="val 9442"/>
            </a:avLst>
          </a:prstGeom>
          <a:solidFill>
            <a:srgbClr val="F7FAFF"/>
          </a:solidFill>
          <a:ln w="9525">
            <a:solidFill>
              <a:srgbClr val="DCE4F0"/>
            </a:solidFill>
            <a:prstDash val="solid"/>
          </a:ln>
        </p:spPr>
      </p:sp>
      <p:sp>
        <p:nvSpPr>
          <p:cNvPr id="62" name="Shape 6"/>
          <p:cNvSpPr/>
          <p:nvPr/>
        </p:nvSpPr>
        <p:spPr>
          <a:xfrm>
            <a:off x="570865" y="5005705"/>
            <a:ext cx="3703320" cy="971550"/>
          </a:xfrm>
          <a:prstGeom prst="roundRect">
            <a:avLst>
              <a:gd name="adj" fmla="val 12026"/>
            </a:avLst>
          </a:prstGeom>
          <a:solidFill>
            <a:srgbClr val="EEF4FD"/>
          </a:solidFill>
          <a:ln w="9525">
            <a:solidFill>
              <a:srgbClr val="CFDCED"/>
            </a:solidFill>
            <a:prstDash val="solid"/>
          </a:ln>
        </p:spPr>
      </p:sp>
      <p:pic>
        <p:nvPicPr>
          <p:cNvPr id="63" name="Image 2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920" y="1356360"/>
            <a:ext cx="7424420" cy="4726305"/>
          </a:xfrm>
          <a:prstGeom prst="rect">
            <a:avLst/>
          </a:prstGeom>
        </p:spPr>
      </p:pic>
      <p:sp>
        <p:nvSpPr>
          <p:cNvPr id="64" name="Shape 7"/>
          <p:cNvSpPr/>
          <p:nvPr/>
        </p:nvSpPr>
        <p:spPr>
          <a:xfrm>
            <a:off x="4547870" y="1468755"/>
            <a:ext cx="7219950" cy="3649345"/>
          </a:xfrm>
          <a:prstGeom prst="roundRect">
            <a:avLst>
              <a:gd name="adj" fmla="val 2168"/>
            </a:avLst>
          </a:prstGeom>
          <a:solidFill>
            <a:srgbClr val="F7FAFF"/>
          </a:solidFill>
          <a:ln w="9525">
            <a:solidFill>
              <a:srgbClr val="D8E1EE"/>
            </a:solidFill>
            <a:prstDash val="solid"/>
          </a:ln>
        </p:spPr>
      </p:sp>
      <p:sp>
        <p:nvSpPr>
          <p:cNvPr id="67" name="Text 13"/>
          <p:cNvSpPr/>
          <p:nvPr/>
        </p:nvSpPr>
        <p:spPr>
          <a:xfrm>
            <a:off x="675640" y="1824990"/>
            <a:ext cx="3473450" cy="18034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① 图像退化问题感知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8" name="Text 14"/>
          <p:cNvSpPr/>
          <p:nvPr/>
        </p:nvSpPr>
        <p:spPr>
          <a:xfrm>
            <a:off x="675640" y="2132965"/>
            <a:ext cx="3473450" cy="3771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大模型识别噪声、模糊、阴影、对比度不足与边界冗余等退化类型。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69" name="Text 15"/>
          <p:cNvSpPr/>
          <p:nvPr/>
        </p:nvSpPr>
        <p:spPr>
          <a:xfrm>
            <a:off x="675640" y="2925445"/>
            <a:ext cx="3473450" cy="18034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② 候选链生成与并行执行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0" name="Text 16"/>
          <p:cNvSpPr/>
          <p:nvPr/>
        </p:nvSpPr>
        <p:spPr>
          <a:xfrm>
            <a:off x="675640" y="3261360"/>
            <a:ext cx="3473450" cy="3771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自动生成多条操作链（去噪/增强/锐化/裁剪等），并与原图共同比较。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1" name="Text 17"/>
          <p:cNvSpPr/>
          <p:nvPr/>
        </p:nvSpPr>
        <p:spPr>
          <a:xfrm>
            <a:off x="675640" y="4026535"/>
            <a:ext cx="3473450" cy="18034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③ 综合评分优选结果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2" name="Text 18"/>
          <p:cNvSpPr/>
          <p:nvPr/>
        </p:nvSpPr>
        <p:spPr>
          <a:xfrm>
            <a:off x="695960" y="4346575"/>
            <a:ext cx="3473450" cy="3771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融合客观质量指标与大模型语义评分，输出更利于结构识别的图像。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3" name="Text 19"/>
          <p:cNvSpPr/>
          <p:nvPr/>
        </p:nvSpPr>
        <p:spPr>
          <a:xfrm>
            <a:off x="675640" y="5123180"/>
            <a:ext cx="3473450" cy="16827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阶段结论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74" name="Text 20"/>
          <p:cNvSpPr/>
          <p:nvPr/>
        </p:nvSpPr>
        <p:spPr>
          <a:xfrm>
            <a:off x="695960" y="5445125"/>
            <a:ext cx="3473450" cy="377190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预处理对 TEDS-Struct 改善更稳定，验证了“结构可恢复性优先”的价值。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77" name="图片 76" descr="预处理框架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820" y="1628775"/>
            <a:ext cx="6700520" cy="3413125"/>
          </a:xfrm>
          <a:prstGeom prst="rect">
            <a:avLst/>
          </a:prstGeom>
        </p:spPr>
      </p:pic>
      <p:sp>
        <p:nvSpPr>
          <p:cNvPr id="79" name="Shape 6"/>
          <p:cNvSpPr/>
          <p:nvPr/>
        </p:nvSpPr>
        <p:spPr>
          <a:xfrm>
            <a:off x="4547870" y="5168265"/>
            <a:ext cx="7219950" cy="808990"/>
          </a:xfrm>
          <a:prstGeom prst="roundRect">
            <a:avLst>
              <a:gd name="adj" fmla="val 20784"/>
            </a:avLst>
          </a:prstGeom>
          <a:solidFill>
            <a:srgbClr val="EEF4FD"/>
          </a:solidFill>
          <a:ln w="9525">
            <a:solidFill>
              <a:srgbClr val="CFDCED"/>
            </a:solidFill>
            <a:prstDash val="solid"/>
          </a:ln>
        </p:spPr>
      </p:sp>
      <p:sp>
        <p:nvSpPr>
          <p:cNvPr id="78" name="Text 12"/>
          <p:cNvSpPr/>
          <p:nvPr/>
        </p:nvSpPr>
        <p:spPr>
          <a:xfrm>
            <a:off x="5015865" y="5445125"/>
            <a:ext cx="6441440" cy="448945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由固定预处理转向“问题感知—候选生成—并行比较—最优选择”的自适应流程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主要研究内容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动态感知的表格预处理</a:t>
            </a:r>
            <a:endParaRPr lang="en-MY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主要研究内容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8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上下文学习驱动的表格识别引擎</a:t>
            </a:r>
            <a:endParaRPr lang="en-MY" sz="28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5160" y="1412875"/>
            <a:ext cx="6982460" cy="460883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8510" y="1555750"/>
            <a:ext cx="6805295" cy="3369945"/>
          </a:xfrm>
          <a:prstGeom prst="roundRect">
            <a:avLst>
              <a:gd name="adj" fmla="val 2041"/>
            </a:avLst>
          </a:prstGeom>
          <a:solidFill>
            <a:srgbClr val="F8FBFF"/>
          </a:solidFill>
          <a:ln w="9525">
            <a:solidFill>
              <a:srgbClr val="D8E1EE"/>
            </a:solidFill>
            <a:prstDash val="solid"/>
          </a:ln>
        </p:spPr>
      </p:sp>
      <p:sp>
        <p:nvSpPr>
          <p:cNvPr id="9" name="Shape 4"/>
          <p:cNvSpPr/>
          <p:nvPr/>
        </p:nvSpPr>
        <p:spPr>
          <a:xfrm>
            <a:off x="798195" y="5100955"/>
            <a:ext cx="6751320" cy="717550"/>
          </a:xfrm>
          <a:prstGeom prst="roundRect">
            <a:avLst>
              <a:gd name="adj" fmla="val 17610"/>
            </a:avLst>
          </a:prstGeom>
          <a:solidFill>
            <a:srgbClr val="EEF4FD"/>
          </a:solidFill>
          <a:ln w="9525">
            <a:solidFill>
              <a:srgbClr val="D4DEEC"/>
            </a:solidFill>
            <a:prstDash val="solid"/>
          </a:ln>
        </p:spPr>
      </p:sp>
      <p:pic>
        <p:nvPicPr>
          <p:cNvPr id="10" name="Image 3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9690" y="1412875"/>
            <a:ext cx="3810000" cy="4657090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7841615" y="1574800"/>
            <a:ext cx="3505200" cy="974090"/>
          </a:xfrm>
          <a:prstGeom prst="roundRect">
            <a:avLst>
              <a:gd name="adj" fmla="val 22040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12" name="Shape 6"/>
          <p:cNvSpPr/>
          <p:nvPr/>
        </p:nvSpPr>
        <p:spPr>
          <a:xfrm>
            <a:off x="7841615" y="2722245"/>
            <a:ext cx="3505200" cy="995045"/>
          </a:xfrm>
          <a:prstGeom prst="roundRect">
            <a:avLst>
              <a:gd name="adj" fmla="val 16572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3" name="Shape 7"/>
          <p:cNvSpPr/>
          <p:nvPr/>
        </p:nvSpPr>
        <p:spPr>
          <a:xfrm>
            <a:off x="7841615" y="3868420"/>
            <a:ext cx="3505200" cy="974090"/>
          </a:xfrm>
          <a:prstGeom prst="roundRect">
            <a:avLst>
              <a:gd name="adj" fmla="val 15775"/>
            </a:avLst>
          </a:prstGeom>
          <a:solidFill>
            <a:srgbClr val="F7FAFF"/>
          </a:solidFill>
          <a:ln w="9525">
            <a:solidFill>
              <a:srgbClr val="D9E2EF"/>
            </a:solidFill>
            <a:prstDash val="solid"/>
          </a:ln>
        </p:spPr>
      </p:sp>
      <p:sp>
        <p:nvSpPr>
          <p:cNvPr id="4" name="Shape 8"/>
          <p:cNvSpPr/>
          <p:nvPr/>
        </p:nvSpPr>
        <p:spPr>
          <a:xfrm>
            <a:off x="7841615" y="5015230"/>
            <a:ext cx="3505200" cy="876935"/>
          </a:xfrm>
          <a:prstGeom prst="roundRect">
            <a:avLst>
              <a:gd name="adj" fmla="val 22745"/>
            </a:avLst>
          </a:prstGeom>
          <a:solidFill>
            <a:srgbClr val="EDF3FC"/>
          </a:solidFill>
          <a:ln w="9525">
            <a:solidFill>
              <a:srgbClr val="CCDAE9"/>
            </a:solidFill>
            <a:prstDash val="solid"/>
          </a:ln>
        </p:spPr>
      </p:sp>
      <p:sp>
        <p:nvSpPr>
          <p:cNvPr id="15" name="Text 14"/>
          <p:cNvSpPr/>
          <p:nvPr/>
        </p:nvSpPr>
        <p:spPr>
          <a:xfrm>
            <a:off x="7946390" y="1665593"/>
            <a:ext cx="32956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① 特征提取与示例检索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1" name="Text 15"/>
          <p:cNvSpPr/>
          <p:nvPr/>
        </p:nvSpPr>
        <p:spPr>
          <a:xfrm>
            <a:off x="7936824" y="2003080"/>
            <a:ext cx="32956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提取表格视觉特征，按相似度筛选示例，并兼顾示例多样性以降低过拟合风险。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2" name="Text 16"/>
          <p:cNvSpPr/>
          <p:nvPr/>
        </p:nvSpPr>
        <p:spPr>
          <a:xfrm>
            <a:off x="7946390" y="2812427"/>
            <a:ext cx="32956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② 提示构造引导结构生成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3" name="Text 17"/>
          <p:cNvSpPr/>
          <p:nvPr/>
        </p:nvSpPr>
        <p:spPr>
          <a:xfrm>
            <a:off x="7936824" y="3149915"/>
            <a:ext cx="32956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组织任务指令与参考示例，驱动大模型输出表格结构；异常时进入校验与有限重试。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4" name="Text 18"/>
          <p:cNvSpPr/>
          <p:nvPr/>
        </p:nvSpPr>
        <p:spPr>
          <a:xfrm>
            <a:off x="7946390" y="3959188"/>
            <a:ext cx="3295650" cy="17145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③ 结构化解析与结果修复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18" name="Text 19"/>
          <p:cNvSpPr/>
          <p:nvPr/>
        </p:nvSpPr>
        <p:spPr>
          <a:xfrm>
            <a:off x="7936824" y="4296675"/>
            <a:ext cx="3295650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输出 HTML 表格并解析单元格内容，形成内容矩阵与明细结果，支撑后续修复与展示。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6" name="Text 20"/>
          <p:cNvSpPr/>
          <p:nvPr/>
        </p:nvSpPr>
        <p:spPr>
          <a:xfrm>
            <a:off x="7946390" y="5101260"/>
            <a:ext cx="3295650" cy="159990"/>
          </a:xfrm>
          <a:prstGeom prst="rect">
            <a:avLst/>
          </a:prstGeom>
          <a:noFill/>
        </p:spPr>
        <p:txBody>
          <a:bodyPr wrap="non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阶段判断</a:t>
            </a:r>
            <a:endParaRPr lang="en-US" sz="14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sp>
        <p:nvSpPr>
          <p:cNvPr id="27" name="Text 21"/>
          <p:cNvSpPr/>
          <p:nvPr/>
        </p:nvSpPr>
        <p:spPr>
          <a:xfrm>
            <a:off x="8110889" y="5371149"/>
            <a:ext cx="3083491" cy="358973"/>
          </a:xfrm>
          <a:prstGeom prst="rect">
            <a:avLst/>
          </a:prstGeom>
          <a:noFill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</a:rPr>
              <a:t>上下文学习在复杂表格场景中已验证可行，核心瓶颈聚焦于示例匹配与复杂跨度恢复。</a:t>
            </a:r>
            <a:endParaRPr lang="en-US" sz="1200" dirty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</a:endParaRPr>
          </a:p>
        </p:txBody>
      </p:sp>
      <p:pic>
        <p:nvPicPr>
          <p:cNvPr id="28" name="图片 27" descr="上下文识别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620" y="1772920"/>
            <a:ext cx="6585585" cy="3032125"/>
          </a:xfrm>
          <a:prstGeom prst="rect">
            <a:avLst/>
          </a:prstGeom>
        </p:spPr>
      </p:pic>
      <p:sp>
        <p:nvSpPr>
          <p:cNvPr id="29" name="文本框 28"/>
          <p:cNvSpPr txBox="1"/>
          <p:nvPr/>
        </p:nvSpPr>
        <p:spPr>
          <a:xfrm>
            <a:off x="1054100" y="5260975"/>
            <a:ext cx="6096000" cy="4305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p>
            <a:pPr marL="0" indent="0" algn="l">
              <a:buNone/>
            </a:pPr>
            <a:r>
              <a:rPr lang="en-US" sz="1400" dirty="0">
                <a:solidFill>
                  <a:srgbClr val="000000"/>
                </a:solidFill>
                <a:latin typeface="微软雅黑" charset="0"/>
                <a:ea typeface="微软雅黑" charset="0"/>
                <a:cs typeface="微软雅黑" charset="0"/>
                <a:sym typeface="+mn-ea"/>
              </a:rPr>
              <a:t>以“特征—示例—提示—生成—解析”为主链路，提升复杂表格结构恢复与内容组织能力</a:t>
            </a:r>
            <a:endParaRPr lang="en-US" altLang="en-US" sz="1400" dirty="0" smtClean="0">
              <a:solidFill>
                <a:srgbClr val="000000"/>
              </a:solidFill>
              <a:latin typeface="微软雅黑" charset="0"/>
              <a:ea typeface="微软雅黑" charset="0"/>
              <a:cs typeface="微软雅黑" charset="0"/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主要研究内容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—</a:t>
            </a:r>
            <a:r>
              <a:rPr lang="zh-CN" altLang="en-US" sz="2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大模型表格识别决策框架</a:t>
            </a:r>
            <a:endParaRPr lang="en-MY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6096000" y="1487008"/>
            <a:ext cx="3138849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kumimoji="1" lang="zh-CN" altLang="en-US" dirty="0"/>
              <a:t>浏览器</a:t>
            </a:r>
            <a:r>
              <a:rPr kumimoji="1" lang="en-US" altLang="zh-CN" dirty="0"/>
              <a:t>/</a:t>
            </a:r>
            <a:r>
              <a:rPr kumimoji="1" lang="zh-CN" altLang="en-US" dirty="0"/>
              <a:t>服务器（</a:t>
            </a:r>
            <a:r>
              <a:rPr kumimoji="1" lang="en-GB" altLang="zh-CN" dirty="0"/>
              <a:t>B/S</a:t>
            </a:r>
            <a:r>
              <a:rPr kumimoji="1" lang="zh-CN" altLang="en-GB" dirty="0"/>
              <a:t>）</a:t>
            </a:r>
            <a:r>
              <a:rPr kumimoji="1" lang="zh-CN" altLang="en-US" dirty="0"/>
              <a:t>模式</a:t>
            </a:r>
            <a:endParaRPr kumimoji="1" lang="zh-CN" altLang="en-US" dirty="0"/>
          </a:p>
        </p:txBody>
      </p:sp>
      <p:sp>
        <p:nvSpPr>
          <p:cNvPr id="10" name="矩形 9"/>
          <p:cNvSpPr/>
          <p:nvPr/>
        </p:nvSpPr>
        <p:spPr>
          <a:xfrm>
            <a:off x="4468152" y="3491987"/>
            <a:ext cx="24919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kumimoji="1" lang="zh-CN" altLang="en-US" dirty="0"/>
              <a:t>前端操作界面</a:t>
            </a:r>
            <a:endParaRPr kumimoji="1" lang="zh-CN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8407769" y="3491987"/>
            <a:ext cx="2491944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r>
              <a:rPr kumimoji="1" lang="zh-CN" altLang="en-US" dirty="0"/>
              <a:t>后端服务器</a:t>
            </a:r>
            <a:endParaRPr kumimoji="1" lang="zh-CN" altLang="en-US" dirty="0"/>
          </a:p>
        </p:txBody>
      </p:sp>
      <p:pic>
        <p:nvPicPr>
          <p:cNvPr id="12" name="图形 11"/>
          <p:cNvPicPr>
            <a:picLocks noChangeAspect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92062" y="3639661"/>
            <a:ext cx="572406" cy="572406"/>
          </a:xfrm>
          <a:prstGeom prst="rect">
            <a:avLst/>
          </a:prstGeom>
        </p:spPr>
      </p:pic>
      <p:pic>
        <p:nvPicPr>
          <p:cNvPr id="14" name="图形 1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80176" y="3565824"/>
            <a:ext cx="572406" cy="572406"/>
          </a:xfrm>
          <a:prstGeom prst="rect">
            <a:avLst/>
          </a:prstGeom>
        </p:spPr>
      </p:pic>
      <p:cxnSp>
        <p:nvCxnSpPr>
          <p:cNvPr id="16" name="直线箭头连接符 15"/>
          <p:cNvCxnSpPr/>
          <p:nvPr/>
        </p:nvCxnSpPr>
        <p:spPr>
          <a:xfrm flipH="1">
            <a:off x="6528048" y="2436748"/>
            <a:ext cx="519899" cy="844308"/>
          </a:xfrm>
          <a:prstGeom prst="straightConnector1">
            <a:avLst/>
          </a:prstGeom>
          <a:ln w="38100">
            <a:solidFill>
              <a:srgbClr val="2851D9"/>
            </a:solidFill>
            <a:tailEnd type="arrow" w="med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线箭头连接符 19"/>
          <p:cNvCxnSpPr/>
          <p:nvPr/>
        </p:nvCxnSpPr>
        <p:spPr>
          <a:xfrm>
            <a:off x="8399033" y="2490342"/>
            <a:ext cx="555145" cy="790714"/>
          </a:xfrm>
          <a:prstGeom prst="straightConnector1">
            <a:avLst/>
          </a:prstGeom>
          <a:ln w="38100">
            <a:solidFill>
              <a:srgbClr val="2851D9"/>
            </a:solidFill>
            <a:tailEnd type="arrow" w="med" len="sm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: 圆角 18"/>
          <p:cNvSpPr/>
          <p:nvPr/>
        </p:nvSpPr>
        <p:spPr>
          <a:xfrm>
            <a:off x="4534248" y="4538347"/>
            <a:ext cx="2299729" cy="1213611"/>
          </a:xfrm>
          <a:prstGeom prst="roundRect">
            <a:avLst/>
          </a:prstGeom>
          <a:noFill/>
          <a:ln w="19050" cap="flat" cmpd="sng" algn="ctr">
            <a:solidFill>
              <a:srgbClr val="E46C0A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E46C0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图像上传</a:t>
            </a:r>
            <a:endParaRPr lang="en-US" altLang="zh-CN" sz="1600" b="1" dirty="0">
              <a:solidFill>
                <a:srgbClr val="E46C0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E46C0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结果可视化校对</a:t>
            </a:r>
            <a:endParaRPr lang="en-US" altLang="zh-CN" sz="1600" b="1" dirty="0">
              <a:solidFill>
                <a:srgbClr val="E46C0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E46C0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数据导出</a:t>
            </a:r>
            <a:endParaRPr lang="zh-CN" altLang="en-US" sz="1600" b="1" dirty="0">
              <a:solidFill>
                <a:srgbClr val="E46C0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25" name="矩形: 圆角 18"/>
          <p:cNvSpPr/>
          <p:nvPr/>
        </p:nvSpPr>
        <p:spPr>
          <a:xfrm>
            <a:off x="8184232" y="4538346"/>
            <a:ext cx="2491944" cy="1213611"/>
          </a:xfrm>
          <a:prstGeom prst="roundRect">
            <a:avLst/>
          </a:prstGeom>
          <a:noFill/>
          <a:ln w="19050" cap="flat" cmpd="sng" algn="ctr">
            <a:solidFill>
              <a:srgbClr val="E46C0A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E46C0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动态预处理</a:t>
            </a:r>
            <a:endParaRPr lang="en-US" altLang="zh-CN" sz="1600" b="1" dirty="0">
              <a:solidFill>
                <a:srgbClr val="E46C0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E46C0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表格结构和内容识别</a:t>
            </a:r>
            <a:endParaRPr lang="en-US" altLang="zh-CN" sz="1600" b="1" dirty="0">
              <a:solidFill>
                <a:srgbClr val="E46C0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b="1" dirty="0">
                <a:solidFill>
                  <a:srgbClr val="E46C0A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完整表格数据输出</a:t>
            </a:r>
            <a:endParaRPr lang="en-US" altLang="zh-CN" sz="1600" b="1" dirty="0">
              <a:solidFill>
                <a:srgbClr val="E46C0A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36" t="358" r="31066" b="-358"/>
          <a:stretch>
            <a:fillRect/>
          </a:stretch>
        </p:blipFill>
        <p:spPr>
          <a:xfrm>
            <a:off x="247500" y="1537786"/>
            <a:ext cx="3444562" cy="4500047"/>
          </a:xfrm>
          <a:prstGeom prst="rect">
            <a:avLst/>
          </a:prstGeom>
        </p:spPr>
      </p:pic>
      <p:sp>
        <p:nvSpPr>
          <p:cNvPr id="8" name="矩形: 圆角 18"/>
          <p:cNvSpPr/>
          <p:nvPr/>
        </p:nvSpPr>
        <p:spPr>
          <a:xfrm>
            <a:off x="3528143" y="2067445"/>
            <a:ext cx="2299729" cy="1213611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1600" dirty="0">
                <a:solidFill>
                  <a:srgbClr val="4F81B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Vue </a:t>
            </a:r>
            <a:r>
              <a:rPr lang="zh-CN" altLang="en-US" sz="1600" dirty="0">
                <a:solidFill>
                  <a:srgbClr val="4F81B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前端开发框架</a:t>
            </a:r>
            <a:endParaRPr lang="en-US" altLang="zh-CN" sz="1600" dirty="0">
              <a:solidFill>
                <a:srgbClr val="4F81B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dirty="0">
                <a:solidFill>
                  <a:srgbClr val="4F81B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权限认证管理</a:t>
            </a:r>
            <a:endParaRPr lang="en-US" altLang="zh-CN" sz="1600" dirty="0">
              <a:solidFill>
                <a:srgbClr val="4F81B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dirty="0">
                <a:solidFill>
                  <a:srgbClr val="4F81B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操作界面开发</a:t>
            </a:r>
            <a:endParaRPr lang="en-US" altLang="zh-CN" sz="1600" dirty="0">
              <a:solidFill>
                <a:srgbClr val="4F81B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  <p:sp>
        <p:nvSpPr>
          <p:cNvPr id="13" name="矩形: 圆角 18"/>
          <p:cNvSpPr/>
          <p:nvPr/>
        </p:nvSpPr>
        <p:spPr>
          <a:xfrm>
            <a:off x="9502977" y="2067444"/>
            <a:ext cx="2441523" cy="1213611"/>
          </a:xfrm>
          <a:prstGeom prst="round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zh-CN" sz="1600" dirty="0">
                <a:solidFill>
                  <a:srgbClr val="4F81B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Flask </a:t>
            </a:r>
            <a:r>
              <a:rPr lang="zh-CN" altLang="en-US" sz="1600" dirty="0">
                <a:solidFill>
                  <a:srgbClr val="4F81B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后端开发框架</a:t>
            </a:r>
            <a:endParaRPr lang="en-US" altLang="zh-CN" sz="1600" dirty="0">
              <a:solidFill>
                <a:srgbClr val="4F81B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dirty="0">
                <a:solidFill>
                  <a:srgbClr val="4F81B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表格识别引擎</a:t>
            </a:r>
            <a:endParaRPr lang="en-US" altLang="zh-CN" sz="1600" dirty="0">
              <a:solidFill>
                <a:srgbClr val="4F81B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  <a:p>
            <a:pPr marL="285750" indent="-285750" algn="just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zh-CN" altLang="en-US" sz="1600" dirty="0">
                <a:solidFill>
                  <a:srgbClr val="4F81BD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Times New Roman" panose="02020603050405020304" pitchFamily="18" charset="0"/>
              </a:rPr>
              <a:t>结果后处理</a:t>
            </a:r>
            <a:endParaRPr lang="en-US" altLang="zh-CN" sz="1600" dirty="0">
              <a:solidFill>
                <a:srgbClr val="4F81BD"/>
              </a:solidFill>
              <a:latin typeface="微软雅黑" panose="020B0503020204020204" pitchFamily="34" charset="-122"/>
              <a:ea typeface="微软雅黑" panose="020B0503020204020204" pitchFamily="34" charset="-122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1"/>
          <p:cNvSpPr txBox="1"/>
          <p:nvPr/>
        </p:nvSpPr>
        <p:spPr>
          <a:xfrm>
            <a:off x="3200400" y="2676173"/>
            <a:ext cx="5791200" cy="1477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 algn="ctr">
              <a:lnSpc>
                <a:spcPct val="90000"/>
              </a:lnSpc>
              <a:spcBef>
                <a:spcPct val="0"/>
              </a:spcBef>
            </a:pPr>
            <a:r>
              <a:rPr lang="zh-CN" altLang="en-US" sz="4800" b="1" dirty="0">
                <a:latin typeface="微软雅黑" panose="020B0503020204020204" pitchFamily="34" charset="-122"/>
                <a:ea typeface="微软雅黑" panose="020B0503020204020204" pitchFamily="34" charset="-122"/>
                <a:cs typeface="+mj-cs"/>
              </a:rPr>
              <a:t>研究进度安排</a:t>
            </a:r>
            <a:endParaRPr lang="en-US" sz="4800" b="1" dirty="0">
              <a:latin typeface="微软雅黑" panose="020B0503020204020204" pitchFamily="34" charset="-122"/>
              <a:ea typeface="微软雅黑" panose="020B0503020204020204" pitchFamily="34" charset="-122"/>
              <a:cs typeface="+mj-c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521035" y="1626513"/>
            <a:ext cx="1388778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2800" b="1" dirty="0">
                <a:solidFill>
                  <a:schemeClr val="accent1"/>
                </a:solidFill>
                <a:latin typeface="+mj-lt"/>
              </a:rPr>
              <a:t>PART </a:t>
            </a:r>
            <a:r>
              <a:rPr lang="en-US" altLang="zh-CN" sz="2800" b="1" dirty="0">
                <a:solidFill>
                  <a:schemeClr val="accent1"/>
                </a:solidFill>
                <a:latin typeface="+mj-lt"/>
              </a:rPr>
              <a:t>IV</a:t>
            </a:r>
            <a:endParaRPr lang="en-MY" sz="2800" b="1" dirty="0">
              <a:solidFill>
                <a:schemeClr val="accent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研究进度安排</a:t>
            </a:r>
            <a:endParaRPr lang="en-MY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6" name="组合 5"/>
          <p:cNvGrpSpPr/>
          <p:nvPr/>
        </p:nvGrpSpPr>
        <p:grpSpPr>
          <a:xfrm>
            <a:off x="519900" y="3171070"/>
            <a:ext cx="11006068" cy="2398799"/>
            <a:chOff x="609600" y="2845591"/>
            <a:chExt cx="11006068" cy="2398799"/>
          </a:xfrm>
        </p:grpSpPr>
        <p:sp>
          <p:nvSpPr>
            <p:cNvPr id="21" name="Rectangle 20"/>
            <p:cNvSpPr/>
            <p:nvPr/>
          </p:nvSpPr>
          <p:spPr>
            <a:xfrm>
              <a:off x="609600" y="2845594"/>
              <a:ext cx="1930208" cy="2045881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1</a:t>
              </a: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）实现动态感知的表格预处理模块。</a:t>
              </a:r>
              <a:endParaRPr lang="en-US" altLang="zh-CN" dirty="0"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endParaRPr>
            </a:p>
            <a:p>
              <a:pPr algn="just">
                <a:lnSpc>
                  <a:spcPct val="125000"/>
                </a:lnSpc>
              </a:pP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2</a:t>
              </a: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）验证模块有效性，并根据结果进行相关的改进。</a:t>
              </a:r>
              <a:endParaRPr lang="en-US" altLang="zh-CN" dirty="0"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2893870" y="2845592"/>
              <a:ext cx="1930208" cy="2396810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</a:rPr>
                <a:t>（</a:t>
              </a:r>
              <a:r>
                <a:rPr lang="en-US" altLang="zh-CN" dirty="0">
                  <a:latin typeface="DengXian" panose="02010600030101010101" pitchFamily="2" charset="-122"/>
                  <a:ea typeface="DengXian" panose="02010600030101010101" pitchFamily="2" charset="-122"/>
                </a:rPr>
                <a:t>1</a:t>
              </a: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</a:rPr>
                <a:t>）完成基于上下文学习驱动的表格识别引擎的方案设计和实现。</a:t>
              </a:r>
              <a:endParaRPr lang="en-US" altLang="zh-CN" dirty="0">
                <a:latin typeface="DengXian" panose="02010600030101010101" pitchFamily="2" charset="-122"/>
                <a:ea typeface="DengXian" panose="02010600030101010101" pitchFamily="2" charset="-122"/>
              </a:endParaRPr>
            </a:p>
            <a:p>
              <a:pPr>
                <a:lnSpc>
                  <a:spcPct val="125000"/>
                </a:lnSpc>
              </a:pP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</a:rPr>
                <a:t>（</a:t>
              </a:r>
              <a:r>
                <a:rPr lang="en-US" altLang="zh-CN" dirty="0">
                  <a:latin typeface="DengXian" panose="02010600030101010101" pitchFamily="2" charset="-122"/>
                  <a:ea typeface="DengXian" panose="02010600030101010101" pitchFamily="2" charset="-122"/>
                </a:rPr>
                <a:t>2</a:t>
              </a: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</a:rPr>
                <a:t>）整合预处理模块，实现整个系统的基础搭建。</a:t>
              </a:r>
              <a:endParaRPr lang="zh-CN" altLang="en-US" dirty="0">
                <a:latin typeface="DengXian" panose="02010600030101010101" pitchFamily="2" charset="-122"/>
                <a:ea typeface="DengXian" panose="02010600030101010101" pitchFamily="2" charset="-122"/>
              </a:endParaRPr>
            </a:p>
          </p:txBody>
        </p:sp>
        <p:sp>
          <p:nvSpPr>
            <p:cNvPr id="35" name="Rectangle 34"/>
            <p:cNvSpPr/>
            <p:nvPr/>
          </p:nvSpPr>
          <p:spPr>
            <a:xfrm>
              <a:off x="5154518" y="2845592"/>
              <a:ext cx="1930208" cy="2398798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>
                <a:lnSpc>
                  <a:spcPct val="125000"/>
                </a:lnSpc>
              </a:pP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</a:rPr>
                <a:t>（</a:t>
              </a:r>
              <a:r>
                <a:rPr lang="en-US" altLang="zh-CN" dirty="0">
                  <a:latin typeface="DengXian" panose="02010600030101010101" pitchFamily="2" charset="-122"/>
                  <a:ea typeface="DengXian" panose="02010600030101010101" pitchFamily="2" charset="-122"/>
                </a:rPr>
                <a:t>1</a:t>
              </a: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</a:rPr>
                <a:t>）验证系统有效性，完成数据集的效果验证。</a:t>
              </a:r>
              <a:endParaRPr lang="en-US" altLang="zh-CN" dirty="0">
                <a:latin typeface="DengXian" panose="02010600030101010101" pitchFamily="2" charset="-122"/>
                <a:ea typeface="DengXian" panose="02010600030101010101" pitchFamily="2" charset="-122"/>
              </a:endParaRPr>
            </a:p>
            <a:p>
              <a:pPr>
                <a:lnSpc>
                  <a:spcPct val="125000"/>
                </a:lnSpc>
              </a:pP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</a:rPr>
                <a:t>（</a:t>
              </a:r>
              <a:r>
                <a:rPr lang="en-US" altLang="zh-CN" dirty="0">
                  <a:latin typeface="DengXian" panose="02010600030101010101" pitchFamily="2" charset="-122"/>
                  <a:ea typeface="DengXian" panose="02010600030101010101" pitchFamily="2" charset="-122"/>
                </a:rPr>
                <a:t>2</a:t>
              </a: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</a:rPr>
                <a:t>）实现表格识别系统的相关开发。（</a:t>
              </a:r>
              <a:r>
                <a:rPr lang="en-US" altLang="zh-CN" dirty="0">
                  <a:latin typeface="DengXian" panose="02010600030101010101" pitchFamily="2" charset="-122"/>
                  <a:ea typeface="DengXian" panose="02010600030101010101" pitchFamily="2" charset="-122"/>
                </a:rPr>
                <a:t>3</a:t>
              </a: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</a:rPr>
                <a:t>）准备中期答辩。</a:t>
              </a:r>
              <a:endParaRPr lang="zh-CN" altLang="en-US" dirty="0">
                <a:latin typeface="DengXian" panose="02010600030101010101" pitchFamily="2" charset="-122"/>
                <a:ea typeface="DengXian" panose="02010600030101010101" pitchFamily="2" charset="-122"/>
              </a:endParaRPr>
            </a:p>
          </p:txBody>
        </p:sp>
        <p:sp>
          <p:nvSpPr>
            <p:cNvPr id="36" name="Rectangle 35"/>
            <p:cNvSpPr/>
            <p:nvPr/>
          </p:nvSpPr>
          <p:spPr>
            <a:xfrm>
              <a:off x="7419989" y="2845592"/>
              <a:ext cx="1930208" cy="2045881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 （</a:t>
              </a:r>
              <a:r>
                <a:rPr lang="en-US" altLang="zh-CN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1</a:t>
              </a: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）总结相关工作， 撰写课题相关小论文。</a:t>
              </a:r>
              <a:endParaRPr lang="zh-CN" altLang="en-US" dirty="0"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endParaRPr>
            </a:p>
            <a:p>
              <a:pPr algn="just">
                <a:lnSpc>
                  <a:spcPct val="125000"/>
                </a:lnSpc>
              </a:pP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2</a:t>
              </a: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）寻求基于大模型的表格识别算法的进一步优化。</a:t>
              </a:r>
              <a:endParaRPr lang="en-US" altLang="zh-CN" dirty="0"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endParaRPr>
            </a:p>
          </p:txBody>
        </p:sp>
        <p:sp>
          <p:nvSpPr>
            <p:cNvPr id="37" name="Rectangle 36"/>
            <p:cNvSpPr/>
            <p:nvPr/>
          </p:nvSpPr>
          <p:spPr>
            <a:xfrm>
              <a:off x="9685460" y="2845591"/>
              <a:ext cx="1930208" cy="1353384"/>
            </a:xfrm>
            <a:prstGeom prst="rect">
              <a:avLst/>
            </a:prstGeom>
          </p:spPr>
          <p:txBody>
            <a:bodyPr wrap="square" lIns="0" tIns="0" rIns="0" bIns="0">
              <a:spAutoFit/>
            </a:bodyPr>
            <a:lstStyle/>
            <a:p>
              <a:pPr algn="just">
                <a:lnSpc>
                  <a:spcPct val="125000"/>
                </a:lnSpc>
              </a:pP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1</a:t>
              </a: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）总结课题所有工作和成果。</a:t>
              </a:r>
              <a:endParaRPr lang="en-US" altLang="zh-CN" dirty="0"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endParaRPr>
            </a:p>
            <a:p>
              <a:pPr algn="just">
                <a:lnSpc>
                  <a:spcPct val="125000"/>
                </a:lnSpc>
              </a:pP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（</a:t>
              </a:r>
              <a:r>
                <a:rPr lang="en-US" altLang="zh-CN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2</a:t>
              </a:r>
              <a:r>
                <a:rPr lang="zh-CN" altLang="en-US" dirty="0">
                  <a:latin typeface="DengXian" panose="02010600030101010101" pitchFamily="2" charset="-122"/>
                  <a:ea typeface="DengXian" panose="02010600030101010101" pitchFamily="2" charset="-122"/>
                  <a:cs typeface="Times New Roman" panose="02020603050405020304" pitchFamily="18" charset="0"/>
                </a:rPr>
                <a:t>）撰写毕业论文，准备毕业答辩。</a:t>
              </a:r>
              <a:endParaRPr lang="en-US" altLang="zh-CN" dirty="0">
                <a:latin typeface="DengXian" panose="02010600030101010101" pitchFamily="2" charset="-122"/>
                <a:ea typeface="DengXian" panose="02010600030101010101" pitchFamily="2" charset="-122"/>
                <a:cs typeface="Times New Roman" panose="02020603050405020304" pitchFamily="18" charset="0"/>
              </a:endParaRPr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0" y="1700808"/>
            <a:ext cx="12192000" cy="1050653"/>
            <a:chOff x="0" y="1412780"/>
            <a:chExt cx="12192000" cy="1050653"/>
          </a:xfrm>
        </p:grpSpPr>
        <p:cxnSp>
          <p:nvCxnSpPr>
            <p:cNvPr id="3" name="Straight Connector 2"/>
            <p:cNvCxnSpPr/>
            <p:nvPr/>
          </p:nvCxnSpPr>
          <p:spPr>
            <a:xfrm>
              <a:off x="0" y="1772816"/>
              <a:ext cx="12192000" cy="0"/>
            </a:xfrm>
            <a:prstGeom prst="line">
              <a:avLst/>
            </a:prstGeom>
            <a:ln w="38100"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1" name="Group 40"/>
            <p:cNvGrpSpPr/>
            <p:nvPr/>
          </p:nvGrpSpPr>
          <p:grpSpPr>
            <a:xfrm>
              <a:off x="633222" y="1412780"/>
              <a:ext cx="1906586" cy="1050653"/>
              <a:chOff x="633222" y="2007394"/>
              <a:chExt cx="1906586" cy="550331"/>
            </a:xfrm>
          </p:grpSpPr>
          <p:sp>
            <p:nvSpPr>
              <p:cNvPr id="5" name="Rectangle 4"/>
              <p:cNvSpPr/>
              <p:nvPr/>
            </p:nvSpPr>
            <p:spPr>
              <a:xfrm>
                <a:off x="633222" y="2007394"/>
                <a:ext cx="1906586" cy="44706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accent1"/>
                    </a:solidFill>
                    <a:latin typeface="+mj-lt"/>
                  </a:rPr>
                  <a:t>202</a:t>
                </a:r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5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年</a:t>
                </a:r>
                <a:endParaRPr lang="en-US" altLang="zh-CN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9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月</a:t>
                </a:r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-12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月</a:t>
                </a:r>
                <a:endParaRPr lang="en-MY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40" name="Isosceles Triangle 39"/>
              <p:cNvSpPr/>
              <p:nvPr/>
            </p:nvSpPr>
            <p:spPr>
              <a:xfrm rot="10800000">
                <a:off x="1394704" y="2425728"/>
                <a:ext cx="360000" cy="131997"/>
              </a:xfrm>
              <a:prstGeom prst="triangle">
                <a:avLst/>
              </a:prstGeom>
              <a:solidFill>
                <a:schemeClr val="accent6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24" name="Group 40"/>
            <p:cNvGrpSpPr/>
            <p:nvPr/>
          </p:nvGrpSpPr>
          <p:grpSpPr>
            <a:xfrm>
              <a:off x="2905681" y="1412780"/>
              <a:ext cx="1906586" cy="1050653"/>
              <a:chOff x="633222" y="2007394"/>
              <a:chExt cx="1906586" cy="550331"/>
            </a:xfrm>
          </p:grpSpPr>
          <p:sp>
            <p:nvSpPr>
              <p:cNvPr id="25" name="Rectangle 4"/>
              <p:cNvSpPr/>
              <p:nvPr/>
            </p:nvSpPr>
            <p:spPr>
              <a:xfrm>
                <a:off x="633222" y="2007394"/>
                <a:ext cx="1906586" cy="44706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accent1"/>
                    </a:solidFill>
                    <a:latin typeface="+mj-lt"/>
                  </a:rPr>
                  <a:t>202</a:t>
                </a:r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6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年</a:t>
                </a:r>
                <a:endParaRPr lang="en-US" altLang="zh-CN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1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月</a:t>
                </a:r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-3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月</a:t>
                </a:r>
                <a:endParaRPr lang="en-MY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6" name="Isosceles Triangle 39"/>
              <p:cNvSpPr/>
              <p:nvPr/>
            </p:nvSpPr>
            <p:spPr>
              <a:xfrm rot="10800000">
                <a:off x="1394704" y="2425728"/>
                <a:ext cx="360000" cy="131997"/>
              </a:xfrm>
              <a:prstGeom prst="triangle">
                <a:avLst/>
              </a:prstGeom>
              <a:solidFill>
                <a:schemeClr val="accent6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27" name="Group 40"/>
            <p:cNvGrpSpPr/>
            <p:nvPr/>
          </p:nvGrpSpPr>
          <p:grpSpPr>
            <a:xfrm>
              <a:off x="5178140" y="1412780"/>
              <a:ext cx="1906586" cy="1050653"/>
              <a:chOff x="633222" y="2007394"/>
              <a:chExt cx="1906586" cy="550331"/>
            </a:xfrm>
          </p:grpSpPr>
          <p:sp>
            <p:nvSpPr>
              <p:cNvPr id="28" name="Rectangle 4"/>
              <p:cNvSpPr/>
              <p:nvPr/>
            </p:nvSpPr>
            <p:spPr>
              <a:xfrm>
                <a:off x="633222" y="2007394"/>
                <a:ext cx="1906586" cy="44706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accent1"/>
                    </a:solidFill>
                    <a:latin typeface="+mj-lt"/>
                  </a:rPr>
                  <a:t>202</a:t>
                </a:r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6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年</a:t>
                </a:r>
                <a:endParaRPr lang="en-US" altLang="zh-CN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  <a:ea typeface="微软雅黑" panose="020B0503020204020204" pitchFamily="34" charset="-122"/>
                  </a:rPr>
                  <a:t>4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月</a:t>
                </a:r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-5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月</a:t>
                </a:r>
                <a:endParaRPr lang="en-MY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29" name="Isosceles Triangle 39"/>
              <p:cNvSpPr/>
              <p:nvPr/>
            </p:nvSpPr>
            <p:spPr>
              <a:xfrm rot="10800000">
                <a:off x="1394704" y="2425728"/>
                <a:ext cx="360000" cy="131997"/>
              </a:xfrm>
              <a:prstGeom prst="triangle">
                <a:avLst/>
              </a:prstGeom>
              <a:solidFill>
                <a:schemeClr val="accent6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30" name="Group 40"/>
            <p:cNvGrpSpPr/>
            <p:nvPr/>
          </p:nvGrpSpPr>
          <p:grpSpPr>
            <a:xfrm>
              <a:off x="7431800" y="1412780"/>
              <a:ext cx="1906586" cy="1050653"/>
              <a:chOff x="633222" y="2007394"/>
              <a:chExt cx="1906586" cy="550331"/>
            </a:xfrm>
          </p:grpSpPr>
          <p:sp>
            <p:nvSpPr>
              <p:cNvPr id="31" name="Rectangle 4"/>
              <p:cNvSpPr/>
              <p:nvPr/>
            </p:nvSpPr>
            <p:spPr>
              <a:xfrm>
                <a:off x="633222" y="2007394"/>
                <a:ext cx="1906586" cy="44706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accent1"/>
                    </a:solidFill>
                    <a:latin typeface="+mj-lt"/>
                  </a:rPr>
                  <a:t>202</a:t>
                </a:r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6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年</a:t>
                </a:r>
                <a:endParaRPr lang="en-US" altLang="zh-CN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  <a:ea typeface="微软雅黑" panose="020B0503020204020204" pitchFamily="34" charset="-122"/>
                  </a:rPr>
                  <a:t>6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月</a:t>
                </a:r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-8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月</a:t>
                </a:r>
                <a:endParaRPr lang="en-MY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2" name="Isosceles Triangle 39"/>
              <p:cNvSpPr/>
              <p:nvPr/>
            </p:nvSpPr>
            <p:spPr>
              <a:xfrm rot="10800000">
                <a:off x="1394704" y="2425728"/>
                <a:ext cx="360000" cy="131997"/>
              </a:xfrm>
              <a:prstGeom prst="triangle">
                <a:avLst/>
              </a:prstGeom>
              <a:solidFill>
                <a:schemeClr val="accent6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en-MY"/>
              </a:p>
            </p:txBody>
          </p:sp>
        </p:grpSp>
        <p:grpSp>
          <p:nvGrpSpPr>
            <p:cNvPr id="33" name="Group 40"/>
            <p:cNvGrpSpPr/>
            <p:nvPr/>
          </p:nvGrpSpPr>
          <p:grpSpPr>
            <a:xfrm>
              <a:off x="9698717" y="1412780"/>
              <a:ext cx="1906586" cy="1050653"/>
              <a:chOff x="633222" y="2007394"/>
              <a:chExt cx="1906586" cy="550331"/>
            </a:xfrm>
          </p:grpSpPr>
          <p:sp>
            <p:nvSpPr>
              <p:cNvPr id="38" name="Rectangle 4"/>
              <p:cNvSpPr/>
              <p:nvPr/>
            </p:nvSpPr>
            <p:spPr>
              <a:xfrm>
                <a:off x="633222" y="2007394"/>
                <a:ext cx="1906586" cy="447068"/>
              </a:xfrm>
              <a:prstGeom prst="rect">
                <a:avLst/>
              </a:prstGeom>
              <a:solidFill>
                <a:schemeClr val="bg1"/>
              </a:solidFill>
              <a:ln w="38100">
                <a:solidFill>
                  <a:schemeClr val="accent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b="1" dirty="0">
                    <a:solidFill>
                      <a:schemeClr val="accent1"/>
                    </a:solidFill>
                    <a:latin typeface="+mj-lt"/>
                  </a:rPr>
                  <a:t>202</a:t>
                </a:r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6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年</a:t>
                </a:r>
                <a:endParaRPr lang="en-US" altLang="zh-CN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ctr"/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8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月</a:t>
                </a:r>
                <a:r>
                  <a:rPr lang="en-US" altLang="zh-CN" sz="2400" b="1" dirty="0">
                    <a:solidFill>
                      <a:schemeClr val="accent1"/>
                    </a:solidFill>
                    <a:latin typeface="+mj-lt"/>
                  </a:rPr>
                  <a:t>-12</a:t>
                </a:r>
                <a:r>
                  <a:rPr lang="zh-CN" altLang="en-US" sz="2400" b="1" dirty="0">
                    <a:solidFill>
                      <a:schemeClr val="accent1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月</a:t>
                </a:r>
                <a:endParaRPr lang="en-MY" sz="2400" b="1" dirty="0">
                  <a:solidFill>
                    <a:schemeClr val="accent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  <p:sp>
            <p:nvSpPr>
              <p:cNvPr id="39" name="Isosceles Triangle 39"/>
              <p:cNvSpPr/>
              <p:nvPr/>
            </p:nvSpPr>
            <p:spPr>
              <a:xfrm rot="10800000">
                <a:off x="1394704" y="2425728"/>
                <a:ext cx="360000" cy="131997"/>
              </a:xfrm>
              <a:prstGeom prst="triangle">
                <a:avLst/>
              </a:prstGeom>
              <a:solidFill>
                <a:schemeClr val="accent6"/>
              </a:solidFill>
              <a:ln w="381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noAutofit/>
              </a:bodyPr>
              <a:lstStyle/>
              <a:p>
                <a:pPr algn="ctr"/>
                <a:endParaRPr lang="en-MY"/>
              </a:p>
            </p:txBody>
          </p:sp>
        </p:grp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Thanks!</a:t>
            </a:r>
            <a:endParaRPr lang="en-MY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62300" y="4191000"/>
            <a:ext cx="5867400" cy="425450"/>
          </a:xfrm>
        </p:spPr>
        <p:txBody>
          <a:bodyPr/>
          <a:lstStyle/>
          <a:p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请各位老师批评指正</a:t>
            </a:r>
            <a:endParaRPr lang="en-MY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ISLIDE.GUIDESSETTING" val="{&quot;Id&quot;:null,&quot;Name&quot;:&quot;None&quot;,&quot;HeaderHeight&quot;:0.0,&quot;FooterHeight&quot;:0.0,&quot;SideMargin&quot;:0.0,&quot;TopMargin&quot;:0.0,&quot;BottomMargin&quot;:0.0,&quot;IntervalMargin&quot;:0.0,&quot;SettingType&quot;:&quot;System&quot;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ce Default">
      <a:majorFont>
        <a:latin typeface="Arial"/>
        <a:ea typeface="Noto Sans S Chinese Black"/>
        <a:cs typeface=""/>
      </a:majorFont>
      <a:minorFont>
        <a:latin typeface="Calibri Light"/>
        <a:ea typeface="Noto Sans S Chinese Light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noAutofit/>
      </a:bodyPr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just">
          <a:defRPr dirty="0" smtClean="0"/>
        </a:defPPr>
      </a:lstStyle>
    </a:tx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1413</Words>
  <Application>WPS 演示</Application>
  <PresentationFormat>宽屏</PresentationFormat>
  <Paragraphs>154</Paragraphs>
  <Slides>10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26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37" baseType="lpstr">
      <vt:lpstr>Arial</vt:lpstr>
      <vt:lpstr>宋体</vt:lpstr>
      <vt:lpstr>Wingdings</vt:lpstr>
      <vt:lpstr>黑体</vt:lpstr>
      <vt:lpstr>黑体-简</vt:lpstr>
      <vt:lpstr>微软雅黑</vt:lpstr>
      <vt:lpstr>汉仪旗黑</vt:lpstr>
      <vt:lpstr>Times New Roman</vt:lpstr>
      <vt:lpstr>DengXian</vt:lpstr>
      <vt:lpstr>Cambria Math</vt:lpstr>
      <vt:lpstr>Calibri Light</vt:lpstr>
      <vt:lpstr>Helvetica Neue</vt:lpstr>
      <vt:lpstr>Noto Sans S Chinese Black</vt:lpstr>
      <vt:lpstr>苹方-简</vt:lpstr>
      <vt:lpstr>宋体-简</vt:lpstr>
      <vt:lpstr>Noto Sans S Chinese Light</vt:lpstr>
      <vt:lpstr>Calibri</vt:lpstr>
      <vt:lpstr>等线</vt:lpstr>
      <vt:lpstr>Kingsoft Math</vt:lpstr>
      <vt:lpstr>宋体</vt:lpstr>
      <vt:lpstr>Arial Unicode MS</vt:lpstr>
      <vt:lpstr>DengXian</vt:lpstr>
      <vt:lpstr>Wingdings</vt:lpstr>
      <vt:lpstr>微软雅黑</vt:lpstr>
      <vt:lpstr>黑体</vt:lpstr>
      <vt:lpstr>DejaVu Math TeX Gyre</vt:lpstr>
      <vt:lpstr>Office Theme</vt:lpstr>
      <vt:lpstr>结合大模型的表格识别方法与系统 开题答辩</vt:lpstr>
      <vt:lpstr>研究目的及意义</vt:lpstr>
      <vt:lpstr>研究目标</vt:lpstr>
      <vt:lpstr>主要研究内容—动态感知的表格预处理</vt:lpstr>
      <vt:lpstr>主要研究内容—动态感知的表格预处理</vt:lpstr>
      <vt:lpstr>主要研究内容—上下文学习驱动的表格识别引擎</vt:lpstr>
      <vt:lpstr>主要研究内容—大模型表格识别决策框架</vt:lpstr>
      <vt:lpstr>PowerPoint 演示文稿</vt:lpstr>
      <vt:lpstr>研究进度安排</vt:lpstr>
      <vt:lpstr>Thanks!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#我给母校送模板#</dc:title>
  <dc:creator>Shao Kang Chan</dc:creator>
  <cp:keywords>51PPT模板网</cp:keywords>
  <cp:lastModifiedBy>灿烂</cp:lastModifiedBy>
  <cp:revision>994</cp:revision>
  <dcterms:created xsi:type="dcterms:W3CDTF">2026-06-24T03:49:44Z</dcterms:created>
  <dcterms:modified xsi:type="dcterms:W3CDTF">2026-06-24T03:49:44Z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2aa342-8706-4288-bd11-ebb85995028c_Enabled">
    <vt:lpwstr>True</vt:lpwstr>
  </property>
  <property fmtid="{D5CDD505-2E9C-101B-9397-08002B2CF9AE}" pid="3" name="MSIP_Label_f42aa342-8706-4288-bd11-ebb85995028c_SiteId">
    <vt:lpwstr>72f988bf-86f1-41af-91ab-2d7cd011db47</vt:lpwstr>
  </property>
  <property fmtid="{D5CDD505-2E9C-101B-9397-08002B2CF9AE}" pid="4" name="MSIP_Label_f42aa342-8706-4288-bd11-ebb85995028c_Owner">
    <vt:lpwstr>Nuaxnuy@DESKTOP-GLORKB7</vt:lpwstr>
  </property>
  <property fmtid="{D5CDD505-2E9C-101B-9397-08002B2CF9AE}" pid="5" name="MSIP_Label_f42aa342-8706-4288-bd11-ebb85995028c_SetDate">
    <vt:lpwstr>2019-04-13T03:22:24.4542264Z</vt:lpwstr>
  </property>
  <property fmtid="{D5CDD505-2E9C-101B-9397-08002B2CF9AE}" pid="6" name="MSIP_Label_f42aa342-8706-4288-bd11-ebb85995028c_Name">
    <vt:lpwstr>General</vt:lpwstr>
  </property>
  <property fmtid="{D5CDD505-2E9C-101B-9397-08002B2CF9AE}" pid="7" name="MSIP_Label_f42aa342-8706-4288-bd11-ebb85995028c_Application">
    <vt:lpwstr>Microsoft Azure Information Protection</vt:lpwstr>
  </property>
  <property fmtid="{D5CDD505-2E9C-101B-9397-08002B2CF9AE}" pid="8" name="MSIP_Label_f42aa342-8706-4288-bd11-ebb85995028c_ActionId">
    <vt:lpwstr>79d03e65-7467-42db-b610-b9cac49b6011</vt:lpwstr>
  </property>
  <property fmtid="{D5CDD505-2E9C-101B-9397-08002B2CF9AE}" pid="9" name="MSIP_Label_f42aa342-8706-4288-bd11-ebb85995028c_Extended_MSFT_Method">
    <vt:lpwstr>Automatic</vt:lpwstr>
  </property>
  <property fmtid="{D5CDD505-2E9C-101B-9397-08002B2CF9AE}" pid="10" name="Sensitivity">
    <vt:lpwstr>General</vt:lpwstr>
  </property>
  <property fmtid="{D5CDD505-2E9C-101B-9397-08002B2CF9AE}" pid="11" name="ICV">
    <vt:lpwstr>03E6642490296DC9A24A3B6AF1921D15_42</vt:lpwstr>
  </property>
  <property fmtid="{D5CDD505-2E9C-101B-9397-08002B2CF9AE}" pid="12" name="KSOProductBuildVer">
    <vt:lpwstr>2052-12.1.26016.26016</vt:lpwstr>
  </property>
</Properties>
</file>