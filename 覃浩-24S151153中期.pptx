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4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98" r:id="rId3"/>
    <p:sldId id="390" r:id="rId5"/>
    <p:sldId id="406" r:id="rId6"/>
    <p:sldId id="398" r:id="rId7"/>
    <p:sldId id="400" r:id="rId8"/>
    <p:sldId id="409" r:id="rId9"/>
    <p:sldId id="402" r:id="rId10"/>
    <p:sldId id="410" r:id="rId11"/>
    <p:sldId id="412" r:id="rId12"/>
    <p:sldId id="404" r:id="rId13"/>
    <p:sldId id="328" r:id="rId14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F26B43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151D9"/>
    <a:srgbClr val="FF0000"/>
    <a:srgbClr val="E46C0A"/>
    <a:srgbClr val="F79646"/>
    <a:srgbClr val="2359A8"/>
    <a:srgbClr val="E7E8EA"/>
    <a:srgbClr val="CCCCCC"/>
    <a:srgbClr val="33CC33"/>
    <a:srgbClr val="808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293" autoAdjust="0"/>
  </p:normalViewPr>
  <p:slideViewPr>
    <p:cSldViewPr showGuides="1">
      <p:cViewPr varScale="1">
        <p:scale>
          <a:sx n="103" d="100"/>
          <a:sy n="103" d="100"/>
        </p:scale>
        <p:origin x="1464" y="168"/>
      </p:cViewPr>
      <p:guideLst>
        <p:guide orient="horz" pos="21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5" d="100"/>
          <a:sy n="45" d="100"/>
        </p:scale>
        <p:origin x="276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AFED6-BBFF-47F8-BA67-8C89EF98F2F9}" type="datetimeFigureOut">
              <a:rPr lang="en-MY" smtClean="0"/>
            </a:fld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EAD88-E094-40E6-89E6-169A6FA4014E}" type="slidenum">
              <a:rPr lang="en-MY" smtClean="0"/>
            </a:fld>
            <a:endParaRPr lang="en-MY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130F-E62B-4865-9403-AFA4411E240C}" type="datetimeFigureOut">
              <a:rPr lang="en-MY" smtClean="0"/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各位老师大家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下午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好，我的开题答辩题目是“</a:t>
            </a:r>
            <a:r>
              <a:rPr lang="zh-CN" altLang="en-US" dirty="0"/>
              <a:t>结合大模型的表格识别方法与系统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，我的导师是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卢光明老师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MY" dirty="0" err="1"/>
              <a:t>其中表格检测主要是基于目标检查</a:t>
            </a:r>
            <a:r>
              <a:rPr lang="zh-CN" altLang="en-US" dirty="0"/>
              <a:t>，如</a:t>
            </a:r>
            <a:r>
              <a:rPr lang="en-US" altLang="zh-CN" dirty="0"/>
              <a:t> YOLO </a:t>
            </a:r>
            <a:r>
              <a:rPr lang="zh-CN" altLang="en-US" dirty="0"/>
              <a:t>模型</a:t>
            </a:r>
            <a:r>
              <a:rPr lang="en-MY" dirty="0" err="1"/>
              <a:t>和基于语义分割</a:t>
            </a:r>
            <a:r>
              <a:rPr lang="zh-CN" altLang="en-US" dirty="0"/>
              <a:t>，表格识别则是全部都有，当前效果比较好的是基于图像到序列的模型。主要也是利用</a:t>
            </a:r>
            <a:r>
              <a:rPr lang="en-US" altLang="zh-CN" dirty="0"/>
              <a:t> </a:t>
            </a:r>
            <a:r>
              <a:rPr lang="en-US" altLang="zh-CN" dirty="0" err="1"/>
              <a:t>tramsformer</a:t>
            </a:r>
            <a:r>
              <a:rPr lang="en-US" altLang="zh-CN" dirty="0"/>
              <a:t> </a:t>
            </a:r>
            <a:r>
              <a:rPr lang="zh-CN" altLang="en-US" dirty="0"/>
              <a:t>的强大能力来更好的识别表格结构，比如论文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Huang Y, Lu N, Chen D, et al. Improving table structure recognition with visual-alignment sequential coordinate modeling[C]//Proceedings of the IEEE/CVF Conference on Computer Vision and Pattern Recognition. 2023: 11134-11143.</a:t>
            </a:r>
            <a:r>
              <a:rPr lang="zh-CN" altLang="en-US" dirty="0"/>
              <a:t>，比较经典的论文有，内容识别当前主要是基于图像到序列，也就是端到端，比较有名的是</a:t>
            </a:r>
            <a:r>
              <a:rPr lang="en-US" altLang="zh-CN" dirty="0"/>
              <a:t> </a:t>
            </a:r>
            <a:r>
              <a:rPr lang="en-US" altLang="zh-CN" dirty="0" err="1"/>
              <a:t>TrOCR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b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YOLO-OCR</a:t>
            </a:r>
            <a:endParaRPr lang="en-GB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dirty="0" err="1"/>
              <a:t>等等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我的汇报到此结束，敬请各位评委老师批评指正。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rcRect b="15407"/>
          <a:stretch>
            <a:fillRect/>
          </a:stretch>
        </p:blipFill>
        <p:spPr>
          <a:xfrm>
            <a:off x="0" y="-1"/>
            <a:ext cx="12204000" cy="68729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" name="矩形 11"/>
          <p:cNvSpPr/>
          <p:nvPr userDrawn="1"/>
        </p:nvSpPr>
        <p:spPr>
          <a:xfrm>
            <a:off x="-332" y="0"/>
            <a:ext cx="12240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4100" y="2500306"/>
            <a:ext cx="7239000" cy="1330325"/>
          </a:xfrm>
        </p:spPr>
        <p:txBody>
          <a:bodyPr lIns="0" tIns="0" rIns="0" bIns="0" anchor="b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YOUR TITLE STYLE</a:t>
            </a:r>
            <a:endParaRPr lang="en-MY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1872" y="5000636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pic>
        <p:nvPicPr>
          <p:cNvPr id="7" name="图片 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1" name="图片 10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5" name="Rectangle 4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267200" y="480536"/>
            <a:ext cx="297517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CONTENT</a:t>
            </a:r>
            <a:endParaRPr lang="en-MY" sz="4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b="155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15" name="Group 14"/>
          <p:cNvGrpSpPr/>
          <p:nvPr/>
        </p:nvGrpSpPr>
        <p:grpSpPr>
          <a:xfrm>
            <a:off x="609600" y="4419369"/>
            <a:ext cx="2971800" cy="776529"/>
            <a:chOff x="380999" y="4419913"/>
            <a:chExt cx="2971800" cy="776529"/>
          </a:xfrm>
        </p:grpSpPr>
        <p:sp>
          <p:nvSpPr>
            <p:cNvPr id="17" name="Right Triangle 16"/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0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8610602" y="4419369"/>
            <a:ext cx="2971800" cy="776529"/>
            <a:chOff x="380999" y="4419913"/>
            <a:chExt cx="2971800" cy="776529"/>
          </a:xfrm>
        </p:grpSpPr>
        <p:sp>
          <p:nvSpPr>
            <p:cNvPr id="26" name="Right Triangle 25"/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29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610602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4604784" y="4421496"/>
            <a:ext cx="2971800" cy="776529"/>
            <a:chOff x="380999" y="4419913"/>
            <a:chExt cx="2971800" cy="776529"/>
          </a:xfrm>
        </p:grpSpPr>
        <p:sp>
          <p:nvSpPr>
            <p:cNvPr id="31" name="Right Triangle 30"/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3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04784" y="1311674"/>
            <a:ext cx="2971800" cy="2971800"/>
          </a:xfrm>
        </p:spPr>
        <p:txBody>
          <a:bodyPr/>
          <a:lstStyle/>
          <a:p>
            <a:endParaRPr lang="en-MY"/>
          </a:p>
        </p:txBody>
      </p:sp>
      <p:pic>
        <p:nvPicPr>
          <p:cNvPr id="22" name="图片 2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3" name="图片 22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co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1663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5" name="Rectangle 14"/>
          <p:cNvSpPr/>
          <p:nvPr/>
        </p:nvSpPr>
        <p:spPr>
          <a:xfrm>
            <a:off x="623316" y="5162279"/>
            <a:ext cx="3858768" cy="8688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22623" y="1306913"/>
            <a:ext cx="3860154" cy="3855366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51663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9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1663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0" name="Rectangle 59"/>
          <p:cNvSpPr/>
          <p:nvPr userDrawn="1"/>
        </p:nvSpPr>
        <p:spPr>
          <a:xfrm>
            <a:off x="51663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98907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2" name="Rectangle 61"/>
          <p:cNvSpPr/>
          <p:nvPr userDrawn="1"/>
        </p:nvSpPr>
        <p:spPr>
          <a:xfrm>
            <a:off x="98907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3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8907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4" name="Rectangle 63"/>
          <p:cNvSpPr/>
          <p:nvPr userDrawn="1"/>
        </p:nvSpPr>
        <p:spPr>
          <a:xfrm>
            <a:off x="98907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5285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6" name="Rectangle 65"/>
          <p:cNvSpPr/>
          <p:nvPr userDrawn="1"/>
        </p:nvSpPr>
        <p:spPr>
          <a:xfrm>
            <a:off x="75285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7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75285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8" name="Rectangle 67"/>
          <p:cNvSpPr/>
          <p:nvPr userDrawn="1"/>
        </p:nvSpPr>
        <p:spPr>
          <a:xfrm>
            <a:off x="75285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4" name="图片 23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5" name="图片 24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4343400" cy="43434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7781260" y="1757030"/>
            <a:ext cx="3801140" cy="3801140"/>
          </a:xfrm>
          <a:custGeom>
            <a:avLst/>
            <a:gdLst>
              <a:gd name="connsiteX0" fmla="*/ 1848652 w 3763963"/>
              <a:gd name="connsiteY0" fmla="*/ 0 h 3763963"/>
              <a:gd name="connsiteX1" fmla="*/ 1915311 w 3763963"/>
              <a:gd name="connsiteY1" fmla="*/ 0 h 3763963"/>
              <a:gd name="connsiteX2" fmla="*/ 2074575 w 3763963"/>
              <a:gd name="connsiteY2" fmla="*/ 8042 h 3763963"/>
              <a:gd name="connsiteX3" fmla="*/ 3755920 w 3763963"/>
              <a:gd name="connsiteY3" fmla="*/ 1689387 h 3763963"/>
              <a:gd name="connsiteX4" fmla="*/ 3763963 w 3763963"/>
              <a:gd name="connsiteY4" fmla="*/ 1848670 h 3763963"/>
              <a:gd name="connsiteX5" fmla="*/ 3763963 w 3763963"/>
              <a:gd name="connsiteY5" fmla="*/ 1915292 h 3763963"/>
              <a:gd name="connsiteX6" fmla="*/ 3755920 w 3763963"/>
              <a:gd name="connsiteY6" fmla="*/ 2074575 h 3763963"/>
              <a:gd name="connsiteX7" fmla="*/ 2074575 w 3763963"/>
              <a:gd name="connsiteY7" fmla="*/ 3755920 h 3763963"/>
              <a:gd name="connsiteX8" fmla="*/ 1915291 w 3763963"/>
              <a:gd name="connsiteY8" fmla="*/ 3763963 h 3763963"/>
              <a:gd name="connsiteX9" fmla="*/ 1848672 w 3763963"/>
              <a:gd name="connsiteY9" fmla="*/ 3763963 h 3763963"/>
              <a:gd name="connsiteX10" fmla="*/ 1689388 w 3763963"/>
              <a:gd name="connsiteY10" fmla="*/ 3755920 h 3763963"/>
              <a:gd name="connsiteX11" fmla="*/ 8042 w 3763963"/>
              <a:gd name="connsiteY11" fmla="*/ 2074575 h 3763963"/>
              <a:gd name="connsiteX12" fmla="*/ 0 w 3763963"/>
              <a:gd name="connsiteY12" fmla="*/ 1915311 h 3763963"/>
              <a:gd name="connsiteX13" fmla="*/ 0 w 3763963"/>
              <a:gd name="connsiteY13" fmla="*/ 1848651 h 3763963"/>
              <a:gd name="connsiteX14" fmla="*/ 8042 w 3763963"/>
              <a:gd name="connsiteY14" fmla="*/ 1689387 h 3763963"/>
              <a:gd name="connsiteX15" fmla="*/ 1689388 w 3763963"/>
              <a:gd name="connsiteY15" fmla="*/ 8042 h 3763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63963" h="3763963">
                <a:moveTo>
                  <a:pt x="1848652" y="0"/>
                </a:moveTo>
                <a:lnTo>
                  <a:pt x="1915311" y="0"/>
                </a:lnTo>
                <a:lnTo>
                  <a:pt x="2074575" y="8042"/>
                </a:lnTo>
                <a:cubicBezTo>
                  <a:pt x="2961101" y="98074"/>
                  <a:pt x="3665888" y="802862"/>
                  <a:pt x="3755920" y="1689387"/>
                </a:cubicBezTo>
                <a:lnTo>
                  <a:pt x="3763963" y="1848670"/>
                </a:lnTo>
                <a:lnTo>
                  <a:pt x="3763963" y="1915292"/>
                </a:lnTo>
                <a:lnTo>
                  <a:pt x="3755920" y="2074575"/>
                </a:lnTo>
                <a:cubicBezTo>
                  <a:pt x="3665888" y="2961101"/>
                  <a:pt x="2961101" y="3665889"/>
                  <a:pt x="2074575" y="3755920"/>
                </a:cubicBezTo>
                <a:lnTo>
                  <a:pt x="1915291" y="3763963"/>
                </a:lnTo>
                <a:lnTo>
                  <a:pt x="1848672" y="3763963"/>
                </a:lnTo>
                <a:lnTo>
                  <a:pt x="1689388" y="3755920"/>
                </a:lnTo>
                <a:cubicBezTo>
                  <a:pt x="802862" y="3665889"/>
                  <a:pt x="98074" y="2961101"/>
                  <a:pt x="8042" y="2074575"/>
                </a:cubicBezTo>
                <a:lnTo>
                  <a:pt x="0" y="1915311"/>
                </a:lnTo>
                <a:lnTo>
                  <a:pt x="0" y="1848651"/>
                </a:lnTo>
                <a:lnTo>
                  <a:pt x="8042" y="1689387"/>
                </a:lnTo>
                <a:cubicBezTo>
                  <a:pt x="98074" y="802862"/>
                  <a:pt x="802862" y="98074"/>
                  <a:pt x="1689388" y="80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/>
          <a:srcRect l="36064" t="20617" r="35753" b="58813"/>
          <a:stretch>
            <a:fillRect/>
          </a:stretch>
        </p:blipFill>
        <p:spPr>
          <a:xfrm>
            <a:off x="341887" y="1408687"/>
            <a:ext cx="1410713" cy="1410713"/>
          </a:xfrm>
          <a:custGeom>
            <a:avLst/>
            <a:gdLst>
              <a:gd name="connsiteX0" fmla="*/ 0 w 1410713"/>
              <a:gd name="connsiteY0" fmla="*/ 0 h 1410713"/>
              <a:gd name="connsiteX1" fmla="*/ 1410713 w 1410713"/>
              <a:gd name="connsiteY1" fmla="*/ 0 h 1410713"/>
              <a:gd name="connsiteX2" fmla="*/ 1410713 w 1410713"/>
              <a:gd name="connsiteY2" fmla="*/ 1410713 h 1410713"/>
              <a:gd name="connsiteX3" fmla="*/ 0 w 1410713"/>
              <a:gd name="connsiteY3" fmla="*/ 1410713 h 1410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0713" h="1410713">
                <a:moveTo>
                  <a:pt x="0" y="0"/>
                </a:moveTo>
                <a:lnTo>
                  <a:pt x="1410713" y="0"/>
                </a:lnTo>
                <a:lnTo>
                  <a:pt x="1410713" y="1410713"/>
                </a:lnTo>
                <a:lnTo>
                  <a:pt x="0" y="1410713"/>
                </a:lnTo>
                <a:close/>
              </a:path>
            </a:pathLst>
          </a:custGeom>
        </p:spPr>
      </p:pic>
      <p:pic>
        <p:nvPicPr>
          <p:cNvPr id="16" name="图片 15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7" name="图片 16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0972800" cy="2239963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2743200" cy="43434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657600" y="1485898"/>
            <a:ext cx="2743200" cy="4343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4533900" y="2106929"/>
            <a:ext cx="3124200" cy="3124200"/>
          </a:xfrm>
          <a:custGeom>
            <a:avLst/>
            <a:gdLst>
              <a:gd name="connsiteX0" fmla="*/ 1448904 w 3124200"/>
              <a:gd name="connsiteY0" fmla="*/ 0 h 3124200"/>
              <a:gd name="connsiteX1" fmla="*/ 1675299 w 3124200"/>
              <a:gd name="connsiteY1" fmla="*/ 0 h 3124200"/>
              <a:gd name="connsiteX2" fmla="*/ 1722401 w 3124200"/>
              <a:gd name="connsiteY2" fmla="*/ 2379 h 3124200"/>
              <a:gd name="connsiteX3" fmla="*/ 3121824 w 3124200"/>
              <a:gd name="connsiteY3" fmla="*/ 1401801 h 3124200"/>
              <a:gd name="connsiteX4" fmla="*/ 3124200 w 3124200"/>
              <a:gd name="connsiteY4" fmla="*/ 1448864 h 3124200"/>
              <a:gd name="connsiteX5" fmla="*/ 3124200 w 3124200"/>
              <a:gd name="connsiteY5" fmla="*/ 1675339 h 3124200"/>
              <a:gd name="connsiteX6" fmla="*/ 3121824 w 3124200"/>
              <a:gd name="connsiteY6" fmla="*/ 1722401 h 3124200"/>
              <a:gd name="connsiteX7" fmla="*/ 1722401 w 3124200"/>
              <a:gd name="connsiteY7" fmla="*/ 3121824 h 3124200"/>
              <a:gd name="connsiteX8" fmla="*/ 1675338 w 3124200"/>
              <a:gd name="connsiteY8" fmla="*/ 3124200 h 3124200"/>
              <a:gd name="connsiteX9" fmla="*/ 1448865 w 3124200"/>
              <a:gd name="connsiteY9" fmla="*/ 3124200 h 3124200"/>
              <a:gd name="connsiteX10" fmla="*/ 1401801 w 3124200"/>
              <a:gd name="connsiteY10" fmla="*/ 3121824 h 3124200"/>
              <a:gd name="connsiteX11" fmla="*/ 2379 w 3124200"/>
              <a:gd name="connsiteY11" fmla="*/ 1722401 h 3124200"/>
              <a:gd name="connsiteX12" fmla="*/ 0 w 3124200"/>
              <a:gd name="connsiteY12" fmla="*/ 1675299 h 3124200"/>
              <a:gd name="connsiteX13" fmla="*/ 0 w 3124200"/>
              <a:gd name="connsiteY13" fmla="*/ 1448903 h 3124200"/>
              <a:gd name="connsiteX14" fmla="*/ 2379 w 3124200"/>
              <a:gd name="connsiteY14" fmla="*/ 1401801 h 3124200"/>
              <a:gd name="connsiteX15" fmla="*/ 1401801 w 3124200"/>
              <a:gd name="connsiteY15" fmla="*/ 2379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24200" h="3124200">
                <a:moveTo>
                  <a:pt x="1448904" y="0"/>
                </a:moveTo>
                <a:lnTo>
                  <a:pt x="1675299" y="0"/>
                </a:lnTo>
                <a:lnTo>
                  <a:pt x="1722401" y="2379"/>
                </a:lnTo>
                <a:cubicBezTo>
                  <a:pt x="2460277" y="77314"/>
                  <a:pt x="3046888" y="663925"/>
                  <a:pt x="3121824" y="1401801"/>
                </a:cubicBezTo>
                <a:lnTo>
                  <a:pt x="3124200" y="1448864"/>
                </a:lnTo>
                <a:lnTo>
                  <a:pt x="3124200" y="1675339"/>
                </a:lnTo>
                <a:lnTo>
                  <a:pt x="3121824" y="1722401"/>
                </a:lnTo>
                <a:cubicBezTo>
                  <a:pt x="3046888" y="2460277"/>
                  <a:pt x="2460277" y="3046888"/>
                  <a:pt x="1722401" y="3121824"/>
                </a:cubicBezTo>
                <a:lnTo>
                  <a:pt x="1675338" y="3124200"/>
                </a:lnTo>
                <a:lnTo>
                  <a:pt x="1448865" y="3124200"/>
                </a:lnTo>
                <a:lnTo>
                  <a:pt x="1401801" y="3121824"/>
                </a:lnTo>
                <a:cubicBezTo>
                  <a:pt x="663926" y="3046888"/>
                  <a:pt x="77314" y="2460277"/>
                  <a:pt x="2379" y="1722401"/>
                </a:cubicBezTo>
                <a:lnTo>
                  <a:pt x="0" y="1675299"/>
                </a:lnTo>
                <a:lnTo>
                  <a:pt x="0" y="1448903"/>
                </a:lnTo>
                <a:lnTo>
                  <a:pt x="2379" y="1401801"/>
                </a:lnTo>
                <a:cubicBezTo>
                  <a:pt x="77314" y="663925"/>
                  <a:pt x="663926" y="77314"/>
                  <a:pt x="1401801" y="237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486400" y="3884589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2743199" cy="424756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839200" y="1545249"/>
            <a:ext cx="2743200" cy="424756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11811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/>
          </p:nvPr>
        </p:nvSpPr>
        <p:spPr>
          <a:xfrm>
            <a:off x="88773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>
          <a:xfrm>
            <a:off x="50292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3820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4958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2" name="图片 1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6" name="图片 15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t="312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2377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5147925" y="1733551"/>
            <a:ext cx="1896150" cy="4077630"/>
          </a:xfrm>
          <a:custGeom>
            <a:avLst/>
            <a:gdLst>
              <a:gd name="connsiteX0" fmla="*/ 288075 w 1896150"/>
              <a:gd name="connsiteY0" fmla="*/ 0 h 4077630"/>
              <a:gd name="connsiteX1" fmla="*/ 1608074 w 1896150"/>
              <a:gd name="connsiteY1" fmla="*/ 0 h 4077630"/>
              <a:gd name="connsiteX2" fmla="*/ 1608074 w 1896150"/>
              <a:gd name="connsiteY2" fmla="*/ 4590 h 4077630"/>
              <a:gd name="connsiteX3" fmla="*/ 1695196 w 1896150"/>
              <a:gd name="connsiteY3" fmla="*/ 4590 h 4077630"/>
              <a:gd name="connsiteX4" fmla="*/ 1896150 w 1896150"/>
              <a:gd name="connsiteY4" fmla="*/ 206242 h 4077630"/>
              <a:gd name="connsiteX5" fmla="*/ 1896150 w 1896150"/>
              <a:gd name="connsiteY5" fmla="*/ 3875978 h 4077630"/>
              <a:gd name="connsiteX6" fmla="*/ 1695196 w 1896150"/>
              <a:gd name="connsiteY6" fmla="*/ 4077630 h 4077630"/>
              <a:gd name="connsiteX7" fmla="*/ 200954 w 1896150"/>
              <a:gd name="connsiteY7" fmla="*/ 4077630 h 4077630"/>
              <a:gd name="connsiteX8" fmla="*/ 0 w 1896150"/>
              <a:gd name="connsiteY8" fmla="*/ 3875978 h 4077630"/>
              <a:gd name="connsiteX9" fmla="*/ 0 w 1896150"/>
              <a:gd name="connsiteY9" fmla="*/ 206242 h 4077630"/>
              <a:gd name="connsiteX10" fmla="*/ 200954 w 1896150"/>
              <a:gd name="connsiteY10" fmla="*/ 4590 h 4077630"/>
              <a:gd name="connsiteX11" fmla="*/ 288075 w 1896150"/>
              <a:gd name="connsiteY11" fmla="*/ 4590 h 4077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96150" h="4077630">
                <a:moveTo>
                  <a:pt x="288075" y="0"/>
                </a:moveTo>
                <a:lnTo>
                  <a:pt x="1608074" y="0"/>
                </a:lnTo>
                <a:lnTo>
                  <a:pt x="1608074" y="4590"/>
                </a:lnTo>
                <a:lnTo>
                  <a:pt x="1695196" y="4590"/>
                </a:lnTo>
                <a:cubicBezTo>
                  <a:pt x="1806180" y="4590"/>
                  <a:pt x="1896150" y="94873"/>
                  <a:pt x="1896150" y="206242"/>
                </a:cubicBezTo>
                <a:lnTo>
                  <a:pt x="1896150" y="3875978"/>
                </a:lnTo>
                <a:cubicBezTo>
                  <a:pt x="1896150" y="3987347"/>
                  <a:pt x="1806180" y="4077630"/>
                  <a:pt x="1695196" y="4077630"/>
                </a:cubicBezTo>
                <a:lnTo>
                  <a:pt x="200954" y="4077630"/>
                </a:lnTo>
                <a:cubicBezTo>
                  <a:pt x="89970" y="4077630"/>
                  <a:pt x="0" y="3987347"/>
                  <a:pt x="0" y="3875978"/>
                </a:cubicBezTo>
                <a:lnTo>
                  <a:pt x="0" y="206242"/>
                </a:lnTo>
                <a:cubicBezTo>
                  <a:pt x="0" y="94872"/>
                  <a:pt x="89970" y="4590"/>
                  <a:pt x="200954" y="4590"/>
                </a:cubicBezTo>
                <a:lnTo>
                  <a:pt x="288075" y="45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-35952" y="2391156"/>
            <a:ext cx="4599432" cy="2602410"/>
          </a:xfrm>
          <a:custGeom>
            <a:avLst/>
            <a:gdLst>
              <a:gd name="connsiteX0" fmla="*/ 0 w 4599432"/>
              <a:gd name="connsiteY0" fmla="*/ 0 h 2602410"/>
              <a:gd name="connsiteX1" fmla="*/ 4599432 w 4599432"/>
              <a:gd name="connsiteY1" fmla="*/ 0 h 2602410"/>
              <a:gd name="connsiteX2" fmla="*/ 4599432 w 4599432"/>
              <a:gd name="connsiteY2" fmla="*/ 2602410 h 2602410"/>
              <a:gd name="connsiteX3" fmla="*/ 0 w 4599432"/>
              <a:gd name="connsiteY3" fmla="*/ 2602410 h 260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9432" h="2602410">
                <a:moveTo>
                  <a:pt x="0" y="0"/>
                </a:moveTo>
                <a:lnTo>
                  <a:pt x="4599432" y="0"/>
                </a:lnTo>
                <a:lnTo>
                  <a:pt x="4599432" y="2602410"/>
                </a:lnTo>
                <a:lnTo>
                  <a:pt x="0" y="26024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2" name="Picture 21" descr="A screenshot of a computer scree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967333" y="2254186"/>
            <a:ext cx="6462194" cy="3003486"/>
          </a:xfrm>
          <a:custGeom>
            <a:avLst/>
            <a:gdLst>
              <a:gd name="connsiteX0" fmla="*/ 1143000 w 7772400"/>
              <a:gd name="connsiteY0" fmla="*/ 194854 h 4180114"/>
              <a:gd name="connsiteX1" fmla="*/ 1143000 w 7772400"/>
              <a:gd name="connsiteY1" fmla="*/ 3776254 h 4180114"/>
              <a:gd name="connsiteX2" fmla="*/ 6629402 w 7772400"/>
              <a:gd name="connsiteY2" fmla="*/ 3776254 h 4180114"/>
              <a:gd name="connsiteX3" fmla="*/ 6629402 w 7772400"/>
              <a:gd name="connsiteY3" fmla="*/ 194854 h 4180114"/>
              <a:gd name="connsiteX4" fmla="*/ 0 w 7772400"/>
              <a:gd name="connsiteY4" fmla="*/ 0 h 4180114"/>
              <a:gd name="connsiteX5" fmla="*/ 7772400 w 7772400"/>
              <a:gd name="connsiteY5" fmla="*/ 0 h 4180114"/>
              <a:gd name="connsiteX6" fmla="*/ 7772400 w 7772400"/>
              <a:gd name="connsiteY6" fmla="*/ 4180114 h 4180114"/>
              <a:gd name="connsiteX7" fmla="*/ 0 w 7772400"/>
              <a:gd name="connsiteY7" fmla="*/ 4180114 h 418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2400" h="4180114">
                <a:moveTo>
                  <a:pt x="1143000" y="194854"/>
                </a:moveTo>
                <a:lnTo>
                  <a:pt x="1143000" y="3776254"/>
                </a:lnTo>
                <a:lnTo>
                  <a:pt x="6629402" y="3776254"/>
                </a:lnTo>
                <a:lnTo>
                  <a:pt x="6629402" y="194854"/>
                </a:lnTo>
                <a:close/>
                <a:moveTo>
                  <a:pt x="0" y="0"/>
                </a:moveTo>
                <a:lnTo>
                  <a:pt x="7772400" y="0"/>
                </a:lnTo>
                <a:lnTo>
                  <a:pt x="7772400" y="4180114"/>
                </a:lnTo>
                <a:lnTo>
                  <a:pt x="0" y="4180114"/>
                </a:lnTo>
                <a:close/>
              </a:path>
            </a:pathLst>
          </a:custGeom>
        </p:spPr>
      </p:pic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3528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0104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s and 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pic>
        <p:nvPicPr>
          <p:cNvPr id="13" name="Graphic 12" descr="Thumbs Up Sig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00" y="1905000"/>
            <a:ext cx="2438400" cy="2438400"/>
          </a:xfrm>
          <a:prstGeom prst="rect">
            <a:avLst/>
          </a:prstGeom>
        </p:spPr>
      </p:pic>
      <p:pic>
        <p:nvPicPr>
          <p:cNvPr id="14" name="Graphic 13" descr="Thumbs Up Sign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982200" y="2514600"/>
            <a:ext cx="2438400" cy="2438400"/>
          </a:xfrm>
          <a:prstGeom prst="rect">
            <a:avLst/>
          </a:prstGeom>
        </p:spPr>
      </p:pic>
      <p:sp>
        <p:nvSpPr>
          <p:cNvPr id="18" name="Rectangle 8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9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ore front at day&#10;&#10;Description automatically generated"/>
          <p:cNvPicPr>
            <a:picLocks noChangeAspect="1"/>
          </p:cNvPicPr>
          <p:nvPr userDrawn="1"/>
        </p:nvPicPr>
        <p:blipFill>
          <a:blip r:embed="rId2">
            <a:grayscl/>
            <a:lum bright="30000"/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5274" y="2719385"/>
            <a:ext cx="10972800" cy="638177"/>
          </a:xfrm>
        </p:spPr>
        <p:txBody>
          <a:bodyPr lIns="0" tIns="0" rIns="0" bIns="0" anchor="b">
            <a:no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THANKS FOR YOUR ATTENTION!</a:t>
            </a:r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00434" y="4503748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grpSp>
        <p:nvGrpSpPr>
          <p:cNvPr id="21" name="组合 20"/>
          <p:cNvGrpSpPr/>
          <p:nvPr userDrawn="1"/>
        </p:nvGrpSpPr>
        <p:grpSpPr>
          <a:xfrm flipV="1">
            <a:off x="-47668" y="2786058"/>
            <a:ext cx="2119306" cy="500066"/>
            <a:chOff x="0" y="3571876"/>
            <a:chExt cx="12192000" cy="112297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8" name="Rectangle 2"/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flipV="1">
            <a:off x="10096528" y="2803530"/>
            <a:ext cx="2119306" cy="500066"/>
            <a:chOff x="0" y="3571876"/>
            <a:chExt cx="12192000" cy="112297"/>
          </a:xfrm>
        </p:grpSpPr>
        <p:sp>
          <p:nvSpPr>
            <p:cNvPr id="13" name="Rectangle 9"/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4" name="Rectangle 2"/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pic>
        <p:nvPicPr>
          <p:cNvPr id="17" name="图片 1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9" name="图片 18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9606" y="2564904"/>
            <a:ext cx="9612788" cy="133032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微软雅黑" charset="0"/>
                <a:ea typeface="微软雅黑" charset="0"/>
                <a:cs typeface="微软雅黑" charset="0"/>
              </a:rPr>
              <a:t>结合大模型的表格识别方法与系统</a:t>
            </a:r>
            <a:br>
              <a:rPr lang="zh-CN" altLang="en-US" b="0" dirty="0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2700" b="0" dirty="0">
                <a:latin typeface="微软雅黑" charset="0"/>
                <a:ea typeface="微软雅黑" charset="0"/>
                <a:cs typeface="微软雅黑" charset="0"/>
              </a:rPr>
              <a:t>中期答辩</a:t>
            </a:r>
            <a:endParaRPr lang="zh-CN" altLang="en-US" sz="2700" b="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500338" y="4509120"/>
            <a:ext cx="7268070" cy="1656184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报告人：覃浩</a:t>
            </a:r>
            <a:endParaRPr lang="en-US" altLang="zh-CN" b="1" dirty="0">
              <a:solidFill>
                <a:srgbClr val="2359A8"/>
              </a:solidFill>
              <a:latin typeface="+mj-lt"/>
              <a:ea typeface="宋体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指导老师：卢光明</a:t>
            </a:r>
            <a:endParaRPr lang="en-US" altLang="zh-CN" b="1" dirty="0">
              <a:solidFill>
                <a:srgbClr val="2359A8"/>
              </a:solidFill>
              <a:latin typeface="+mj-lt"/>
              <a:ea typeface="宋体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2026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年</a:t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6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月</a:t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29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日</a:t>
            </a:r>
            <a:endParaRPr lang="en-MY" b="1" dirty="0">
              <a:solidFill>
                <a:srgbClr val="2359A8"/>
              </a:solidFill>
              <a:latin typeface="+mj-lt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研究目的及意义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1340485"/>
            <a:ext cx="5981700" cy="44577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1200150" y="1578610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1200150" y="2931160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8" name="Shape 5"/>
          <p:cNvSpPr/>
          <p:nvPr/>
        </p:nvSpPr>
        <p:spPr>
          <a:xfrm>
            <a:off x="1200150" y="4283710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pic>
        <p:nvPicPr>
          <p:cNvPr id="20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325" y="1340485"/>
            <a:ext cx="4152900" cy="4457700"/>
          </a:xfrm>
          <a:prstGeom prst="rect">
            <a:avLst/>
          </a:prstGeom>
        </p:spPr>
      </p:pic>
      <p:sp>
        <p:nvSpPr>
          <p:cNvPr id="210" name="Shape 6"/>
          <p:cNvSpPr/>
          <p:nvPr/>
        </p:nvSpPr>
        <p:spPr>
          <a:xfrm>
            <a:off x="7372350" y="1540510"/>
            <a:ext cx="3771900" cy="2710160"/>
          </a:xfrm>
          <a:prstGeom prst="roundRect">
            <a:avLst>
              <a:gd name="adj" fmla="val 2846"/>
            </a:avLst>
          </a:prstGeom>
          <a:solidFill>
            <a:srgbClr val="FFFFFF">
              <a:alpha val="0"/>
            </a:srgbClr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211" name="Shape 7"/>
          <p:cNvSpPr/>
          <p:nvPr/>
        </p:nvSpPr>
        <p:spPr>
          <a:xfrm>
            <a:off x="7372350" y="4384020"/>
            <a:ext cx="3771900" cy="1214140"/>
          </a:xfrm>
          <a:prstGeom prst="roundRect">
            <a:avLst>
              <a:gd name="adj" fmla="val 14180"/>
            </a:avLst>
          </a:prstGeom>
          <a:solidFill>
            <a:srgbClr val="F3F7FD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212" name="Text 11"/>
          <p:cNvSpPr/>
          <p:nvPr/>
        </p:nvSpPr>
        <p:spPr>
          <a:xfrm>
            <a:off x="1343025" y="1707198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任务价值：表格是文档核心结构化载体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1343025" y="1969135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财务报表、科研论文、政务档案等关键信息高度依赖表格组织，识别质量直接影响后续计算与分析。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1343025" y="3059748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场景挑战：输入质量与版式复杂度双重波动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1343025" y="3321685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PDF、扫描件、拍照文档常伴随噪声、模糊、阴影、透视畸变与弱线框，结构恢复难度显著增加。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1343025" y="4412298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方法瓶颈：传统流程在复杂样本泛化不足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1343025" y="4674235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固定预处理与单次识别易出现误差传播，面对复杂表头、跨行跨列与多表混排时稳定性不足。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7496175" y="4493558"/>
            <a:ext cx="3524250" cy="174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研究动因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7496175" y="4758323"/>
            <a:ext cx="35242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需构建“输入质量优化—结构理解—结果校验”一体化链路，才能提升复杂真实场景下的准确率与可用性。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1000125" y="5556042"/>
            <a:ext cx="427620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21" name="图片 11" descr="upload_post_object_v2_3162099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268" y="1619188"/>
            <a:ext cx="3275057" cy="2552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总体方案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75" y="1403985"/>
            <a:ext cx="10363200" cy="35623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4109" y="1606646"/>
            <a:ext cx="10020300" cy="2209800"/>
          </a:xfrm>
          <a:prstGeom prst="roundRect">
            <a:avLst>
              <a:gd name="adj" fmla="val 4281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4" name="Shape 4"/>
          <p:cNvSpPr/>
          <p:nvPr/>
        </p:nvSpPr>
        <p:spPr>
          <a:xfrm>
            <a:off x="1073150" y="3928110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9" name="Shape 5"/>
          <p:cNvSpPr/>
          <p:nvPr/>
        </p:nvSpPr>
        <p:spPr>
          <a:xfrm>
            <a:off x="4445000" y="3928110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20" name="Shape 6"/>
          <p:cNvSpPr/>
          <p:nvPr/>
        </p:nvSpPr>
        <p:spPr>
          <a:xfrm>
            <a:off x="7816850" y="3928110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42" name="Shape 7"/>
          <p:cNvSpPr/>
          <p:nvPr/>
        </p:nvSpPr>
        <p:spPr>
          <a:xfrm>
            <a:off x="892175" y="5118735"/>
            <a:ext cx="10363200" cy="685800"/>
          </a:xfrm>
          <a:prstGeom prst="roundRect">
            <a:avLst>
              <a:gd name="adj" fmla="val 44444"/>
            </a:avLst>
          </a:prstGeom>
          <a:solidFill>
            <a:srgbClr val="EEF4FD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45" name="Text 10"/>
          <p:cNvSpPr/>
          <p:nvPr/>
        </p:nvSpPr>
        <p:spPr>
          <a:xfrm>
            <a:off x="1196975" y="4018598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输入解析与图像预处理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1187485" y="4320544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支持图像/PDF页面输入，动态选择最优预处理链，提升结构可辨识性。</a:t>
            </a:r>
            <a:endParaRPr lang="en-US" sz="10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568825" y="4018598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上下文学习驱动结构识别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568832" y="4320502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通过特征提取、示例检索与提示构造，引导大模型生成表格结构与内容。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7940675" y="4018598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质量评估与后处理输出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7940679" y="4320502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基于合法性与一致性评估触发修复、重识别与细化，输出 HTML/JSON 结果。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1054100" y="5209223"/>
            <a:ext cx="100393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1073104" y="5371895"/>
            <a:ext cx="10039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将“大模型推理能力”与“传统工程闭环”结合，实现从输入到结构化输出的可运行系统路径。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3" name="图片 52" descr="upload_post_object_v2_40903408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85" y="2024117"/>
            <a:ext cx="1779966" cy="1374943"/>
          </a:xfrm>
          <a:prstGeom prst="rect">
            <a:avLst/>
          </a:prstGeom>
        </p:spPr>
      </p:pic>
      <p:pic>
        <p:nvPicPr>
          <p:cNvPr id="54" name="图片 53" descr="upload_post_object_v2_25371574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42" y="2024128"/>
            <a:ext cx="1831949" cy="1415098"/>
          </a:xfrm>
          <a:prstGeom prst="rect">
            <a:avLst/>
          </a:prstGeom>
        </p:spPr>
      </p:pic>
      <p:pic>
        <p:nvPicPr>
          <p:cNvPr id="55" name="图片 54" descr="upload_post_object_v2_36960886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959" y="2064160"/>
            <a:ext cx="1799685" cy="1334931"/>
          </a:xfrm>
          <a:prstGeom prst="rect">
            <a:avLst/>
          </a:prstGeom>
        </p:spPr>
      </p:pic>
      <p:pic>
        <p:nvPicPr>
          <p:cNvPr id="56" name="图片 55" descr="upload_post_object_v2_2348475615"/>
          <p:cNvPicPr>
            <a:picLocks noChangeAspect="1"/>
          </p:cNvPicPr>
          <p:nvPr/>
        </p:nvPicPr>
        <p:blipFill>
          <a:blip r:embed="rId5"/>
          <a:srcRect r="24572"/>
          <a:stretch>
            <a:fillRect/>
          </a:stretch>
        </p:blipFill>
        <p:spPr>
          <a:xfrm>
            <a:off x="8753905" y="2082906"/>
            <a:ext cx="1888047" cy="1297439"/>
          </a:xfrm>
          <a:prstGeom prst="rect">
            <a:avLst/>
          </a:prstGeom>
        </p:spPr>
      </p:pic>
      <p:sp>
        <p:nvSpPr>
          <p:cNvPr id="57" name="右箭头 56"/>
          <p:cNvSpPr/>
          <p:nvPr userDrawn="1"/>
        </p:nvSpPr>
        <p:spPr>
          <a:xfrm>
            <a:off x="3141212" y="2725044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8" name="右箭头 57"/>
          <p:cNvSpPr/>
          <p:nvPr userDrawn="1"/>
        </p:nvSpPr>
        <p:spPr>
          <a:xfrm>
            <a:off x="8201286" y="2708071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9" name="文本框 58"/>
          <p:cNvSpPr txBox="1"/>
          <p:nvPr userDrawn="1"/>
        </p:nvSpPr>
        <p:spPr>
          <a:xfrm>
            <a:off x="1732004" y="1721836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原始图像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0" name="文本框 59"/>
          <p:cNvSpPr txBox="1"/>
          <p:nvPr userDrawn="1"/>
        </p:nvSpPr>
        <p:spPr>
          <a:xfrm>
            <a:off x="4130781" y="1721836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预处理图像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1" name="文本框 60"/>
          <p:cNvSpPr txBox="1"/>
          <p:nvPr userDrawn="1"/>
        </p:nvSpPr>
        <p:spPr>
          <a:xfrm>
            <a:off x="6582302" y="1721836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识别结果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2" name="文本框 61"/>
          <p:cNvSpPr txBox="1"/>
          <p:nvPr userDrawn="1"/>
        </p:nvSpPr>
        <p:spPr>
          <a:xfrm>
            <a:off x="9361690" y="1721836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后处理修复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右箭头 62"/>
          <p:cNvSpPr/>
          <p:nvPr userDrawn="1"/>
        </p:nvSpPr>
        <p:spPr>
          <a:xfrm>
            <a:off x="5650471" y="2725069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动态感知的表格预处理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1356360"/>
            <a:ext cx="4024630" cy="4726305"/>
          </a:xfrm>
          <a:prstGeom prst="rect">
            <a:avLst/>
          </a:prstGeom>
        </p:spPr>
      </p:pic>
      <p:sp>
        <p:nvSpPr>
          <p:cNvPr id="38" name="Shape 3"/>
          <p:cNvSpPr/>
          <p:nvPr/>
        </p:nvSpPr>
        <p:spPr>
          <a:xfrm>
            <a:off x="570865" y="1698625"/>
            <a:ext cx="3703320" cy="887730"/>
          </a:xfrm>
          <a:prstGeom prst="roundRect">
            <a:avLst>
              <a:gd name="adj" fmla="val 16309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41" name="Shape 4"/>
          <p:cNvSpPr/>
          <p:nvPr/>
        </p:nvSpPr>
        <p:spPr>
          <a:xfrm>
            <a:off x="570865" y="2799715"/>
            <a:ext cx="3703320" cy="971550"/>
          </a:xfrm>
          <a:prstGeom prst="roundRect">
            <a:avLst>
              <a:gd name="adj" fmla="val 12549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61" name="Shape 5"/>
          <p:cNvSpPr/>
          <p:nvPr/>
        </p:nvSpPr>
        <p:spPr>
          <a:xfrm>
            <a:off x="570865" y="3900170"/>
            <a:ext cx="3703320" cy="971550"/>
          </a:xfrm>
          <a:prstGeom prst="roundRect">
            <a:avLst>
              <a:gd name="adj" fmla="val 9442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62" name="Shape 6"/>
          <p:cNvSpPr/>
          <p:nvPr/>
        </p:nvSpPr>
        <p:spPr>
          <a:xfrm>
            <a:off x="570865" y="5005705"/>
            <a:ext cx="3703320" cy="971550"/>
          </a:xfrm>
          <a:prstGeom prst="roundRect">
            <a:avLst>
              <a:gd name="adj" fmla="val 12026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20" y="1356360"/>
            <a:ext cx="7424420" cy="4726305"/>
          </a:xfrm>
          <a:prstGeom prst="rect">
            <a:avLst/>
          </a:prstGeom>
        </p:spPr>
      </p:pic>
      <p:sp>
        <p:nvSpPr>
          <p:cNvPr id="64" name="Shape 7"/>
          <p:cNvSpPr/>
          <p:nvPr/>
        </p:nvSpPr>
        <p:spPr>
          <a:xfrm>
            <a:off x="4547870" y="1468755"/>
            <a:ext cx="7219950" cy="3649345"/>
          </a:xfrm>
          <a:prstGeom prst="roundRect">
            <a:avLst>
              <a:gd name="adj" fmla="val 2168"/>
            </a:avLst>
          </a:prstGeom>
          <a:solidFill>
            <a:srgbClr val="F7FAFF"/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67" name="Text 13"/>
          <p:cNvSpPr/>
          <p:nvPr/>
        </p:nvSpPr>
        <p:spPr>
          <a:xfrm>
            <a:off x="675640" y="1824990"/>
            <a:ext cx="3473450" cy="180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图像退化问题感知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675640" y="2132965"/>
            <a:ext cx="3473450" cy="377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大模型识别噪声、模糊、阴影、对比度不足与边界冗余等退化类型。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675640" y="2925445"/>
            <a:ext cx="3473450" cy="180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候选链生成与并行执行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75640" y="3261360"/>
            <a:ext cx="3473450" cy="377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自动生成多条操作链（去噪/增强/锐化/裁剪等），并与原图共同比较。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675640" y="4026535"/>
            <a:ext cx="3473450" cy="180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综合评分优选结果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695960" y="4346575"/>
            <a:ext cx="3473450" cy="377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融合客观质量指标与大模型语义评分，输出更利于结构识别的图像。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675640" y="5123180"/>
            <a:ext cx="3473450" cy="168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695960" y="5445125"/>
            <a:ext cx="3473450" cy="377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预处理对 TEDS-Struct 改善更稳定，验证了“结构可恢复性优先”的价值。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7" name="图片 76" descr="预处理框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20" y="1628775"/>
            <a:ext cx="6700520" cy="3413125"/>
          </a:xfrm>
          <a:prstGeom prst="rect">
            <a:avLst/>
          </a:prstGeom>
        </p:spPr>
      </p:pic>
      <p:sp>
        <p:nvSpPr>
          <p:cNvPr id="79" name="Shape 6"/>
          <p:cNvSpPr/>
          <p:nvPr/>
        </p:nvSpPr>
        <p:spPr>
          <a:xfrm>
            <a:off x="4547870" y="5168265"/>
            <a:ext cx="7219950" cy="808990"/>
          </a:xfrm>
          <a:prstGeom prst="roundRect">
            <a:avLst>
              <a:gd name="adj" fmla="val 20784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78" name="Text 12"/>
          <p:cNvSpPr/>
          <p:nvPr/>
        </p:nvSpPr>
        <p:spPr>
          <a:xfrm>
            <a:off x="5015865" y="5445125"/>
            <a:ext cx="6441440" cy="4489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由固定预处理转向“问题感知—候选生成—并行比较—最优选择”的自适应流程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上下文学习驱动的表格识别引擎</a:t>
            </a:r>
            <a:endParaRPr lang="en-MY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60" y="1412875"/>
            <a:ext cx="6982460" cy="460883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8510" y="1555750"/>
            <a:ext cx="6805295" cy="3369945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98195" y="5100955"/>
            <a:ext cx="6751320" cy="717550"/>
          </a:xfrm>
          <a:prstGeom prst="roundRect">
            <a:avLst>
              <a:gd name="adj" fmla="val 1761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90" y="1412875"/>
            <a:ext cx="3810000" cy="460946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841615" y="1574800"/>
            <a:ext cx="3505200" cy="974090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841615" y="2722245"/>
            <a:ext cx="3505200" cy="995045"/>
          </a:xfrm>
          <a:prstGeom prst="roundRect">
            <a:avLst>
              <a:gd name="adj" fmla="val 16572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3" name="Shape 7"/>
          <p:cNvSpPr/>
          <p:nvPr/>
        </p:nvSpPr>
        <p:spPr>
          <a:xfrm>
            <a:off x="7841615" y="3868420"/>
            <a:ext cx="3505200" cy="974090"/>
          </a:xfrm>
          <a:prstGeom prst="roundRect">
            <a:avLst>
              <a:gd name="adj" fmla="val 15775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4" name="Shape 8"/>
          <p:cNvSpPr/>
          <p:nvPr/>
        </p:nvSpPr>
        <p:spPr>
          <a:xfrm>
            <a:off x="7841615" y="5015230"/>
            <a:ext cx="3505200" cy="876935"/>
          </a:xfrm>
          <a:prstGeom prst="roundRect">
            <a:avLst>
              <a:gd name="adj" fmla="val 22745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5" name="Text 14"/>
          <p:cNvSpPr/>
          <p:nvPr/>
        </p:nvSpPr>
        <p:spPr>
          <a:xfrm>
            <a:off x="7946390" y="1665593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特征提取与示例检索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936824" y="200308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提取表格视觉特征，按相似度筛选示例，并兼顾示例多样性以降低过拟合风险。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946390" y="2812427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提示构造引导结构生成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936824" y="3149915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组织任务指令与参考示例，驱动大模型输出表格结构；异常时进入校验与有限重试。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946390" y="3959188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结构化解析与结果修复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7936824" y="4296675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输出 HTML 表格并解析单元格内容，形成内容矩阵与明细结果，支撑后续修复与展示。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946390" y="5101260"/>
            <a:ext cx="32956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阶段判断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110889" y="5371149"/>
            <a:ext cx="308349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上下文学习在复杂表格场景中已验证可行，核心瓶颈聚焦于示例匹配与复杂跨度恢复。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8" name="图片 27" descr="上下文识别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0" y="1772920"/>
            <a:ext cx="6585585" cy="303212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054100" y="5260975"/>
            <a:ext cx="6096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以“特征—示例—提示—生成—解析”为主链路，提升复杂表格结构恢复与内容组织能力</a:t>
            </a:r>
            <a:endParaRPr lang="en-US" altLang="en-US" sz="1400" dirty="0" smtClean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质量评估后处理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98600"/>
            <a:ext cx="4495800" cy="43834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5325" y="1660525"/>
            <a:ext cx="4191000" cy="890905"/>
          </a:xfrm>
          <a:prstGeom prst="roundRect">
            <a:avLst>
              <a:gd name="adj" fmla="val 1888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4"/>
          <p:cNvSpPr/>
          <p:nvPr/>
        </p:nvSpPr>
        <p:spPr>
          <a:xfrm>
            <a:off x="695325" y="2765425"/>
            <a:ext cx="4191000" cy="890905"/>
          </a:xfrm>
          <a:prstGeom prst="roundRect">
            <a:avLst>
              <a:gd name="adj" fmla="val 16037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5"/>
          <p:cNvSpPr/>
          <p:nvPr/>
        </p:nvSpPr>
        <p:spPr>
          <a:xfrm>
            <a:off x="695325" y="3869690"/>
            <a:ext cx="4191000" cy="845820"/>
          </a:xfrm>
          <a:prstGeom prst="roundRect">
            <a:avLst>
              <a:gd name="adj" fmla="val 1569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695325" y="4877435"/>
            <a:ext cx="4191000" cy="890905"/>
          </a:xfrm>
          <a:prstGeom prst="roundRect">
            <a:avLst>
              <a:gd name="adj" fmla="val 9836"/>
            </a:avLst>
          </a:prstGeom>
          <a:solidFill>
            <a:srgbClr val="EDF3FC"/>
          </a:solidFill>
          <a:ln w="9525">
            <a:solidFill>
              <a:srgbClr val="CCD9E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498600"/>
            <a:ext cx="6477635" cy="4384040"/>
          </a:xfrm>
          <a:prstGeom prst="rect">
            <a:avLst/>
          </a:prstGeom>
        </p:spPr>
      </p:pic>
      <p:sp>
        <p:nvSpPr>
          <p:cNvPr id="19" name="Shape 7"/>
          <p:cNvSpPr/>
          <p:nvPr/>
        </p:nvSpPr>
        <p:spPr>
          <a:xfrm>
            <a:off x="5362575" y="1641475"/>
            <a:ext cx="6163945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25" name="Shape 8"/>
          <p:cNvSpPr/>
          <p:nvPr/>
        </p:nvSpPr>
        <p:spPr>
          <a:xfrm>
            <a:off x="5362575" y="4937125"/>
            <a:ext cx="6201410" cy="767080"/>
          </a:xfrm>
          <a:prstGeom prst="roundRect">
            <a:avLst>
              <a:gd name="adj" fmla="val 11837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sp>
        <p:nvSpPr>
          <p:cNvPr id="30" name="Text 12"/>
          <p:cNvSpPr/>
          <p:nvPr/>
        </p:nvSpPr>
        <p:spPr>
          <a:xfrm>
            <a:off x="800100" y="175131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多维质量评估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828675" y="2025015"/>
            <a:ext cx="3258820" cy="359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从结构合法性、拓扑一致性、图像对齐与内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容质量等维度生成评估报告。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800100" y="2855885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反馈驱动修复与重识别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828710" y="3191388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针对异常类型触发结构修复、带反馈重识别与无示例重试，降低单次生成波动。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800100" y="396037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局部细化与拆分合并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828710" y="4234286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支持单元格级细化、区域拆分识别与结果合并，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增强复杂布局处理能力。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839470" y="5010579"/>
            <a:ext cx="3981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828710" y="5308269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后处理模块将系统由“单次预测”升级为“可校验、可纠偏”的闭环决策框架。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5880100" y="5057237"/>
            <a:ext cx="4705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流程重点：评估单元先判定问题类型，再选择修复动作并</a:t>
            </a:r>
            <a:endParaRPr lang="en-US" sz="16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回流重评分，形成闭环优化。</a:t>
            </a:r>
            <a:endParaRPr lang="en-US" sz="16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9" name="图片 38" descr="质量评估后处理框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55" y="1922780"/>
            <a:ext cx="5509895" cy="2721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大模型表格识别决策框架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512570"/>
            <a:ext cx="6286500" cy="4545965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676275" y="1640205"/>
            <a:ext cx="6118225" cy="352679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76275" y="5262245"/>
            <a:ext cx="6019800" cy="668020"/>
          </a:xfrm>
          <a:prstGeom prst="roundRect">
            <a:avLst>
              <a:gd name="adj" fmla="val 115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463040"/>
            <a:ext cx="3886200" cy="4596130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7172325" y="1698625"/>
            <a:ext cx="3581400" cy="835660"/>
          </a:xfrm>
          <a:prstGeom prst="roundRect">
            <a:avLst>
              <a:gd name="adj" fmla="val 19763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8" name="Shape 6"/>
          <p:cNvSpPr/>
          <p:nvPr/>
        </p:nvSpPr>
        <p:spPr>
          <a:xfrm>
            <a:off x="7172325" y="2808186"/>
            <a:ext cx="3581400" cy="851371"/>
          </a:xfrm>
          <a:prstGeom prst="roundRect">
            <a:avLst>
              <a:gd name="adj" fmla="val 11187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9" name="Shape 7"/>
          <p:cNvSpPr/>
          <p:nvPr/>
        </p:nvSpPr>
        <p:spPr>
          <a:xfrm>
            <a:off x="7172325" y="3917367"/>
            <a:ext cx="3581400" cy="851446"/>
          </a:xfrm>
          <a:prstGeom prst="roundRect">
            <a:avLst>
              <a:gd name="adj" fmla="val 1394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" name="Shape 8"/>
          <p:cNvSpPr/>
          <p:nvPr/>
        </p:nvSpPr>
        <p:spPr>
          <a:xfrm>
            <a:off x="7172325" y="5026660"/>
            <a:ext cx="3581400" cy="814070"/>
          </a:xfrm>
          <a:prstGeom prst="roundRect">
            <a:avLst>
              <a:gd name="adj" fmla="val 20127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1127125" y="5517612"/>
            <a:ext cx="39832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前端交互、后端服务与算法主流程已完成</a:t>
            </a:r>
            <a:r>
              <a:rPr lang="zh-CN" altLang="en-US" sz="16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初步</a:t>
            </a:r>
            <a:r>
              <a:rPr lang="en-US" sz="16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联通。</a:t>
            </a:r>
            <a:endParaRPr lang="en-US" sz="16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7277100" y="1789417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前端层：交互与展示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7381875" y="2062150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支持文件上传、结果查看、历史记录管理与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结果下载。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7277100" y="2898673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后端层：任务调度与持久化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7381875" y="3215221"/>
            <a:ext cx="3371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接收请求并调度识别流程，负责结果保存、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接口返回与状态管理。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7277100" y="4007854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算法层：核心识别闭环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7392035" y="4308527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统一封装预处理、上下文识别、质量评估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与后处理模块。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7277100" y="5112348"/>
            <a:ext cx="3371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7392035" y="5341553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系统已具备“输入—识别—展示—导出”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的完整工程化能力。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3" name="图片 32" descr="系统结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" y="1821180"/>
            <a:ext cx="5939790" cy="3128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341120"/>
            <a:ext cx="11243310" cy="45459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60730" y="1557020"/>
            <a:ext cx="10835640" cy="4147185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4" name="图片 3" descr="upload_post_object_v2_2339829697"/>
          <p:cNvPicPr>
            <a:picLocks noChangeAspect="1"/>
          </p:cNvPicPr>
          <p:nvPr/>
        </p:nvPicPr>
        <p:blipFill>
          <a:blip r:embed="rId2"/>
          <a:srcRect l="15693"/>
          <a:stretch>
            <a:fillRect/>
          </a:stretch>
        </p:blipFill>
        <p:spPr>
          <a:xfrm>
            <a:off x="892221" y="1816437"/>
            <a:ext cx="3292485" cy="1835525"/>
          </a:xfrm>
          <a:prstGeom prst="rect">
            <a:avLst/>
          </a:prstGeom>
        </p:spPr>
      </p:pic>
      <p:pic>
        <p:nvPicPr>
          <p:cNvPr id="5" name="图片 4" descr="upload_post_object_v2_578455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35" y="1883327"/>
            <a:ext cx="3138756" cy="1768598"/>
          </a:xfrm>
          <a:prstGeom prst="rect">
            <a:avLst/>
          </a:prstGeom>
        </p:spPr>
      </p:pic>
      <p:pic>
        <p:nvPicPr>
          <p:cNvPr id="7" name="图片 6" descr="upload_post_object_v2_13352047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312" y="1883327"/>
            <a:ext cx="3508016" cy="1768625"/>
          </a:xfrm>
          <a:prstGeom prst="rect">
            <a:avLst/>
          </a:prstGeom>
        </p:spPr>
      </p:pic>
      <p:sp>
        <p:nvSpPr>
          <p:cNvPr id="8" name="圆角矩形 7"/>
          <p:cNvSpPr/>
          <p:nvPr userDrawn="1"/>
        </p:nvSpPr>
        <p:spPr>
          <a:xfrm>
            <a:off x="1025085" y="4315477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主界面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圆角矩形 9"/>
          <p:cNvSpPr/>
          <p:nvPr userDrawn="1"/>
        </p:nvSpPr>
        <p:spPr>
          <a:xfrm>
            <a:off x="4540425" y="431549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上传图像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圆角矩形 10"/>
          <p:cNvSpPr/>
          <p:nvPr userDrawn="1"/>
        </p:nvSpPr>
        <p:spPr>
          <a:xfrm>
            <a:off x="7900197" y="431549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查看结果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部分实验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5280" y="1125220"/>
            <a:ext cx="7049770" cy="1978025"/>
            <a:chOff x="755" y="1771"/>
            <a:chExt cx="13530" cy="387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5" y="1771"/>
              <a:ext cx="13530" cy="387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3817" y="1828"/>
              <a:ext cx="1020" cy="3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331710" y="1268730"/>
            <a:ext cx="4613910" cy="4763770"/>
            <a:chOff x="11546" y="1998"/>
            <a:chExt cx="7266" cy="7502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46" y="1998"/>
              <a:ext cx="7266" cy="7503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12208" y="9256"/>
              <a:ext cx="680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8" name="Shape 4"/>
          <p:cNvSpPr/>
          <p:nvPr/>
        </p:nvSpPr>
        <p:spPr>
          <a:xfrm>
            <a:off x="676275" y="5262245"/>
            <a:ext cx="6165215" cy="668020"/>
          </a:xfrm>
          <a:prstGeom prst="roundRect">
            <a:avLst>
              <a:gd name="adj" fmla="val 115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sp>
        <p:nvSpPr>
          <p:cNvPr id="17" name="文本框 16"/>
          <p:cNvSpPr txBox="1"/>
          <p:nvPr/>
        </p:nvSpPr>
        <p:spPr>
          <a:xfrm>
            <a:off x="695325" y="5301615"/>
            <a:ext cx="62045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charset="0"/>
                <a:cs typeface="Times New Roman" panose="02020603050405020304" pitchFamily="18" charset="0"/>
              </a:rPr>
              <a:t>TEDS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charset="0"/>
                <a:cs typeface="Times New Roman" panose="02020603050405020304" pitchFamily="18" charset="0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charset="0"/>
                <a:cs typeface="Times New Roman" panose="02020603050405020304" pitchFamily="18" charset="0"/>
              </a:rPr>
              <a:t>Tree-Edit-Distance-based Similarity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charset="0"/>
                <a:cs typeface="Times New Roman" panose="02020603050405020304" pitchFamily="18" charset="0"/>
              </a:rPr>
              <a:t>）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是一种基于树编辑距离的表格相似度指标</a:t>
            </a:r>
            <a:endParaRPr lang="zh-CN" altLang="en-US" sz="16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1" name="图片 20" descr="数据规模对比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080" y="3157855"/>
            <a:ext cx="3536315" cy="2049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研究进度安排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upload_post_object_v2_2554028333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89940" y="1196975"/>
            <a:ext cx="10792460" cy="4758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Thanks!</a:t>
            </a:r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2300" y="4191000"/>
            <a:ext cx="5867400" cy="42545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None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ce Default">
      <a:majorFont>
        <a:latin typeface="Arial"/>
        <a:ea typeface="Noto Sans S Chinese Black"/>
        <a:cs typeface=""/>
      </a:majorFont>
      <a:minorFont>
        <a:latin typeface="Calibri Light"/>
        <a:ea typeface="Noto Sans S Chinese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</Words>
  <Application>WPS 演示</Application>
  <PresentationFormat>宽屏</PresentationFormat>
  <Paragraphs>153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5" baseType="lpstr">
      <vt:lpstr>Arial</vt:lpstr>
      <vt:lpstr>宋体</vt:lpstr>
      <vt:lpstr>Wingdings</vt:lpstr>
      <vt:lpstr>黑体</vt:lpstr>
      <vt:lpstr>黑体-简</vt:lpstr>
      <vt:lpstr>微软雅黑</vt:lpstr>
      <vt:lpstr>汉仪旗黑</vt:lpstr>
      <vt:lpstr>Times New Roman</vt:lpstr>
      <vt:lpstr>DengXian</vt:lpstr>
      <vt:lpstr>Cambria Math</vt:lpstr>
      <vt:lpstr>Calibri Light</vt:lpstr>
      <vt:lpstr>Helvetica Neue</vt:lpstr>
      <vt:lpstr>Noto Sans S Chinese Black</vt:lpstr>
      <vt:lpstr>苹方-简</vt:lpstr>
      <vt:lpstr>宋体-简</vt:lpstr>
      <vt:lpstr>Noto Sans S Chinese Light</vt:lpstr>
      <vt:lpstr>Calibri</vt:lpstr>
      <vt:lpstr>等线</vt:lpstr>
      <vt:lpstr>Kingsoft Math</vt:lpstr>
      <vt:lpstr>宋体</vt:lpstr>
      <vt:lpstr>Arial Unicode MS</vt:lpstr>
      <vt:lpstr>DengXian</vt:lpstr>
      <vt:lpstr>Wingdings</vt:lpstr>
      <vt:lpstr>微软雅黑</vt:lpstr>
      <vt:lpstr>黑体</vt:lpstr>
      <vt:lpstr>DejaVu Math TeX Gyre</vt:lpstr>
      <vt:lpstr>TeXGyreTermesX-Bold-Identity-H</vt:lpstr>
      <vt:lpstr>FandolSong-Regular-Identity-H</vt:lpstr>
      <vt:lpstr>TeXGyreTermesX-Regular-Identity-H</vt:lpstr>
      <vt:lpstr>Thonburi</vt:lpstr>
      <vt:lpstr>FandolSong-Regular-Identity-H</vt:lpstr>
      <vt:lpstr>TeXGyreTermesX-Bold-Identity-H</vt:lpstr>
      <vt:lpstr>TeXGyreTermesX-Regular-Identity-H</vt:lpstr>
      <vt:lpstr>Office Theme</vt:lpstr>
      <vt:lpstr>结合大模型的表格识别方法与系统 开题答辩</vt:lpstr>
      <vt:lpstr>研究目的及意义</vt:lpstr>
      <vt:lpstr>研究目标</vt:lpstr>
      <vt:lpstr>主要研究内容—动态感知的表格预处理</vt:lpstr>
      <vt:lpstr>主要研究内容—上下文学习驱动的表格识别引擎</vt:lpstr>
      <vt:lpstr>主要研究内容—上下文学习驱动的表格识别引擎</vt:lpstr>
      <vt:lpstr>主要研究内容—大模型表格识别决策框架</vt:lpstr>
      <vt:lpstr>主要研究内容—大模型表格识别决策框架</vt:lpstr>
      <vt:lpstr>系统展示</vt:lpstr>
      <vt:lpstr>研究进度安排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Shao Kang Chan</dc:creator>
  <cp:keywords>51PPT模板网</cp:keywords>
  <cp:lastModifiedBy>灿烂</cp:lastModifiedBy>
  <cp:revision>1000</cp:revision>
  <dcterms:created xsi:type="dcterms:W3CDTF">2026-06-24T06:30:52Z</dcterms:created>
  <dcterms:modified xsi:type="dcterms:W3CDTF">2026-06-24T06:30:52Z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2019-04-13T03:22:24.4542264Z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79d03e65-7467-42db-b610-b9cac49b6011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03E6642490296DC9A24A3B6AF1921D15_42</vt:lpwstr>
  </property>
  <property fmtid="{D5CDD505-2E9C-101B-9397-08002B2CF9AE}" pid="12" name="KSOProductBuildVer">
    <vt:lpwstr>2052-12.1.26016.26016</vt:lpwstr>
  </property>
</Properties>
</file>