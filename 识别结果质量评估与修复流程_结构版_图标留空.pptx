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3679170" cy="7022465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219456" y="36576"/>
            <a:ext cx="1746504" cy="5431536"/>
          </a:xfrm>
          <a:prstGeom prst="roundRect">
            <a:avLst/>
          </a:prstGeom>
          <a:solidFill>
            <a:srgbClr val="FAFAFA"/>
          </a:solidFill>
          <a:ln w="17780">
            <a:solidFill>
              <a:srgbClr val="8A8F98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27" name="Shape 27"/>
          <p:cNvSpPr txBox="1"/>
          <p:nvPr/>
        </p:nvSpPr>
        <p:spPr>
          <a:xfrm>
            <a:off x="630936" y="1106424"/>
            <a:ext cx="932688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100" b="1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初始识别结果</a:t>
            </a:r>
            <a:endParaRPr lang="zh-CN" sz="1100"/>
          </a:p>
        </p:txBody>
      </p:sp>
      <p:sp>
        <p:nvSpPr>
          <p:cNvPr id="28" name="Shape 28"/>
          <p:cNvSpPr txBox="1"/>
          <p:nvPr/>
        </p:nvSpPr>
        <p:spPr>
          <a:xfrm>
            <a:off x="384048" y="1545336"/>
            <a:ext cx="1408176" cy="502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AA0A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29" name="Shape 29"/>
          <p:cNvSpPr txBox="1"/>
          <p:nvPr/>
        </p:nvSpPr>
        <p:spPr>
          <a:xfrm>
            <a:off x="502920" y="1655064"/>
            <a:ext cx="36576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500" b="1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500"/>
          </a:p>
        </p:txBody>
      </p:sp>
      <p:sp>
        <p:nvSpPr>
          <p:cNvPr id="30" name="Shape 30"/>
          <p:cNvSpPr txBox="1"/>
          <p:nvPr/>
        </p:nvSpPr>
        <p:spPr>
          <a:xfrm>
            <a:off x="923544" y="1664208"/>
            <a:ext cx="749808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60" b="1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HTML 结构</a:t>
            </a:r>
            <a:endParaRPr lang="zh-CN" sz="960"/>
          </a:p>
        </p:txBody>
      </p:sp>
      <p:sp>
        <p:nvSpPr>
          <p:cNvPr id="31" name="Shape 31"/>
          <p:cNvSpPr txBox="1"/>
          <p:nvPr/>
        </p:nvSpPr>
        <p:spPr>
          <a:xfrm>
            <a:off x="841248" y="187452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32" name="Shape 32"/>
          <p:cNvSpPr txBox="1"/>
          <p:nvPr/>
        </p:nvSpPr>
        <p:spPr>
          <a:xfrm>
            <a:off x="877824" y="1883664"/>
            <a:ext cx="109728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1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100"/>
          </a:p>
        </p:txBody>
      </p:sp>
      <p:cxnSp>
        <p:nvCxnSpPr>
          <p:cNvPr id="33" name="Connector 33"/>
          <p:cNvCxnSpPr/>
          <p:nvPr/>
        </p:nvCxnSpPr>
        <p:spPr>
          <a:xfrm>
            <a:off x="1078992" y="2048256"/>
            <a:ext cx="914" cy="246888"/>
          </a:xfrm>
          <a:prstGeom prst="straightConnector1">
            <a:avLst/>
          </a:prstGeom>
          <a:ln w="19050" cap="sq">
            <a:solidFill>
              <a:srgbClr val="4B5563"/>
            </a:solidFill>
            <a:tailEnd type="triangle"/>
          </a:ln>
        </p:spPr>
      </p:cxnSp>
      <p:sp>
        <p:nvSpPr>
          <p:cNvPr id="34" name="Shape 34"/>
          <p:cNvSpPr txBox="1"/>
          <p:nvPr/>
        </p:nvSpPr>
        <p:spPr>
          <a:xfrm>
            <a:off x="384048" y="2313432"/>
            <a:ext cx="1408176" cy="502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AA0A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35" name="Shape 35"/>
          <p:cNvSpPr txBox="1"/>
          <p:nvPr/>
        </p:nvSpPr>
        <p:spPr>
          <a:xfrm>
            <a:off x="502920" y="2423160"/>
            <a:ext cx="36576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500" b="1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500"/>
          </a:p>
        </p:txBody>
      </p:sp>
      <p:sp>
        <p:nvSpPr>
          <p:cNvPr id="36" name="Shape 36"/>
          <p:cNvSpPr txBox="1"/>
          <p:nvPr/>
        </p:nvSpPr>
        <p:spPr>
          <a:xfrm>
            <a:off x="923544" y="2432304"/>
            <a:ext cx="749808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60" b="1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内容矩阵</a:t>
            </a:r>
            <a:endParaRPr lang="zh-CN" sz="960"/>
          </a:p>
        </p:txBody>
      </p:sp>
      <p:cxnSp>
        <p:nvCxnSpPr>
          <p:cNvPr id="37" name="Connector 37"/>
          <p:cNvCxnSpPr/>
          <p:nvPr/>
        </p:nvCxnSpPr>
        <p:spPr>
          <a:xfrm>
            <a:off x="1078992" y="2816352"/>
            <a:ext cx="914" cy="246888"/>
          </a:xfrm>
          <a:prstGeom prst="straightConnector1">
            <a:avLst/>
          </a:prstGeom>
          <a:ln w="19050" cap="sq">
            <a:solidFill>
              <a:srgbClr val="4B5563"/>
            </a:solidFill>
            <a:tailEnd type="triangle"/>
          </a:ln>
        </p:spPr>
      </p:cxnSp>
      <p:sp>
        <p:nvSpPr>
          <p:cNvPr id="38" name="Shape 38"/>
          <p:cNvSpPr txBox="1"/>
          <p:nvPr/>
        </p:nvSpPr>
        <p:spPr>
          <a:xfrm>
            <a:off x="384048" y="3081528"/>
            <a:ext cx="1408176" cy="502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AA0A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39" name="Shape 39"/>
          <p:cNvSpPr txBox="1"/>
          <p:nvPr/>
        </p:nvSpPr>
        <p:spPr>
          <a:xfrm>
            <a:off x="502920" y="3191256"/>
            <a:ext cx="36576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500" b="1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500"/>
          </a:p>
        </p:txBody>
      </p:sp>
      <p:sp>
        <p:nvSpPr>
          <p:cNvPr id="40" name="Shape 40"/>
          <p:cNvSpPr txBox="1"/>
          <p:nvPr/>
        </p:nvSpPr>
        <p:spPr>
          <a:xfrm>
            <a:off x="923544" y="3200400"/>
            <a:ext cx="749808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60" b="1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质量评估</a:t>
            </a:r>
            <a:endParaRPr lang="zh-CN" sz="960"/>
          </a:p>
        </p:txBody>
      </p:sp>
      <p:cxnSp>
        <p:nvCxnSpPr>
          <p:cNvPr id="41" name="Connector 41"/>
          <p:cNvCxnSpPr/>
          <p:nvPr/>
        </p:nvCxnSpPr>
        <p:spPr>
          <a:xfrm>
            <a:off x="1078992" y="3584448"/>
            <a:ext cx="914" cy="246888"/>
          </a:xfrm>
          <a:prstGeom prst="straightConnector1">
            <a:avLst/>
          </a:prstGeom>
          <a:ln w="19050" cap="sq">
            <a:solidFill>
              <a:srgbClr val="4B5563"/>
            </a:solidFill>
            <a:tailEnd type="triangle"/>
          </a:ln>
        </p:spPr>
      </p:cxnSp>
      <p:sp>
        <p:nvSpPr>
          <p:cNvPr id="42" name="Shape 42"/>
          <p:cNvSpPr txBox="1"/>
          <p:nvPr/>
        </p:nvSpPr>
        <p:spPr>
          <a:xfrm>
            <a:off x="384048" y="3849624"/>
            <a:ext cx="1408176" cy="502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AA0A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43" name="Shape 43"/>
          <p:cNvSpPr txBox="1"/>
          <p:nvPr/>
        </p:nvSpPr>
        <p:spPr>
          <a:xfrm>
            <a:off x="502920" y="3959352"/>
            <a:ext cx="36576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500" b="1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500"/>
          </a:p>
        </p:txBody>
      </p:sp>
      <p:sp>
        <p:nvSpPr>
          <p:cNvPr id="44" name="Shape 44"/>
          <p:cNvSpPr txBox="1"/>
          <p:nvPr/>
        </p:nvSpPr>
        <p:spPr>
          <a:xfrm>
            <a:off x="923544" y="3968496"/>
            <a:ext cx="749808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60" b="1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修复决策</a:t>
            </a:r>
            <a:endParaRPr lang="zh-CN" sz="960"/>
          </a:p>
        </p:txBody>
      </p:sp>
      <p:cxnSp>
        <p:nvCxnSpPr>
          <p:cNvPr id="45" name="Connector 45"/>
          <p:cNvCxnSpPr/>
          <p:nvPr/>
        </p:nvCxnSpPr>
        <p:spPr>
          <a:xfrm>
            <a:off x="1078992" y="4352544"/>
            <a:ext cx="914" cy="246888"/>
          </a:xfrm>
          <a:prstGeom prst="straightConnector1">
            <a:avLst/>
          </a:prstGeom>
          <a:ln w="19050" cap="sq">
            <a:solidFill>
              <a:srgbClr val="4B5563"/>
            </a:solidFill>
            <a:tailEnd type="triangle"/>
          </a:ln>
        </p:spPr>
      </p:cxnSp>
      <p:sp>
        <p:nvSpPr>
          <p:cNvPr id="46" name="Shape 46"/>
          <p:cNvSpPr txBox="1"/>
          <p:nvPr/>
        </p:nvSpPr>
        <p:spPr>
          <a:xfrm>
            <a:off x="384048" y="4617720"/>
            <a:ext cx="1408176" cy="502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AA0A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47" name="Shape 47"/>
          <p:cNvSpPr txBox="1"/>
          <p:nvPr/>
        </p:nvSpPr>
        <p:spPr>
          <a:xfrm>
            <a:off x="502920" y="4727448"/>
            <a:ext cx="36576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500" b="1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500"/>
          </a:p>
        </p:txBody>
      </p:sp>
      <p:sp>
        <p:nvSpPr>
          <p:cNvPr id="48" name="Shape 48"/>
          <p:cNvSpPr txBox="1"/>
          <p:nvPr/>
        </p:nvSpPr>
        <p:spPr>
          <a:xfrm>
            <a:off x="923544" y="4736592"/>
            <a:ext cx="749808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60" b="1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最终</a:t>
            </a:r>
            <a:endParaRPr lang="zh-CN" sz="960"/>
          </a:p>
          <a:p>
            <a:pPr algn="ctr"/>
            <a:r>
              <a:rPr lang="zh-CN" sz="960" b="1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表格结果</a:t>
            </a:r>
            <a:endParaRPr lang="zh-CN" sz="960"/>
          </a:p>
        </p:txBody>
      </p:sp>
      <p:sp>
        <p:nvSpPr>
          <p:cNvPr id="49" name="Shape 49"/>
          <p:cNvSpPr txBox="1"/>
          <p:nvPr/>
        </p:nvSpPr>
        <p:spPr>
          <a:xfrm>
            <a:off x="859536" y="494690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50" name="Shape 50"/>
          <p:cNvSpPr txBox="1"/>
          <p:nvPr/>
        </p:nvSpPr>
        <p:spPr>
          <a:xfrm>
            <a:off x="905256" y="4956048"/>
            <a:ext cx="109728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1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100"/>
          </a:p>
        </p:txBody>
      </p:sp>
      <p:cxnSp>
        <p:nvCxnSpPr>
          <p:cNvPr id="51" name="Connector 51"/>
          <p:cNvCxnSpPr/>
          <p:nvPr/>
        </p:nvCxnSpPr>
        <p:spPr>
          <a:xfrm>
            <a:off x="1965960" y="2633472"/>
            <a:ext cx="365760" cy="914"/>
          </a:xfrm>
          <a:prstGeom prst="straightConnector1">
            <a:avLst/>
          </a:prstGeom>
          <a:ln w="25400" cap="sq">
            <a:solidFill>
              <a:srgbClr val="6B7280"/>
            </a:solidFill>
            <a:tailEnd type="triangle"/>
          </a:ln>
        </p:spPr>
      </p:cxnSp>
      <p:cxnSp>
        <p:nvCxnSpPr>
          <p:cNvPr id="52" name="Connector 52"/>
          <p:cNvCxnSpPr/>
          <p:nvPr/>
        </p:nvCxnSpPr>
        <p:spPr>
          <a:xfrm>
            <a:off x="1042416" y="5477256"/>
            <a:ext cx="914" cy="987552"/>
          </a:xfrm>
          <a:prstGeom prst="straightConnector1">
            <a:avLst/>
          </a:prstGeom>
          <a:ln w="17780" cap="sq">
            <a:solidFill>
              <a:srgbClr val="5D49A6"/>
            </a:solidFill>
          </a:ln>
        </p:spPr>
      </p:cxnSp>
      <p:cxnSp>
        <p:nvCxnSpPr>
          <p:cNvPr id="53" name="Connector 53"/>
          <p:cNvCxnSpPr/>
          <p:nvPr/>
        </p:nvCxnSpPr>
        <p:spPr>
          <a:xfrm>
            <a:off x="1042416" y="6464808"/>
            <a:ext cx="7150608" cy="914"/>
          </a:xfrm>
          <a:prstGeom prst="straightConnector1">
            <a:avLst/>
          </a:prstGeom>
          <a:ln w="17780" cap="sq">
            <a:solidFill>
              <a:srgbClr val="5D49A6"/>
            </a:solidFill>
          </a:ln>
        </p:spPr>
      </p:cxnSp>
      <p:cxnSp>
        <p:nvCxnSpPr>
          <p:cNvPr id="54" name="Connector 54"/>
          <p:cNvCxnSpPr/>
          <p:nvPr/>
        </p:nvCxnSpPr>
        <p:spPr>
          <a:xfrm flipV="1">
            <a:off x="8193024" y="5641848"/>
            <a:ext cx="914" cy="822960"/>
          </a:xfrm>
          <a:prstGeom prst="straightConnector1">
            <a:avLst/>
          </a:prstGeom>
          <a:ln w="25400" cap="sq">
            <a:solidFill>
              <a:srgbClr val="1E64B7"/>
            </a:solidFill>
            <a:tailEnd type="triangle"/>
          </a:ln>
        </p:spPr>
      </p:cxnSp>
      <p:sp>
        <p:nvSpPr>
          <p:cNvPr id="55" name="Shape 55"/>
          <p:cNvSpPr txBox="1"/>
          <p:nvPr/>
        </p:nvSpPr>
        <p:spPr>
          <a:xfrm>
            <a:off x="2404872" y="45720"/>
            <a:ext cx="5248656" cy="5715000"/>
          </a:xfrm>
          <a:prstGeom prst="roundRect">
            <a:avLst/>
          </a:prstGeom>
          <a:solidFill>
            <a:srgbClr val="F1F8FF"/>
          </a:solidFill>
          <a:ln w="16510">
            <a:solidFill>
              <a:srgbClr val="1E64B7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56" name="Shape 56"/>
          <p:cNvSpPr txBox="1"/>
          <p:nvPr/>
        </p:nvSpPr>
        <p:spPr>
          <a:xfrm>
            <a:off x="3886200" y="265176"/>
            <a:ext cx="256032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2000" b="1">
                <a:solidFill>
                  <a:srgbClr val="0D4A94"/>
                </a:solidFill>
                <a:latin typeface="微软雅黑"/>
                <a:ea typeface="微软雅黑"/>
                <a:cs typeface="微软雅黑"/>
              </a:rPr>
              <a:t>1 识别结果质量评估</a:t>
            </a:r>
            <a:endParaRPr lang="zh-CN" sz="2000"/>
          </a:p>
        </p:txBody>
      </p:sp>
      <p:sp>
        <p:nvSpPr>
          <p:cNvPr id="57" name="Shape 57"/>
          <p:cNvSpPr txBox="1"/>
          <p:nvPr/>
        </p:nvSpPr>
        <p:spPr>
          <a:xfrm>
            <a:off x="2660904" y="274320"/>
            <a:ext cx="402336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2800" b="1">
                <a:solidFill>
                  <a:srgbClr val="1E64B7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2800"/>
          </a:p>
        </p:txBody>
      </p:sp>
      <p:sp>
        <p:nvSpPr>
          <p:cNvPr id="58" name="Shape 58"/>
          <p:cNvSpPr txBox="1"/>
          <p:nvPr/>
        </p:nvSpPr>
        <p:spPr>
          <a:xfrm>
            <a:off x="2880360" y="50292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59" name="Shape 59"/>
          <p:cNvSpPr txBox="1"/>
          <p:nvPr/>
        </p:nvSpPr>
        <p:spPr>
          <a:xfrm>
            <a:off x="2916936" y="512064"/>
            <a:ext cx="109728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1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100"/>
          </a:p>
        </p:txBody>
      </p:sp>
      <p:sp>
        <p:nvSpPr>
          <p:cNvPr id="60" name="Shape 60"/>
          <p:cNvSpPr txBox="1"/>
          <p:nvPr/>
        </p:nvSpPr>
        <p:spPr>
          <a:xfrm>
            <a:off x="2505456" y="1024128"/>
            <a:ext cx="768096" cy="1316736"/>
          </a:xfrm>
          <a:prstGeom prst="roundRect">
            <a:avLst/>
          </a:prstGeom>
          <a:solidFill>
            <a:srgbClr val="F7FBFF"/>
          </a:solidFill>
          <a:ln w="13970">
            <a:solidFill>
              <a:srgbClr val="76A7E4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61" name="Shape 61"/>
          <p:cNvSpPr txBox="1"/>
          <p:nvPr/>
        </p:nvSpPr>
        <p:spPr>
          <a:xfrm>
            <a:off x="2578608" y="1152144"/>
            <a:ext cx="621792" cy="329184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2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HTML</a:t>
            </a:r>
            <a:endParaRPr lang="zh-CN" sz="920"/>
          </a:p>
          <a:p>
            <a:pPr algn="ctr"/>
            <a:r>
              <a:rPr lang="zh-CN" sz="92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合法性</a:t>
            </a:r>
            <a:endParaRPr lang="zh-CN" sz="920"/>
          </a:p>
        </p:txBody>
      </p:sp>
      <p:sp>
        <p:nvSpPr>
          <p:cNvPr id="65" name="Shape 65"/>
          <p:cNvSpPr txBox="1"/>
          <p:nvPr/>
        </p:nvSpPr>
        <p:spPr>
          <a:xfrm>
            <a:off x="3337560" y="1024128"/>
            <a:ext cx="768096" cy="1316736"/>
          </a:xfrm>
          <a:prstGeom prst="roundRect">
            <a:avLst/>
          </a:prstGeom>
          <a:solidFill>
            <a:srgbClr val="F7FBFF"/>
          </a:solidFill>
          <a:ln w="13970">
            <a:solidFill>
              <a:srgbClr val="76A7E4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66" name="Shape 66"/>
          <p:cNvSpPr txBox="1"/>
          <p:nvPr/>
        </p:nvSpPr>
        <p:spPr>
          <a:xfrm>
            <a:off x="3410712" y="1152144"/>
            <a:ext cx="621792" cy="329184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2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拓扑结构</a:t>
            </a:r>
            <a:endParaRPr lang="zh-CN" sz="920"/>
          </a:p>
          <a:p>
            <a:pPr algn="ctr"/>
            <a:r>
              <a:rPr lang="zh-CN" sz="92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一致性</a:t>
            </a:r>
            <a:endParaRPr lang="zh-CN" sz="920"/>
          </a:p>
        </p:txBody>
      </p:sp>
      <p:sp>
        <p:nvSpPr>
          <p:cNvPr id="68" name="Shape 68"/>
          <p:cNvSpPr txBox="1"/>
          <p:nvPr/>
        </p:nvSpPr>
        <p:spPr>
          <a:xfrm>
            <a:off x="4187952" y="1024128"/>
            <a:ext cx="768096" cy="1316736"/>
          </a:xfrm>
          <a:prstGeom prst="roundRect">
            <a:avLst/>
          </a:prstGeom>
          <a:solidFill>
            <a:srgbClr val="F7FBFF"/>
          </a:solidFill>
          <a:ln w="13970">
            <a:solidFill>
              <a:srgbClr val="76A7E4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69" name="Shape 69"/>
          <p:cNvSpPr txBox="1"/>
          <p:nvPr/>
        </p:nvSpPr>
        <p:spPr>
          <a:xfrm>
            <a:off x="4261104" y="1152144"/>
            <a:ext cx="621792" cy="329184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2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行列关系</a:t>
            </a:r>
            <a:endParaRPr lang="zh-CN" sz="920"/>
          </a:p>
          <a:p>
            <a:pPr algn="ctr"/>
            <a:r>
              <a:rPr lang="zh-CN" sz="92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匹配</a:t>
            </a:r>
            <a:endParaRPr lang="zh-CN" sz="920"/>
          </a:p>
        </p:txBody>
      </p:sp>
      <p:sp>
        <p:nvSpPr>
          <p:cNvPr id="77" name="Shape 77"/>
          <p:cNvSpPr txBox="1"/>
          <p:nvPr/>
        </p:nvSpPr>
        <p:spPr>
          <a:xfrm>
            <a:off x="5029200" y="1024128"/>
            <a:ext cx="768096" cy="1316736"/>
          </a:xfrm>
          <a:prstGeom prst="roundRect">
            <a:avLst/>
          </a:prstGeom>
          <a:solidFill>
            <a:srgbClr val="F7FBFF"/>
          </a:solidFill>
          <a:ln w="13970">
            <a:solidFill>
              <a:srgbClr val="76A7E4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78" name="Shape 78"/>
          <p:cNvSpPr txBox="1"/>
          <p:nvPr/>
        </p:nvSpPr>
        <p:spPr>
          <a:xfrm>
            <a:off x="5102352" y="1152144"/>
            <a:ext cx="621792" cy="329184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2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图像-结构</a:t>
            </a:r>
            <a:endParaRPr lang="zh-CN" sz="920"/>
          </a:p>
          <a:p>
            <a:pPr algn="ctr"/>
            <a:r>
              <a:rPr lang="zh-CN" sz="92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对齐</a:t>
            </a:r>
            <a:endParaRPr lang="zh-CN" sz="920"/>
          </a:p>
        </p:txBody>
      </p:sp>
      <p:sp>
        <p:nvSpPr>
          <p:cNvPr id="85" name="Shape 85"/>
          <p:cNvSpPr txBox="1"/>
          <p:nvPr/>
        </p:nvSpPr>
        <p:spPr>
          <a:xfrm>
            <a:off x="5888736" y="1024128"/>
            <a:ext cx="768096" cy="1316736"/>
          </a:xfrm>
          <a:prstGeom prst="roundRect">
            <a:avLst/>
          </a:prstGeom>
          <a:solidFill>
            <a:srgbClr val="F7FBFF"/>
          </a:solidFill>
          <a:ln w="13970">
            <a:solidFill>
              <a:srgbClr val="76A7E4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86" name="Shape 86"/>
          <p:cNvSpPr txBox="1"/>
          <p:nvPr/>
        </p:nvSpPr>
        <p:spPr>
          <a:xfrm>
            <a:off x="5961888" y="1152144"/>
            <a:ext cx="621792" cy="329184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2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内容质量</a:t>
            </a:r>
            <a:endParaRPr lang="zh-CN" sz="920"/>
          </a:p>
        </p:txBody>
      </p:sp>
      <p:sp>
        <p:nvSpPr>
          <p:cNvPr id="90" name="Shape 90"/>
          <p:cNvSpPr txBox="1"/>
          <p:nvPr/>
        </p:nvSpPr>
        <p:spPr>
          <a:xfrm>
            <a:off x="6684264" y="1024128"/>
            <a:ext cx="768096" cy="1316736"/>
          </a:xfrm>
          <a:prstGeom prst="roundRect">
            <a:avLst/>
          </a:prstGeom>
          <a:solidFill>
            <a:srgbClr val="F7FBFF"/>
          </a:solidFill>
          <a:ln w="13970">
            <a:solidFill>
              <a:srgbClr val="76A7E4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91" name="Shape 91"/>
          <p:cNvSpPr txBox="1"/>
          <p:nvPr/>
        </p:nvSpPr>
        <p:spPr>
          <a:xfrm>
            <a:off x="6757416" y="1152144"/>
            <a:ext cx="621792" cy="329184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2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大模型辅助</a:t>
            </a:r>
            <a:endParaRPr lang="zh-CN" sz="920"/>
          </a:p>
          <a:p>
            <a:pPr algn="ctr"/>
            <a:r>
              <a:rPr lang="zh-CN" sz="92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裁决</a:t>
            </a:r>
            <a:endParaRPr lang="zh-CN" sz="920"/>
          </a:p>
        </p:txBody>
      </p:sp>
      <p:cxnSp>
        <p:nvCxnSpPr>
          <p:cNvPr id="96" name="Connector 96"/>
          <p:cNvCxnSpPr/>
          <p:nvPr/>
        </p:nvCxnSpPr>
        <p:spPr>
          <a:xfrm>
            <a:off x="2889504" y="2340864"/>
            <a:ext cx="914" cy="329184"/>
          </a:xfrm>
          <a:prstGeom prst="straightConnector1">
            <a:avLst/>
          </a:prstGeom>
          <a:ln w="19050" cap="sq">
            <a:solidFill>
              <a:srgbClr val="1E64B7"/>
            </a:solidFill>
          </a:ln>
        </p:spPr>
      </p:cxnSp>
      <p:cxnSp>
        <p:nvCxnSpPr>
          <p:cNvPr id="97" name="Connector 97"/>
          <p:cNvCxnSpPr/>
          <p:nvPr/>
        </p:nvCxnSpPr>
        <p:spPr>
          <a:xfrm>
            <a:off x="3721608" y="2340864"/>
            <a:ext cx="914" cy="329184"/>
          </a:xfrm>
          <a:prstGeom prst="straightConnector1">
            <a:avLst/>
          </a:prstGeom>
          <a:ln w="19050" cap="sq">
            <a:solidFill>
              <a:srgbClr val="1E64B7"/>
            </a:solidFill>
          </a:ln>
        </p:spPr>
      </p:cxnSp>
      <p:cxnSp>
        <p:nvCxnSpPr>
          <p:cNvPr id="98" name="Connector 98"/>
          <p:cNvCxnSpPr/>
          <p:nvPr/>
        </p:nvCxnSpPr>
        <p:spPr>
          <a:xfrm>
            <a:off x="4572000" y="2340864"/>
            <a:ext cx="914" cy="329184"/>
          </a:xfrm>
          <a:prstGeom prst="straightConnector1">
            <a:avLst/>
          </a:prstGeom>
          <a:ln w="19050" cap="sq">
            <a:solidFill>
              <a:srgbClr val="1E64B7"/>
            </a:solidFill>
          </a:ln>
        </p:spPr>
      </p:cxnSp>
      <p:cxnSp>
        <p:nvCxnSpPr>
          <p:cNvPr id="99" name="Connector 99"/>
          <p:cNvCxnSpPr/>
          <p:nvPr/>
        </p:nvCxnSpPr>
        <p:spPr>
          <a:xfrm>
            <a:off x="5413248" y="2340864"/>
            <a:ext cx="914" cy="329184"/>
          </a:xfrm>
          <a:prstGeom prst="straightConnector1">
            <a:avLst/>
          </a:prstGeom>
          <a:ln w="19050" cap="sq">
            <a:solidFill>
              <a:srgbClr val="1E64B7"/>
            </a:solidFill>
          </a:ln>
        </p:spPr>
      </p:cxnSp>
      <p:cxnSp>
        <p:nvCxnSpPr>
          <p:cNvPr id="100" name="Connector 100"/>
          <p:cNvCxnSpPr/>
          <p:nvPr/>
        </p:nvCxnSpPr>
        <p:spPr>
          <a:xfrm>
            <a:off x="6272784" y="2340864"/>
            <a:ext cx="914" cy="329184"/>
          </a:xfrm>
          <a:prstGeom prst="straightConnector1">
            <a:avLst/>
          </a:prstGeom>
          <a:ln w="19050" cap="sq">
            <a:solidFill>
              <a:srgbClr val="1E64B7"/>
            </a:solidFill>
          </a:ln>
        </p:spPr>
      </p:cxnSp>
      <p:cxnSp>
        <p:nvCxnSpPr>
          <p:cNvPr id="101" name="Connector 101"/>
          <p:cNvCxnSpPr/>
          <p:nvPr/>
        </p:nvCxnSpPr>
        <p:spPr>
          <a:xfrm>
            <a:off x="7095744" y="2340864"/>
            <a:ext cx="914" cy="329184"/>
          </a:xfrm>
          <a:prstGeom prst="straightConnector1">
            <a:avLst/>
          </a:prstGeom>
          <a:ln w="19050" cap="sq">
            <a:solidFill>
              <a:srgbClr val="1E64B7"/>
            </a:solidFill>
          </a:ln>
        </p:spPr>
      </p:cxnSp>
      <p:cxnSp>
        <p:nvCxnSpPr>
          <p:cNvPr id="102" name="Connector 102"/>
          <p:cNvCxnSpPr/>
          <p:nvPr/>
        </p:nvCxnSpPr>
        <p:spPr>
          <a:xfrm>
            <a:off x="2889504" y="2670048"/>
            <a:ext cx="4206240" cy="914"/>
          </a:xfrm>
          <a:prstGeom prst="straightConnector1">
            <a:avLst/>
          </a:prstGeom>
          <a:ln w="19050" cap="sq">
            <a:solidFill>
              <a:srgbClr val="1E64B7"/>
            </a:solidFill>
          </a:ln>
        </p:spPr>
      </p:cxnSp>
      <p:cxnSp>
        <p:nvCxnSpPr>
          <p:cNvPr id="103" name="Connector 103"/>
          <p:cNvCxnSpPr/>
          <p:nvPr/>
        </p:nvCxnSpPr>
        <p:spPr>
          <a:xfrm>
            <a:off x="5029200" y="2670048"/>
            <a:ext cx="914" cy="283464"/>
          </a:xfrm>
          <a:prstGeom prst="straightConnector1">
            <a:avLst/>
          </a:prstGeom>
          <a:ln w="21590" cap="sq">
            <a:solidFill>
              <a:srgbClr val="1E64B7"/>
            </a:solidFill>
            <a:tailEnd type="triangle"/>
          </a:ln>
        </p:spPr>
      </p:cxnSp>
      <p:sp>
        <p:nvSpPr>
          <p:cNvPr id="104" name="Shape 104"/>
          <p:cNvSpPr txBox="1"/>
          <p:nvPr/>
        </p:nvSpPr>
        <p:spPr>
          <a:xfrm>
            <a:off x="3849624" y="2962656"/>
            <a:ext cx="2286000" cy="9052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6A7E4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05" name="Shape 105"/>
          <p:cNvSpPr txBox="1"/>
          <p:nvPr/>
        </p:nvSpPr>
        <p:spPr>
          <a:xfrm>
            <a:off x="4041648" y="3127248"/>
            <a:ext cx="502920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3000" b="1">
                <a:solidFill>
                  <a:srgbClr val="1E64B7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3000"/>
          </a:p>
        </p:txBody>
      </p:sp>
      <p:sp>
        <p:nvSpPr>
          <p:cNvPr id="106" name="Shape 106"/>
          <p:cNvSpPr txBox="1"/>
          <p:nvPr/>
        </p:nvSpPr>
        <p:spPr>
          <a:xfrm>
            <a:off x="4681728" y="3154680"/>
            <a:ext cx="1234440" cy="246888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600" b="1">
                <a:solidFill>
                  <a:srgbClr val="0D4A94"/>
                </a:solidFill>
                <a:latin typeface="微软雅黑"/>
                <a:ea typeface="微软雅黑"/>
                <a:cs typeface="微软雅黑"/>
              </a:rPr>
              <a:t>质量报告</a:t>
            </a:r>
            <a:endParaRPr lang="zh-CN" sz="1600"/>
          </a:p>
        </p:txBody>
      </p:sp>
      <p:cxnSp>
        <p:nvCxnSpPr>
          <p:cNvPr id="107" name="Connector 107"/>
          <p:cNvCxnSpPr/>
          <p:nvPr/>
        </p:nvCxnSpPr>
        <p:spPr>
          <a:xfrm>
            <a:off x="4754880" y="3429000"/>
            <a:ext cx="1115568" cy="914"/>
          </a:xfrm>
          <a:prstGeom prst="straightConnector1">
            <a:avLst/>
          </a:prstGeom>
          <a:ln w="25400" cap="sq">
            <a:solidFill>
              <a:srgbClr val="D4DCE8"/>
            </a:solidFill>
          </a:ln>
        </p:spPr>
      </p:cxnSp>
      <p:cxnSp>
        <p:nvCxnSpPr>
          <p:cNvPr id="108" name="Connector 108"/>
          <p:cNvCxnSpPr/>
          <p:nvPr/>
        </p:nvCxnSpPr>
        <p:spPr>
          <a:xfrm>
            <a:off x="4754880" y="3593592"/>
            <a:ext cx="1115568" cy="914"/>
          </a:xfrm>
          <a:prstGeom prst="straightConnector1">
            <a:avLst/>
          </a:prstGeom>
          <a:ln w="25400" cap="sq">
            <a:solidFill>
              <a:srgbClr val="D4DCE8"/>
            </a:solidFill>
          </a:ln>
        </p:spPr>
      </p:cxnSp>
      <p:cxnSp>
        <p:nvCxnSpPr>
          <p:cNvPr id="109" name="Connector 109"/>
          <p:cNvCxnSpPr/>
          <p:nvPr/>
        </p:nvCxnSpPr>
        <p:spPr>
          <a:xfrm>
            <a:off x="4754880" y="3749040"/>
            <a:ext cx="1115568" cy="914"/>
          </a:xfrm>
          <a:prstGeom prst="straightConnector1">
            <a:avLst/>
          </a:prstGeom>
          <a:ln w="25400" cap="sq">
            <a:solidFill>
              <a:srgbClr val="D4DCE8"/>
            </a:solidFill>
          </a:ln>
        </p:spPr>
      </p:cxnSp>
      <p:sp>
        <p:nvSpPr>
          <p:cNvPr id="110" name="Shape 110"/>
          <p:cNvSpPr txBox="1"/>
          <p:nvPr/>
        </p:nvSpPr>
        <p:spPr>
          <a:xfrm>
            <a:off x="4069080" y="3520440"/>
            <a:ext cx="384048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800" b="0">
                <a:solidFill>
                  <a:srgbClr val="1E64B7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800"/>
          </a:p>
        </p:txBody>
      </p:sp>
      <p:cxnSp>
        <p:nvCxnSpPr>
          <p:cNvPr id="111" name="Connector 111"/>
          <p:cNvCxnSpPr/>
          <p:nvPr/>
        </p:nvCxnSpPr>
        <p:spPr>
          <a:xfrm>
            <a:off x="5010912" y="3867912"/>
            <a:ext cx="914" cy="283464"/>
          </a:xfrm>
          <a:prstGeom prst="straightConnector1">
            <a:avLst/>
          </a:prstGeom>
          <a:ln w="22860" cap="sq">
            <a:solidFill>
              <a:srgbClr val="1E64B7"/>
            </a:solidFill>
            <a:tailEnd type="triangle"/>
          </a:ln>
        </p:spPr>
      </p:cxnSp>
      <p:sp>
        <p:nvSpPr>
          <p:cNvPr id="112" name="Shape 112"/>
          <p:cNvSpPr txBox="1"/>
          <p:nvPr/>
        </p:nvSpPr>
        <p:spPr>
          <a:xfrm>
            <a:off x="2505456" y="4160520"/>
            <a:ext cx="4983480" cy="1472184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76A7E4"/>
            </a:solidFill>
            <a:prstDash val="dash"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13" name="Shape 113"/>
          <p:cNvSpPr txBox="1"/>
          <p:nvPr/>
        </p:nvSpPr>
        <p:spPr>
          <a:xfrm>
            <a:off x="4325112" y="4279392"/>
            <a:ext cx="1408176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250" b="1">
                <a:solidFill>
                  <a:srgbClr val="0D4A94"/>
                </a:solidFill>
                <a:latin typeface="微软雅黑"/>
                <a:ea typeface="微软雅黑"/>
                <a:cs typeface="微软雅黑"/>
              </a:rPr>
              <a:t>问题类型（示例）</a:t>
            </a:r>
            <a:endParaRPr lang="zh-CN" sz="1250"/>
          </a:p>
        </p:txBody>
      </p:sp>
      <p:sp>
        <p:nvSpPr>
          <p:cNvPr id="114" name="Shape 114"/>
          <p:cNvSpPr txBox="1"/>
          <p:nvPr/>
        </p:nvSpPr>
        <p:spPr>
          <a:xfrm>
            <a:off x="2596896" y="4544568"/>
            <a:ext cx="630936" cy="996696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76A7E4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15" name="Shape 115"/>
          <p:cNvSpPr txBox="1"/>
          <p:nvPr/>
        </p:nvSpPr>
        <p:spPr>
          <a:xfrm>
            <a:off x="2651760" y="4636008"/>
            <a:ext cx="521208" cy="283464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60" b="1">
                <a:solidFill>
                  <a:srgbClr val="365A88"/>
                </a:solidFill>
                <a:latin typeface="微软雅黑"/>
                <a:ea typeface="微软雅黑"/>
                <a:cs typeface="微软雅黑"/>
              </a:rPr>
              <a:t>标签</a:t>
            </a:r>
            <a:endParaRPr lang="zh-CN" sz="860"/>
          </a:p>
          <a:p>
            <a:pPr algn="ctr"/>
            <a:r>
              <a:rPr lang="zh-CN" sz="860" b="1">
                <a:solidFill>
                  <a:srgbClr val="365A88"/>
                </a:solidFill>
                <a:latin typeface="微软雅黑"/>
                <a:ea typeface="微软雅黑"/>
                <a:cs typeface="微软雅黑"/>
              </a:rPr>
              <a:t>不规范</a:t>
            </a:r>
            <a:endParaRPr lang="zh-CN" sz="860"/>
          </a:p>
        </p:txBody>
      </p:sp>
      <p:sp>
        <p:nvSpPr>
          <p:cNvPr id="116" name="Shape 116"/>
          <p:cNvSpPr txBox="1"/>
          <p:nvPr/>
        </p:nvSpPr>
        <p:spPr>
          <a:xfrm>
            <a:off x="2724912" y="5102352"/>
            <a:ext cx="36576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700" b="1">
                <a:solidFill>
                  <a:srgbClr val="365A88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700"/>
          </a:p>
        </p:txBody>
      </p:sp>
      <p:sp>
        <p:nvSpPr>
          <p:cNvPr id="117" name="Shape 117"/>
          <p:cNvSpPr txBox="1"/>
          <p:nvPr/>
        </p:nvSpPr>
        <p:spPr>
          <a:xfrm>
            <a:off x="3255264" y="4544568"/>
            <a:ext cx="630936" cy="996696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76A7E4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18" name="Shape 118"/>
          <p:cNvSpPr txBox="1"/>
          <p:nvPr/>
        </p:nvSpPr>
        <p:spPr>
          <a:xfrm>
            <a:off x="3310128" y="4636008"/>
            <a:ext cx="521208" cy="283464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60" b="1">
                <a:solidFill>
                  <a:srgbClr val="365A88"/>
                </a:solidFill>
                <a:latin typeface="微软雅黑"/>
                <a:ea typeface="微软雅黑"/>
                <a:cs typeface="微软雅黑"/>
              </a:rPr>
              <a:t>行列</a:t>
            </a:r>
            <a:endParaRPr lang="zh-CN" sz="860"/>
          </a:p>
          <a:p>
            <a:pPr algn="ctr"/>
            <a:r>
              <a:rPr lang="zh-CN" sz="860" b="1">
                <a:solidFill>
                  <a:srgbClr val="365A88"/>
                </a:solidFill>
                <a:latin typeface="微软雅黑"/>
                <a:ea typeface="微软雅黑"/>
                <a:cs typeface="微软雅黑"/>
              </a:rPr>
              <a:t>错位</a:t>
            </a:r>
            <a:endParaRPr lang="zh-CN" sz="860"/>
          </a:p>
        </p:txBody>
      </p:sp>
      <p:sp>
        <p:nvSpPr>
          <p:cNvPr id="119" name="Shape 119"/>
          <p:cNvSpPr txBox="1"/>
          <p:nvPr/>
        </p:nvSpPr>
        <p:spPr>
          <a:xfrm>
            <a:off x="3383280" y="5102352"/>
            <a:ext cx="36576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700" b="1">
                <a:solidFill>
                  <a:srgbClr val="365A88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700"/>
          </a:p>
        </p:txBody>
      </p:sp>
      <p:sp>
        <p:nvSpPr>
          <p:cNvPr id="120" name="Shape 120"/>
          <p:cNvSpPr txBox="1"/>
          <p:nvPr/>
        </p:nvSpPr>
        <p:spPr>
          <a:xfrm>
            <a:off x="3968496" y="4544568"/>
            <a:ext cx="630936" cy="996696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76A7E4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21" name="Shape 121"/>
          <p:cNvSpPr txBox="1"/>
          <p:nvPr/>
        </p:nvSpPr>
        <p:spPr>
          <a:xfrm>
            <a:off x="4023360" y="4636008"/>
            <a:ext cx="521208" cy="283464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60" b="1">
                <a:solidFill>
                  <a:srgbClr val="365A88"/>
                </a:solidFill>
                <a:latin typeface="微软雅黑"/>
                <a:ea typeface="微软雅黑"/>
                <a:cs typeface="微软雅黑"/>
              </a:rPr>
              <a:t>跨行跨列</a:t>
            </a:r>
            <a:endParaRPr lang="zh-CN" sz="860"/>
          </a:p>
          <a:p>
            <a:pPr algn="ctr"/>
            <a:r>
              <a:rPr lang="zh-CN" sz="860" b="1">
                <a:solidFill>
                  <a:srgbClr val="365A88"/>
                </a:solidFill>
                <a:latin typeface="微软雅黑"/>
                <a:ea typeface="微软雅黑"/>
                <a:cs typeface="微软雅黑"/>
              </a:rPr>
              <a:t>异常</a:t>
            </a:r>
            <a:endParaRPr lang="zh-CN" sz="860"/>
          </a:p>
        </p:txBody>
      </p:sp>
      <p:sp>
        <p:nvSpPr>
          <p:cNvPr id="122" name="Shape 122"/>
          <p:cNvSpPr txBox="1"/>
          <p:nvPr/>
        </p:nvSpPr>
        <p:spPr>
          <a:xfrm>
            <a:off x="4087368" y="5074920"/>
            <a:ext cx="356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65A88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cxnSp>
        <p:nvCxnSpPr>
          <p:cNvPr id="123" name="Connector 123"/>
          <p:cNvCxnSpPr/>
          <p:nvPr/>
        </p:nvCxnSpPr>
        <p:spPr>
          <a:xfrm>
            <a:off x="4206240" y="5074920"/>
            <a:ext cx="914" cy="347472"/>
          </a:xfrm>
          <a:prstGeom prst="straightConnector1">
            <a:avLst/>
          </a:prstGeom>
          <a:ln w="8890" cap="sq">
            <a:solidFill>
              <a:srgbClr val="365A88"/>
            </a:solidFill>
          </a:ln>
        </p:spPr>
      </p:cxnSp>
      <p:cxnSp>
        <p:nvCxnSpPr>
          <p:cNvPr id="124" name="Connector 124"/>
          <p:cNvCxnSpPr/>
          <p:nvPr/>
        </p:nvCxnSpPr>
        <p:spPr>
          <a:xfrm>
            <a:off x="4325112" y="5074920"/>
            <a:ext cx="914" cy="347472"/>
          </a:xfrm>
          <a:prstGeom prst="straightConnector1">
            <a:avLst/>
          </a:prstGeom>
          <a:ln w="8890" cap="sq">
            <a:solidFill>
              <a:srgbClr val="365A88"/>
            </a:solidFill>
          </a:ln>
        </p:spPr>
      </p:cxnSp>
      <p:cxnSp>
        <p:nvCxnSpPr>
          <p:cNvPr id="125" name="Connector 125"/>
          <p:cNvCxnSpPr/>
          <p:nvPr/>
        </p:nvCxnSpPr>
        <p:spPr>
          <a:xfrm>
            <a:off x="4087368" y="5190744"/>
            <a:ext cx="356616" cy="914"/>
          </a:xfrm>
          <a:prstGeom prst="straightConnector1">
            <a:avLst/>
          </a:prstGeom>
          <a:ln w="8890" cap="sq">
            <a:solidFill>
              <a:srgbClr val="365A88"/>
            </a:solidFill>
          </a:ln>
        </p:spPr>
      </p:cxnSp>
      <p:cxnSp>
        <p:nvCxnSpPr>
          <p:cNvPr id="126" name="Connector 126"/>
          <p:cNvCxnSpPr/>
          <p:nvPr/>
        </p:nvCxnSpPr>
        <p:spPr>
          <a:xfrm>
            <a:off x="4087368" y="5306568"/>
            <a:ext cx="356616" cy="914"/>
          </a:xfrm>
          <a:prstGeom prst="straightConnector1">
            <a:avLst/>
          </a:prstGeom>
          <a:ln w="8890" cap="sq">
            <a:solidFill>
              <a:srgbClr val="365A88"/>
            </a:solidFill>
          </a:ln>
        </p:spPr>
      </p:cxnSp>
      <p:sp>
        <p:nvSpPr>
          <p:cNvPr id="127" name="Shape 127"/>
          <p:cNvSpPr txBox="1"/>
          <p:nvPr/>
        </p:nvSpPr>
        <p:spPr>
          <a:xfrm>
            <a:off x="4407408" y="5266944"/>
            <a:ext cx="182880" cy="182880"/>
          </a:xfrm>
          <a:prstGeom prst="ellipse">
            <a:avLst/>
          </a:prstGeom>
          <a:solidFill>
            <a:srgbClr val="C73520"/>
          </a:solidFill>
          <a:ln w="12700">
            <a:solidFill>
              <a:srgbClr val="C73520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100"/>
          </a:p>
        </p:txBody>
      </p:sp>
      <p:sp>
        <p:nvSpPr>
          <p:cNvPr id="128" name="Shape 128"/>
          <p:cNvSpPr txBox="1"/>
          <p:nvPr/>
        </p:nvSpPr>
        <p:spPr>
          <a:xfrm>
            <a:off x="4681728" y="4544568"/>
            <a:ext cx="630936" cy="996696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76A7E4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29" name="Shape 129"/>
          <p:cNvSpPr txBox="1"/>
          <p:nvPr/>
        </p:nvSpPr>
        <p:spPr>
          <a:xfrm>
            <a:off x="4736592" y="4636008"/>
            <a:ext cx="521208" cy="283464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60" b="1">
                <a:solidFill>
                  <a:srgbClr val="365A88"/>
                </a:solidFill>
                <a:latin typeface="微软雅黑"/>
                <a:ea typeface="微软雅黑"/>
                <a:cs typeface="微软雅黑"/>
              </a:rPr>
              <a:t>重复</a:t>
            </a:r>
            <a:endParaRPr lang="zh-CN" sz="860"/>
          </a:p>
          <a:p>
            <a:pPr algn="ctr"/>
            <a:r>
              <a:rPr lang="zh-CN" sz="860" b="1">
                <a:solidFill>
                  <a:srgbClr val="365A88"/>
                </a:solidFill>
                <a:latin typeface="微软雅黑"/>
                <a:ea typeface="微软雅黑"/>
                <a:cs typeface="微软雅黑"/>
              </a:rPr>
              <a:t>内容</a:t>
            </a:r>
            <a:endParaRPr lang="zh-CN" sz="860"/>
          </a:p>
        </p:txBody>
      </p:sp>
      <p:sp>
        <p:nvSpPr>
          <p:cNvPr id="130" name="Shape 130"/>
          <p:cNvSpPr txBox="1"/>
          <p:nvPr/>
        </p:nvSpPr>
        <p:spPr>
          <a:xfrm>
            <a:off x="4809744" y="5102352"/>
            <a:ext cx="36576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700" b="1">
                <a:solidFill>
                  <a:srgbClr val="365A88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700"/>
          </a:p>
        </p:txBody>
      </p:sp>
      <p:sp>
        <p:nvSpPr>
          <p:cNvPr id="131" name="Shape 131"/>
          <p:cNvSpPr txBox="1"/>
          <p:nvPr/>
        </p:nvSpPr>
        <p:spPr>
          <a:xfrm>
            <a:off x="5394960" y="4544568"/>
            <a:ext cx="630936" cy="996696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76A7E4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32" name="Shape 132"/>
          <p:cNvSpPr txBox="1"/>
          <p:nvPr/>
        </p:nvSpPr>
        <p:spPr>
          <a:xfrm>
            <a:off x="5449824" y="4636008"/>
            <a:ext cx="521208" cy="283464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60" b="1">
                <a:solidFill>
                  <a:srgbClr val="365A88"/>
                </a:solidFill>
                <a:latin typeface="微软雅黑"/>
                <a:ea typeface="微软雅黑"/>
                <a:cs typeface="微软雅黑"/>
              </a:rPr>
              <a:t>局部</a:t>
            </a:r>
            <a:endParaRPr lang="zh-CN" sz="860"/>
          </a:p>
          <a:p>
            <a:pPr algn="ctr"/>
            <a:r>
              <a:rPr lang="zh-CN" sz="860" b="1">
                <a:solidFill>
                  <a:srgbClr val="365A88"/>
                </a:solidFill>
                <a:latin typeface="微软雅黑"/>
                <a:ea typeface="微软雅黑"/>
                <a:cs typeface="微软雅黑"/>
              </a:rPr>
              <a:t>缺失</a:t>
            </a:r>
            <a:endParaRPr lang="zh-CN" sz="860"/>
          </a:p>
        </p:txBody>
      </p:sp>
      <p:sp>
        <p:nvSpPr>
          <p:cNvPr id="133" name="Shape 133"/>
          <p:cNvSpPr txBox="1"/>
          <p:nvPr/>
        </p:nvSpPr>
        <p:spPr>
          <a:xfrm>
            <a:off x="5522976" y="5102352"/>
            <a:ext cx="36576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700" b="1">
                <a:solidFill>
                  <a:srgbClr val="365A88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700"/>
          </a:p>
        </p:txBody>
      </p:sp>
      <p:sp>
        <p:nvSpPr>
          <p:cNvPr id="134" name="Shape 134"/>
          <p:cNvSpPr txBox="1"/>
          <p:nvPr/>
        </p:nvSpPr>
        <p:spPr>
          <a:xfrm>
            <a:off x="6108192" y="4544568"/>
            <a:ext cx="630936" cy="996696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76A7E4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35" name="Shape 135"/>
          <p:cNvSpPr txBox="1"/>
          <p:nvPr/>
        </p:nvSpPr>
        <p:spPr>
          <a:xfrm>
            <a:off x="6163056" y="4636008"/>
            <a:ext cx="521208" cy="283464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60" b="1">
                <a:solidFill>
                  <a:srgbClr val="365A88"/>
                </a:solidFill>
                <a:latin typeface="微软雅黑"/>
                <a:ea typeface="微软雅黑"/>
                <a:cs typeface="微软雅黑"/>
              </a:rPr>
              <a:t>示例</a:t>
            </a:r>
            <a:endParaRPr lang="zh-CN" sz="860"/>
          </a:p>
          <a:p>
            <a:pPr algn="ctr"/>
            <a:r>
              <a:rPr lang="zh-CN" sz="860" b="1">
                <a:solidFill>
                  <a:srgbClr val="365A88"/>
                </a:solidFill>
                <a:latin typeface="微软雅黑"/>
                <a:ea typeface="微软雅黑"/>
                <a:cs typeface="微软雅黑"/>
              </a:rPr>
              <a:t>泄漏</a:t>
            </a:r>
            <a:endParaRPr lang="zh-CN" sz="860"/>
          </a:p>
        </p:txBody>
      </p:sp>
      <p:sp>
        <p:nvSpPr>
          <p:cNvPr id="136" name="Shape 136"/>
          <p:cNvSpPr txBox="1"/>
          <p:nvPr/>
        </p:nvSpPr>
        <p:spPr>
          <a:xfrm>
            <a:off x="6236208" y="5102352"/>
            <a:ext cx="36576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700" b="1">
                <a:solidFill>
                  <a:srgbClr val="365A88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700"/>
          </a:p>
        </p:txBody>
      </p:sp>
      <p:sp>
        <p:nvSpPr>
          <p:cNvPr id="137" name="Shape 137"/>
          <p:cNvSpPr txBox="1"/>
          <p:nvPr/>
        </p:nvSpPr>
        <p:spPr>
          <a:xfrm>
            <a:off x="6748272" y="4544568"/>
            <a:ext cx="630936" cy="996696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76A7E4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38" name="Shape 138"/>
          <p:cNvSpPr txBox="1"/>
          <p:nvPr/>
        </p:nvSpPr>
        <p:spPr>
          <a:xfrm>
            <a:off x="6803136" y="4636008"/>
            <a:ext cx="521208" cy="283464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60" b="1">
                <a:solidFill>
                  <a:srgbClr val="365A88"/>
                </a:solidFill>
                <a:latin typeface="微软雅黑"/>
                <a:ea typeface="微软雅黑"/>
                <a:cs typeface="微软雅黑"/>
              </a:rPr>
              <a:t>多表/</a:t>
            </a:r>
            <a:endParaRPr lang="zh-CN" sz="860"/>
          </a:p>
          <a:p>
            <a:pPr algn="ctr"/>
            <a:r>
              <a:rPr lang="zh-CN" sz="860" b="1">
                <a:solidFill>
                  <a:srgbClr val="365A88"/>
                </a:solidFill>
                <a:latin typeface="微软雅黑"/>
                <a:ea typeface="微软雅黑"/>
                <a:cs typeface="微软雅黑"/>
              </a:rPr>
              <a:t>长表</a:t>
            </a:r>
            <a:endParaRPr lang="zh-CN" sz="860"/>
          </a:p>
        </p:txBody>
      </p:sp>
      <p:sp>
        <p:nvSpPr>
          <p:cNvPr id="139" name="Shape 139"/>
          <p:cNvSpPr txBox="1"/>
          <p:nvPr/>
        </p:nvSpPr>
        <p:spPr>
          <a:xfrm>
            <a:off x="6876288" y="5102352"/>
            <a:ext cx="36576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700" b="1">
                <a:solidFill>
                  <a:srgbClr val="365A88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700"/>
          </a:p>
        </p:txBody>
      </p:sp>
      <p:sp>
        <p:nvSpPr>
          <p:cNvPr id="140" name="Shape 140"/>
          <p:cNvSpPr txBox="1"/>
          <p:nvPr/>
        </p:nvSpPr>
        <p:spPr>
          <a:xfrm>
            <a:off x="7671816" y="1965960"/>
            <a:ext cx="896112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lang="zh-CN" sz="86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基于问题类型与</a:t>
            </a:r>
            <a:endParaRPr lang="zh-CN" sz="860"/>
          </a:p>
          <a:p>
            <a:pPr algn="l"/>
            <a:r>
              <a:rPr lang="zh-CN" sz="86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质量分数选择动作</a:t>
            </a:r>
            <a:endParaRPr lang="zh-CN" sz="860"/>
          </a:p>
        </p:txBody>
      </p:sp>
      <p:cxnSp>
        <p:nvCxnSpPr>
          <p:cNvPr id="141" name="Connector 141"/>
          <p:cNvCxnSpPr/>
          <p:nvPr/>
        </p:nvCxnSpPr>
        <p:spPr>
          <a:xfrm>
            <a:off x="7653528" y="731520"/>
            <a:ext cx="530352" cy="914"/>
          </a:xfrm>
          <a:prstGeom prst="straightConnector1">
            <a:avLst/>
          </a:prstGeom>
          <a:ln w="19050" cap="sq">
            <a:solidFill>
              <a:srgbClr val="2F7D46"/>
            </a:solidFill>
            <a:prstDash val="dash"/>
            <a:tailEnd type="triangle"/>
          </a:ln>
        </p:spPr>
      </p:cxnSp>
      <p:cxnSp>
        <p:nvCxnSpPr>
          <p:cNvPr id="142" name="Connector 142"/>
          <p:cNvCxnSpPr/>
          <p:nvPr/>
        </p:nvCxnSpPr>
        <p:spPr>
          <a:xfrm>
            <a:off x="8183880" y="731520"/>
            <a:ext cx="914" cy="1060704"/>
          </a:xfrm>
          <a:prstGeom prst="straightConnector1">
            <a:avLst/>
          </a:prstGeom>
          <a:ln w="19050" cap="sq">
            <a:solidFill>
              <a:srgbClr val="2F7D46"/>
            </a:solidFill>
            <a:prstDash val="dash"/>
          </a:ln>
        </p:spPr>
      </p:cxnSp>
      <p:cxnSp>
        <p:nvCxnSpPr>
          <p:cNvPr id="143" name="Connector 143"/>
          <p:cNvCxnSpPr/>
          <p:nvPr/>
        </p:nvCxnSpPr>
        <p:spPr>
          <a:xfrm>
            <a:off x="7653528" y="2752344"/>
            <a:ext cx="1033272" cy="914"/>
          </a:xfrm>
          <a:prstGeom prst="straightConnector1">
            <a:avLst/>
          </a:prstGeom>
          <a:ln w="21590" cap="sq">
            <a:solidFill>
              <a:srgbClr val="168C9F"/>
            </a:solidFill>
            <a:prstDash val="dash"/>
            <a:tailEnd type="triangle"/>
          </a:ln>
        </p:spPr>
      </p:cxnSp>
      <p:cxnSp>
        <p:nvCxnSpPr>
          <p:cNvPr id="144" name="Connector 144"/>
          <p:cNvCxnSpPr/>
          <p:nvPr/>
        </p:nvCxnSpPr>
        <p:spPr>
          <a:xfrm flipH="1">
            <a:off x="7653528" y="2752344"/>
            <a:ext cx="1033272" cy="914"/>
          </a:xfrm>
          <a:prstGeom prst="straightConnector1">
            <a:avLst/>
          </a:prstGeom>
          <a:ln w="21590" cap="sq">
            <a:solidFill>
              <a:srgbClr val="168C9F"/>
            </a:solidFill>
            <a:prstDash val="dash"/>
            <a:tailEnd type="triangle"/>
          </a:ln>
        </p:spPr>
      </p:cxnSp>
      <p:sp>
        <p:nvSpPr>
          <p:cNvPr id="145" name="Shape 145"/>
          <p:cNvSpPr txBox="1"/>
          <p:nvPr/>
        </p:nvSpPr>
        <p:spPr>
          <a:xfrm>
            <a:off x="8686800" y="45720"/>
            <a:ext cx="4462272" cy="1527048"/>
          </a:xfrm>
          <a:prstGeom prst="roundRect">
            <a:avLst/>
          </a:prstGeom>
          <a:solidFill>
            <a:srgbClr val="F5FFF5"/>
          </a:solidFill>
          <a:ln w="15240">
            <a:solidFill>
              <a:srgbClr val="6BA76D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46" name="Shape 146"/>
          <p:cNvSpPr txBox="1"/>
          <p:nvPr/>
        </p:nvSpPr>
        <p:spPr>
          <a:xfrm>
            <a:off x="9665208" y="182880"/>
            <a:ext cx="22860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400" b="1">
                <a:solidFill>
                  <a:srgbClr val="2F7D46"/>
                </a:solidFill>
                <a:latin typeface="微软雅黑"/>
                <a:ea typeface="微软雅黑"/>
                <a:cs typeface="微软雅黑"/>
              </a:rPr>
              <a:t>2 问题驱动的修复动作库</a:t>
            </a:r>
            <a:endParaRPr lang="zh-CN" sz="1400"/>
          </a:p>
        </p:txBody>
      </p:sp>
      <p:sp>
        <p:nvSpPr>
          <p:cNvPr id="148" name="Shape 148"/>
          <p:cNvSpPr txBox="1"/>
          <p:nvPr/>
        </p:nvSpPr>
        <p:spPr>
          <a:xfrm>
            <a:off x="8869680" y="457200"/>
            <a:ext cx="1188720" cy="448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AA8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49" name="Shape 149"/>
          <p:cNvSpPr txBox="1"/>
          <p:nvPr/>
        </p:nvSpPr>
        <p:spPr>
          <a:xfrm>
            <a:off x="8970264" y="539496"/>
            <a:ext cx="36576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5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500"/>
          </a:p>
        </p:txBody>
      </p:sp>
      <p:sp>
        <p:nvSpPr>
          <p:cNvPr id="150" name="Shape 150"/>
          <p:cNvSpPr txBox="1"/>
          <p:nvPr/>
        </p:nvSpPr>
        <p:spPr>
          <a:xfrm>
            <a:off x="9400032" y="512064"/>
            <a:ext cx="50292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4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HTML</a:t>
            </a:r>
            <a:endParaRPr lang="zh-CN" sz="940"/>
          </a:p>
          <a:p>
            <a:pPr algn="ctr"/>
            <a:r>
              <a:rPr lang="zh-CN" sz="94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结构修复</a:t>
            </a:r>
            <a:endParaRPr lang="zh-CN" sz="940"/>
          </a:p>
        </p:txBody>
      </p:sp>
      <p:sp>
        <p:nvSpPr>
          <p:cNvPr id="151" name="Shape 151"/>
          <p:cNvSpPr txBox="1"/>
          <p:nvPr/>
        </p:nvSpPr>
        <p:spPr>
          <a:xfrm>
            <a:off x="10296144" y="457200"/>
            <a:ext cx="1188720" cy="448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AA8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52" name="Shape 152"/>
          <p:cNvSpPr txBox="1"/>
          <p:nvPr/>
        </p:nvSpPr>
        <p:spPr>
          <a:xfrm>
            <a:off x="10396728" y="539496"/>
            <a:ext cx="36576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5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500"/>
          </a:p>
        </p:txBody>
      </p:sp>
      <p:sp>
        <p:nvSpPr>
          <p:cNvPr id="153" name="Shape 153"/>
          <p:cNvSpPr txBox="1"/>
          <p:nvPr/>
        </p:nvSpPr>
        <p:spPr>
          <a:xfrm>
            <a:off x="10826496" y="512064"/>
            <a:ext cx="50292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4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带反馈</a:t>
            </a:r>
            <a:endParaRPr lang="zh-CN" sz="940"/>
          </a:p>
          <a:p>
            <a:pPr algn="ctr"/>
            <a:r>
              <a:rPr lang="zh-CN" sz="94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重识别</a:t>
            </a:r>
            <a:endParaRPr lang="zh-CN" sz="940"/>
          </a:p>
        </p:txBody>
      </p:sp>
      <p:sp>
        <p:nvSpPr>
          <p:cNvPr id="154" name="Shape 154"/>
          <p:cNvSpPr txBox="1"/>
          <p:nvPr/>
        </p:nvSpPr>
        <p:spPr>
          <a:xfrm>
            <a:off x="11704320" y="457200"/>
            <a:ext cx="1188720" cy="448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AA8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55" name="Shape 155"/>
          <p:cNvSpPr txBox="1"/>
          <p:nvPr/>
        </p:nvSpPr>
        <p:spPr>
          <a:xfrm>
            <a:off x="11804904" y="539496"/>
            <a:ext cx="36576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5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500"/>
          </a:p>
        </p:txBody>
      </p:sp>
      <p:sp>
        <p:nvSpPr>
          <p:cNvPr id="156" name="Shape 156"/>
          <p:cNvSpPr txBox="1"/>
          <p:nvPr/>
        </p:nvSpPr>
        <p:spPr>
          <a:xfrm>
            <a:off x="12234672" y="512064"/>
            <a:ext cx="50292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4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整图</a:t>
            </a:r>
            <a:endParaRPr lang="zh-CN" sz="940"/>
          </a:p>
          <a:p>
            <a:pPr algn="ctr"/>
            <a:r>
              <a:rPr lang="zh-CN" sz="94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重试</a:t>
            </a:r>
            <a:endParaRPr lang="zh-CN" sz="940"/>
          </a:p>
        </p:txBody>
      </p:sp>
      <p:sp>
        <p:nvSpPr>
          <p:cNvPr id="157" name="Shape 157"/>
          <p:cNvSpPr txBox="1"/>
          <p:nvPr/>
        </p:nvSpPr>
        <p:spPr>
          <a:xfrm>
            <a:off x="8869680" y="1014984"/>
            <a:ext cx="1188720" cy="448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AA8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58" name="Shape 158"/>
          <p:cNvSpPr txBox="1"/>
          <p:nvPr/>
        </p:nvSpPr>
        <p:spPr>
          <a:xfrm>
            <a:off x="8970264" y="1097280"/>
            <a:ext cx="36576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5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500"/>
          </a:p>
        </p:txBody>
      </p:sp>
      <p:sp>
        <p:nvSpPr>
          <p:cNvPr id="159" name="Shape 159"/>
          <p:cNvSpPr txBox="1"/>
          <p:nvPr/>
        </p:nvSpPr>
        <p:spPr>
          <a:xfrm>
            <a:off x="9400032" y="1069848"/>
            <a:ext cx="50292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4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无示例</a:t>
            </a:r>
            <a:endParaRPr lang="zh-CN" sz="940"/>
          </a:p>
          <a:p>
            <a:pPr algn="ctr"/>
            <a:r>
              <a:rPr lang="zh-CN" sz="94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重试</a:t>
            </a:r>
            <a:endParaRPr lang="zh-CN" sz="940"/>
          </a:p>
        </p:txBody>
      </p:sp>
      <p:sp>
        <p:nvSpPr>
          <p:cNvPr id="160" name="Shape 160"/>
          <p:cNvSpPr txBox="1"/>
          <p:nvPr/>
        </p:nvSpPr>
        <p:spPr>
          <a:xfrm>
            <a:off x="10296144" y="1014984"/>
            <a:ext cx="1188720" cy="448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AA8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61" name="Shape 161"/>
          <p:cNvSpPr txBox="1"/>
          <p:nvPr/>
        </p:nvSpPr>
        <p:spPr>
          <a:xfrm>
            <a:off x="10396728" y="1097280"/>
            <a:ext cx="36576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5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500"/>
          </a:p>
        </p:txBody>
      </p:sp>
      <p:sp>
        <p:nvSpPr>
          <p:cNvPr id="162" name="Shape 162"/>
          <p:cNvSpPr txBox="1"/>
          <p:nvPr/>
        </p:nvSpPr>
        <p:spPr>
          <a:xfrm>
            <a:off x="10826496" y="1069848"/>
            <a:ext cx="50292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4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单元格</a:t>
            </a:r>
            <a:endParaRPr lang="zh-CN" sz="940"/>
          </a:p>
          <a:p>
            <a:pPr algn="ctr"/>
            <a:r>
              <a:rPr lang="zh-CN" sz="94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复核</a:t>
            </a:r>
            <a:endParaRPr lang="zh-CN" sz="940"/>
          </a:p>
        </p:txBody>
      </p:sp>
      <p:sp>
        <p:nvSpPr>
          <p:cNvPr id="163" name="Shape 163"/>
          <p:cNvSpPr txBox="1"/>
          <p:nvPr/>
        </p:nvSpPr>
        <p:spPr>
          <a:xfrm>
            <a:off x="11704320" y="1014984"/>
            <a:ext cx="1188720" cy="4480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AA8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64" name="Shape 164"/>
          <p:cNvSpPr txBox="1"/>
          <p:nvPr/>
        </p:nvSpPr>
        <p:spPr>
          <a:xfrm>
            <a:off x="11804904" y="1097280"/>
            <a:ext cx="365760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5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500"/>
          </a:p>
        </p:txBody>
      </p:sp>
      <p:sp>
        <p:nvSpPr>
          <p:cNvPr id="165" name="Shape 165"/>
          <p:cNvSpPr txBox="1"/>
          <p:nvPr/>
        </p:nvSpPr>
        <p:spPr>
          <a:xfrm>
            <a:off x="12234672" y="1069848"/>
            <a:ext cx="50292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4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切分识别</a:t>
            </a:r>
            <a:endParaRPr lang="zh-CN" sz="940"/>
          </a:p>
          <a:p>
            <a:pPr algn="ctr"/>
            <a:r>
              <a:rPr lang="zh-CN" sz="94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与合并</a:t>
            </a:r>
            <a:endParaRPr lang="zh-CN" sz="940"/>
          </a:p>
        </p:txBody>
      </p:sp>
      <p:cxnSp>
        <p:nvCxnSpPr>
          <p:cNvPr id="166" name="Connector 166"/>
          <p:cNvCxnSpPr/>
          <p:nvPr/>
        </p:nvCxnSpPr>
        <p:spPr>
          <a:xfrm>
            <a:off x="10716768" y="1572768"/>
            <a:ext cx="914" cy="228600"/>
          </a:xfrm>
          <a:prstGeom prst="straightConnector1">
            <a:avLst/>
          </a:prstGeom>
          <a:ln w="22860" cap="sq">
            <a:solidFill>
              <a:srgbClr val="2F7D46"/>
            </a:solidFill>
            <a:tailEnd type="triangle"/>
          </a:ln>
        </p:spPr>
      </p:cxnSp>
      <p:sp>
        <p:nvSpPr>
          <p:cNvPr id="167" name="Shape 167"/>
          <p:cNvSpPr txBox="1"/>
          <p:nvPr/>
        </p:nvSpPr>
        <p:spPr>
          <a:xfrm>
            <a:off x="8686800" y="1819656"/>
            <a:ext cx="4462272" cy="2798064"/>
          </a:xfrm>
          <a:prstGeom prst="roundRect">
            <a:avLst/>
          </a:prstGeom>
          <a:solidFill>
            <a:srgbClr val="F0FBFD"/>
          </a:solidFill>
          <a:ln w="15240">
            <a:solidFill>
              <a:srgbClr val="168C9F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68" name="Shape 168"/>
          <p:cNvSpPr txBox="1"/>
          <p:nvPr/>
        </p:nvSpPr>
        <p:spPr>
          <a:xfrm>
            <a:off x="9811512" y="1956816"/>
            <a:ext cx="2523744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500" b="1">
                <a:solidFill>
                  <a:srgbClr val="168C9F"/>
                </a:solidFill>
                <a:latin typeface="微软雅黑"/>
                <a:ea typeface="微软雅黑"/>
                <a:cs typeface="微软雅黑"/>
              </a:rPr>
              <a:t>3 针对性修复执行</a:t>
            </a:r>
            <a:endParaRPr lang="zh-CN" sz="1500"/>
          </a:p>
        </p:txBody>
      </p:sp>
      <p:sp>
        <p:nvSpPr>
          <p:cNvPr id="170" name="Shape 170"/>
          <p:cNvSpPr txBox="1"/>
          <p:nvPr/>
        </p:nvSpPr>
        <p:spPr>
          <a:xfrm>
            <a:off x="8759952" y="2212848"/>
            <a:ext cx="1170432" cy="1664208"/>
          </a:xfrm>
          <a:prstGeom prst="roundRect">
            <a:avLst/>
          </a:prstGeom>
          <a:solidFill>
            <a:srgbClr val="F7FDFF"/>
          </a:solidFill>
          <a:ln w="12700">
            <a:solidFill>
              <a:srgbClr val="6FB8C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71" name="Shape 171"/>
          <p:cNvSpPr txBox="1"/>
          <p:nvPr/>
        </p:nvSpPr>
        <p:spPr>
          <a:xfrm>
            <a:off x="8833104" y="2286000"/>
            <a:ext cx="1024128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70" b="1">
                <a:solidFill>
                  <a:srgbClr val="167387"/>
                </a:solidFill>
                <a:latin typeface="微软雅黑"/>
                <a:ea typeface="微软雅黑"/>
                <a:cs typeface="微软雅黑"/>
              </a:rPr>
              <a:t>① 结构级修复</a:t>
            </a:r>
            <a:endParaRPr lang="zh-CN" sz="870"/>
          </a:p>
        </p:txBody>
      </p:sp>
      <p:sp>
        <p:nvSpPr>
          <p:cNvPr id="172" name="Shape 172"/>
          <p:cNvSpPr txBox="1"/>
          <p:nvPr/>
        </p:nvSpPr>
        <p:spPr>
          <a:xfrm>
            <a:off x="8842248" y="2542032"/>
            <a:ext cx="1005840" cy="237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799A8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740" b="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规范化 HTML</a:t>
            </a:r>
            <a:endParaRPr lang="zh-CN" sz="740"/>
          </a:p>
        </p:txBody>
      </p:sp>
      <p:cxnSp>
        <p:nvCxnSpPr>
          <p:cNvPr id="173" name="Connector 173"/>
          <p:cNvCxnSpPr/>
          <p:nvPr/>
        </p:nvCxnSpPr>
        <p:spPr>
          <a:xfrm>
            <a:off x="9345168" y="2779776"/>
            <a:ext cx="914" cy="118872"/>
          </a:xfrm>
          <a:prstGeom prst="straightConnector1">
            <a:avLst/>
          </a:prstGeom>
          <a:ln w="11430" cap="sq">
            <a:solidFill>
              <a:srgbClr val="374151"/>
            </a:solidFill>
            <a:tailEnd type="triangle"/>
          </a:ln>
        </p:spPr>
      </p:cxnSp>
      <p:sp>
        <p:nvSpPr>
          <p:cNvPr id="174" name="Shape 174"/>
          <p:cNvSpPr txBox="1"/>
          <p:nvPr/>
        </p:nvSpPr>
        <p:spPr>
          <a:xfrm>
            <a:off x="8842248" y="2898648"/>
            <a:ext cx="1005840" cy="237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799A8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740" b="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修复 rowspan/colspan</a:t>
            </a:r>
            <a:endParaRPr lang="zh-CN" sz="740"/>
          </a:p>
        </p:txBody>
      </p:sp>
      <p:cxnSp>
        <p:nvCxnSpPr>
          <p:cNvPr id="175" name="Connector 175"/>
          <p:cNvCxnSpPr/>
          <p:nvPr/>
        </p:nvCxnSpPr>
        <p:spPr>
          <a:xfrm>
            <a:off x="9345168" y="3136392"/>
            <a:ext cx="914" cy="118872"/>
          </a:xfrm>
          <a:prstGeom prst="straightConnector1">
            <a:avLst/>
          </a:prstGeom>
          <a:ln w="11430" cap="sq">
            <a:solidFill>
              <a:srgbClr val="374151"/>
            </a:solidFill>
            <a:tailEnd type="triangle"/>
          </a:ln>
        </p:spPr>
      </p:cxnSp>
      <p:sp>
        <p:nvSpPr>
          <p:cNvPr id="176" name="Shape 176"/>
          <p:cNvSpPr txBox="1"/>
          <p:nvPr/>
        </p:nvSpPr>
        <p:spPr>
          <a:xfrm>
            <a:off x="8842248" y="3255264"/>
            <a:ext cx="1005840" cy="237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799A8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740" b="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校正行列拓扑</a:t>
            </a:r>
            <a:endParaRPr lang="zh-CN" sz="740"/>
          </a:p>
        </p:txBody>
      </p:sp>
      <p:sp>
        <p:nvSpPr>
          <p:cNvPr id="177" name="Shape 177"/>
          <p:cNvSpPr txBox="1"/>
          <p:nvPr/>
        </p:nvSpPr>
        <p:spPr>
          <a:xfrm>
            <a:off x="10030968" y="2212848"/>
            <a:ext cx="1737360" cy="1664208"/>
          </a:xfrm>
          <a:prstGeom prst="roundRect">
            <a:avLst/>
          </a:prstGeom>
          <a:solidFill>
            <a:srgbClr val="F7FDFF"/>
          </a:solidFill>
          <a:ln w="12700">
            <a:solidFill>
              <a:srgbClr val="6FB8C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78" name="Shape 178"/>
          <p:cNvSpPr txBox="1"/>
          <p:nvPr/>
        </p:nvSpPr>
        <p:spPr>
          <a:xfrm>
            <a:off x="10104120" y="2286000"/>
            <a:ext cx="1591056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70" b="1">
                <a:solidFill>
                  <a:srgbClr val="167387"/>
                </a:solidFill>
                <a:latin typeface="微软雅黑"/>
                <a:ea typeface="微软雅黑"/>
                <a:cs typeface="微软雅黑"/>
              </a:rPr>
              <a:t>② 单元格级细化</a:t>
            </a:r>
            <a:endParaRPr lang="zh-CN" sz="870"/>
          </a:p>
        </p:txBody>
      </p:sp>
      <p:sp>
        <p:nvSpPr>
          <p:cNvPr id="179" name="Shape 179"/>
          <p:cNvSpPr txBox="1"/>
          <p:nvPr/>
        </p:nvSpPr>
        <p:spPr>
          <a:xfrm>
            <a:off x="10113264" y="2542032"/>
            <a:ext cx="1572768" cy="237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799A8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740" b="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风险单元格定位</a:t>
            </a:r>
            <a:endParaRPr lang="zh-CN" sz="740"/>
          </a:p>
        </p:txBody>
      </p:sp>
      <p:cxnSp>
        <p:nvCxnSpPr>
          <p:cNvPr id="180" name="Connector 180"/>
          <p:cNvCxnSpPr/>
          <p:nvPr/>
        </p:nvCxnSpPr>
        <p:spPr>
          <a:xfrm>
            <a:off x="10899648" y="2779776"/>
            <a:ext cx="914" cy="118872"/>
          </a:xfrm>
          <a:prstGeom prst="straightConnector1">
            <a:avLst/>
          </a:prstGeom>
          <a:ln w="11430" cap="sq">
            <a:solidFill>
              <a:srgbClr val="374151"/>
            </a:solidFill>
            <a:tailEnd type="triangle"/>
          </a:ln>
        </p:spPr>
      </p:cxnSp>
      <p:sp>
        <p:nvSpPr>
          <p:cNvPr id="181" name="Shape 181"/>
          <p:cNvSpPr txBox="1"/>
          <p:nvPr/>
        </p:nvSpPr>
        <p:spPr>
          <a:xfrm>
            <a:off x="10113264" y="2898648"/>
            <a:ext cx="1572768" cy="237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799A8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740" b="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局部裁剪复核</a:t>
            </a:r>
            <a:endParaRPr lang="zh-CN" sz="740"/>
          </a:p>
        </p:txBody>
      </p:sp>
      <p:cxnSp>
        <p:nvCxnSpPr>
          <p:cNvPr id="182" name="Connector 182"/>
          <p:cNvCxnSpPr/>
          <p:nvPr/>
        </p:nvCxnSpPr>
        <p:spPr>
          <a:xfrm>
            <a:off x="10899648" y="3136392"/>
            <a:ext cx="914" cy="118872"/>
          </a:xfrm>
          <a:prstGeom prst="straightConnector1">
            <a:avLst/>
          </a:prstGeom>
          <a:ln w="11430" cap="sq">
            <a:solidFill>
              <a:srgbClr val="374151"/>
            </a:solidFill>
            <a:tailEnd type="triangle"/>
          </a:ln>
        </p:spPr>
      </p:cxnSp>
      <p:sp>
        <p:nvSpPr>
          <p:cNvPr id="183" name="Shape 183"/>
          <p:cNvSpPr txBox="1"/>
          <p:nvPr/>
        </p:nvSpPr>
        <p:spPr>
          <a:xfrm>
            <a:off x="10113264" y="3255264"/>
            <a:ext cx="1572768" cy="237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799A8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740" b="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必要时 OCR 回退</a:t>
            </a:r>
            <a:endParaRPr lang="zh-CN" sz="740"/>
          </a:p>
        </p:txBody>
      </p:sp>
      <p:cxnSp>
        <p:nvCxnSpPr>
          <p:cNvPr id="184" name="Connector 184"/>
          <p:cNvCxnSpPr/>
          <p:nvPr/>
        </p:nvCxnSpPr>
        <p:spPr>
          <a:xfrm>
            <a:off x="10899648" y="3493008"/>
            <a:ext cx="914" cy="118872"/>
          </a:xfrm>
          <a:prstGeom prst="straightConnector1">
            <a:avLst/>
          </a:prstGeom>
          <a:ln w="11430" cap="sq">
            <a:solidFill>
              <a:srgbClr val="374151"/>
            </a:solidFill>
            <a:tailEnd type="triangle"/>
          </a:ln>
        </p:spPr>
      </p:cxnSp>
      <p:sp>
        <p:nvSpPr>
          <p:cNvPr id="185" name="Shape 185"/>
          <p:cNvSpPr txBox="1"/>
          <p:nvPr/>
        </p:nvSpPr>
        <p:spPr>
          <a:xfrm>
            <a:off x="10113264" y="3611880"/>
            <a:ext cx="1572768" cy="237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799A8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740" b="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内容更新</a:t>
            </a:r>
            <a:endParaRPr lang="zh-CN" sz="740"/>
          </a:p>
        </p:txBody>
      </p:sp>
      <p:sp>
        <p:nvSpPr>
          <p:cNvPr id="186" name="Shape 186"/>
          <p:cNvSpPr txBox="1"/>
          <p:nvPr/>
        </p:nvSpPr>
        <p:spPr>
          <a:xfrm>
            <a:off x="11878056" y="2212848"/>
            <a:ext cx="1170432" cy="1664208"/>
          </a:xfrm>
          <a:prstGeom prst="roundRect">
            <a:avLst/>
          </a:prstGeom>
          <a:solidFill>
            <a:srgbClr val="F7FDFF"/>
          </a:solidFill>
          <a:ln w="12700">
            <a:solidFill>
              <a:srgbClr val="6FB8C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187" name="Shape 187"/>
          <p:cNvSpPr txBox="1"/>
          <p:nvPr/>
        </p:nvSpPr>
        <p:spPr>
          <a:xfrm>
            <a:off x="11951208" y="2286000"/>
            <a:ext cx="1024128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70" b="1">
                <a:solidFill>
                  <a:srgbClr val="167387"/>
                </a:solidFill>
                <a:latin typeface="微软雅黑"/>
                <a:ea typeface="微软雅黑"/>
                <a:cs typeface="微软雅黑"/>
              </a:rPr>
              <a:t>③ 复杂布局重处理</a:t>
            </a:r>
            <a:endParaRPr lang="zh-CN" sz="870"/>
          </a:p>
        </p:txBody>
      </p:sp>
      <p:sp>
        <p:nvSpPr>
          <p:cNvPr id="188" name="Shape 188"/>
          <p:cNvSpPr txBox="1"/>
          <p:nvPr/>
        </p:nvSpPr>
        <p:spPr>
          <a:xfrm>
            <a:off x="11960352" y="2542032"/>
            <a:ext cx="1005840" cy="237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799A8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740" b="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长表/宽表切分</a:t>
            </a:r>
            <a:endParaRPr lang="zh-CN" sz="740"/>
          </a:p>
        </p:txBody>
      </p:sp>
      <p:cxnSp>
        <p:nvCxnSpPr>
          <p:cNvPr id="189" name="Connector 189"/>
          <p:cNvCxnSpPr/>
          <p:nvPr/>
        </p:nvCxnSpPr>
        <p:spPr>
          <a:xfrm>
            <a:off x="12463272" y="2779776"/>
            <a:ext cx="914" cy="118872"/>
          </a:xfrm>
          <a:prstGeom prst="straightConnector1">
            <a:avLst/>
          </a:prstGeom>
          <a:ln w="11430" cap="sq">
            <a:solidFill>
              <a:srgbClr val="374151"/>
            </a:solidFill>
            <a:tailEnd type="triangle"/>
          </a:ln>
        </p:spPr>
      </p:cxnSp>
      <p:sp>
        <p:nvSpPr>
          <p:cNvPr id="190" name="Shape 190"/>
          <p:cNvSpPr txBox="1"/>
          <p:nvPr/>
        </p:nvSpPr>
        <p:spPr>
          <a:xfrm>
            <a:off x="11960352" y="2898648"/>
            <a:ext cx="1005840" cy="237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799A8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740" b="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多区域识别</a:t>
            </a:r>
            <a:endParaRPr lang="zh-CN" sz="740"/>
          </a:p>
        </p:txBody>
      </p:sp>
      <p:cxnSp>
        <p:nvCxnSpPr>
          <p:cNvPr id="191" name="Connector 191"/>
          <p:cNvCxnSpPr/>
          <p:nvPr/>
        </p:nvCxnSpPr>
        <p:spPr>
          <a:xfrm>
            <a:off x="12463272" y="3136392"/>
            <a:ext cx="914" cy="118872"/>
          </a:xfrm>
          <a:prstGeom prst="straightConnector1">
            <a:avLst/>
          </a:prstGeom>
          <a:ln w="11430" cap="sq">
            <a:solidFill>
              <a:srgbClr val="374151"/>
            </a:solidFill>
            <a:tailEnd type="triangle"/>
          </a:ln>
        </p:spPr>
      </p:cxnSp>
      <p:sp>
        <p:nvSpPr>
          <p:cNvPr id="192" name="Shape 192"/>
          <p:cNvSpPr txBox="1"/>
          <p:nvPr/>
        </p:nvSpPr>
        <p:spPr>
          <a:xfrm>
            <a:off x="11960352" y="3255264"/>
            <a:ext cx="1005840" cy="237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799A8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740" b="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结果合并</a:t>
            </a:r>
            <a:endParaRPr lang="zh-CN" sz="740"/>
          </a:p>
        </p:txBody>
      </p:sp>
      <p:sp>
        <p:nvSpPr>
          <p:cNvPr id="193" name="Shape 193"/>
          <p:cNvSpPr txBox="1"/>
          <p:nvPr/>
        </p:nvSpPr>
        <p:spPr>
          <a:xfrm>
            <a:off x="11237976" y="3035808"/>
            <a:ext cx="493776" cy="484632"/>
          </a:xfrm>
          <a:prstGeom prst="rect">
            <a:avLst/>
          </a:prstGeom>
          <a:solidFill>
            <a:srgbClr val="F7FDFF"/>
          </a:solidFill>
          <a:ln w="11430">
            <a:solidFill>
              <a:srgbClr val="6FB8C6"/>
            </a:solidFill>
            <a:prstDash val="dash"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650" b="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可选：</a:t>
            </a:r>
            <a:endParaRPr lang="zh-CN" sz="650"/>
          </a:p>
          <a:p>
            <a:pPr algn="ctr"/>
            <a:r>
              <a:rPr lang="zh-CN" sz="650" b="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LLM 区域</a:t>
            </a:r>
            <a:endParaRPr lang="zh-CN" sz="650"/>
          </a:p>
          <a:p>
            <a:pPr algn="ctr"/>
            <a:r>
              <a:rPr lang="zh-CN" sz="650" b="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细化</a:t>
            </a:r>
            <a:endParaRPr lang="zh-CN" sz="650"/>
          </a:p>
        </p:txBody>
      </p:sp>
      <p:cxnSp>
        <p:nvCxnSpPr>
          <p:cNvPr id="194" name="Connector 194"/>
          <p:cNvCxnSpPr/>
          <p:nvPr/>
        </p:nvCxnSpPr>
        <p:spPr>
          <a:xfrm flipH="1">
            <a:off x="10963656" y="3273552"/>
            <a:ext cx="274320" cy="914"/>
          </a:xfrm>
          <a:prstGeom prst="straightConnector1">
            <a:avLst/>
          </a:prstGeom>
          <a:ln w="12700" cap="sq">
            <a:solidFill>
              <a:srgbClr val="6B7280"/>
            </a:solidFill>
            <a:prstDash val="dash"/>
            <a:tailEnd type="triangle"/>
          </a:ln>
        </p:spPr>
      </p:cxnSp>
      <p:cxnSp>
        <p:nvCxnSpPr>
          <p:cNvPr id="195" name="Connector 195"/>
          <p:cNvCxnSpPr/>
          <p:nvPr/>
        </p:nvCxnSpPr>
        <p:spPr>
          <a:xfrm>
            <a:off x="9345168" y="3877056"/>
            <a:ext cx="914" cy="146304"/>
          </a:xfrm>
          <a:prstGeom prst="straightConnector1">
            <a:avLst/>
          </a:prstGeom>
          <a:ln w="17780" cap="sq">
            <a:solidFill>
              <a:srgbClr val="168C9F"/>
            </a:solidFill>
          </a:ln>
        </p:spPr>
      </p:cxnSp>
      <p:cxnSp>
        <p:nvCxnSpPr>
          <p:cNvPr id="196" name="Connector 196"/>
          <p:cNvCxnSpPr/>
          <p:nvPr/>
        </p:nvCxnSpPr>
        <p:spPr>
          <a:xfrm>
            <a:off x="10716768" y="3877056"/>
            <a:ext cx="914" cy="146304"/>
          </a:xfrm>
          <a:prstGeom prst="straightConnector1">
            <a:avLst/>
          </a:prstGeom>
          <a:ln w="17780" cap="sq">
            <a:solidFill>
              <a:srgbClr val="168C9F"/>
            </a:solidFill>
          </a:ln>
        </p:spPr>
      </p:cxnSp>
      <p:cxnSp>
        <p:nvCxnSpPr>
          <p:cNvPr id="197" name="Connector 197"/>
          <p:cNvCxnSpPr/>
          <p:nvPr/>
        </p:nvCxnSpPr>
        <p:spPr>
          <a:xfrm>
            <a:off x="12490704" y="3877056"/>
            <a:ext cx="914" cy="146304"/>
          </a:xfrm>
          <a:prstGeom prst="straightConnector1">
            <a:avLst/>
          </a:prstGeom>
          <a:ln w="17780" cap="sq">
            <a:solidFill>
              <a:srgbClr val="168C9F"/>
            </a:solidFill>
          </a:ln>
        </p:spPr>
      </p:cxnSp>
      <p:cxnSp>
        <p:nvCxnSpPr>
          <p:cNvPr id="198" name="Connector 198"/>
          <p:cNvCxnSpPr/>
          <p:nvPr/>
        </p:nvCxnSpPr>
        <p:spPr>
          <a:xfrm>
            <a:off x="9345168" y="4023360"/>
            <a:ext cx="3145536" cy="914"/>
          </a:xfrm>
          <a:prstGeom prst="straightConnector1">
            <a:avLst/>
          </a:prstGeom>
          <a:ln w="17780" cap="sq">
            <a:solidFill>
              <a:srgbClr val="168C9F"/>
            </a:solidFill>
          </a:ln>
        </p:spPr>
      </p:cxnSp>
      <p:cxnSp>
        <p:nvCxnSpPr>
          <p:cNvPr id="199" name="Connector 199"/>
          <p:cNvCxnSpPr/>
          <p:nvPr/>
        </p:nvCxnSpPr>
        <p:spPr>
          <a:xfrm>
            <a:off x="10716768" y="4023360"/>
            <a:ext cx="914" cy="173736"/>
          </a:xfrm>
          <a:prstGeom prst="straightConnector1">
            <a:avLst/>
          </a:prstGeom>
          <a:ln w="19050" cap="sq">
            <a:solidFill>
              <a:srgbClr val="168C9F"/>
            </a:solidFill>
            <a:tailEnd type="triangle"/>
          </a:ln>
        </p:spPr>
      </p:cxnSp>
      <p:sp>
        <p:nvSpPr>
          <p:cNvPr id="200" name="Shape 200"/>
          <p:cNvSpPr txBox="1"/>
          <p:nvPr/>
        </p:nvSpPr>
        <p:spPr>
          <a:xfrm>
            <a:off x="9738360" y="4197096"/>
            <a:ext cx="2020824" cy="338328"/>
          </a:xfrm>
          <a:prstGeom prst="roundRect">
            <a:avLst/>
          </a:prstGeom>
          <a:solidFill>
            <a:srgbClr val="F4FAFF"/>
          </a:solidFill>
          <a:ln w="13970">
            <a:solidFill>
              <a:srgbClr val="1E64B7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100" b="1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      修复候选结果</a:t>
            </a:r>
            <a:endParaRPr lang="zh-CN" sz="1100"/>
          </a:p>
        </p:txBody>
      </p:sp>
      <p:sp>
        <p:nvSpPr>
          <p:cNvPr id="201" name="Shape 201"/>
          <p:cNvSpPr txBox="1"/>
          <p:nvPr/>
        </p:nvSpPr>
        <p:spPr>
          <a:xfrm>
            <a:off x="9957816" y="4270248"/>
            <a:ext cx="3657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1E64B7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cxnSp>
        <p:nvCxnSpPr>
          <p:cNvPr id="202" name="Connector 202"/>
          <p:cNvCxnSpPr/>
          <p:nvPr/>
        </p:nvCxnSpPr>
        <p:spPr>
          <a:xfrm>
            <a:off x="10079736" y="4270248"/>
            <a:ext cx="914" cy="210312"/>
          </a:xfrm>
          <a:prstGeom prst="straightConnector1">
            <a:avLst/>
          </a:prstGeom>
          <a:ln w="8890" cap="sq">
            <a:solidFill>
              <a:srgbClr val="1E64B7"/>
            </a:solidFill>
          </a:ln>
        </p:spPr>
      </p:cxnSp>
      <p:cxnSp>
        <p:nvCxnSpPr>
          <p:cNvPr id="203" name="Connector 203"/>
          <p:cNvCxnSpPr/>
          <p:nvPr/>
        </p:nvCxnSpPr>
        <p:spPr>
          <a:xfrm>
            <a:off x="10201656" y="4270248"/>
            <a:ext cx="914" cy="210312"/>
          </a:xfrm>
          <a:prstGeom prst="straightConnector1">
            <a:avLst/>
          </a:prstGeom>
          <a:ln w="8890" cap="sq">
            <a:solidFill>
              <a:srgbClr val="1E64B7"/>
            </a:solidFill>
          </a:ln>
        </p:spPr>
      </p:cxnSp>
      <p:cxnSp>
        <p:nvCxnSpPr>
          <p:cNvPr id="204" name="Connector 204"/>
          <p:cNvCxnSpPr/>
          <p:nvPr/>
        </p:nvCxnSpPr>
        <p:spPr>
          <a:xfrm>
            <a:off x="9957816" y="4340352"/>
            <a:ext cx="365760" cy="914"/>
          </a:xfrm>
          <a:prstGeom prst="straightConnector1">
            <a:avLst/>
          </a:prstGeom>
          <a:ln w="8890" cap="sq">
            <a:solidFill>
              <a:srgbClr val="1E64B7"/>
            </a:solidFill>
          </a:ln>
        </p:spPr>
      </p:cxnSp>
      <p:cxnSp>
        <p:nvCxnSpPr>
          <p:cNvPr id="205" name="Connector 205"/>
          <p:cNvCxnSpPr/>
          <p:nvPr/>
        </p:nvCxnSpPr>
        <p:spPr>
          <a:xfrm>
            <a:off x="9957816" y="4410456"/>
            <a:ext cx="365760" cy="914"/>
          </a:xfrm>
          <a:prstGeom prst="straightConnector1">
            <a:avLst/>
          </a:prstGeom>
          <a:ln w="8890" cap="sq">
            <a:solidFill>
              <a:srgbClr val="1E64B7"/>
            </a:solidFill>
          </a:ln>
        </p:spPr>
      </p:cxnSp>
      <p:cxnSp>
        <p:nvCxnSpPr>
          <p:cNvPr id="206" name="Connector 206"/>
          <p:cNvCxnSpPr/>
          <p:nvPr/>
        </p:nvCxnSpPr>
        <p:spPr>
          <a:xfrm>
            <a:off x="10716768" y="4617720"/>
            <a:ext cx="914" cy="265176"/>
          </a:xfrm>
          <a:prstGeom prst="straightConnector1">
            <a:avLst/>
          </a:prstGeom>
          <a:ln w="25400" cap="sq">
            <a:solidFill>
              <a:srgbClr val="1E64B7"/>
            </a:solidFill>
            <a:tailEnd type="triangle"/>
          </a:ln>
        </p:spPr>
      </p:cxnSp>
      <p:sp>
        <p:nvSpPr>
          <p:cNvPr id="207" name="Shape 207"/>
          <p:cNvSpPr txBox="1"/>
          <p:nvPr/>
        </p:nvSpPr>
        <p:spPr>
          <a:xfrm>
            <a:off x="8193024" y="4882896"/>
            <a:ext cx="4946904" cy="1801368"/>
          </a:xfrm>
          <a:prstGeom prst="roundRect">
            <a:avLst/>
          </a:prstGeom>
          <a:solidFill>
            <a:srgbClr val="FAF7FF"/>
          </a:solidFill>
          <a:ln w="15240">
            <a:solidFill>
              <a:srgbClr val="5D49A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208" name="Shape 208"/>
          <p:cNvSpPr txBox="1"/>
          <p:nvPr/>
        </p:nvSpPr>
        <p:spPr>
          <a:xfrm>
            <a:off x="9646920" y="5029200"/>
            <a:ext cx="25146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500" b="1">
                <a:solidFill>
                  <a:srgbClr val="5D49A6"/>
                </a:solidFill>
                <a:latin typeface="微软雅黑"/>
                <a:ea typeface="微软雅黑"/>
                <a:cs typeface="微软雅黑"/>
              </a:rPr>
              <a:t>4 候选重评分与最优选择</a:t>
            </a:r>
            <a:endParaRPr lang="zh-CN" sz="1500"/>
          </a:p>
        </p:txBody>
      </p:sp>
      <p:sp>
        <p:nvSpPr>
          <p:cNvPr id="209" name="Shape 209"/>
          <p:cNvSpPr txBox="1"/>
          <p:nvPr/>
        </p:nvSpPr>
        <p:spPr>
          <a:xfrm>
            <a:off x="8302752" y="5029200"/>
            <a:ext cx="923544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92D4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210" name="Shape 210"/>
          <p:cNvSpPr txBox="1"/>
          <p:nvPr/>
        </p:nvSpPr>
        <p:spPr>
          <a:xfrm>
            <a:off x="8503920" y="5102352"/>
            <a:ext cx="548640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60" b="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初始结果</a:t>
            </a:r>
            <a:endParaRPr lang="zh-CN" sz="860"/>
          </a:p>
        </p:txBody>
      </p:sp>
      <p:sp>
        <p:nvSpPr>
          <p:cNvPr id="211" name="Shape 211"/>
          <p:cNvSpPr txBox="1"/>
          <p:nvPr/>
        </p:nvSpPr>
        <p:spPr>
          <a:xfrm>
            <a:off x="8503920" y="5321808"/>
            <a:ext cx="4572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cxnSp>
        <p:nvCxnSpPr>
          <p:cNvPr id="212" name="Connector 212"/>
          <p:cNvCxnSpPr/>
          <p:nvPr/>
        </p:nvCxnSpPr>
        <p:spPr>
          <a:xfrm>
            <a:off x="8656320" y="5321808"/>
            <a:ext cx="914" cy="246888"/>
          </a:xfrm>
          <a:prstGeom prst="straightConnector1">
            <a:avLst/>
          </a:prstGeom>
          <a:ln w="8890" cap="sq">
            <a:solidFill>
              <a:srgbClr val="4B5563"/>
            </a:solidFill>
          </a:ln>
        </p:spPr>
      </p:cxnSp>
      <p:cxnSp>
        <p:nvCxnSpPr>
          <p:cNvPr id="213" name="Connector 213"/>
          <p:cNvCxnSpPr/>
          <p:nvPr/>
        </p:nvCxnSpPr>
        <p:spPr>
          <a:xfrm>
            <a:off x="8808720" y="5321808"/>
            <a:ext cx="914" cy="246888"/>
          </a:xfrm>
          <a:prstGeom prst="straightConnector1">
            <a:avLst/>
          </a:prstGeom>
          <a:ln w="8890" cap="sq">
            <a:solidFill>
              <a:srgbClr val="4B5563"/>
            </a:solidFill>
          </a:ln>
        </p:spPr>
      </p:cxnSp>
      <p:cxnSp>
        <p:nvCxnSpPr>
          <p:cNvPr id="214" name="Connector 214"/>
          <p:cNvCxnSpPr/>
          <p:nvPr/>
        </p:nvCxnSpPr>
        <p:spPr>
          <a:xfrm>
            <a:off x="8503920" y="5404104"/>
            <a:ext cx="457200" cy="914"/>
          </a:xfrm>
          <a:prstGeom prst="straightConnector1">
            <a:avLst/>
          </a:prstGeom>
          <a:ln w="8890" cap="sq">
            <a:solidFill>
              <a:srgbClr val="4B5563"/>
            </a:solidFill>
          </a:ln>
        </p:spPr>
      </p:cxnSp>
      <p:cxnSp>
        <p:nvCxnSpPr>
          <p:cNvPr id="215" name="Connector 215"/>
          <p:cNvCxnSpPr/>
          <p:nvPr/>
        </p:nvCxnSpPr>
        <p:spPr>
          <a:xfrm>
            <a:off x="8503920" y="5486400"/>
            <a:ext cx="457200" cy="914"/>
          </a:xfrm>
          <a:prstGeom prst="straightConnector1">
            <a:avLst/>
          </a:prstGeom>
          <a:ln w="8890" cap="sq">
            <a:solidFill>
              <a:srgbClr val="4B5563"/>
            </a:solidFill>
          </a:ln>
        </p:spPr>
      </p:cxnSp>
      <p:sp>
        <p:nvSpPr>
          <p:cNvPr id="216" name="Shape 216"/>
          <p:cNvSpPr txBox="1"/>
          <p:nvPr/>
        </p:nvSpPr>
        <p:spPr>
          <a:xfrm>
            <a:off x="8302752" y="5760720"/>
            <a:ext cx="923544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92D4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217" name="Shape 217"/>
          <p:cNvSpPr txBox="1"/>
          <p:nvPr/>
        </p:nvSpPr>
        <p:spPr>
          <a:xfrm>
            <a:off x="8430768" y="5833872"/>
            <a:ext cx="667512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40" b="0">
                <a:solidFill>
                  <a:srgbClr val="374151"/>
                </a:solidFill>
                <a:latin typeface="微软雅黑"/>
                <a:ea typeface="微软雅黑"/>
                <a:cs typeface="微软雅黑"/>
              </a:rPr>
              <a:t>多轮修复结果</a:t>
            </a:r>
            <a:endParaRPr lang="zh-CN" sz="840"/>
          </a:p>
        </p:txBody>
      </p:sp>
      <p:sp>
        <p:nvSpPr>
          <p:cNvPr id="218" name="Shape 218"/>
          <p:cNvSpPr txBox="1"/>
          <p:nvPr/>
        </p:nvSpPr>
        <p:spPr>
          <a:xfrm>
            <a:off x="8412480" y="6044184"/>
            <a:ext cx="365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cxnSp>
        <p:nvCxnSpPr>
          <p:cNvPr id="219" name="Connector 219"/>
          <p:cNvCxnSpPr/>
          <p:nvPr/>
        </p:nvCxnSpPr>
        <p:spPr>
          <a:xfrm>
            <a:off x="8534400" y="6044184"/>
            <a:ext cx="914" cy="274320"/>
          </a:xfrm>
          <a:prstGeom prst="straightConnector1">
            <a:avLst/>
          </a:prstGeom>
          <a:ln w="8890" cap="sq">
            <a:solidFill>
              <a:srgbClr val="4B5563"/>
            </a:solidFill>
          </a:ln>
        </p:spPr>
      </p:cxnSp>
      <p:cxnSp>
        <p:nvCxnSpPr>
          <p:cNvPr id="220" name="Connector 220"/>
          <p:cNvCxnSpPr/>
          <p:nvPr/>
        </p:nvCxnSpPr>
        <p:spPr>
          <a:xfrm>
            <a:off x="8656320" y="6044184"/>
            <a:ext cx="914" cy="274320"/>
          </a:xfrm>
          <a:prstGeom prst="straightConnector1">
            <a:avLst/>
          </a:prstGeom>
          <a:ln w="8890" cap="sq">
            <a:solidFill>
              <a:srgbClr val="4B5563"/>
            </a:solidFill>
          </a:ln>
        </p:spPr>
      </p:cxnSp>
      <p:cxnSp>
        <p:nvCxnSpPr>
          <p:cNvPr id="221" name="Connector 221"/>
          <p:cNvCxnSpPr/>
          <p:nvPr/>
        </p:nvCxnSpPr>
        <p:spPr>
          <a:xfrm>
            <a:off x="8412480" y="6135624"/>
            <a:ext cx="365760" cy="914"/>
          </a:xfrm>
          <a:prstGeom prst="straightConnector1">
            <a:avLst/>
          </a:prstGeom>
          <a:ln w="8890" cap="sq">
            <a:solidFill>
              <a:srgbClr val="4B5563"/>
            </a:solidFill>
          </a:ln>
        </p:spPr>
      </p:cxnSp>
      <p:cxnSp>
        <p:nvCxnSpPr>
          <p:cNvPr id="222" name="Connector 222"/>
          <p:cNvCxnSpPr/>
          <p:nvPr/>
        </p:nvCxnSpPr>
        <p:spPr>
          <a:xfrm>
            <a:off x="8412480" y="6227064"/>
            <a:ext cx="365760" cy="914"/>
          </a:xfrm>
          <a:prstGeom prst="straightConnector1">
            <a:avLst/>
          </a:prstGeom>
          <a:ln w="8890" cap="sq">
            <a:solidFill>
              <a:srgbClr val="4B5563"/>
            </a:solidFill>
          </a:ln>
        </p:spPr>
      </p:cxnSp>
      <p:sp>
        <p:nvSpPr>
          <p:cNvPr id="223" name="Shape 223"/>
          <p:cNvSpPr txBox="1"/>
          <p:nvPr/>
        </p:nvSpPr>
        <p:spPr>
          <a:xfrm>
            <a:off x="8714232" y="6199632"/>
            <a:ext cx="411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cxnSp>
        <p:nvCxnSpPr>
          <p:cNvPr id="224" name="Connector 224"/>
          <p:cNvCxnSpPr/>
          <p:nvPr/>
        </p:nvCxnSpPr>
        <p:spPr>
          <a:xfrm>
            <a:off x="8851392" y="6199632"/>
            <a:ext cx="914" cy="274320"/>
          </a:xfrm>
          <a:prstGeom prst="straightConnector1">
            <a:avLst/>
          </a:prstGeom>
          <a:ln w="8890" cap="sq">
            <a:solidFill>
              <a:srgbClr val="4B5563"/>
            </a:solidFill>
          </a:ln>
        </p:spPr>
      </p:cxnSp>
      <p:cxnSp>
        <p:nvCxnSpPr>
          <p:cNvPr id="225" name="Connector 225"/>
          <p:cNvCxnSpPr/>
          <p:nvPr/>
        </p:nvCxnSpPr>
        <p:spPr>
          <a:xfrm>
            <a:off x="8988552" y="6199632"/>
            <a:ext cx="914" cy="274320"/>
          </a:xfrm>
          <a:prstGeom prst="straightConnector1">
            <a:avLst/>
          </a:prstGeom>
          <a:ln w="8890" cap="sq">
            <a:solidFill>
              <a:srgbClr val="4B5563"/>
            </a:solidFill>
          </a:ln>
        </p:spPr>
      </p:cxnSp>
      <p:cxnSp>
        <p:nvCxnSpPr>
          <p:cNvPr id="226" name="Connector 226"/>
          <p:cNvCxnSpPr/>
          <p:nvPr/>
        </p:nvCxnSpPr>
        <p:spPr>
          <a:xfrm>
            <a:off x="8714232" y="6291072"/>
            <a:ext cx="411480" cy="914"/>
          </a:xfrm>
          <a:prstGeom prst="straightConnector1">
            <a:avLst/>
          </a:prstGeom>
          <a:ln w="8890" cap="sq">
            <a:solidFill>
              <a:srgbClr val="4B5563"/>
            </a:solidFill>
          </a:ln>
        </p:spPr>
      </p:cxnSp>
      <p:cxnSp>
        <p:nvCxnSpPr>
          <p:cNvPr id="227" name="Connector 227"/>
          <p:cNvCxnSpPr/>
          <p:nvPr/>
        </p:nvCxnSpPr>
        <p:spPr>
          <a:xfrm>
            <a:off x="8714232" y="6382512"/>
            <a:ext cx="411480" cy="914"/>
          </a:xfrm>
          <a:prstGeom prst="straightConnector1">
            <a:avLst/>
          </a:prstGeom>
          <a:ln w="8890" cap="sq">
            <a:solidFill>
              <a:srgbClr val="4B5563"/>
            </a:solidFill>
          </a:ln>
        </p:spPr>
      </p:cxnSp>
      <p:cxnSp>
        <p:nvCxnSpPr>
          <p:cNvPr id="228" name="Connector 228"/>
          <p:cNvCxnSpPr/>
          <p:nvPr/>
        </p:nvCxnSpPr>
        <p:spPr>
          <a:xfrm>
            <a:off x="9226296" y="5340096"/>
            <a:ext cx="173736" cy="914"/>
          </a:xfrm>
          <a:prstGeom prst="straightConnector1">
            <a:avLst/>
          </a:prstGeom>
          <a:ln w="15240" cap="sq">
            <a:solidFill>
              <a:srgbClr val="5D49A6"/>
            </a:solidFill>
          </a:ln>
        </p:spPr>
      </p:cxnSp>
      <p:cxnSp>
        <p:nvCxnSpPr>
          <p:cNvPr id="229" name="Connector 229"/>
          <p:cNvCxnSpPr/>
          <p:nvPr/>
        </p:nvCxnSpPr>
        <p:spPr>
          <a:xfrm>
            <a:off x="9400032" y="5340096"/>
            <a:ext cx="914" cy="822960"/>
          </a:xfrm>
          <a:prstGeom prst="straightConnector1">
            <a:avLst/>
          </a:prstGeom>
          <a:ln w="15240" cap="sq">
            <a:solidFill>
              <a:srgbClr val="5D49A6"/>
            </a:solidFill>
          </a:ln>
        </p:spPr>
      </p:cxnSp>
      <p:cxnSp>
        <p:nvCxnSpPr>
          <p:cNvPr id="230" name="Connector 230"/>
          <p:cNvCxnSpPr/>
          <p:nvPr/>
        </p:nvCxnSpPr>
        <p:spPr>
          <a:xfrm>
            <a:off x="9226296" y="6163056"/>
            <a:ext cx="173736" cy="914"/>
          </a:xfrm>
          <a:prstGeom prst="straightConnector1">
            <a:avLst/>
          </a:prstGeom>
          <a:ln w="15240" cap="sq">
            <a:solidFill>
              <a:srgbClr val="5D49A6"/>
            </a:solidFill>
          </a:ln>
        </p:spPr>
      </p:cxnSp>
      <p:cxnSp>
        <p:nvCxnSpPr>
          <p:cNvPr id="231" name="Connector 231"/>
          <p:cNvCxnSpPr/>
          <p:nvPr/>
        </p:nvCxnSpPr>
        <p:spPr>
          <a:xfrm>
            <a:off x="9400032" y="5751576"/>
            <a:ext cx="173736" cy="914"/>
          </a:xfrm>
          <a:prstGeom prst="straightConnector1">
            <a:avLst/>
          </a:prstGeom>
          <a:ln w="19050" cap="sq">
            <a:solidFill>
              <a:srgbClr val="5D49A6"/>
            </a:solidFill>
            <a:tailEnd type="triangle"/>
          </a:ln>
        </p:spPr>
      </p:cxnSp>
      <p:sp>
        <p:nvSpPr>
          <p:cNvPr id="232" name="Shape 232"/>
          <p:cNvSpPr txBox="1"/>
          <p:nvPr/>
        </p:nvSpPr>
        <p:spPr>
          <a:xfrm>
            <a:off x="9573768" y="5522976"/>
            <a:ext cx="530352" cy="585216"/>
          </a:xfrm>
          <a:prstGeom prst="can">
            <a:avLst/>
          </a:prstGeom>
          <a:solidFill>
            <a:srgbClr val="F5F0FF"/>
          </a:solidFill>
          <a:ln w="12700">
            <a:solidFill>
              <a:srgbClr val="5D49A6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7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候选池</a:t>
            </a:r>
            <a:endParaRPr lang="zh-CN" sz="870"/>
          </a:p>
        </p:txBody>
      </p:sp>
      <p:cxnSp>
        <p:nvCxnSpPr>
          <p:cNvPr id="233" name="Connector 233"/>
          <p:cNvCxnSpPr/>
          <p:nvPr/>
        </p:nvCxnSpPr>
        <p:spPr>
          <a:xfrm>
            <a:off x="10104120" y="5815584"/>
            <a:ext cx="173736" cy="914"/>
          </a:xfrm>
          <a:prstGeom prst="straightConnector1">
            <a:avLst/>
          </a:prstGeom>
          <a:ln w="19050" cap="sq">
            <a:solidFill>
              <a:srgbClr val="5D49A6"/>
            </a:solidFill>
            <a:tailEnd type="triangle"/>
          </a:ln>
        </p:spPr>
      </p:cxnSp>
      <p:sp>
        <p:nvSpPr>
          <p:cNvPr id="234" name="Shape 234"/>
          <p:cNvSpPr txBox="1"/>
          <p:nvPr/>
        </p:nvSpPr>
        <p:spPr>
          <a:xfrm>
            <a:off x="10277856" y="5321808"/>
            <a:ext cx="1380744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92D4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9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质量重评分</a:t>
            </a:r>
            <a:endParaRPr lang="zh-CN" sz="900"/>
          </a:p>
          <a:p>
            <a:pPr algn="ctr"/>
            <a:r>
              <a:rPr lang="zh-CN" sz="9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+</a:t>
            </a:r>
            <a:endParaRPr lang="zh-CN" sz="900"/>
          </a:p>
          <a:p>
            <a:pPr algn="ctr"/>
            <a:r>
              <a:rPr lang="zh-CN" sz="9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大模型候选排序（可选）</a:t>
            </a:r>
            <a:endParaRPr lang="zh-CN" sz="900"/>
          </a:p>
          <a:p>
            <a:pPr algn="ctr"/>
            <a:r>
              <a:rPr lang="zh-CN" sz="9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+</a:t>
            </a:r>
            <a:endParaRPr lang="zh-CN" sz="900"/>
          </a:p>
          <a:p>
            <a:pPr algn="ctr"/>
            <a:r>
              <a:rPr lang="zh-CN" sz="9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规则兜底排序</a:t>
            </a:r>
            <a:endParaRPr lang="zh-CN" sz="900"/>
          </a:p>
        </p:txBody>
      </p:sp>
      <p:cxnSp>
        <p:nvCxnSpPr>
          <p:cNvPr id="235" name="Connector 235"/>
          <p:cNvCxnSpPr/>
          <p:nvPr/>
        </p:nvCxnSpPr>
        <p:spPr>
          <a:xfrm>
            <a:off x="11658600" y="5824728"/>
            <a:ext cx="429768" cy="914"/>
          </a:xfrm>
          <a:prstGeom prst="straightConnector1">
            <a:avLst/>
          </a:prstGeom>
          <a:ln w="25400" cap="sq">
            <a:solidFill>
              <a:srgbClr val="5D49A6"/>
            </a:solidFill>
            <a:tailEnd type="triangle"/>
          </a:ln>
        </p:spPr>
      </p:cxnSp>
      <p:sp>
        <p:nvSpPr>
          <p:cNvPr id="236" name="Shape 236"/>
          <p:cNvSpPr txBox="1"/>
          <p:nvPr/>
        </p:nvSpPr>
        <p:spPr>
          <a:xfrm>
            <a:off x="12097512" y="5321808"/>
            <a:ext cx="950976" cy="1106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92D4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237" name="Shape 237"/>
          <p:cNvSpPr txBox="1"/>
          <p:nvPr/>
        </p:nvSpPr>
        <p:spPr>
          <a:xfrm>
            <a:off x="12289536" y="5458968"/>
            <a:ext cx="530352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cxnSp>
        <p:nvCxnSpPr>
          <p:cNvPr id="238" name="Connector 238"/>
          <p:cNvCxnSpPr/>
          <p:nvPr/>
        </p:nvCxnSpPr>
        <p:spPr>
          <a:xfrm>
            <a:off x="12466320" y="5458968"/>
            <a:ext cx="914" cy="356616"/>
          </a:xfrm>
          <a:prstGeom prst="straightConnector1">
            <a:avLst/>
          </a:prstGeom>
          <a:ln w="8890" cap="sq">
            <a:solidFill>
              <a:srgbClr val="4B5563"/>
            </a:solidFill>
          </a:ln>
        </p:spPr>
      </p:cxnSp>
      <p:cxnSp>
        <p:nvCxnSpPr>
          <p:cNvPr id="239" name="Connector 239"/>
          <p:cNvCxnSpPr/>
          <p:nvPr/>
        </p:nvCxnSpPr>
        <p:spPr>
          <a:xfrm>
            <a:off x="12643104" y="5458968"/>
            <a:ext cx="914" cy="356616"/>
          </a:xfrm>
          <a:prstGeom prst="straightConnector1">
            <a:avLst/>
          </a:prstGeom>
          <a:ln w="8890" cap="sq">
            <a:solidFill>
              <a:srgbClr val="4B5563"/>
            </a:solidFill>
          </a:ln>
        </p:spPr>
      </p:cxnSp>
      <p:cxnSp>
        <p:nvCxnSpPr>
          <p:cNvPr id="240" name="Connector 240"/>
          <p:cNvCxnSpPr/>
          <p:nvPr/>
        </p:nvCxnSpPr>
        <p:spPr>
          <a:xfrm>
            <a:off x="12289536" y="5577840"/>
            <a:ext cx="530352" cy="914"/>
          </a:xfrm>
          <a:prstGeom prst="straightConnector1">
            <a:avLst/>
          </a:prstGeom>
          <a:ln w="8890" cap="sq">
            <a:solidFill>
              <a:srgbClr val="4B5563"/>
            </a:solidFill>
          </a:ln>
        </p:spPr>
      </p:cxnSp>
      <p:cxnSp>
        <p:nvCxnSpPr>
          <p:cNvPr id="241" name="Connector 241"/>
          <p:cNvCxnSpPr/>
          <p:nvPr/>
        </p:nvCxnSpPr>
        <p:spPr>
          <a:xfrm>
            <a:off x="12289536" y="5696712"/>
            <a:ext cx="530352" cy="914"/>
          </a:xfrm>
          <a:prstGeom prst="straightConnector1">
            <a:avLst/>
          </a:prstGeom>
          <a:ln w="8890" cap="sq">
            <a:solidFill>
              <a:srgbClr val="4B5563"/>
            </a:solidFill>
          </a:ln>
        </p:spPr>
      </p:cxnSp>
      <p:sp>
        <p:nvSpPr>
          <p:cNvPr id="242" name="Shape 242"/>
          <p:cNvSpPr txBox="1"/>
          <p:nvPr/>
        </p:nvSpPr>
        <p:spPr>
          <a:xfrm>
            <a:off x="12691872" y="5907024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endParaRPr lang="zh-CN" sz="1000"/>
          </a:p>
        </p:txBody>
      </p:sp>
      <p:sp>
        <p:nvSpPr>
          <p:cNvPr id="243" name="Shape 243"/>
          <p:cNvSpPr txBox="1"/>
          <p:nvPr/>
        </p:nvSpPr>
        <p:spPr>
          <a:xfrm>
            <a:off x="12737592" y="5925312"/>
            <a:ext cx="118872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12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sz="1200"/>
          </a:p>
        </p:txBody>
      </p:sp>
      <p:sp>
        <p:nvSpPr>
          <p:cNvPr id="244" name="Shape 244"/>
          <p:cNvSpPr txBox="1"/>
          <p:nvPr/>
        </p:nvSpPr>
        <p:spPr>
          <a:xfrm>
            <a:off x="12234672" y="5961888"/>
            <a:ext cx="694944" cy="448056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lang="zh-CN" sz="87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合法、对齐、</a:t>
            </a:r>
            <a:endParaRPr lang="zh-CN" sz="870"/>
          </a:p>
          <a:p>
            <a:pPr algn="ctr"/>
            <a:r>
              <a:rPr lang="zh-CN" sz="87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可解析的</a:t>
            </a:r>
            <a:endParaRPr lang="zh-CN" sz="870"/>
          </a:p>
          <a:p>
            <a:pPr algn="ctr"/>
            <a:r>
              <a:rPr lang="zh-CN" sz="87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表格结果</a:t>
            </a:r>
            <a:endParaRPr lang="zh-CN" sz="870"/>
          </a:p>
        </p:txBody>
      </p:sp>
      <p:cxnSp>
        <p:nvCxnSpPr>
          <p:cNvPr id="245" name="Connector 245"/>
          <p:cNvCxnSpPr/>
          <p:nvPr/>
        </p:nvCxnSpPr>
        <p:spPr>
          <a:xfrm flipH="1">
            <a:off x="7973568" y="5641848"/>
            <a:ext cx="219456" cy="914"/>
          </a:xfrm>
          <a:prstGeom prst="straightConnector1">
            <a:avLst/>
          </a:prstGeom>
          <a:ln w="25400" cap="sq">
            <a:solidFill>
              <a:srgbClr val="1E64B7"/>
            </a:solidFill>
          </a:ln>
        </p:spPr>
      </p:cxnSp>
      <p:cxnSp>
        <p:nvCxnSpPr>
          <p:cNvPr id="246" name="Connector 246"/>
          <p:cNvCxnSpPr/>
          <p:nvPr/>
        </p:nvCxnSpPr>
        <p:spPr>
          <a:xfrm flipV="1">
            <a:off x="7973568" y="4965192"/>
            <a:ext cx="914" cy="676656"/>
          </a:xfrm>
          <a:prstGeom prst="straightConnector1">
            <a:avLst/>
          </a:prstGeom>
          <a:ln w="25400" cap="sq">
            <a:solidFill>
              <a:srgbClr val="1E64B7"/>
            </a:solidFill>
          </a:ln>
        </p:spPr>
      </p:cxnSp>
      <p:cxnSp>
        <p:nvCxnSpPr>
          <p:cNvPr id="247" name="Connector 247"/>
          <p:cNvCxnSpPr/>
          <p:nvPr/>
        </p:nvCxnSpPr>
        <p:spPr>
          <a:xfrm flipH="1">
            <a:off x="7653528" y="4965192"/>
            <a:ext cx="320040" cy="914"/>
          </a:xfrm>
          <a:prstGeom prst="straightConnector1">
            <a:avLst/>
          </a:prstGeom>
          <a:ln w="25400" cap="sq">
            <a:solidFill>
              <a:srgbClr val="1E64B7"/>
            </a:solidFill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EditableQualityRepair">
  <a:themeElements>
    <a:clrScheme name="Custom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1E64B7"/>
      </a:accent1>
      <a:accent2>
        <a:srgbClr val="2F7D46"/>
      </a:accent2>
      <a:accent3>
        <a:srgbClr val="168C9F"/>
      </a:accent3>
      <a:accent4>
        <a:srgbClr val="5D49A6"/>
      </a:accent4>
      <a:accent5>
        <a:srgbClr val="76A7E4"/>
      </a:accent5>
      <a:accent6>
        <a:srgbClr val="A892D4"/>
      </a:accent6>
      <a:hlink>
        <a:srgbClr val="0563C1"/>
      </a:hlink>
      <a:folHlink>
        <a:srgbClr val="954F72"/>
      </a:folHlink>
    </a:clrScheme>
    <a:fontScheme name="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</Words>
  <Application>WPS 演示</Application>
  <PresentationFormat>Custom</PresentationFormat>
  <Paragraphs>182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汉仪旗黑</vt:lpstr>
      <vt:lpstr>宋体-简</vt:lpstr>
      <vt:lpstr>Arial Unicode MS</vt:lpstr>
      <vt:lpstr>Apple Color Emoji</vt:lpstr>
      <vt:lpstr>微软雅黑</vt:lpstr>
      <vt:lpstr>Calibri</vt:lpstr>
      <vt:lpstr>Helvetica Neue</vt:lpstr>
      <vt:lpstr>宋体</vt:lpstr>
      <vt:lpstr>微软雅黑</vt:lpstr>
      <vt:lpstr>EditableQualityRepair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识别结果质量评估与修复流程可编辑复刻</dc:title>
  <dc:creator>Codex</dc:creator>
  <cp:lastModifiedBy>灿烂</cp:lastModifiedBy>
  <cp:revision>1</cp:revision>
  <dcterms:created xsi:type="dcterms:W3CDTF">2026-06-23T03:19:24Z</dcterms:created>
  <dcterms:modified xsi:type="dcterms:W3CDTF">2026-06-23T03:19:24Z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835CFBF8CEC623503CFB396A5A38357B_42</vt:lpwstr>
  </property>
</Properties>
</file>