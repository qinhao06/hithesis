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98" r:id="rId2"/>
    <p:sldId id="296" r:id="rId3"/>
    <p:sldId id="297" r:id="rId4"/>
    <p:sldId id="390" r:id="rId5"/>
    <p:sldId id="389" r:id="rId6"/>
    <p:sldId id="405" r:id="rId7"/>
    <p:sldId id="388" r:id="rId8"/>
    <p:sldId id="398" r:id="rId9"/>
    <p:sldId id="400" r:id="rId10"/>
    <p:sldId id="402" r:id="rId11"/>
    <p:sldId id="387" r:id="rId12"/>
    <p:sldId id="404" r:id="rId13"/>
    <p:sldId id="328" r:id="rId14"/>
  </p:sldIdLst>
  <p:sldSz cx="12192000" cy="6858000"/>
  <p:notesSz cx="6858000" cy="9144000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6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0151D9"/>
    <a:srgbClr val="FF0000"/>
    <a:srgbClr val="E46C0A"/>
    <a:srgbClr val="F79646"/>
    <a:srgbClr val="2359A8"/>
    <a:srgbClr val="E7E8EA"/>
    <a:srgbClr val="CCCCCC"/>
    <a:srgbClr val="33CC33"/>
    <a:srgbClr val="8082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81293" autoAdjust="0"/>
  </p:normalViewPr>
  <p:slideViewPr>
    <p:cSldViewPr showGuides="1">
      <p:cViewPr varScale="1">
        <p:scale>
          <a:sx n="103" d="100"/>
          <a:sy n="103" d="100"/>
        </p:scale>
        <p:origin x="1464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45" d="100"/>
          <a:sy n="45" d="100"/>
        </p:scale>
        <p:origin x="2760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0BA4300-27D4-4D8E-A669-2639E34342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D1D721-75B1-46EC-94FD-F4A5194F712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CAFED6-BBFF-47F8-BA67-8C89EF98F2F9}" type="datetimeFigureOut">
              <a:rPr lang="en-MY" smtClean="0"/>
              <a:pPr/>
              <a:t>09/09/2025</a:t>
            </a:fld>
            <a:endParaRPr lang="en-MY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145538-0CB1-41AE-B1FD-AC0B7658D09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489E9D-81CB-45B3-90AA-26D540B6277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CEAD88-E094-40E6-89E6-169A6FA4014E}" type="slidenum">
              <a:rPr lang="en-MY" smtClean="0"/>
              <a:pPr/>
              <a:t>‹#›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7758447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33130F-E62B-4865-9403-AFA4411E240C}" type="datetimeFigureOut">
              <a:rPr lang="en-MY" smtClean="0"/>
              <a:pPr/>
              <a:t>09/09/2025</a:t>
            </a:fld>
            <a:endParaRPr lang="en-MY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79D891-9604-4945-B734-849E67A857E2}" type="slidenum">
              <a:rPr lang="en-MY" smtClean="0"/>
              <a:pPr/>
              <a:t>‹#›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529452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各位老师大家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下午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好，我的开题答辩题目是“</a:t>
            </a:r>
            <a:r>
              <a:rPr lang="zh-CN" altLang="en-US" dirty="0"/>
              <a:t>结合大模型的表格识别方法与系统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 ，我的导师是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卢光明老师</a:t>
            </a: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  <a:pPr/>
              <a:t>1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0336843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下面，我将从以下四个方面具体展开介绍。</a:t>
            </a: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  <a:pPr/>
              <a:t>2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1677948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首先是研究的目的及意义</a:t>
            </a:r>
          </a:p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  <a:pPr/>
              <a:t>3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8324579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  <a:pPr/>
              <a:t>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164191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  <a:pPr/>
              <a:t>5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0714561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MY" dirty="0" err="1"/>
              <a:t>其中表格检测主要是基于目标检查</a:t>
            </a:r>
            <a:r>
              <a:rPr lang="zh-CN" altLang="en-US" dirty="0"/>
              <a:t>，如</a:t>
            </a:r>
            <a:r>
              <a:rPr lang="en-US" altLang="zh-CN" dirty="0"/>
              <a:t> YOLO </a:t>
            </a:r>
            <a:r>
              <a:rPr lang="zh-CN" altLang="en-US" dirty="0"/>
              <a:t>模型</a:t>
            </a:r>
            <a:r>
              <a:rPr lang="en-MY" dirty="0" err="1"/>
              <a:t>和基于语义分割</a:t>
            </a:r>
            <a:r>
              <a:rPr lang="zh-CN" altLang="en-US" dirty="0"/>
              <a:t>，表格识别则是全部都有，当前效果比较好的是基于图像到序列的模型。主要也是利用</a:t>
            </a:r>
            <a:r>
              <a:rPr lang="en-US" altLang="zh-CN" dirty="0"/>
              <a:t> </a:t>
            </a:r>
            <a:r>
              <a:rPr lang="en-US" altLang="zh-CN" dirty="0" err="1"/>
              <a:t>tramsformer</a:t>
            </a:r>
            <a:r>
              <a:rPr lang="en-US" altLang="zh-CN" dirty="0"/>
              <a:t> </a:t>
            </a:r>
            <a:r>
              <a:rPr lang="zh-CN" altLang="en-US" dirty="0"/>
              <a:t>的强大能力来更好的识别表格结构，比如论文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Huang Y, Lu N, Chen D, et al. Improving table structure recognition with visual-alignment sequential coordinate modeling[C]//Proceedings of the IEEE/CVF Conference on Computer Vision and Pattern Recognition. 2023: 11134-11143.</a:t>
            </a:r>
            <a:r>
              <a:rPr lang="zh-CN" altLang="en-US" dirty="0"/>
              <a:t>，比较经典的论文有，内容识别当前主要是基于图像到序列，也就是端到端，比较有名的是</a:t>
            </a:r>
            <a:r>
              <a:rPr lang="en-US" altLang="zh-CN" dirty="0"/>
              <a:t> </a:t>
            </a:r>
            <a:r>
              <a:rPr lang="en-US" altLang="zh-CN" dirty="0" err="1"/>
              <a:t>TrOCR</a:t>
            </a:r>
            <a:r>
              <a:rPr lang="en-US" altLang="zh-CN" dirty="0"/>
              <a:t> </a:t>
            </a:r>
            <a:r>
              <a:rPr lang="zh-CN" altLang="en-US" dirty="0"/>
              <a:t>， </a:t>
            </a:r>
            <a:b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YOLO-OCR</a:t>
            </a:r>
          </a:p>
          <a:p>
            <a:r>
              <a:rPr lang="en-MY" dirty="0" err="1"/>
              <a:t>等等</a:t>
            </a: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  <a:pPr/>
              <a:t>6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451146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那么基于以上研究目的和发展现状，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下面将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介绍本课题的主要研究内容。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  <a:pPr/>
              <a:t>7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4166647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  <a:pPr/>
              <a:t>8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822309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  <a:pPr/>
              <a:t>9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825342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  <a:pPr/>
              <a:t>10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847245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最后介绍一下课题的研究进度安排。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  <a:pPr/>
              <a:t>11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452964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  <a:pPr/>
              <a:t>12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951973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我的汇报到此结束，敬请各位评委老师批评指正。</a:t>
            </a:r>
          </a:p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  <a:pPr/>
              <a:t>13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55569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0677836-BAC0-48C7-BF02-DE5D4852F6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407"/>
          <a:stretch>
            <a:fillRect/>
          </a:stretch>
        </p:blipFill>
        <p:spPr>
          <a:xfrm>
            <a:off x="0" y="-1"/>
            <a:ext cx="12204000" cy="6872933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12" name="矩形 11"/>
          <p:cNvSpPr/>
          <p:nvPr userDrawn="1"/>
        </p:nvSpPr>
        <p:spPr>
          <a:xfrm>
            <a:off x="-332" y="0"/>
            <a:ext cx="12240000" cy="685800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0AA24A-9C8D-4325-8A80-ACD80CDD4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24100" y="2500306"/>
            <a:ext cx="7239000" cy="1330325"/>
          </a:xfrm>
        </p:spPr>
        <p:txBody>
          <a:bodyPr lIns="0" tIns="0" rIns="0" bIns="0" anchor="b">
            <a:normAutofit/>
          </a:bodyPr>
          <a:lstStyle>
            <a:lvl1pPr algn="ctr">
              <a:defRPr sz="4800" b="1"/>
            </a:lvl1pPr>
          </a:lstStyle>
          <a:p>
            <a:r>
              <a:rPr lang="en-US" dirty="0"/>
              <a:t>CLICK TO EDIT YOUR TITLE STYLE</a:t>
            </a:r>
            <a:endParaRPr lang="en-MY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1B6B682-FD61-45D2-A5AC-F8AB378C676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71872" y="5000636"/>
            <a:ext cx="5867400" cy="425450"/>
          </a:xfrm>
        </p:spPr>
        <p:txBody>
          <a:bodyPr lIns="0" tIns="0" rIns="0" bIns="0"/>
          <a:lstStyle>
            <a:lvl1pPr marL="0" indent="0" algn="ctr">
              <a:buNone/>
              <a:defRPr sz="2400" b="1" baseline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Reporter:  XXXX    Time: XXXXX</a:t>
            </a:r>
            <a:endParaRPr lang="en-MY" dirty="0"/>
          </a:p>
        </p:txBody>
      </p:sp>
      <p:pic>
        <p:nvPicPr>
          <p:cNvPr id="7" name="图片 6" descr="logo[1].png"/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lum bright="-40000"/>
          </a:blip>
          <a:stretch>
            <a:fillRect/>
          </a:stretch>
        </p:blipFill>
        <p:spPr>
          <a:xfrm>
            <a:off x="380961" y="285728"/>
            <a:ext cx="4476789" cy="821767"/>
          </a:xfrm>
          <a:prstGeom prst="rect">
            <a:avLst/>
          </a:prstGeom>
        </p:spPr>
      </p:pic>
      <p:pic>
        <p:nvPicPr>
          <p:cNvPr id="11" name="图片 10" descr="透明版.pn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808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94DC78-B989-4991-BDC2-A6923FDF4CE6}"/>
              </a:ext>
            </a:extLst>
          </p:cNvPr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E8EA0F-E410-4F89-BFD7-8227D6527128}"/>
              </a:ext>
            </a:extLst>
          </p:cNvPr>
          <p:cNvSpPr/>
          <p:nvPr userDrawn="1"/>
        </p:nvSpPr>
        <p:spPr>
          <a:xfrm>
            <a:off x="11582400" y="0"/>
            <a:ext cx="612648" cy="61264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32FCAB-BC56-46CA-9B4D-0555C3A40B94}"/>
              </a:ext>
            </a:extLst>
          </p:cNvPr>
          <p:cNvSpPr txBox="1"/>
          <p:nvPr userDrawn="1"/>
        </p:nvSpPr>
        <p:spPr>
          <a:xfrm>
            <a:off x="4267200" y="480536"/>
            <a:ext cx="2975173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CONTENT</a:t>
            </a:r>
            <a:endParaRPr lang="en-MY" sz="4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24F155FA-A8F0-4E08-AA7B-5EE7A782BE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352800" cy="6858000"/>
          </a:xfrm>
        </p:spPr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81775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oup of people in a room&#10;&#10;Description automatically generated">
            <a:extLst>
              <a:ext uri="{FF2B5EF4-FFF2-40B4-BE49-F238E27FC236}">
                <a16:creationId xmlns:a16="http://schemas.microsoft.com/office/drawing/2014/main" id="{8FF1EAA3-C558-4B49-830F-3CC61602CE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55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-47668" y="0"/>
            <a:ext cx="12192000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CEE853-7997-4FBF-9B58-0EFD5A3135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0" y="2676173"/>
            <a:ext cx="5791200" cy="1477328"/>
          </a:xfrm>
        </p:spPr>
        <p:txBody>
          <a:bodyPr/>
          <a:lstStyle>
            <a:lvl1pPr algn="ctr">
              <a:defRPr sz="4800" b="1"/>
            </a:lvl1pPr>
          </a:lstStyle>
          <a:p>
            <a:r>
              <a:rPr lang="en-US" dirty="0"/>
              <a:t>Click to edit</a:t>
            </a:r>
            <a:endParaRPr lang="en-MY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0E988A-394C-49A0-90CA-2B739DB09A3C}"/>
              </a:ext>
            </a:extLst>
          </p:cNvPr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92F45D-30CC-4BA4-8542-5189A1E14396}"/>
              </a:ext>
            </a:extLst>
          </p:cNvPr>
          <p:cNvSpPr/>
          <p:nvPr userDrawn="1"/>
        </p:nvSpPr>
        <p:spPr>
          <a:xfrm>
            <a:off x="11582401" y="0"/>
            <a:ext cx="609600" cy="61264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9676C96-BA42-476E-B4DD-A274D36D4744}"/>
              </a:ext>
            </a:extLst>
          </p:cNvPr>
          <p:cNvGrpSpPr/>
          <p:nvPr userDrawn="1"/>
        </p:nvGrpSpPr>
        <p:grpSpPr>
          <a:xfrm>
            <a:off x="4541217" y="1516136"/>
            <a:ext cx="3109566" cy="911046"/>
            <a:chOff x="4541217" y="1177231"/>
            <a:chExt cx="3109566" cy="91104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886AF44-A10C-40A0-9BB9-C8505FD20BE2}"/>
                </a:ext>
              </a:extLst>
            </p:cNvPr>
            <p:cNvSpPr/>
            <p:nvPr/>
          </p:nvSpPr>
          <p:spPr>
            <a:xfrm>
              <a:off x="4541217" y="1177231"/>
              <a:ext cx="3109566" cy="651569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28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9DF502EA-8BD2-4F9A-BF57-3665C9621128}"/>
                </a:ext>
              </a:extLst>
            </p:cNvPr>
            <p:cNvSpPr/>
            <p:nvPr/>
          </p:nvSpPr>
          <p:spPr>
            <a:xfrm rot="18900000">
              <a:off x="5913103" y="1717294"/>
              <a:ext cx="365794" cy="370983"/>
            </a:xfrm>
            <a:prstGeom prst="rtTriangle">
              <a:avLst/>
            </a:prstGeom>
            <a:solidFill>
              <a:schemeClr val="accent6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</p:spTree>
    <p:extLst>
      <p:ext uri="{BB962C8B-B14F-4D97-AF65-F5344CB8AC3E}">
        <p14:creationId xmlns:p14="http://schemas.microsoft.com/office/powerpoint/2010/main" val="142033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ter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oup of people in a room&#10;&#10;Description automatically generated">
            <a:extLst>
              <a:ext uri="{FF2B5EF4-FFF2-40B4-BE49-F238E27FC236}">
                <a16:creationId xmlns:a16="http://schemas.microsoft.com/office/drawing/2014/main" id="{8FF1EAA3-C558-4B49-830F-3CC61602CE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-47668" y="0"/>
            <a:ext cx="12192000" cy="685800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CEE853-7997-4FBF-9B58-0EFD5A3135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0" y="2676173"/>
            <a:ext cx="5791200" cy="1477328"/>
          </a:xfrm>
        </p:spPr>
        <p:txBody>
          <a:bodyPr/>
          <a:lstStyle>
            <a:lvl1pPr algn="ctr">
              <a:defRPr sz="4800" b="1"/>
            </a:lvl1pPr>
          </a:lstStyle>
          <a:p>
            <a:r>
              <a:rPr lang="en-US" dirty="0"/>
              <a:t>Click to edit</a:t>
            </a:r>
            <a:endParaRPr lang="en-MY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0E988A-394C-49A0-90CA-2B739DB09A3C}"/>
              </a:ext>
            </a:extLst>
          </p:cNvPr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92F45D-30CC-4BA4-8542-5189A1E14396}"/>
              </a:ext>
            </a:extLst>
          </p:cNvPr>
          <p:cNvSpPr/>
          <p:nvPr userDrawn="1"/>
        </p:nvSpPr>
        <p:spPr>
          <a:xfrm>
            <a:off x="11582401" y="0"/>
            <a:ext cx="609600" cy="61264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09676C96-BA42-476E-B4DD-A274D36D4744}"/>
              </a:ext>
            </a:extLst>
          </p:cNvPr>
          <p:cNvGrpSpPr/>
          <p:nvPr userDrawn="1"/>
        </p:nvGrpSpPr>
        <p:grpSpPr>
          <a:xfrm>
            <a:off x="4541217" y="1516136"/>
            <a:ext cx="3109566" cy="911046"/>
            <a:chOff x="4541217" y="1177231"/>
            <a:chExt cx="3109566" cy="91104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886AF44-A10C-40A0-9BB9-C8505FD20BE2}"/>
                </a:ext>
              </a:extLst>
            </p:cNvPr>
            <p:cNvSpPr/>
            <p:nvPr/>
          </p:nvSpPr>
          <p:spPr>
            <a:xfrm>
              <a:off x="4541217" y="1177231"/>
              <a:ext cx="3109566" cy="651569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28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9DF502EA-8BD2-4F9A-BF57-3665C9621128}"/>
                </a:ext>
              </a:extLst>
            </p:cNvPr>
            <p:cNvSpPr/>
            <p:nvPr/>
          </p:nvSpPr>
          <p:spPr>
            <a:xfrm rot="18900000">
              <a:off x="5913103" y="1717294"/>
              <a:ext cx="365794" cy="370983"/>
            </a:xfrm>
            <a:prstGeom prst="rtTriangle">
              <a:avLst/>
            </a:prstGeom>
            <a:solidFill>
              <a:schemeClr val="accent6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</p:spTree>
    <p:extLst>
      <p:ext uri="{BB962C8B-B14F-4D97-AF65-F5344CB8AC3E}">
        <p14:creationId xmlns:p14="http://schemas.microsoft.com/office/powerpoint/2010/main" val="142033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23C664F-6A4B-4291-9CD2-C0C3E89DE648}"/>
              </a:ext>
            </a:extLst>
          </p:cNvPr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8605894-FB6D-47C2-AF61-F6638F5B8433}"/>
                </a:ext>
              </a:extLst>
            </p:cNvPr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8ADF6D-4276-420F-BEF2-46CF09618FD5}"/>
                </a:ext>
              </a:extLst>
            </p:cNvPr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8E622AE8-B49A-4B14-AF49-48361BACF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FD2783-108A-48CE-AFD4-1D1CE40126FF}"/>
              </a:ext>
            </a:extLst>
          </p:cNvPr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1B49C-5379-46E9-A864-94BA596AA60A}"/>
              </a:ext>
            </a:extLst>
          </p:cNvPr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8CB26C1-2E40-40EB-9F25-283903ABA0A6}"/>
              </a:ext>
            </a:extLst>
          </p:cNvPr>
          <p:cNvGrpSpPr/>
          <p:nvPr/>
        </p:nvGrpSpPr>
        <p:grpSpPr>
          <a:xfrm>
            <a:off x="609600" y="4419369"/>
            <a:ext cx="2971800" cy="776529"/>
            <a:chOff x="380999" y="4419913"/>
            <a:chExt cx="2971800" cy="776529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B29DB00A-A46B-4C2F-9C24-C61C35C92000}"/>
                </a:ext>
              </a:extLst>
            </p:cNvPr>
            <p:cNvSpPr/>
            <p:nvPr/>
          </p:nvSpPr>
          <p:spPr>
            <a:xfrm rot="18900000">
              <a:off x="1671374" y="4805390"/>
              <a:ext cx="391052" cy="391052"/>
            </a:xfrm>
            <a:prstGeom prst="rtTriangle">
              <a:avLst/>
            </a:prstGeom>
            <a:solidFill>
              <a:schemeClr val="accent6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EB66571-F9B1-4A6B-9493-08FF5E781C08}"/>
                </a:ext>
              </a:extLst>
            </p:cNvPr>
            <p:cNvSpPr/>
            <p:nvPr/>
          </p:nvSpPr>
          <p:spPr>
            <a:xfrm>
              <a:off x="380999" y="4419913"/>
              <a:ext cx="2971800" cy="55303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sz="2400" b="1" dirty="0">
                <a:latin typeface="+mj-lt"/>
              </a:endParaRPr>
            </a:p>
          </p:txBody>
        </p:sp>
      </p:grp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047FD69-C606-4179-AA40-58755EAC405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1309547"/>
            <a:ext cx="2971800" cy="2971800"/>
          </a:xfrm>
        </p:spPr>
        <p:txBody>
          <a:bodyPr/>
          <a:lstStyle/>
          <a:p>
            <a:endParaRPr lang="en-MY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52E226A-FBF7-4CA8-9359-8611FFAC0CF7}"/>
              </a:ext>
            </a:extLst>
          </p:cNvPr>
          <p:cNvGrpSpPr/>
          <p:nvPr userDrawn="1"/>
        </p:nvGrpSpPr>
        <p:grpSpPr>
          <a:xfrm>
            <a:off x="8610602" y="4419369"/>
            <a:ext cx="2971800" cy="776529"/>
            <a:chOff x="380999" y="4419913"/>
            <a:chExt cx="2971800" cy="776529"/>
          </a:xfrm>
        </p:grpSpPr>
        <p:sp>
          <p:nvSpPr>
            <p:cNvPr id="26" name="Right Triangle 25">
              <a:extLst>
                <a:ext uri="{FF2B5EF4-FFF2-40B4-BE49-F238E27FC236}">
                  <a16:creationId xmlns:a16="http://schemas.microsoft.com/office/drawing/2014/main" id="{4D4852D9-1484-4313-A98C-598735F2A253}"/>
                </a:ext>
              </a:extLst>
            </p:cNvPr>
            <p:cNvSpPr/>
            <p:nvPr/>
          </p:nvSpPr>
          <p:spPr>
            <a:xfrm rot="18900000">
              <a:off x="1671374" y="4805390"/>
              <a:ext cx="391052" cy="391052"/>
            </a:xfrm>
            <a:prstGeom prst="rtTriangle">
              <a:avLst/>
            </a:prstGeom>
            <a:solidFill>
              <a:schemeClr val="accent6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CC4566F-B0F3-45E4-8BEB-F190B97E220A}"/>
                </a:ext>
              </a:extLst>
            </p:cNvPr>
            <p:cNvSpPr/>
            <p:nvPr/>
          </p:nvSpPr>
          <p:spPr>
            <a:xfrm>
              <a:off x="380999" y="4419913"/>
              <a:ext cx="2971800" cy="55303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sz="2400" b="1" dirty="0">
                <a:latin typeface="+mj-lt"/>
              </a:endParaRPr>
            </a:p>
          </p:txBody>
        </p:sp>
      </p:grpSp>
      <p:sp>
        <p:nvSpPr>
          <p:cNvPr id="29" name="Picture Placeholder 5">
            <a:extLst>
              <a:ext uri="{FF2B5EF4-FFF2-40B4-BE49-F238E27FC236}">
                <a16:creationId xmlns:a16="http://schemas.microsoft.com/office/drawing/2014/main" id="{38246BCC-9BBA-4A29-9375-767D9DCF19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610602" y="1309547"/>
            <a:ext cx="2971800" cy="2971800"/>
          </a:xfrm>
        </p:spPr>
        <p:txBody>
          <a:bodyPr/>
          <a:lstStyle/>
          <a:p>
            <a:endParaRPr lang="en-MY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D46E82A-F1DB-4B20-A9CF-326C550EBBAC}"/>
              </a:ext>
            </a:extLst>
          </p:cNvPr>
          <p:cNvGrpSpPr/>
          <p:nvPr userDrawn="1"/>
        </p:nvGrpSpPr>
        <p:grpSpPr>
          <a:xfrm>
            <a:off x="4604784" y="4421496"/>
            <a:ext cx="2971800" cy="776529"/>
            <a:chOff x="380999" y="4419913"/>
            <a:chExt cx="2971800" cy="776529"/>
          </a:xfrm>
        </p:grpSpPr>
        <p:sp>
          <p:nvSpPr>
            <p:cNvPr id="31" name="Right Triangle 30">
              <a:extLst>
                <a:ext uri="{FF2B5EF4-FFF2-40B4-BE49-F238E27FC236}">
                  <a16:creationId xmlns:a16="http://schemas.microsoft.com/office/drawing/2014/main" id="{DD624CA4-737E-449F-908E-11137D882781}"/>
                </a:ext>
              </a:extLst>
            </p:cNvPr>
            <p:cNvSpPr/>
            <p:nvPr/>
          </p:nvSpPr>
          <p:spPr>
            <a:xfrm rot="18900000">
              <a:off x="1671374" y="4805390"/>
              <a:ext cx="391052" cy="391052"/>
            </a:xfrm>
            <a:prstGeom prst="rtTriangle">
              <a:avLst/>
            </a:prstGeom>
            <a:solidFill>
              <a:schemeClr val="accent6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13DB6D7-1FA3-4A50-8F24-8E359AAAB85B}"/>
                </a:ext>
              </a:extLst>
            </p:cNvPr>
            <p:cNvSpPr/>
            <p:nvPr/>
          </p:nvSpPr>
          <p:spPr>
            <a:xfrm>
              <a:off x="380999" y="4419913"/>
              <a:ext cx="2971800" cy="55303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sz="2400" b="1" dirty="0">
                <a:latin typeface="+mj-lt"/>
              </a:endParaRPr>
            </a:p>
          </p:txBody>
        </p:sp>
      </p:grpSp>
      <p:sp>
        <p:nvSpPr>
          <p:cNvPr id="34" name="Picture Placeholder 5">
            <a:extLst>
              <a:ext uri="{FF2B5EF4-FFF2-40B4-BE49-F238E27FC236}">
                <a16:creationId xmlns:a16="http://schemas.microsoft.com/office/drawing/2014/main" id="{2A5D767E-5650-4980-B7DB-3CE0A051653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604784" y="1311674"/>
            <a:ext cx="2971800" cy="2971800"/>
          </a:xfrm>
        </p:spPr>
        <p:txBody>
          <a:bodyPr/>
          <a:lstStyle/>
          <a:p>
            <a:endParaRPr lang="en-MY"/>
          </a:p>
        </p:txBody>
      </p:sp>
      <p:pic>
        <p:nvPicPr>
          <p:cNvPr id="22" name="图片 21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23" name="图片 22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175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co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4D1723E9-D8BD-4750-BCEE-3B2A1602DEF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66360" y="1309941"/>
            <a:ext cx="1691640" cy="1691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MY" dirty="0"/>
            </a:lvl1pPr>
          </a:lstStyle>
          <a:p>
            <a:pPr lvl="0"/>
            <a:endParaRPr lang="en-MY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23C664F-6A4B-4291-9CD2-C0C3E89DE648}"/>
              </a:ext>
            </a:extLst>
          </p:cNvPr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8605894-FB6D-47C2-AF61-F6638F5B8433}"/>
                </a:ext>
              </a:extLst>
            </p:cNvPr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8ADF6D-4276-420F-BEF2-46CF09618FD5}"/>
                </a:ext>
              </a:extLst>
            </p:cNvPr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8E622AE8-B49A-4B14-AF49-48361BACF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FD2783-108A-48CE-AFD4-1D1CE40126FF}"/>
              </a:ext>
            </a:extLst>
          </p:cNvPr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1B49C-5379-46E9-A864-94BA596AA60A}"/>
              </a:ext>
            </a:extLst>
          </p:cNvPr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825449-75E4-4AA9-BCFD-F35B1D21BDE0}"/>
              </a:ext>
            </a:extLst>
          </p:cNvPr>
          <p:cNvSpPr/>
          <p:nvPr/>
        </p:nvSpPr>
        <p:spPr>
          <a:xfrm>
            <a:off x="623316" y="5162279"/>
            <a:ext cx="3858768" cy="8688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8BEB906-5DC0-4120-8A22-79EA378813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623" y="1306913"/>
            <a:ext cx="3860154" cy="3855366"/>
          </a:xfrm>
        </p:spPr>
        <p:txBody>
          <a:bodyPr/>
          <a:lstStyle/>
          <a:p>
            <a:endParaRPr lang="en-MY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7146465-3F4C-4801-BB09-5039DF9C97E3}"/>
              </a:ext>
            </a:extLst>
          </p:cNvPr>
          <p:cNvSpPr/>
          <p:nvPr userDrawn="1"/>
        </p:nvSpPr>
        <p:spPr>
          <a:xfrm>
            <a:off x="5166360" y="2990356"/>
            <a:ext cx="1691640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59" name="Picture Placeholder 4">
            <a:extLst>
              <a:ext uri="{FF2B5EF4-FFF2-40B4-BE49-F238E27FC236}">
                <a16:creationId xmlns:a16="http://schemas.microsoft.com/office/drawing/2014/main" id="{A7D91AD9-B6BD-46C1-B734-058AA902499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66360" y="3802091"/>
            <a:ext cx="1691640" cy="1691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MY" dirty="0"/>
            </a:lvl1pPr>
          </a:lstStyle>
          <a:p>
            <a:pPr lvl="0"/>
            <a:endParaRPr lang="en-MY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C2054F8-07D0-4BDB-B8A0-1FDC4AF64367}"/>
              </a:ext>
            </a:extLst>
          </p:cNvPr>
          <p:cNvSpPr/>
          <p:nvPr userDrawn="1"/>
        </p:nvSpPr>
        <p:spPr>
          <a:xfrm>
            <a:off x="5166360" y="5482506"/>
            <a:ext cx="1691640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17DC6F58-6924-453B-A899-5B565115D0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890760" y="1309941"/>
            <a:ext cx="1691640" cy="1691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MY" dirty="0"/>
            </a:lvl1pPr>
          </a:lstStyle>
          <a:p>
            <a:pPr lvl="0"/>
            <a:endParaRPr lang="en-MY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A38380F-FA90-4C43-9777-66022515C123}"/>
              </a:ext>
            </a:extLst>
          </p:cNvPr>
          <p:cNvSpPr/>
          <p:nvPr userDrawn="1"/>
        </p:nvSpPr>
        <p:spPr>
          <a:xfrm>
            <a:off x="9890760" y="2990356"/>
            <a:ext cx="1691640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63" name="Picture Placeholder 4">
            <a:extLst>
              <a:ext uri="{FF2B5EF4-FFF2-40B4-BE49-F238E27FC236}">
                <a16:creationId xmlns:a16="http://schemas.microsoft.com/office/drawing/2014/main" id="{D6760DC5-8AA5-4622-8A38-1A02F47D8F8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890760" y="3802091"/>
            <a:ext cx="1691640" cy="1691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MY" dirty="0"/>
            </a:lvl1pPr>
          </a:lstStyle>
          <a:p>
            <a:pPr lvl="0"/>
            <a:endParaRPr lang="en-MY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87C8BE1-3F47-4E68-9ACD-77180F26EE3F}"/>
              </a:ext>
            </a:extLst>
          </p:cNvPr>
          <p:cNvSpPr/>
          <p:nvPr userDrawn="1"/>
        </p:nvSpPr>
        <p:spPr>
          <a:xfrm>
            <a:off x="9890760" y="5482506"/>
            <a:ext cx="1691640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65" name="Picture Placeholder 4">
            <a:extLst>
              <a:ext uri="{FF2B5EF4-FFF2-40B4-BE49-F238E27FC236}">
                <a16:creationId xmlns:a16="http://schemas.microsoft.com/office/drawing/2014/main" id="{B222535D-9A27-4535-8E5E-9B501DEE8F0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28560" y="1309941"/>
            <a:ext cx="1691640" cy="1691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MY" dirty="0"/>
            </a:lvl1pPr>
          </a:lstStyle>
          <a:p>
            <a:pPr lvl="0"/>
            <a:endParaRPr lang="en-MY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029D346-D63D-41E5-85AA-F1D3BFB8D501}"/>
              </a:ext>
            </a:extLst>
          </p:cNvPr>
          <p:cNvSpPr/>
          <p:nvPr userDrawn="1"/>
        </p:nvSpPr>
        <p:spPr>
          <a:xfrm>
            <a:off x="7528560" y="2990356"/>
            <a:ext cx="1691640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67" name="Picture Placeholder 4">
            <a:extLst>
              <a:ext uri="{FF2B5EF4-FFF2-40B4-BE49-F238E27FC236}">
                <a16:creationId xmlns:a16="http://schemas.microsoft.com/office/drawing/2014/main" id="{452EDB89-9F25-4C79-B13D-8F26115FD4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528560" y="3802091"/>
            <a:ext cx="1691640" cy="1691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MY" dirty="0"/>
            </a:lvl1pPr>
          </a:lstStyle>
          <a:p>
            <a:pPr lvl="0"/>
            <a:endParaRPr lang="en-MY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B113DD7-56D0-46D0-9BCD-96581DDBC639}"/>
              </a:ext>
            </a:extLst>
          </p:cNvPr>
          <p:cNvSpPr/>
          <p:nvPr userDrawn="1"/>
        </p:nvSpPr>
        <p:spPr>
          <a:xfrm>
            <a:off x="7528560" y="5482506"/>
            <a:ext cx="1691640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pic>
        <p:nvPicPr>
          <p:cNvPr id="24" name="图片 23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25" name="图片 24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143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23C664F-6A4B-4291-9CD2-C0C3E89DE648}"/>
              </a:ext>
            </a:extLst>
          </p:cNvPr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8605894-FB6D-47C2-AF61-F6638F5B8433}"/>
                </a:ext>
              </a:extLst>
            </p:cNvPr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8ADF6D-4276-420F-BEF2-46CF09618FD5}"/>
                </a:ext>
              </a:extLst>
            </p:cNvPr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8E622AE8-B49A-4B14-AF49-48361BACF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FD2783-108A-48CE-AFD4-1D1CE40126FF}"/>
              </a:ext>
            </a:extLst>
          </p:cNvPr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1B49C-5379-46E9-A864-94BA596AA60A}"/>
              </a:ext>
            </a:extLst>
          </p:cNvPr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pic>
        <p:nvPicPr>
          <p:cNvPr id="13" name="图片 12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4" name="图片 13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520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23C664F-6A4B-4291-9CD2-C0C3E89DE648}"/>
              </a:ext>
            </a:extLst>
          </p:cNvPr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8605894-FB6D-47C2-AF61-F6638F5B8433}"/>
                </a:ext>
              </a:extLst>
            </p:cNvPr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8ADF6D-4276-420F-BEF2-46CF09618FD5}"/>
                </a:ext>
              </a:extLst>
            </p:cNvPr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8E622AE8-B49A-4B14-AF49-48361BACF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FD2783-108A-48CE-AFD4-1D1CE40126FF}"/>
              </a:ext>
            </a:extLst>
          </p:cNvPr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1B49C-5379-46E9-A864-94BA596AA60A}"/>
              </a:ext>
            </a:extLst>
          </p:cNvPr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BC43C7-C1B5-483A-80D3-E931039A21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1485899"/>
            <a:ext cx="4343400" cy="4343400"/>
          </a:xfrm>
        </p:spPr>
        <p:txBody>
          <a:bodyPr/>
          <a:lstStyle/>
          <a:p>
            <a:endParaRPr lang="en-MY" dirty="0"/>
          </a:p>
        </p:txBody>
      </p:sp>
      <p:pic>
        <p:nvPicPr>
          <p:cNvPr id="13" name="图片 12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4" name="图片 13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491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23C664F-6A4B-4291-9CD2-C0C3E89DE648}"/>
              </a:ext>
            </a:extLst>
          </p:cNvPr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8605894-FB6D-47C2-AF61-F6638F5B8433}"/>
                </a:ext>
              </a:extLst>
            </p:cNvPr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8ADF6D-4276-420F-BEF2-46CF09618FD5}"/>
                </a:ext>
              </a:extLst>
            </p:cNvPr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8E622AE8-B49A-4B14-AF49-48361BACF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FD2783-108A-48CE-AFD4-1D1CE40126FF}"/>
              </a:ext>
            </a:extLst>
          </p:cNvPr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1B49C-5379-46E9-A864-94BA596AA60A}"/>
              </a:ext>
            </a:extLst>
          </p:cNvPr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AFA7865-655C-49EB-BC10-14721612859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781260" y="1757030"/>
            <a:ext cx="3801140" cy="3801140"/>
          </a:xfrm>
          <a:custGeom>
            <a:avLst/>
            <a:gdLst>
              <a:gd name="connsiteX0" fmla="*/ 1848652 w 3763963"/>
              <a:gd name="connsiteY0" fmla="*/ 0 h 3763963"/>
              <a:gd name="connsiteX1" fmla="*/ 1915311 w 3763963"/>
              <a:gd name="connsiteY1" fmla="*/ 0 h 3763963"/>
              <a:gd name="connsiteX2" fmla="*/ 2074575 w 3763963"/>
              <a:gd name="connsiteY2" fmla="*/ 8042 h 3763963"/>
              <a:gd name="connsiteX3" fmla="*/ 3755920 w 3763963"/>
              <a:gd name="connsiteY3" fmla="*/ 1689387 h 3763963"/>
              <a:gd name="connsiteX4" fmla="*/ 3763963 w 3763963"/>
              <a:gd name="connsiteY4" fmla="*/ 1848670 h 3763963"/>
              <a:gd name="connsiteX5" fmla="*/ 3763963 w 3763963"/>
              <a:gd name="connsiteY5" fmla="*/ 1915292 h 3763963"/>
              <a:gd name="connsiteX6" fmla="*/ 3755920 w 3763963"/>
              <a:gd name="connsiteY6" fmla="*/ 2074575 h 3763963"/>
              <a:gd name="connsiteX7" fmla="*/ 2074575 w 3763963"/>
              <a:gd name="connsiteY7" fmla="*/ 3755920 h 3763963"/>
              <a:gd name="connsiteX8" fmla="*/ 1915291 w 3763963"/>
              <a:gd name="connsiteY8" fmla="*/ 3763963 h 3763963"/>
              <a:gd name="connsiteX9" fmla="*/ 1848672 w 3763963"/>
              <a:gd name="connsiteY9" fmla="*/ 3763963 h 3763963"/>
              <a:gd name="connsiteX10" fmla="*/ 1689388 w 3763963"/>
              <a:gd name="connsiteY10" fmla="*/ 3755920 h 3763963"/>
              <a:gd name="connsiteX11" fmla="*/ 8042 w 3763963"/>
              <a:gd name="connsiteY11" fmla="*/ 2074575 h 3763963"/>
              <a:gd name="connsiteX12" fmla="*/ 0 w 3763963"/>
              <a:gd name="connsiteY12" fmla="*/ 1915311 h 3763963"/>
              <a:gd name="connsiteX13" fmla="*/ 0 w 3763963"/>
              <a:gd name="connsiteY13" fmla="*/ 1848651 h 3763963"/>
              <a:gd name="connsiteX14" fmla="*/ 8042 w 3763963"/>
              <a:gd name="connsiteY14" fmla="*/ 1689387 h 3763963"/>
              <a:gd name="connsiteX15" fmla="*/ 1689388 w 3763963"/>
              <a:gd name="connsiteY15" fmla="*/ 8042 h 3763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763963" h="3763963">
                <a:moveTo>
                  <a:pt x="1848652" y="0"/>
                </a:moveTo>
                <a:lnTo>
                  <a:pt x="1915311" y="0"/>
                </a:lnTo>
                <a:lnTo>
                  <a:pt x="2074575" y="8042"/>
                </a:lnTo>
                <a:cubicBezTo>
                  <a:pt x="2961101" y="98074"/>
                  <a:pt x="3665888" y="802862"/>
                  <a:pt x="3755920" y="1689387"/>
                </a:cubicBezTo>
                <a:lnTo>
                  <a:pt x="3763963" y="1848670"/>
                </a:lnTo>
                <a:lnTo>
                  <a:pt x="3763963" y="1915292"/>
                </a:lnTo>
                <a:lnTo>
                  <a:pt x="3755920" y="2074575"/>
                </a:lnTo>
                <a:cubicBezTo>
                  <a:pt x="3665888" y="2961101"/>
                  <a:pt x="2961101" y="3665889"/>
                  <a:pt x="2074575" y="3755920"/>
                </a:cubicBezTo>
                <a:lnTo>
                  <a:pt x="1915291" y="3763963"/>
                </a:lnTo>
                <a:lnTo>
                  <a:pt x="1848672" y="3763963"/>
                </a:lnTo>
                <a:lnTo>
                  <a:pt x="1689388" y="3755920"/>
                </a:lnTo>
                <a:cubicBezTo>
                  <a:pt x="802862" y="3665889"/>
                  <a:pt x="98074" y="2961101"/>
                  <a:pt x="8042" y="2074575"/>
                </a:cubicBezTo>
                <a:lnTo>
                  <a:pt x="0" y="1915311"/>
                </a:lnTo>
                <a:lnTo>
                  <a:pt x="0" y="1848651"/>
                </a:lnTo>
                <a:lnTo>
                  <a:pt x="8042" y="1689387"/>
                </a:lnTo>
                <a:cubicBezTo>
                  <a:pt x="98074" y="802862"/>
                  <a:pt x="802862" y="98074"/>
                  <a:pt x="1689388" y="8042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MY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88CBA77-1FF5-4E26-B65F-77D3C3F418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6064" t="20617" r="35753" b="58813"/>
          <a:stretch>
            <a:fillRect/>
          </a:stretch>
        </p:blipFill>
        <p:spPr>
          <a:xfrm>
            <a:off x="341887" y="1408687"/>
            <a:ext cx="1410713" cy="1410713"/>
          </a:xfrm>
          <a:custGeom>
            <a:avLst/>
            <a:gdLst>
              <a:gd name="connsiteX0" fmla="*/ 0 w 1410713"/>
              <a:gd name="connsiteY0" fmla="*/ 0 h 1410713"/>
              <a:gd name="connsiteX1" fmla="*/ 1410713 w 1410713"/>
              <a:gd name="connsiteY1" fmla="*/ 0 h 1410713"/>
              <a:gd name="connsiteX2" fmla="*/ 1410713 w 1410713"/>
              <a:gd name="connsiteY2" fmla="*/ 1410713 h 1410713"/>
              <a:gd name="connsiteX3" fmla="*/ 0 w 1410713"/>
              <a:gd name="connsiteY3" fmla="*/ 1410713 h 1410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10713" h="1410713">
                <a:moveTo>
                  <a:pt x="0" y="0"/>
                </a:moveTo>
                <a:lnTo>
                  <a:pt x="1410713" y="0"/>
                </a:lnTo>
                <a:lnTo>
                  <a:pt x="1410713" y="1410713"/>
                </a:lnTo>
                <a:lnTo>
                  <a:pt x="0" y="1410713"/>
                </a:lnTo>
                <a:close/>
              </a:path>
            </a:pathLst>
          </a:custGeom>
        </p:spPr>
      </p:pic>
      <p:pic>
        <p:nvPicPr>
          <p:cNvPr id="16" name="图片 15" descr="logo[1]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7" name="图片 16" descr="透明版.pn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405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Ba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23C664F-6A4B-4291-9CD2-C0C3E89DE648}"/>
              </a:ext>
            </a:extLst>
          </p:cNvPr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8605894-FB6D-47C2-AF61-F6638F5B8433}"/>
                </a:ext>
              </a:extLst>
            </p:cNvPr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8ADF6D-4276-420F-BEF2-46CF09618FD5}"/>
                </a:ext>
              </a:extLst>
            </p:cNvPr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8E622AE8-B49A-4B14-AF49-48361BACF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FD2783-108A-48CE-AFD4-1D1CE40126FF}"/>
              </a:ext>
            </a:extLst>
          </p:cNvPr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1B49C-5379-46E9-A864-94BA596AA60A}"/>
              </a:ext>
            </a:extLst>
          </p:cNvPr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39A04D2-075F-4F29-B364-D58A68B55E5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1600200"/>
            <a:ext cx="10972800" cy="2239963"/>
          </a:xfrm>
        </p:spPr>
        <p:txBody>
          <a:bodyPr/>
          <a:lstStyle/>
          <a:p>
            <a:endParaRPr lang="en-MY" dirty="0"/>
          </a:p>
        </p:txBody>
      </p:sp>
      <p:pic>
        <p:nvPicPr>
          <p:cNvPr id="11" name="图片 10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2" name="图片 11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772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23C664F-6A4B-4291-9CD2-C0C3E89DE648}"/>
              </a:ext>
            </a:extLst>
          </p:cNvPr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8605894-FB6D-47C2-AF61-F6638F5B8433}"/>
                </a:ext>
              </a:extLst>
            </p:cNvPr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8ADF6D-4276-420F-BEF2-46CF09618FD5}"/>
                </a:ext>
              </a:extLst>
            </p:cNvPr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8E622AE8-B49A-4B14-AF49-48361BACF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FD2783-108A-48CE-AFD4-1D1CE40126FF}"/>
              </a:ext>
            </a:extLst>
          </p:cNvPr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1B49C-5379-46E9-A864-94BA596AA60A}"/>
              </a:ext>
            </a:extLst>
          </p:cNvPr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BC43C7-C1B5-483A-80D3-E931039A21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1485899"/>
            <a:ext cx="2743200" cy="4343400"/>
          </a:xfrm>
        </p:spPr>
        <p:txBody>
          <a:bodyPr/>
          <a:lstStyle/>
          <a:p>
            <a:endParaRPr lang="en-MY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E71392-3FCA-4EE2-B92B-C2B1F6FD078F}"/>
              </a:ext>
            </a:extLst>
          </p:cNvPr>
          <p:cNvSpPr/>
          <p:nvPr userDrawn="1"/>
        </p:nvSpPr>
        <p:spPr>
          <a:xfrm>
            <a:off x="3657600" y="1485898"/>
            <a:ext cx="2743200" cy="43434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pic>
        <p:nvPicPr>
          <p:cNvPr id="11" name="图片 10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2" name="图片 11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5188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hapter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oup of people in a room&#10;&#10;Description automatically generated">
            <a:extLst>
              <a:ext uri="{FF2B5EF4-FFF2-40B4-BE49-F238E27FC236}">
                <a16:creationId xmlns:a16="http://schemas.microsoft.com/office/drawing/2014/main" id="{8FF1EAA3-C558-4B49-830F-3CC61602CE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-47668" y="0"/>
            <a:ext cx="12192000" cy="685800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CEE853-7997-4FBF-9B58-0EFD5A3135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0" y="2676173"/>
            <a:ext cx="5791200" cy="1477328"/>
          </a:xfrm>
        </p:spPr>
        <p:txBody>
          <a:bodyPr/>
          <a:lstStyle>
            <a:lvl1pPr algn="ctr">
              <a:defRPr sz="4800" b="1"/>
            </a:lvl1pPr>
          </a:lstStyle>
          <a:p>
            <a:r>
              <a:rPr lang="en-US" dirty="0"/>
              <a:t>Click to edit</a:t>
            </a:r>
            <a:endParaRPr lang="en-MY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0E988A-394C-49A0-90CA-2B739DB09A3C}"/>
              </a:ext>
            </a:extLst>
          </p:cNvPr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92F45D-30CC-4BA4-8542-5189A1E14396}"/>
              </a:ext>
            </a:extLst>
          </p:cNvPr>
          <p:cNvSpPr/>
          <p:nvPr userDrawn="1"/>
        </p:nvSpPr>
        <p:spPr>
          <a:xfrm>
            <a:off x="11582401" y="0"/>
            <a:ext cx="609600" cy="61264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09676C96-BA42-476E-B4DD-A274D36D4744}"/>
              </a:ext>
            </a:extLst>
          </p:cNvPr>
          <p:cNvGrpSpPr/>
          <p:nvPr userDrawn="1"/>
        </p:nvGrpSpPr>
        <p:grpSpPr>
          <a:xfrm>
            <a:off x="4541217" y="1516136"/>
            <a:ext cx="3109566" cy="911046"/>
            <a:chOff x="4541217" y="1177231"/>
            <a:chExt cx="3109566" cy="91104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886AF44-A10C-40A0-9BB9-C8505FD20BE2}"/>
                </a:ext>
              </a:extLst>
            </p:cNvPr>
            <p:cNvSpPr/>
            <p:nvPr/>
          </p:nvSpPr>
          <p:spPr>
            <a:xfrm>
              <a:off x="4541217" y="1177231"/>
              <a:ext cx="3109566" cy="651569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28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9DF502EA-8BD2-4F9A-BF57-3665C9621128}"/>
                </a:ext>
              </a:extLst>
            </p:cNvPr>
            <p:cNvSpPr/>
            <p:nvPr/>
          </p:nvSpPr>
          <p:spPr>
            <a:xfrm rot="18900000">
              <a:off x="5913103" y="1717294"/>
              <a:ext cx="365794" cy="370983"/>
            </a:xfrm>
            <a:prstGeom prst="rtTriangle">
              <a:avLst/>
            </a:prstGeom>
            <a:solidFill>
              <a:schemeClr val="accent6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</p:spTree>
    <p:extLst>
      <p:ext uri="{BB962C8B-B14F-4D97-AF65-F5344CB8AC3E}">
        <p14:creationId xmlns:p14="http://schemas.microsoft.com/office/powerpoint/2010/main" val="1420335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r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23C664F-6A4B-4291-9CD2-C0C3E89DE648}"/>
              </a:ext>
            </a:extLst>
          </p:cNvPr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8605894-FB6D-47C2-AF61-F6638F5B8433}"/>
                </a:ext>
              </a:extLst>
            </p:cNvPr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8ADF6D-4276-420F-BEF2-46CF09618FD5}"/>
                </a:ext>
              </a:extLst>
            </p:cNvPr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8E622AE8-B49A-4B14-AF49-48361BACF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FD2783-108A-48CE-AFD4-1D1CE40126FF}"/>
              </a:ext>
            </a:extLst>
          </p:cNvPr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1B49C-5379-46E9-A864-94BA596AA60A}"/>
              </a:ext>
            </a:extLst>
          </p:cNvPr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CAF625E-3EE3-45E4-966F-CC1C297BAB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33900" y="2106929"/>
            <a:ext cx="3124200" cy="3124200"/>
          </a:xfrm>
          <a:custGeom>
            <a:avLst/>
            <a:gdLst>
              <a:gd name="connsiteX0" fmla="*/ 1448904 w 3124200"/>
              <a:gd name="connsiteY0" fmla="*/ 0 h 3124200"/>
              <a:gd name="connsiteX1" fmla="*/ 1675299 w 3124200"/>
              <a:gd name="connsiteY1" fmla="*/ 0 h 3124200"/>
              <a:gd name="connsiteX2" fmla="*/ 1722401 w 3124200"/>
              <a:gd name="connsiteY2" fmla="*/ 2379 h 3124200"/>
              <a:gd name="connsiteX3" fmla="*/ 3121824 w 3124200"/>
              <a:gd name="connsiteY3" fmla="*/ 1401801 h 3124200"/>
              <a:gd name="connsiteX4" fmla="*/ 3124200 w 3124200"/>
              <a:gd name="connsiteY4" fmla="*/ 1448864 h 3124200"/>
              <a:gd name="connsiteX5" fmla="*/ 3124200 w 3124200"/>
              <a:gd name="connsiteY5" fmla="*/ 1675339 h 3124200"/>
              <a:gd name="connsiteX6" fmla="*/ 3121824 w 3124200"/>
              <a:gd name="connsiteY6" fmla="*/ 1722401 h 3124200"/>
              <a:gd name="connsiteX7" fmla="*/ 1722401 w 3124200"/>
              <a:gd name="connsiteY7" fmla="*/ 3121824 h 3124200"/>
              <a:gd name="connsiteX8" fmla="*/ 1675338 w 3124200"/>
              <a:gd name="connsiteY8" fmla="*/ 3124200 h 3124200"/>
              <a:gd name="connsiteX9" fmla="*/ 1448865 w 3124200"/>
              <a:gd name="connsiteY9" fmla="*/ 3124200 h 3124200"/>
              <a:gd name="connsiteX10" fmla="*/ 1401801 w 3124200"/>
              <a:gd name="connsiteY10" fmla="*/ 3121824 h 3124200"/>
              <a:gd name="connsiteX11" fmla="*/ 2379 w 3124200"/>
              <a:gd name="connsiteY11" fmla="*/ 1722401 h 3124200"/>
              <a:gd name="connsiteX12" fmla="*/ 0 w 3124200"/>
              <a:gd name="connsiteY12" fmla="*/ 1675299 h 3124200"/>
              <a:gd name="connsiteX13" fmla="*/ 0 w 3124200"/>
              <a:gd name="connsiteY13" fmla="*/ 1448903 h 3124200"/>
              <a:gd name="connsiteX14" fmla="*/ 2379 w 3124200"/>
              <a:gd name="connsiteY14" fmla="*/ 1401801 h 3124200"/>
              <a:gd name="connsiteX15" fmla="*/ 1401801 w 3124200"/>
              <a:gd name="connsiteY15" fmla="*/ 2379 h 3124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124200" h="3124200">
                <a:moveTo>
                  <a:pt x="1448904" y="0"/>
                </a:moveTo>
                <a:lnTo>
                  <a:pt x="1675299" y="0"/>
                </a:lnTo>
                <a:lnTo>
                  <a:pt x="1722401" y="2379"/>
                </a:lnTo>
                <a:cubicBezTo>
                  <a:pt x="2460277" y="77314"/>
                  <a:pt x="3046888" y="663925"/>
                  <a:pt x="3121824" y="1401801"/>
                </a:cubicBezTo>
                <a:lnTo>
                  <a:pt x="3124200" y="1448864"/>
                </a:lnTo>
                <a:lnTo>
                  <a:pt x="3124200" y="1675339"/>
                </a:lnTo>
                <a:lnTo>
                  <a:pt x="3121824" y="1722401"/>
                </a:lnTo>
                <a:cubicBezTo>
                  <a:pt x="3046888" y="2460277"/>
                  <a:pt x="2460277" y="3046888"/>
                  <a:pt x="1722401" y="3121824"/>
                </a:cubicBezTo>
                <a:lnTo>
                  <a:pt x="1675338" y="3124200"/>
                </a:lnTo>
                <a:lnTo>
                  <a:pt x="1448865" y="3124200"/>
                </a:lnTo>
                <a:lnTo>
                  <a:pt x="1401801" y="3121824"/>
                </a:lnTo>
                <a:cubicBezTo>
                  <a:pt x="663926" y="3046888"/>
                  <a:pt x="77314" y="2460277"/>
                  <a:pt x="2379" y="1722401"/>
                </a:cubicBezTo>
                <a:lnTo>
                  <a:pt x="0" y="1675299"/>
                </a:lnTo>
                <a:lnTo>
                  <a:pt x="0" y="1448903"/>
                </a:lnTo>
                <a:lnTo>
                  <a:pt x="2379" y="1401801"/>
                </a:lnTo>
                <a:cubicBezTo>
                  <a:pt x="77314" y="663925"/>
                  <a:pt x="663926" y="77314"/>
                  <a:pt x="1401801" y="237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MY" dirty="0"/>
          </a:p>
        </p:txBody>
      </p:sp>
      <p:pic>
        <p:nvPicPr>
          <p:cNvPr id="11" name="图片 10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2" name="图片 11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3784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23C664F-6A4B-4291-9CD2-C0C3E89DE648}"/>
              </a:ext>
            </a:extLst>
          </p:cNvPr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8605894-FB6D-47C2-AF61-F6638F5B8433}"/>
                </a:ext>
              </a:extLst>
            </p:cNvPr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8ADF6D-4276-420F-BEF2-46CF09618FD5}"/>
                </a:ext>
              </a:extLst>
            </p:cNvPr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8E622AE8-B49A-4B14-AF49-48361BACF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FD2783-108A-48CE-AFD4-1D1CE40126FF}"/>
              </a:ext>
            </a:extLst>
          </p:cNvPr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1B49C-5379-46E9-A864-94BA596AA60A}"/>
              </a:ext>
            </a:extLst>
          </p:cNvPr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9C88128-C03A-4EEA-A314-BE991106878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1" y="1545248"/>
            <a:ext cx="6096000" cy="1908221"/>
          </a:xfrm>
        </p:spPr>
        <p:txBody>
          <a:bodyPr/>
          <a:lstStyle/>
          <a:p>
            <a:endParaRPr lang="en-MY" dirty="0"/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EAC2A9BE-9B9F-4865-AAF8-5A3DA08830E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486400" y="3884589"/>
            <a:ext cx="6096000" cy="1908221"/>
          </a:xfrm>
        </p:spPr>
        <p:txBody>
          <a:bodyPr/>
          <a:lstStyle/>
          <a:p>
            <a:endParaRPr lang="en-MY" dirty="0"/>
          </a:p>
        </p:txBody>
      </p:sp>
      <p:pic>
        <p:nvPicPr>
          <p:cNvPr id="11" name="图片 10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2" name="图片 11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242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23C664F-6A4B-4291-9CD2-C0C3E89DE648}"/>
              </a:ext>
            </a:extLst>
          </p:cNvPr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8605894-FB6D-47C2-AF61-F6638F5B8433}"/>
                </a:ext>
              </a:extLst>
            </p:cNvPr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8ADF6D-4276-420F-BEF2-46CF09618FD5}"/>
                </a:ext>
              </a:extLst>
            </p:cNvPr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8E622AE8-B49A-4B14-AF49-48361BACF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FD2783-108A-48CE-AFD4-1D1CE40126FF}"/>
              </a:ext>
            </a:extLst>
          </p:cNvPr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1B49C-5379-46E9-A864-94BA596AA60A}"/>
              </a:ext>
            </a:extLst>
          </p:cNvPr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9C88128-C03A-4EEA-A314-BE991106878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1" y="1545248"/>
            <a:ext cx="2743199" cy="4247562"/>
          </a:xfrm>
        </p:spPr>
        <p:txBody>
          <a:bodyPr/>
          <a:lstStyle/>
          <a:p>
            <a:endParaRPr lang="en-MY" dirty="0"/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EAC2A9BE-9B9F-4865-AAF8-5A3DA08830E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39200" y="1545249"/>
            <a:ext cx="2743200" cy="4247561"/>
          </a:xfrm>
        </p:spPr>
        <p:txBody>
          <a:bodyPr/>
          <a:lstStyle/>
          <a:p>
            <a:endParaRPr lang="en-MY" dirty="0"/>
          </a:p>
        </p:txBody>
      </p:sp>
      <p:pic>
        <p:nvPicPr>
          <p:cNvPr id="11" name="图片 10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2" name="图片 11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6172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7A5BE7BB-674C-4B7A-AF36-A86C4F53947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81100" y="1752600"/>
            <a:ext cx="2133600" cy="2133600"/>
          </a:xfrm>
          <a:custGeom>
            <a:avLst/>
            <a:gdLst>
              <a:gd name="connsiteX0" fmla="*/ 1066800 w 2133600"/>
              <a:gd name="connsiteY0" fmla="*/ 0 h 2133600"/>
              <a:gd name="connsiteX1" fmla="*/ 2133600 w 2133600"/>
              <a:gd name="connsiteY1" fmla="*/ 1066800 h 2133600"/>
              <a:gd name="connsiteX2" fmla="*/ 1066800 w 2133600"/>
              <a:gd name="connsiteY2" fmla="*/ 2133600 h 2133600"/>
              <a:gd name="connsiteX3" fmla="*/ 0 w 2133600"/>
              <a:gd name="connsiteY3" fmla="*/ 1066800 h 2133600"/>
              <a:gd name="connsiteX4" fmla="*/ 1066800 w 2133600"/>
              <a:gd name="connsiteY4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33600" h="2133600">
                <a:moveTo>
                  <a:pt x="1066800" y="0"/>
                </a:moveTo>
                <a:cubicBezTo>
                  <a:pt x="1655977" y="0"/>
                  <a:pt x="2133600" y="477623"/>
                  <a:pt x="2133600" y="1066800"/>
                </a:cubicBezTo>
                <a:cubicBezTo>
                  <a:pt x="2133600" y="1655977"/>
                  <a:pt x="1655977" y="2133600"/>
                  <a:pt x="1066800" y="2133600"/>
                </a:cubicBezTo>
                <a:cubicBezTo>
                  <a:pt x="477623" y="2133600"/>
                  <a:pt x="0" y="1655977"/>
                  <a:pt x="0" y="1066800"/>
                </a:cubicBezTo>
                <a:cubicBezTo>
                  <a:pt x="0" y="477623"/>
                  <a:pt x="477623" y="0"/>
                  <a:pt x="10668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MY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23C664F-6A4B-4291-9CD2-C0C3E89DE648}"/>
              </a:ext>
            </a:extLst>
          </p:cNvPr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8605894-FB6D-47C2-AF61-F6638F5B8433}"/>
                </a:ext>
              </a:extLst>
            </p:cNvPr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8ADF6D-4276-420F-BEF2-46CF09618FD5}"/>
                </a:ext>
              </a:extLst>
            </p:cNvPr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8E622AE8-B49A-4B14-AF49-48361BACF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FD2783-108A-48CE-AFD4-1D1CE40126FF}"/>
              </a:ext>
            </a:extLst>
          </p:cNvPr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1B49C-5379-46E9-A864-94BA596AA60A}"/>
              </a:ext>
            </a:extLst>
          </p:cNvPr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0FE19EC6-9727-4B05-BA34-0DB940465BA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77300" y="1752600"/>
            <a:ext cx="2133600" cy="2133600"/>
          </a:xfrm>
          <a:custGeom>
            <a:avLst/>
            <a:gdLst>
              <a:gd name="connsiteX0" fmla="*/ 1066800 w 2133600"/>
              <a:gd name="connsiteY0" fmla="*/ 0 h 2133600"/>
              <a:gd name="connsiteX1" fmla="*/ 2133600 w 2133600"/>
              <a:gd name="connsiteY1" fmla="*/ 1066800 h 2133600"/>
              <a:gd name="connsiteX2" fmla="*/ 1066800 w 2133600"/>
              <a:gd name="connsiteY2" fmla="*/ 2133600 h 2133600"/>
              <a:gd name="connsiteX3" fmla="*/ 0 w 2133600"/>
              <a:gd name="connsiteY3" fmla="*/ 1066800 h 2133600"/>
              <a:gd name="connsiteX4" fmla="*/ 1066800 w 2133600"/>
              <a:gd name="connsiteY4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33600" h="2133600">
                <a:moveTo>
                  <a:pt x="1066800" y="0"/>
                </a:moveTo>
                <a:cubicBezTo>
                  <a:pt x="1655977" y="0"/>
                  <a:pt x="2133600" y="477623"/>
                  <a:pt x="2133600" y="1066800"/>
                </a:cubicBezTo>
                <a:cubicBezTo>
                  <a:pt x="2133600" y="1655977"/>
                  <a:pt x="1655977" y="2133600"/>
                  <a:pt x="1066800" y="2133600"/>
                </a:cubicBezTo>
                <a:cubicBezTo>
                  <a:pt x="477623" y="2133600"/>
                  <a:pt x="0" y="1655977"/>
                  <a:pt x="0" y="1066800"/>
                </a:cubicBezTo>
                <a:cubicBezTo>
                  <a:pt x="0" y="477623"/>
                  <a:pt x="477623" y="0"/>
                  <a:pt x="10668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MY" dirty="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1E892D2C-8BD7-4DCB-B674-15AD6D468AA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029200" y="1752600"/>
            <a:ext cx="2133600" cy="2133600"/>
          </a:xfrm>
          <a:custGeom>
            <a:avLst/>
            <a:gdLst>
              <a:gd name="connsiteX0" fmla="*/ 1066800 w 2133600"/>
              <a:gd name="connsiteY0" fmla="*/ 0 h 2133600"/>
              <a:gd name="connsiteX1" fmla="*/ 2133600 w 2133600"/>
              <a:gd name="connsiteY1" fmla="*/ 1066800 h 2133600"/>
              <a:gd name="connsiteX2" fmla="*/ 1066800 w 2133600"/>
              <a:gd name="connsiteY2" fmla="*/ 2133600 h 2133600"/>
              <a:gd name="connsiteX3" fmla="*/ 0 w 2133600"/>
              <a:gd name="connsiteY3" fmla="*/ 1066800 h 2133600"/>
              <a:gd name="connsiteX4" fmla="*/ 1066800 w 2133600"/>
              <a:gd name="connsiteY4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33600" h="2133600">
                <a:moveTo>
                  <a:pt x="1066800" y="0"/>
                </a:moveTo>
                <a:cubicBezTo>
                  <a:pt x="1655977" y="0"/>
                  <a:pt x="2133600" y="477623"/>
                  <a:pt x="2133600" y="1066800"/>
                </a:cubicBezTo>
                <a:cubicBezTo>
                  <a:pt x="2133600" y="1655977"/>
                  <a:pt x="1655977" y="2133600"/>
                  <a:pt x="1066800" y="2133600"/>
                </a:cubicBezTo>
                <a:cubicBezTo>
                  <a:pt x="477623" y="2133600"/>
                  <a:pt x="0" y="1655977"/>
                  <a:pt x="0" y="1066800"/>
                </a:cubicBezTo>
                <a:cubicBezTo>
                  <a:pt x="0" y="477623"/>
                  <a:pt x="477623" y="0"/>
                  <a:pt x="10668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MY" dirty="0"/>
          </a:p>
        </p:txBody>
      </p:sp>
      <p:pic>
        <p:nvPicPr>
          <p:cNvPr id="11" name="图片 10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2" name="图片 11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6027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23C664F-6A4B-4291-9CD2-C0C3E89DE648}"/>
              </a:ext>
            </a:extLst>
          </p:cNvPr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8605894-FB6D-47C2-AF61-F6638F5B8433}"/>
                </a:ext>
              </a:extLst>
            </p:cNvPr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8ADF6D-4276-420F-BEF2-46CF09618FD5}"/>
                </a:ext>
              </a:extLst>
            </p:cNvPr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8E622AE8-B49A-4B14-AF49-48361BACF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FD2783-108A-48CE-AFD4-1D1CE40126FF}"/>
              </a:ext>
            </a:extLst>
          </p:cNvPr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1B49C-5379-46E9-A864-94BA596AA60A}"/>
              </a:ext>
            </a:extLst>
          </p:cNvPr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9C88128-C03A-4EEA-A314-BE991106878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1" y="1545248"/>
            <a:ext cx="3200399" cy="1883752"/>
          </a:xfrm>
        </p:spPr>
        <p:txBody>
          <a:bodyPr/>
          <a:lstStyle/>
          <a:p>
            <a:endParaRPr lang="en-MY" dirty="0"/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1354957F-80B4-46C7-A287-B42652DC472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1" y="1545248"/>
            <a:ext cx="3200399" cy="1883752"/>
          </a:xfrm>
        </p:spPr>
        <p:txBody>
          <a:bodyPr/>
          <a:lstStyle/>
          <a:p>
            <a:endParaRPr lang="en-MY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743DCDFD-88ED-4062-BAC1-82E6F0EB14B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495801" y="1545248"/>
            <a:ext cx="3200399" cy="1883752"/>
          </a:xfrm>
        </p:spPr>
        <p:txBody>
          <a:bodyPr/>
          <a:lstStyle/>
          <a:p>
            <a:endParaRPr lang="en-MY" dirty="0"/>
          </a:p>
        </p:txBody>
      </p:sp>
      <p:pic>
        <p:nvPicPr>
          <p:cNvPr id="11" name="图片 10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2" name="图片 11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5344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23C664F-6A4B-4291-9CD2-C0C3E89DE648}"/>
              </a:ext>
            </a:extLst>
          </p:cNvPr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8605894-FB6D-47C2-AF61-F6638F5B8433}"/>
                </a:ext>
              </a:extLst>
            </p:cNvPr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8ADF6D-4276-420F-BEF2-46CF09618FD5}"/>
                </a:ext>
              </a:extLst>
            </p:cNvPr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8E622AE8-B49A-4B14-AF49-48361BACF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FD2783-108A-48CE-AFD4-1D1CE40126FF}"/>
              </a:ext>
            </a:extLst>
          </p:cNvPr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1B49C-5379-46E9-A864-94BA596AA60A}"/>
              </a:ext>
            </a:extLst>
          </p:cNvPr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C8EB094-476D-4C9D-8DF9-883B1260190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1600200"/>
            <a:ext cx="1828800" cy="1828800"/>
          </a:xfrm>
        </p:spPr>
        <p:txBody>
          <a:bodyPr/>
          <a:lstStyle/>
          <a:p>
            <a:endParaRPr lang="en-MY" dirty="0"/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36D98651-95F1-4295-BEAF-046B598BB1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3907788"/>
            <a:ext cx="1828800" cy="1828800"/>
          </a:xfrm>
        </p:spPr>
        <p:txBody>
          <a:bodyPr/>
          <a:lstStyle/>
          <a:p>
            <a:endParaRPr lang="en-MY" dirty="0"/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33102A10-FFEE-4BEA-A35B-A35ABF60926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1600200"/>
            <a:ext cx="1828800" cy="1828800"/>
          </a:xfrm>
        </p:spPr>
        <p:txBody>
          <a:bodyPr/>
          <a:lstStyle/>
          <a:p>
            <a:endParaRPr lang="en-MY" dirty="0"/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8B900E7E-B7A7-44EB-8AA6-EB3FE8EE66B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3907788"/>
            <a:ext cx="1828800" cy="1828800"/>
          </a:xfrm>
        </p:spPr>
        <p:txBody>
          <a:bodyPr/>
          <a:lstStyle/>
          <a:p>
            <a:endParaRPr lang="en-MY" dirty="0"/>
          </a:p>
        </p:txBody>
      </p:sp>
      <p:pic>
        <p:nvPicPr>
          <p:cNvPr id="12" name="图片 11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6" name="图片 15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6402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hapter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oup of people in a room&#10;&#10;Description automatically generated">
            <a:extLst>
              <a:ext uri="{FF2B5EF4-FFF2-40B4-BE49-F238E27FC236}">
                <a16:creationId xmlns:a16="http://schemas.microsoft.com/office/drawing/2014/main" id="{8FF1EAA3-C558-4B49-830F-3CC61602CE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12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-23770" y="0"/>
            <a:ext cx="12192000" cy="685800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CEE853-7997-4FBF-9B58-0EFD5A3135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0" y="2676173"/>
            <a:ext cx="5791200" cy="1477328"/>
          </a:xfrm>
        </p:spPr>
        <p:txBody>
          <a:bodyPr/>
          <a:lstStyle>
            <a:lvl1pPr algn="ctr">
              <a:defRPr sz="4800" b="1"/>
            </a:lvl1pPr>
          </a:lstStyle>
          <a:p>
            <a:r>
              <a:rPr lang="en-US" dirty="0"/>
              <a:t>Click to edit</a:t>
            </a:r>
            <a:endParaRPr lang="en-MY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0E988A-394C-49A0-90CA-2B739DB09A3C}"/>
              </a:ext>
            </a:extLst>
          </p:cNvPr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92F45D-30CC-4BA4-8542-5189A1E14396}"/>
              </a:ext>
            </a:extLst>
          </p:cNvPr>
          <p:cNvSpPr/>
          <p:nvPr userDrawn="1"/>
        </p:nvSpPr>
        <p:spPr>
          <a:xfrm>
            <a:off x="11582401" y="0"/>
            <a:ext cx="609600" cy="61264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09676C96-BA42-476E-B4DD-A274D36D4744}"/>
              </a:ext>
            </a:extLst>
          </p:cNvPr>
          <p:cNvGrpSpPr/>
          <p:nvPr userDrawn="1"/>
        </p:nvGrpSpPr>
        <p:grpSpPr>
          <a:xfrm>
            <a:off x="4541217" y="1516136"/>
            <a:ext cx="3109566" cy="911046"/>
            <a:chOff x="4541217" y="1177231"/>
            <a:chExt cx="3109566" cy="91104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886AF44-A10C-40A0-9BB9-C8505FD20BE2}"/>
                </a:ext>
              </a:extLst>
            </p:cNvPr>
            <p:cNvSpPr/>
            <p:nvPr/>
          </p:nvSpPr>
          <p:spPr>
            <a:xfrm>
              <a:off x="4541217" y="1177231"/>
              <a:ext cx="3109566" cy="651569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28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9DF502EA-8BD2-4F9A-BF57-3665C9621128}"/>
                </a:ext>
              </a:extLst>
            </p:cNvPr>
            <p:cNvSpPr/>
            <p:nvPr/>
          </p:nvSpPr>
          <p:spPr>
            <a:xfrm rot="18900000">
              <a:off x="5913103" y="1717294"/>
              <a:ext cx="365794" cy="370983"/>
            </a:xfrm>
            <a:prstGeom prst="rtTriangle">
              <a:avLst/>
            </a:prstGeom>
            <a:solidFill>
              <a:schemeClr val="accent6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</p:spTree>
    <p:extLst>
      <p:ext uri="{BB962C8B-B14F-4D97-AF65-F5344CB8AC3E}">
        <p14:creationId xmlns:p14="http://schemas.microsoft.com/office/powerpoint/2010/main" val="1420335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0793CE3-84E2-4299-8DCF-0D11EA8B94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47925" y="1733551"/>
            <a:ext cx="1896150" cy="4077630"/>
          </a:xfrm>
          <a:custGeom>
            <a:avLst/>
            <a:gdLst>
              <a:gd name="connsiteX0" fmla="*/ 288075 w 1896150"/>
              <a:gd name="connsiteY0" fmla="*/ 0 h 4077630"/>
              <a:gd name="connsiteX1" fmla="*/ 1608074 w 1896150"/>
              <a:gd name="connsiteY1" fmla="*/ 0 h 4077630"/>
              <a:gd name="connsiteX2" fmla="*/ 1608074 w 1896150"/>
              <a:gd name="connsiteY2" fmla="*/ 4590 h 4077630"/>
              <a:gd name="connsiteX3" fmla="*/ 1695196 w 1896150"/>
              <a:gd name="connsiteY3" fmla="*/ 4590 h 4077630"/>
              <a:gd name="connsiteX4" fmla="*/ 1896150 w 1896150"/>
              <a:gd name="connsiteY4" fmla="*/ 206242 h 4077630"/>
              <a:gd name="connsiteX5" fmla="*/ 1896150 w 1896150"/>
              <a:gd name="connsiteY5" fmla="*/ 3875978 h 4077630"/>
              <a:gd name="connsiteX6" fmla="*/ 1695196 w 1896150"/>
              <a:gd name="connsiteY6" fmla="*/ 4077630 h 4077630"/>
              <a:gd name="connsiteX7" fmla="*/ 200954 w 1896150"/>
              <a:gd name="connsiteY7" fmla="*/ 4077630 h 4077630"/>
              <a:gd name="connsiteX8" fmla="*/ 0 w 1896150"/>
              <a:gd name="connsiteY8" fmla="*/ 3875978 h 4077630"/>
              <a:gd name="connsiteX9" fmla="*/ 0 w 1896150"/>
              <a:gd name="connsiteY9" fmla="*/ 206242 h 4077630"/>
              <a:gd name="connsiteX10" fmla="*/ 200954 w 1896150"/>
              <a:gd name="connsiteY10" fmla="*/ 4590 h 4077630"/>
              <a:gd name="connsiteX11" fmla="*/ 288075 w 1896150"/>
              <a:gd name="connsiteY11" fmla="*/ 4590 h 4077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96150" h="4077630">
                <a:moveTo>
                  <a:pt x="288075" y="0"/>
                </a:moveTo>
                <a:lnTo>
                  <a:pt x="1608074" y="0"/>
                </a:lnTo>
                <a:lnTo>
                  <a:pt x="1608074" y="4590"/>
                </a:lnTo>
                <a:lnTo>
                  <a:pt x="1695196" y="4590"/>
                </a:lnTo>
                <a:cubicBezTo>
                  <a:pt x="1806180" y="4590"/>
                  <a:pt x="1896150" y="94873"/>
                  <a:pt x="1896150" y="206242"/>
                </a:cubicBezTo>
                <a:lnTo>
                  <a:pt x="1896150" y="3875978"/>
                </a:lnTo>
                <a:cubicBezTo>
                  <a:pt x="1896150" y="3987347"/>
                  <a:pt x="1806180" y="4077630"/>
                  <a:pt x="1695196" y="4077630"/>
                </a:cubicBezTo>
                <a:lnTo>
                  <a:pt x="200954" y="4077630"/>
                </a:lnTo>
                <a:cubicBezTo>
                  <a:pt x="89970" y="4077630"/>
                  <a:pt x="0" y="3987347"/>
                  <a:pt x="0" y="3875978"/>
                </a:cubicBezTo>
                <a:lnTo>
                  <a:pt x="0" y="206242"/>
                </a:lnTo>
                <a:cubicBezTo>
                  <a:pt x="0" y="94872"/>
                  <a:pt x="89970" y="4590"/>
                  <a:pt x="200954" y="4590"/>
                </a:cubicBezTo>
                <a:lnTo>
                  <a:pt x="288075" y="45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MY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23C664F-6A4B-4291-9CD2-C0C3E89DE648}"/>
              </a:ext>
            </a:extLst>
          </p:cNvPr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8605894-FB6D-47C2-AF61-F6638F5B8433}"/>
                </a:ext>
              </a:extLst>
            </p:cNvPr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8ADF6D-4276-420F-BEF2-46CF09618FD5}"/>
                </a:ext>
              </a:extLst>
            </p:cNvPr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8E622AE8-B49A-4B14-AF49-48361BACF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FD2783-108A-48CE-AFD4-1D1CE40126FF}"/>
              </a:ext>
            </a:extLst>
          </p:cNvPr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1B49C-5379-46E9-A864-94BA596AA60A}"/>
              </a:ext>
            </a:extLst>
          </p:cNvPr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9830475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10F6FE2-7CBF-4BA8-AAA9-F628EA0B083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35952" y="2391156"/>
            <a:ext cx="4599432" cy="2602410"/>
          </a:xfrm>
          <a:custGeom>
            <a:avLst/>
            <a:gdLst>
              <a:gd name="connsiteX0" fmla="*/ 0 w 4599432"/>
              <a:gd name="connsiteY0" fmla="*/ 0 h 2602410"/>
              <a:gd name="connsiteX1" fmla="*/ 4599432 w 4599432"/>
              <a:gd name="connsiteY1" fmla="*/ 0 h 2602410"/>
              <a:gd name="connsiteX2" fmla="*/ 4599432 w 4599432"/>
              <a:gd name="connsiteY2" fmla="*/ 2602410 h 2602410"/>
              <a:gd name="connsiteX3" fmla="*/ 0 w 4599432"/>
              <a:gd name="connsiteY3" fmla="*/ 2602410 h 2602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9432" h="2602410">
                <a:moveTo>
                  <a:pt x="0" y="0"/>
                </a:moveTo>
                <a:lnTo>
                  <a:pt x="4599432" y="0"/>
                </a:lnTo>
                <a:lnTo>
                  <a:pt x="4599432" y="2602410"/>
                </a:lnTo>
                <a:lnTo>
                  <a:pt x="0" y="26024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MY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23C664F-6A4B-4291-9CD2-C0C3E89DE648}"/>
              </a:ext>
            </a:extLst>
          </p:cNvPr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8605894-FB6D-47C2-AF61-F6638F5B8433}"/>
                </a:ext>
              </a:extLst>
            </p:cNvPr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8ADF6D-4276-420F-BEF2-46CF09618FD5}"/>
                </a:ext>
              </a:extLst>
            </p:cNvPr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8E622AE8-B49A-4B14-AF49-48361BACF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FD2783-108A-48CE-AFD4-1D1CE40126FF}"/>
              </a:ext>
            </a:extLst>
          </p:cNvPr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1B49C-5379-46E9-A864-94BA596AA60A}"/>
              </a:ext>
            </a:extLst>
          </p:cNvPr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pic>
        <p:nvPicPr>
          <p:cNvPr id="22" name="Picture 21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F642300E-D11A-4DAC-A123-CB5D44B221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967333" y="2254186"/>
            <a:ext cx="6462194" cy="3003486"/>
          </a:xfrm>
          <a:custGeom>
            <a:avLst/>
            <a:gdLst>
              <a:gd name="connsiteX0" fmla="*/ 1143000 w 7772400"/>
              <a:gd name="connsiteY0" fmla="*/ 194854 h 4180114"/>
              <a:gd name="connsiteX1" fmla="*/ 1143000 w 7772400"/>
              <a:gd name="connsiteY1" fmla="*/ 3776254 h 4180114"/>
              <a:gd name="connsiteX2" fmla="*/ 6629402 w 7772400"/>
              <a:gd name="connsiteY2" fmla="*/ 3776254 h 4180114"/>
              <a:gd name="connsiteX3" fmla="*/ 6629402 w 7772400"/>
              <a:gd name="connsiteY3" fmla="*/ 194854 h 4180114"/>
              <a:gd name="connsiteX4" fmla="*/ 0 w 7772400"/>
              <a:gd name="connsiteY4" fmla="*/ 0 h 4180114"/>
              <a:gd name="connsiteX5" fmla="*/ 7772400 w 7772400"/>
              <a:gd name="connsiteY5" fmla="*/ 0 h 4180114"/>
              <a:gd name="connsiteX6" fmla="*/ 7772400 w 7772400"/>
              <a:gd name="connsiteY6" fmla="*/ 4180114 h 4180114"/>
              <a:gd name="connsiteX7" fmla="*/ 0 w 7772400"/>
              <a:gd name="connsiteY7" fmla="*/ 4180114 h 4180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72400" h="4180114">
                <a:moveTo>
                  <a:pt x="1143000" y="194854"/>
                </a:moveTo>
                <a:lnTo>
                  <a:pt x="1143000" y="3776254"/>
                </a:lnTo>
                <a:lnTo>
                  <a:pt x="6629402" y="3776254"/>
                </a:lnTo>
                <a:lnTo>
                  <a:pt x="6629402" y="194854"/>
                </a:lnTo>
                <a:close/>
                <a:moveTo>
                  <a:pt x="0" y="0"/>
                </a:moveTo>
                <a:lnTo>
                  <a:pt x="7772400" y="0"/>
                </a:lnTo>
                <a:lnTo>
                  <a:pt x="7772400" y="4180114"/>
                </a:lnTo>
                <a:lnTo>
                  <a:pt x="0" y="4180114"/>
                </a:lnTo>
                <a:close/>
              </a:path>
            </a:pathLst>
          </a:custGeom>
        </p:spPr>
      </p:pic>
      <p:pic>
        <p:nvPicPr>
          <p:cNvPr id="11" name="图片 10" descr="logo[1]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2" name="图片 11" descr="透明版.pn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7685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23C664F-6A4B-4291-9CD2-C0C3E89DE648}"/>
              </a:ext>
            </a:extLst>
          </p:cNvPr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8605894-FB6D-47C2-AF61-F6638F5B8433}"/>
                </a:ext>
              </a:extLst>
            </p:cNvPr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8ADF6D-4276-420F-BEF2-46CF09618FD5}"/>
                </a:ext>
              </a:extLst>
            </p:cNvPr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8E622AE8-B49A-4B14-AF49-48361BACF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FD2783-108A-48CE-AFD4-1D1CE40126FF}"/>
              </a:ext>
            </a:extLst>
          </p:cNvPr>
          <p:cNvSpPr/>
          <p:nvPr userDrawn="1"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1B49C-5379-46E9-A864-94BA596AA60A}"/>
              </a:ext>
            </a:extLst>
          </p:cNvPr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1AF1CC9-7BBE-4118-87A3-18D56728ED2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2800" y="1600200"/>
            <a:ext cx="1828800" cy="1828800"/>
          </a:xfrm>
        </p:spPr>
        <p:txBody>
          <a:bodyPr/>
          <a:lstStyle/>
          <a:p>
            <a:endParaRPr lang="en-MY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C700E856-EE54-4C5C-AA9A-5CE6A0F8668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010400" y="1600200"/>
            <a:ext cx="1828800" cy="1828800"/>
          </a:xfrm>
        </p:spPr>
        <p:txBody>
          <a:bodyPr/>
          <a:lstStyle/>
          <a:p>
            <a:endParaRPr lang="en-MY" dirty="0"/>
          </a:p>
        </p:txBody>
      </p:sp>
      <p:pic>
        <p:nvPicPr>
          <p:cNvPr id="11" name="图片 10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2" name="图片 11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4911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s and 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23C664F-6A4B-4291-9CD2-C0C3E89DE648}"/>
              </a:ext>
            </a:extLst>
          </p:cNvPr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8605894-FB6D-47C2-AF61-F6638F5B8433}"/>
                </a:ext>
              </a:extLst>
            </p:cNvPr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8ADF6D-4276-420F-BEF2-46CF09618FD5}"/>
                </a:ext>
              </a:extLst>
            </p:cNvPr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8E622AE8-B49A-4B14-AF49-48361BACF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pic>
        <p:nvPicPr>
          <p:cNvPr id="13" name="Graphic 12" descr="Thumbs Up Sign">
            <a:extLst>
              <a:ext uri="{FF2B5EF4-FFF2-40B4-BE49-F238E27FC236}">
                <a16:creationId xmlns:a16="http://schemas.microsoft.com/office/drawing/2014/main" id="{35640ED0-03FB-42E4-ADC6-DCDE3EC5C2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28600" y="1905000"/>
            <a:ext cx="2438400" cy="2438400"/>
          </a:xfrm>
          <a:prstGeom prst="rect">
            <a:avLst/>
          </a:prstGeom>
        </p:spPr>
      </p:pic>
      <p:pic>
        <p:nvPicPr>
          <p:cNvPr id="14" name="Graphic 13" descr="Thumbs Up Sign">
            <a:extLst>
              <a:ext uri="{FF2B5EF4-FFF2-40B4-BE49-F238E27FC236}">
                <a16:creationId xmlns:a16="http://schemas.microsoft.com/office/drawing/2014/main" id="{CC70330C-0624-4195-8D55-80D4258F130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9982200" y="2514600"/>
            <a:ext cx="2438400" cy="2438400"/>
          </a:xfrm>
          <a:prstGeom prst="rect">
            <a:avLst/>
          </a:prstGeom>
        </p:spPr>
      </p:pic>
      <p:sp>
        <p:nvSpPr>
          <p:cNvPr id="18" name="Rectangle 8">
            <a:extLst>
              <a:ext uri="{FF2B5EF4-FFF2-40B4-BE49-F238E27FC236}">
                <a16:creationId xmlns:a16="http://schemas.microsoft.com/office/drawing/2014/main" id="{89FD2783-108A-48CE-AFD4-1D1CE40126FF}"/>
              </a:ext>
            </a:extLst>
          </p:cNvPr>
          <p:cNvSpPr/>
          <p:nvPr userDrawn="1"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221B49C-5379-46E9-A864-94BA596AA60A}"/>
              </a:ext>
            </a:extLst>
          </p:cNvPr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 dirty="0"/>
          </a:p>
        </p:txBody>
      </p:sp>
      <p:pic>
        <p:nvPicPr>
          <p:cNvPr id="11" name="图片 10" descr="logo[1].png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2" name="图片 11" descr="透明版.png"/>
          <p:cNvPicPr>
            <a:picLocks noChangeAspect="1"/>
          </p:cNvPicPr>
          <p:nvPr userDrawn="1"/>
        </p:nvPicPr>
        <p:blipFill>
          <a:blip r:embed="rId7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7183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tore front at day&#10;&#10;Description automatically generated">
            <a:extLst>
              <a:ext uri="{FF2B5EF4-FFF2-40B4-BE49-F238E27FC236}">
                <a16:creationId xmlns:a16="http://schemas.microsoft.com/office/drawing/2014/main" id="{D0677836-BAC0-48C7-BF02-DE5D4852F6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grayscl/>
            <a:lum bright="30000"/>
          </a:blip>
          <a:srcRect b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0AA24A-9C8D-4325-8A80-ACD80CDD4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5274" y="2719385"/>
            <a:ext cx="10972800" cy="638177"/>
          </a:xfrm>
        </p:spPr>
        <p:txBody>
          <a:bodyPr lIns="0" tIns="0" rIns="0" bIns="0" anchor="b">
            <a:noAutofit/>
          </a:bodyPr>
          <a:lstStyle>
            <a:lvl1pPr algn="ctr">
              <a:defRPr sz="3600" b="1"/>
            </a:lvl1pPr>
          </a:lstStyle>
          <a:p>
            <a:r>
              <a:rPr lang="en-US" dirty="0"/>
              <a:t>THANKS FOR YOUR ATTENTION!</a:t>
            </a:r>
            <a:endParaRPr lang="en-MY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B6B682-FD61-45D2-A5AC-F8AB378C676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00434" y="4503748"/>
            <a:ext cx="5867400" cy="425450"/>
          </a:xfrm>
        </p:spPr>
        <p:txBody>
          <a:bodyPr lIns="0" tIns="0" rIns="0" bIns="0"/>
          <a:lstStyle>
            <a:lvl1pPr marL="0" indent="0" algn="ctr">
              <a:buNone/>
              <a:defRPr sz="2400" b="1" baseline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Reporter:  XXXX    Time: XXXXX</a:t>
            </a:r>
            <a:endParaRPr lang="en-MY" dirty="0"/>
          </a:p>
        </p:txBody>
      </p:sp>
      <p:grpSp>
        <p:nvGrpSpPr>
          <p:cNvPr id="21" name="组合 20"/>
          <p:cNvGrpSpPr/>
          <p:nvPr userDrawn="1"/>
        </p:nvGrpSpPr>
        <p:grpSpPr>
          <a:xfrm flipV="1">
            <a:off x="-47668" y="2786058"/>
            <a:ext cx="2119306" cy="500066"/>
            <a:chOff x="0" y="3571876"/>
            <a:chExt cx="12192000" cy="11229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E88D6F4-B918-46C6-ACBF-4514F099FDD7}"/>
                </a:ext>
              </a:extLst>
            </p:cNvPr>
            <p:cNvSpPr/>
            <p:nvPr userDrawn="1"/>
          </p:nvSpPr>
          <p:spPr>
            <a:xfrm rot="5400000">
              <a:off x="6060280" y="-2488404"/>
              <a:ext cx="71439" cy="1219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18" name="Rectangle 2">
              <a:extLst>
                <a:ext uri="{FF2B5EF4-FFF2-40B4-BE49-F238E27FC236}">
                  <a16:creationId xmlns:a16="http://schemas.microsoft.com/office/drawing/2014/main" id="{0221B49C-5379-46E9-A864-94BA596AA60A}"/>
                </a:ext>
              </a:extLst>
            </p:cNvPr>
            <p:cNvSpPr/>
            <p:nvPr userDrawn="1"/>
          </p:nvSpPr>
          <p:spPr>
            <a:xfrm rot="5400000">
              <a:off x="6073140" y="-2434686"/>
              <a:ext cx="45719" cy="1219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flipV="1">
            <a:off x="10096528" y="2803530"/>
            <a:ext cx="2119306" cy="500066"/>
            <a:chOff x="0" y="3571876"/>
            <a:chExt cx="12192000" cy="112297"/>
          </a:xfrm>
        </p:grpSpPr>
        <p:sp>
          <p:nvSpPr>
            <p:cNvPr id="13" name="Rectangle 9">
              <a:extLst>
                <a:ext uri="{FF2B5EF4-FFF2-40B4-BE49-F238E27FC236}">
                  <a16:creationId xmlns:a16="http://schemas.microsoft.com/office/drawing/2014/main" id="{7E88D6F4-B918-46C6-ACBF-4514F099FDD7}"/>
                </a:ext>
              </a:extLst>
            </p:cNvPr>
            <p:cNvSpPr/>
            <p:nvPr userDrawn="1"/>
          </p:nvSpPr>
          <p:spPr>
            <a:xfrm rot="5400000">
              <a:off x="6060280" y="-2488404"/>
              <a:ext cx="71439" cy="1219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14" name="Rectangle 2">
              <a:extLst>
                <a:ext uri="{FF2B5EF4-FFF2-40B4-BE49-F238E27FC236}">
                  <a16:creationId xmlns:a16="http://schemas.microsoft.com/office/drawing/2014/main" id="{0221B49C-5379-46E9-A864-94BA596AA60A}"/>
                </a:ext>
              </a:extLst>
            </p:cNvPr>
            <p:cNvSpPr/>
            <p:nvPr userDrawn="1"/>
          </p:nvSpPr>
          <p:spPr>
            <a:xfrm rot="5400000">
              <a:off x="6073140" y="-2434686"/>
              <a:ext cx="45719" cy="1219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MY" dirty="0"/>
            </a:p>
          </p:txBody>
        </p:sp>
      </p:grpSp>
      <p:pic>
        <p:nvPicPr>
          <p:cNvPr id="17" name="图片 16" descr="logo[1].png"/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lum bright="-40000"/>
          </a:blip>
          <a:stretch>
            <a:fillRect/>
          </a:stretch>
        </p:blipFill>
        <p:spPr>
          <a:xfrm>
            <a:off x="380961" y="285728"/>
            <a:ext cx="4476789" cy="821767"/>
          </a:xfrm>
          <a:prstGeom prst="rect">
            <a:avLst/>
          </a:prstGeom>
        </p:spPr>
      </p:pic>
      <p:pic>
        <p:nvPicPr>
          <p:cNvPr id="19" name="图片 18" descr="透明版.pn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4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D07259-A107-464D-AACA-5097E9D1C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04590-C382-4D5E-92B4-1FC37D916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53941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2" r:id="rId3"/>
    <p:sldLayoutId id="2147483681" r:id="rId4"/>
    <p:sldLayoutId id="2147483664" r:id="rId5"/>
    <p:sldLayoutId id="2147483665" r:id="rId6"/>
    <p:sldLayoutId id="2147483660" r:id="rId7"/>
    <p:sldLayoutId id="2147483666" r:id="rId8"/>
    <p:sldLayoutId id="2147483667" r:id="rId9"/>
    <p:sldLayoutId id="2147483668" r:id="rId10"/>
    <p:sldLayoutId id="2147483670" r:id="rId11"/>
    <p:sldLayoutId id="2147483682" r:id="rId12"/>
    <p:sldLayoutId id="2147483671" r:id="rId13"/>
    <p:sldLayoutId id="2147483672" r:id="rId14"/>
    <p:sldLayoutId id="2147483673" r:id="rId15"/>
    <p:sldLayoutId id="2147483675" r:id="rId16"/>
    <p:sldLayoutId id="2147483674" r:id="rId17"/>
    <p:sldLayoutId id="2147483676" r:id="rId18"/>
    <p:sldLayoutId id="2147483683" r:id="rId19"/>
    <p:sldLayoutId id="2147483680" r:id="rId20"/>
    <p:sldLayoutId id="2147483678" r:id="rId21"/>
    <p:sldLayoutId id="2147483677" r:id="rId22"/>
    <p:sldLayoutId id="2147483679" r:id="rId23"/>
    <p:sldLayoutId id="2147483663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67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6" pos="384" userDrawn="1">
          <p15:clr>
            <a:srgbClr val="F26B43"/>
          </p15:clr>
        </p15:guide>
        <p15:guide id="7" pos="729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31.png"/><Relationship Id="rId7" Type="http://schemas.openxmlformats.org/officeDocument/2006/relationships/image" Target="../media/image23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29.png"/><Relationship Id="rId5" Type="http://schemas.openxmlformats.org/officeDocument/2006/relationships/image" Target="../media/image27.png"/><Relationship Id="rId10" Type="http://schemas.openxmlformats.org/officeDocument/2006/relationships/image" Target="../media/image26.jpeg"/><Relationship Id="rId4" Type="http://schemas.openxmlformats.org/officeDocument/2006/relationships/image" Target="../media/image26.png"/><Relationship Id="rId9" Type="http://schemas.openxmlformats.org/officeDocument/2006/relationships/image" Target="../media/image2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0.png"/><Relationship Id="rId5" Type="http://schemas.openxmlformats.org/officeDocument/2006/relationships/image" Target="../media/image3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C9E00-B041-4573-8344-7171524FCE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606" y="2564904"/>
            <a:ext cx="9612788" cy="1330325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结合大模型的表格识别方法与系统</a:t>
            </a:r>
            <a:br>
              <a:rPr lang="zh-CN" altLang="en-US" dirty="0"/>
            </a:br>
            <a:r>
              <a:rPr lang="zh-CN" altLang="en-US" sz="2700" dirty="0"/>
              <a:t>开题答辩</a:t>
            </a:r>
            <a:endParaRPr lang="en-MY" sz="2700" dirty="0">
              <a:ea typeface="黑体" panose="02010609060101010101" pitchFamily="49" charset="-122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729196-F6F7-4809-B81F-736357440DC3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2500338" y="4509120"/>
            <a:ext cx="7268070" cy="1656184"/>
          </a:xfrm>
        </p:spPr>
        <p:txBody>
          <a:bodyPr>
            <a:normAutofit fontScale="77500" lnSpcReduction="20000"/>
          </a:bodyPr>
          <a:lstStyle/>
          <a:p>
            <a:pPr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rgbClr val="2359A8"/>
                </a:solidFill>
                <a:latin typeface="+mj-lt"/>
                <a:ea typeface="宋体" panose="02010600030101010101" pitchFamily="2" charset="-122"/>
              </a:rPr>
              <a:t>报告人：覃浩</a:t>
            </a:r>
            <a:endParaRPr lang="en-US" altLang="zh-CN" b="1" dirty="0">
              <a:solidFill>
                <a:srgbClr val="2359A8"/>
              </a:solidFill>
              <a:latin typeface="+mj-lt"/>
              <a:ea typeface="宋体" panose="02010600030101010101" pitchFamily="2" charset="-122"/>
            </a:endParaRPr>
          </a:p>
          <a:p>
            <a:pPr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rgbClr val="2359A8"/>
                </a:solidFill>
                <a:latin typeface="+mj-lt"/>
                <a:ea typeface="宋体" panose="02010600030101010101" pitchFamily="2" charset="-122"/>
              </a:rPr>
              <a:t>指导老师：卢光明</a:t>
            </a:r>
            <a:endParaRPr lang="en-US" altLang="zh-CN" b="1" dirty="0">
              <a:solidFill>
                <a:srgbClr val="2359A8"/>
              </a:solidFill>
              <a:latin typeface="+mj-lt"/>
              <a:ea typeface="宋体" panose="02010600030101010101" pitchFamily="2" charset="-122"/>
            </a:endParaRPr>
          </a:p>
          <a:p>
            <a:pPr algn="ctr">
              <a:lnSpc>
                <a:spcPct val="150000"/>
              </a:lnSpc>
              <a:buNone/>
            </a:pPr>
            <a:r>
              <a:rPr lang="en-US" altLang="zh-CN" b="1" dirty="0">
                <a:solidFill>
                  <a:srgbClr val="2359A8"/>
                </a:solidFill>
                <a:latin typeface="+mj-lt"/>
                <a:ea typeface="宋体" panose="02010600030101010101" pitchFamily="2" charset="-122"/>
              </a:rPr>
              <a:t>2025</a:t>
            </a:r>
            <a:r>
              <a:rPr lang="zh-CN" altLang="en-US" b="1" dirty="0">
                <a:solidFill>
                  <a:srgbClr val="2359A8"/>
                </a:solidFill>
                <a:latin typeface="+mj-lt"/>
                <a:ea typeface="宋体" panose="02010600030101010101" pitchFamily="2" charset="-122"/>
              </a:rPr>
              <a:t>年</a:t>
            </a:r>
            <a:r>
              <a:rPr lang="en-US" altLang="zh-CN" b="1" dirty="0">
                <a:solidFill>
                  <a:srgbClr val="2359A8"/>
                </a:solidFill>
                <a:latin typeface="+mj-lt"/>
                <a:ea typeface="宋体" panose="02010600030101010101" pitchFamily="2" charset="-122"/>
              </a:rPr>
              <a:t>9</a:t>
            </a:r>
            <a:r>
              <a:rPr lang="zh-CN" altLang="en-US" b="1" dirty="0">
                <a:solidFill>
                  <a:srgbClr val="2359A8"/>
                </a:solidFill>
                <a:latin typeface="+mj-lt"/>
                <a:ea typeface="宋体" panose="02010600030101010101" pitchFamily="2" charset="-122"/>
              </a:rPr>
              <a:t>月</a:t>
            </a:r>
            <a:r>
              <a:rPr lang="en-US" altLang="zh-CN" b="1" dirty="0">
                <a:solidFill>
                  <a:srgbClr val="2359A8"/>
                </a:solidFill>
                <a:latin typeface="+mj-lt"/>
                <a:ea typeface="宋体" panose="02010600030101010101" pitchFamily="2" charset="-122"/>
              </a:rPr>
              <a:t>10</a:t>
            </a:r>
            <a:r>
              <a:rPr lang="zh-CN" altLang="en-US" b="1" dirty="0">
                <a:solidFill>
                  <a:srgbClr val="2359A8"/>
                </a:solidFill>
                <a:latin typeface="+mj-lt"/>
                <a:ea typeface="宋体" panose="02010600030101010101" pitchFamily="2" charset="-122"/>
              </a:rPr>
              <a:t>日</a:t>
            </a:r>
            <a:endParaRPr lang="en-MY" b="1" dirty="0">
              <a:solidFill>
                <a:srgbClr val="2359A8"/>
              </a:solidFill>
              <a:latin typeface="+mj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21843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5982CBB-54FC-4BC9-845B-6D19C64DCCC6}"/>
              </a:ext>
            </a:extLst>
          </p:cNvPr>
          <p:cNvGrpSpPr/>
          <p:nvPr/>
        </p:nvGrpSpPr>
        <p:grpSpPr>
          <a:xfrm>
            <a:off x="4267200" y="1752600"/>
            <a:ext cx="3956607" cy="738664"/>
            <a:chOff x="4267200" y="1600200"/>
            <a:chExt cx="3956607" cy="73866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7356595-B562-45DD-BC5E-DCE3A8F515C7}"/>
                </a:ext>
              </a:extLst>
            </p:cNvPr>
            <p:cNvSpPr txBox="1"/>
            <p:nvPr/>
          </p:nvSpPr>
          <p:spPr>
            <a:xfrm>
              <a:off x="5351226" y="1723311"/>
              <a:ext cx="2872581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zh-CN" altLang="en-US" sz="3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研究目的及意义</a:t>
              </a:r>
              <a:endParaRPr lang="en-MY" sz="3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4BA672D-B356-48F3-8264-E12E4053C019}"/>
                </a:ext>
              </a:extLst>
            </p:cNvPr>
            <p:cNvGrpSpPr/>
            <p:nvPr/>
          </p:nvGrpSpPr>
          <p:grpSpPr>
            <a:xfrm>
              <a:off x="4267200" y="1600200"/>
              <a:ext cx="738665" cy="738664"/>
              <a:chOff x="4267199" y="1268631"/>
              <a:chExt cx="1173481" cy="117348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9C4D9C1-E46D-4419-BCC6-27B44641BF8B}"/>
                  </a:ext>
                </a:extLst>
              </p:cNvPr>
              <p:cNvSpPr/>
              <p:nvPr/>
            </p:nvSpPr>
            <p:spPr>
              <a:xfrm>
                <a:off x="4343400" y="1344831"/>
                <a:ext cx="1097280" cy="1097280"/>
              </a:xfrm>
              <a:prstGeom prst="rect">
                <a:avLst/>
              </a:prstGeom>
              <a:solidFill>
                <a:schemeClr val="accent1"/>
              </a:solidFill>
              <a:ln w="571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 dirty="0">
                    <a:latin typeface="+mj-lt"/>
                    <a:ea typeface="+mj-ea"/>
                  </a:rPr>
                  <a:t>0</a:t>
                </a:r>
                <a:r>
                  <a:rPr lang="en-MY" sz="3200" b="1" dirty="0">
                    <a:latin typeface="+mj-lt"/>
                    <a:ea typeface="+mj-ea"/>
                  </a:rPr>
                  <a:t>1</a:t>
                </a:r>
              </a:p>
            </p:txBody>
          </p:sp>
          <p:sp>
            <p:nvSpPr>
              <p:cNvPr id="9" name="Right Triangle 8">
                <a:extLst>
                  <a:ext uri="{FF2B5EF4-FFF2-40B4-BE49-F238E27FC236}">
                    <a16:creationId xmlns:a16="http://schemas.microsoft.com/office/drawing/2014/main" id="{1C43F05D-4675-41A7-B416-6CCABD7EB17C}"/>
                  </a:ext>
                </a:extLst>
              </p:cNvPr>
              <p:cNvSpPr/>
              <p:nvPr/>
            </p:nvSpPr>
            <p:spPr>
              <a:xfrm rot="5400000">
                <a:off x="4267199" y="1268631"/>
                <a:ext cx="455895" cy="455895"/>
              </a:xfrm>
              <a:prstGeom prst="rtTriangle">
                <a:avLst/>
              </a:prstGeom>
              <a:solidFill>
                <a:schemeClr val="accent6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 dirty="0"/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26A284-C626-46AD-91A7-08B46BBFABB7}"/>
              </a:ext>
            </a:extLst>
          </p:cNvPr>
          <p:cNvGrpSpPr/>
          <p:nvPr/>
        </p:nvGrpSpPr>
        <p:grpSpPr>
          <a:xfrm>
            <a:off x="4267200" y="2976033"/>
            <a:ext cx="3956607" cy="738664"/>
            <a:chOff x="4267200" y="1600200"/>
            <a:chExt cx="3956607" cy="73866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FCABB13-022F-4FA9-9C28-A4CCB5199AC4}"/>
                </a:ext>
              </a:extLst>
            </p:cNvPr>
            <p:cNvSpPr txBox="1"/>
            <p:nvPr/>
          </p:nvSpPr>
          <p:spPr>
            <a:xfrm>
              <a:off x="5351226" y="1723311"/>
              <a:ext cx="2872581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zh-CN" altLang="en-US" sz="3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研究现状及分析</a:t>
              </a:r>
              <a:endParaRPr lang="en-MY" sz="3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45343D4-F978-4F64-8C60-D37CCE9C3072}"/>
                </a:ext>
              </a:extLst>
            </p:cNvPr>
            <p:cNvGrpSpPr/>
            <p:nvPr/>
          </p:nvGrpSpPr>
          <p:grpSpPr>
            <a:xfrm>
              <a:off x="4267200" y="1600200"/>
              <a:ext cx="738665" cy="738664"/>
              <a:chOff x="4267199" y="1268631"/>
              <a:chExt cx="1173481" cy="117348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00D0A59-D223-40ED-824A-9BEC37F9DCC4}"/>
                  </a:ext>
                </a:extLst>
              </p:cNvPr>
              <p:cNvSpPr/>
              <p:nvPr/>
            </p:nvSpPr>
            <p:spPr>
              <a:xfrm>
                <a:off x="4343400" y="1344831"/>
                <a:ext cx="1097280" cy="1097280"/>
              </a:xfrm>
              <a:prstGeom prst="rect">
                <a:avLst/>
              </a:prstGeom>
              <a:solidFill>
                <a:schemeClr val="accent1"/>
              </a:solidFill>
              <a:ln w="571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 dirty="0">
                    <a:latin typeface="+mj-lt"/>
                    <a:ea typeface="+mj-ea"/>
                  </a:rPr>
                  <a:t>02</a:t>
                </a:r>
                <a:endParaRPr lang="en-MY" sz="3200" b="1" dirty="0">
                  <a:latin typeface="+mj-lt"/>
                  <a:ea typeface="+mj-ea"/>
                </a:endParaRPr>
              </a:p>
            </p:txBody>
          </p:sp>
          <p:sp>
            <p:nvSpPr>
              <p:cNvPr id="14" name="Right Triangle 13">
                <a:extLst>
                  <a:ext uri="{FF2B5EF4-FFF2-40B4-BE49-F238E27FC236}">
                    <a16:creationId xmlns:a16="http://schemas.microsoft.com/office/drawing/2014/main" id="{AC1A21C3-D710-4B2A-9F49-3FD957D438B9}"/>
                  </a:ext>
                </a:extLst>
              </p:cNvPr>
              <p:cNvSpPr/>
              <p:nvPr/>
            </p:nvSpPr>
            <p:spPr>
              <a:xfrm rot="5400000">
                <a:off x="4267199" y="1268631"/>
                <a:ext cx="455895" cy="455895"/>
              </a:xfrm>
              <a:prstGeom prst="rtTriangle">
                <a:avLst/>
              </a:prstGeom>
              <a:solidFill>
                <a:schemeClr val="accent6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 dirty="0"/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CABA9FA-DC65-419A-9512-0DA5E1D73B27}"/>
              </a:ext>
            </a:extLst>
          </p:cNvPr>
          <p:cNvGrpSpPr/>
          <p:nvPr/>
        </p:nvGrpSpPr>
        <p:grpSpPr>
          <a:xfrm>
            <a:off x="4267200" y="4199466"/>
            <a:ext cx="4777345" cy="738664"/>
            <a:chOff x="4267200" y="1600200"/>
            <a:chExt cx="4777345" cy="73866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48CE4CE-F38F-47A6-B667-3971A472772F}"/>
                </a:ext>
              </a:extLst>
            </p:cNvPr>
            <p:cNvSpPr txBox="1"/>
            <p:nvPr/>
          </p:nvSpPr>
          <p:spPr>
            <a:xfrm>
              <a:off x="5351226" y="1723311"/>
              <a:ext cx="3693319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zh-CN" altLang="en-US" sz="3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主要研究内容及方案</a:t>
              </a:r>
              <a:endParaRPr lang="en-MY" sz="3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D1A69A0-502C-4989-8A52-C866D3042752}"/>
                </a:ext>
              </a:extLst>
            </p:cNvPr>
            <p:cNvGrpSpPr/>
            <p:nvPr/>
          </p:nvGrpSpPr>
          <p:grpSpPr>
            <a:xfrm>
              <a:off x="4267200" y="1600200"/>
              <a:ext cx="738665" cy="738664"/>
              <a:chOff x="4267199" y="1268631"/>
              <a:chExt cx="1173481" cy="117348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498D478D-3236-4F55-8406-94E2D4E0CAAF}"/>
                  </a:ext>
                </a:extLst>
              </p:cNvPr>
              <p:cNvSpPr/>
              <p:nvPr/>
            </p:nvSpPr>
            <p:spPr>
              <a:xfrm>
                <a:off x="4343400" y="1344831"/>
                <a:ext cx="1097280" cy="1097280"/>
              </a:xfrm>
              <a:prstGeom prst="rect">
                <a:avLst/>
              </a:prstGeom>
              <a:solidFill>
                <a:schemeClr val="accent1"/>
              </a:solidFill>
              <a:ln w="571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 dirty="0">
                    <a:latin typeface="+mj-lt"/>
                    <a:ea typeface="+mj-ea"/>
                  </a:rPr>
                  <a:t>03</a:t>
                </a:r>
                <a:endParaRPr lang="en-MY" sz="3200" b="1" dirty="0">
                  <a:latin typeface="+mj-lt"/>
                  <a:ea typeface="+mj-ea"/>
                </a:endParaRPr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3B5E4164-48FE-4A80-BB47-E4B995050532}"/>
                  </a:ext>
                </a:extLst>
              </p:cNvPr>
              <p:cNvSpPr/>
              <p:nvPr/>
            </p:nvSpPr>
            <p:spPr>
              <a:xfrm rot="5400000">
                <a:off x="4267199" y="1268631"/>
                <a:ext cx="455895" cy="455895"/>
              </a:xfrm>
              <a:prstGeom prst="rtTriangle">
                <a:avLst/>
              </a:prstGeom>
              <a:solidFill>
                <a:schemeClr val="accent6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 dirty="0"/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1ECCC09-9FD8-4D89-B5BF-D0AFDE933F5B}"/>
              </a:ext>
            </a:extLst>
          </p:cNvPr>
          <p:cNvGrpSpPr/>
          <p:nvPr/>
        </p:nvGrpSpPr>
        <p:grpSpPr>
          <a:xfrm>
            <a:off x="4267200" y="5422899"/>
            <a:ext cx="3546239" cy="738664"/>
            <a:chOff x="4267200" y="1600200"/>
            <a:chExt cx="3546239" cy="738664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75DB497-AD25-4596-B64A-ABDA4703F491}"/>
                </a:ext>
              </a:extLst>
            </p:cNvPr>
            <p:cNvSpPr txBox="1"/>
            <p:nvPr/>
          </p:nvSpPr>
          <p:spPr>
            <a:xfrm>
              <a:off x="5351226" y="1723311"/>
              <a:ext cx="2462213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zh-CN" altLang="en-US" sz="3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研究进度安排</a:t>
              </a:r>
              <a:endParaRPr lang="en-MY" sz="3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71615C00-3CFB-4100-8201-AE183175707A}"/>
                </a:ext>
              </a:extLst>
            </p:cNvPr>
            <p:cNvGrpSpPr/>
            <p:nvPr/>
          </p:nvGrpSpPr>
          <p:grpSpPr>
            <a:xfrm>
              <a:off x="4267200" y="1600200"/>
              <a:ext cx="738665" cy="738664"/>
              <a:chOff x="4267199" y="1268631"/>
              <a:chExt cx="1173481" cy="1173480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E1D24BB4-8B82-41CD-B084-5030633F4167}"/>
                  </a:ext>
                </a:extLst>
              </p:cNvPr>
              <p:cNvSpPr/>
              <p:nvPr/>
            </p:nvSpPr>
            <p:spPr>
              <a:xfrm>
                <a:off x="4343400" y="1344831"/>
                <a:ext cx="1097280" cy="1097280"/>
              </a:xfrm>
              <a:prstGeom prst="rect">
                <a:avLst/>
              </a:prstGeom>
              <a:solidFill>
                <a:schemeClr val="accent1"/>
              </a:solidFill>
              <a:ln w="571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 dirty="0">
                    <a:latin typeface="+mj-lt"/>
                    <a:ea typeface="+mj-ea"/>
                  </a:rPr>
                  <a:t>0</a:t>
                </a:r>
                <a:r>
                  <a:rPr lang="en-MY" sz="3200" b="1" dirty="0">
                    <a:latin typeface="+mj-lt"/>
                    <a:ea typeface="+mj-ea"/>
                  </a:rPr>
                  <a:t>4</a:t>
                </a:r>
              </a:p>
            </p:txBody>
          </p:sp>
          <p:sp>
            <p:nvSpPr>
              <p:cNvPr id="24" name="Right Triangle 23">
                <a:extLst>
                  <a:ext uri="{FF2B5EF4-FFF2-40B4-BE49-F238E27FC236}">
                    <a16:creationId xmlns:a16="http://schemas.microsoft.com/office/drawing/2014/main" id="{442047FE-D479-4107-8005-64CEE237BF21}"/>
                  </a:ext>
                </a:extLst>
              </p:cNvPr>
              <p:cNvSpPr/>
              <p:nvPr/>
            </p:nvSpPr>
            <p:spPr>
              <a:xfrm rot="5400000">
                <a:off x="4267199" y="1268631"/>
                <a:ext cx="455895" cy="455895"/>
              </a:xfrm>
              <a:prstGeom prst="rtTriangle">
                <a:avLst/>
              </a:prstGeom>
              <a:solidFill>
                <a:schemeClr val="accent6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 dirty="0"/>
              </a:p>
            </p:txBody>
          </p:sp>
        </p:grpSp>
      </p:grpSp>
      <p:pic>
        <p:nvPicPr>
          <p:cNvPr id="28" name="图片占位符 27" descr="1551689710174[1].jpg"/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40711" r="40711"/>
          <a:stretch>
            <a:fillRect/>
          </a:stretch>
        </p:blipFill>
        <p:spPr/>
      </p:pic>
      <p:sp>
        <p:nvSpPr>
          <p:cNvPr id="30" name="矩形 29"/>
          <p:cNvSpPr/>
          <p:nvPr/>
        </p:nvSpPr>
        <p:spPr>
          <a:xfrm>
            <a:off x="-24680" y="0"/>
            <a:ext cx="3381356" cy="6858000"/>
          </a:xfrm>
          <a:prstGeom prst="rect">
            <a:avLst/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079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6E443-7C74-4C2D-B790-2402F73B0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研究目的及意义</a:t>
            </a:r>
            <a:endParaRPr lang="en-MY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2F04F2-C95B-436F-B758-AD395AEE3757}"/>
              </a:ext>
            </a:extLst>
          </p:cNvPr>
          <p:cNvSpPr txBox="1"/>
          <p:nvPr/>
        </p:nvSpPr>
        <p:spPr>
          <a:xfrm>
            <a:off x="5521035" y="1626513"/>
            <a:ext cx="1149930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1"/>
                </a:solidFill>
                <a:latin typeface="+mj-lt"/>
              </a:rPr>
              <a:t>PART I</a:t>
            </a:r>
            <a:endParaRPr lang="en-MY" sz="28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83152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表格&#10;&#10;AI 生成的内容可能不正确。">
            <a:extLst>
              <a:ext uri="{FF2B5EF4-FFF2-40B4-BE49-F238E27FC236}">
                <a16:creationId xmlns:a16="http://schemas.microsoft.com/office/drawing/2014/main" id="{1A5928E9-0A91-9457-F31B-D27ABFC6A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316" y="4201357"/>
            <a:ext cx="6048672" cy="20337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098EC8-31AC-4DAC-B9CE-0BA372C9A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研究目的及意义</a:t>
            </a:r>
            <a:endParaRPr lang="en-MY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DCFD1A-F690-46C8-9E3D-29497C400FDE}"/>
              </a:ext>
            </a:extLst>
          </p:cNvPr>
          <p:cNvSpPr/>
          <p:nvPr/>
        </p:nvSpPr>
        <p:spPr>
          <a:xfrm>
            <a:off x="593496" y="1196752"/>
            <a:ext cx="11335152" cy="30046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zh-CN" altLang="en-US" sz="2000" b="1" dirty="0">
                <a:solidFill>
                  <a:srgbClr val="0151D9"/>
                </a:solidFill>
              </a:rPr>
              <a:t>低效人工依赖​</a:t>
            </a:r>
            <a:r>
              <a:rPr lang="zh-CN" altLang="en-US" sz="2000" dirty="0">
                <a:solidFill>
                  <a:srgbClr val="0151D9"/>
                </a:solidFill>
              </a:rPr>
              <a:t>​</a:t>
            </a:r>
          </a:p>
          <a:p>
            <a:pPr fontAlgn="base">
              <a:lnSpc>
                <a:spcPct val="150000"/>
              </a:lnSpc>
            </a:pP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传统表格数字化</a:t>
            </a:r>
            <a:r>
              <a:rPr lang="zh-CN" altLang="en-US" b="1" dirty="0">
                <a:solidFill>
                  <a:srgbClr val="C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依赖人工判读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，面对复杂表格（无线表、嵌套表）时</a:t>
            </a:r>
            <a:r>
              <a:rPr lang="zh-CN" altLang="en-US" b="1" dirty="0">
                <a:solidFill>
                  <a:srgbClr val="C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效率低、差错率高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，阻碍业务流程自动化</a:t>
            </a:r>
            <a:endParaRPr lang="en-US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fontAlgn="base">
              <a:lnSpc>
                <a:spcPct val="150000"/>
              </a:lnSpc>
            </a:pPr>
            <a:r>
              <a:rPr lang="zh-CN" altLang="en-US" b="1" dirty="0">
                <a:solidFill>
                  <a:srgbClr val="0151D9"/>
                </a:solidFill>
              </a:rPr>
              <a:t>技术割裂与局限​</a:t>
            </a:r>
            <a:r>
              <a:rPr lang="zh-CN" altLang="en-US" dirty="0">
                <a:solidFill>
                  <a:srgbClr val="0151D9"/>
                </a:solidFill>
              </a:rPr>
              <a:t>​</a:t>
            </a:r>
          </a:p>
          <a:p>
            <a:pPr fontAlgn="base">
              <a:lnSpc>
                <a:spcPct val="150000"/>
              </a:lnSpc>
            </a:pP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现有方法独立优化检测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/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结构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/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内容识别子任务，</a:t>
            </a:r>
            <a:r>
              <a:rPr lang="zh-CN" altLang="en-US" b="1" dirty="0">
                <a:solidFill>
                  <a:srgbClr val="C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缺乏整体框架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，导致误差累积和系统复杂。</a:t>
            </a:r>
          </a:p>
          <a:p>
            <a:pPr fontAlgn="base">
              <a:lnSpc>
                <a:spcPct val="150000"/>
              </a:lnSpc>
            </a:pP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传统模型对低质量图像（模糊、阴影、破损）</a:t>
            </a:r>
            <a:r>
              <a:rPr lang="zh-CN" altLang="en-US" b="1" dirty="0">
                <a:solidFill>
                  <a:srgbClr val="C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适应性差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，预处理能力薄弱。</a:t>
            </a:r>
          </a:p>
          <a:p>
            <a:pPr fontAlgn="base">
              <a:lnSpc>
                <a:spcPct val="150000"/>
              </a:lnSpc>
            </a:pPr>
            <a:r>
              <a:rPr lang="zh-CN" altLang="en-US" b="1" dirty="0">
                <a:solidFill>
                  <a:srgbClr val="0151D9"/>
                </a:solidFill>
              </a:rPr>
              <a:t>大模型潜力未释放​</a:t>
            </a:r>
            <a:r>
              <a:rPr lang="zh-CN" altLang="en-US" dirty="0">
                <a:solidFill>
                  <a:srgbClr val="0151D9"/>
                </a:solidFill>
              </a:rPr>
              <a:t>​</a:t>
            </a:r>
          </a:p>
          <a:p>
            <a:pPr fontAlgn="base">
              <a:lnSpc>
                <a:spcPct val="150000"/>
              </a:lnSpc>
            </a:pP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大模型在多模态理解和推理方面能力突出，但在表格识别领域缺少有效的系统应用。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7731588-22CD-AB25-84F0-51BD0A2F018B}"/>
              </a:ext>
            </a:extLst>
          </p:cNvPr>
          <p:cNvSpPr/>
          <p:nvPr/>
        </p:nvSpPr>
        <p:spPr>
          <a:xfrm>
            <a:off x="491355" y="1290246"/>
            <a:ext cx="134349" cy="338554"/>
          </a:xfrm>
          <a:prstGeom prst="rect">
            <a:avLst/>
          </a:prstGeom>
          <a:solidFill>
            <a:srgbClr val="0151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1C9C67F-D15D-4D3D-AA56-E65FB26166EB}"/>
              </a:ext>
            </a:extLst>
          </p:cNvPr>
          <p:cNvSpPr/>
          <p:nvPr/>
        </p:nvSpPr>
        <p:spPr>
          <a:xfrm>
            <a:off x="479376" y="2154342"/>
            <a:ext cx="134349" cy="338554"/>
          </a:xfrm>
          <a:prstGeom prst="rect">
            <a:avLst/>
          </a:prstGeom>
          <a:solidFill>
            <a:srgbClr val="0151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59A7360-F972-A9FC-C641-34F814F3881A}"/>
              </a:ext>
            </a:extLst>
          </p:cNvPr>
          <p:cNvSpPr/>
          <p:nvPr/>
        </p:nvSpPr>
        <p:spPr>
          <a:xfrm>
            <a:off x="489043" y="3378478"/>
            <a:ext cx="134349" cy="338554"/>
          </a:xfrm>
          <a:prstGeom prst="rect">
            <a:avLst/>
          </a:prstGeom>
          <a:solidFill>
            <a:srgbClr val="0151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C46B41DB-C457-095A-C5C4-07B4BDE76C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048" y="4342410"/>
            <a:ext cx="4843834" cy="168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316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研究现状及分析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2F04F2-C95B-436F-B758-AD395AEE3757}"/>
              </a:ext>
            </a:extLst>
          </p:cNvPr>
          <p:cNvSpPr txBox="1"/>
          <p:nvPr/>
        </p:nvSpPr>
        <p:spPr>
          <a:xfrm>
            <a:off x="5521035" y="1626513"/>
            <a:ext cx="1249317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1"/>
                </a:solidFill>
                <a:latin typeface="+mj-lt"/>
              </a:rPr>
              <a:t>PART </a:t>
            </a:r>
            <a:r>
              <a:rPr lang="en-US" altLang="zh-CN" sz="2800" b="1" dirty="0">
                <a:solidFill>
                  <a:schemeClr val="accent1"/>
                </a:solidFill>
                <a:latin typeface="+mj-lt"/>
              </a:rPr>
              <a:t>II</a:t>
            </a:r>
            <a:endParaRPr lang="en-MY" sz="28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69897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98EC8-31AC-4DAC-B9CE-0BA372C9A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表格识别任务研究现状</a:t>
            </a:r>
            <a:endParaRPr lang="en-MY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8124C0AE-624C-E143-8AD3-E5D423DA5801}"/>
              </a:ext>
            </a:extLst>
          </p:cNvPr>
          <p:cNvSpPr/>
          <p:nvPr/>
        </p:nvSpPr>
        <p:spPr>
          <a:xfrm>
            <a:off x="6678226" y="1187557"/>
            <a:ext cx="4908331" cy="2518864"/>
          </a:xfrm>
          <a:prstGeom prst="rect">
            <a:avLst/>
          </a:prstGeom>
          <a:ln w="127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6843198A-D801-334E-916A-04B5E5F05AC0}"/>
              </a:ext>
            </a:extLst>
          </p:cNvPr>
          <p:cNvSpPr/>
          <p:nvPr/>
        </p:nvSpPr>
        <p:spPr>
          <a:xfrm>
            <a:off x="6686658" y="5138643"/>
            <a:ext cx="4908331" cy="1051034"/>
          </a:xfrm>
          <a:prstGeom prst="rect">
            <a:avLst/>
          </a:prstGeom>
          <a:ln w="127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1946B02B-C6C1-6340-9B4C-EF0F1E5CAC24}"/>
              </a:ext>
            </a:extLst>
          </p:cNvPr>
          <p:cNvSpPr/>
          <p:nvPr/>
        </p:nvSpPr>
        <p:spPr>
          <a:xfrm>
            <a:off x="6686658" y="3897015"/>
            <a:ext cx="4908331" cy="1051034"/>
          </a:xfrm>
          <a:prstGeom prst="rect">
            <a:avLst/>
          </a:prstGeom>
          <a:ln w="127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41DBA632-2314-D845-9CEF-F75DE3B4CD09}"/>
              </a:ext>
            </a:extLst>
          </p:cNvPr>
          <p:cNvSpPr/>
          <p:nvPr/>
        </p:nvSpPr>
        <p:spPr>
          <a:xfrm>
            <a:off x="2631662" y="4106285"/>
            <a:ext cx="1197388" cy="6516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表格识别</a:t>
            </a: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E736CB29-08DE-5D40-AF02-0242D3940EEF}"/>
              </a:ext>
            </a:extLst>
          </p:cNvPr>
          <p:cNvSpPr/>
          <p:nvPr/>
        </p:nvSpPr>
        <p:spPr>
          <a:xfrm>
            <a:off x="4292376" y="2270120"/>
            <a:ext cx="1849821" cy="6516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表格检测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6B63A03F-C8CF-AB4F-9C7E-4E3F15A9FF35}"/>
              </a:ext>
            </a:extLst>
          </p:cNvPr>
          <p:cNvSpPr/>
          <p:nvPr/>
        </p:nvSpPr>
        <p:spPr>
          <a:xfrm>
            <a:off x="4278045" y="4110508"/>
            <a:ext cx="1849821" cy="6516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结构识别</a:t>
            </a: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CCB341C1-33F9-2A47-AA9C-419BCCF49377}"/>
              </a:ext>
            </a:extLst>
          </p:cNvPr>
          <p:cNvSpPr/>
          <p:nvPr/>
        </p:nvSpPr>
        <p:spPr>
          <a:xfrm>
            <a:off x="4279788" y="5301882"/>
            <a:ext cx="1849821" cy="6516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内容识别</a:t>
            </a:r>
          </a:p>
        </p:txBody>
      </p:sp>
      <p:cxnSp>
        <p:nvCxnSpPr>
          <p:cNvPr id="100" name="直线连接符 99">
            <a:extLst>
              <a:ext uri="{FF2B5EF4-FFF2-40B4-BE49-F238E27FC236}">
                <a16:creationId xmlns:a16="http://schemas.microsoft.com/office/drawing/2014/main" id="{9F5BD2AE-2DC4-AA4E-BE33-9D652DF1ABC0}"/>
              </a:ext>
            </a:extLst>
          </p:cNvPr>
          <p:cNvCxnSpPr>
            <a:cxnSpLocks/>
            <a:stCxn id="96" idx="3"/>
            <a:endCxn id="97" idx="1"/>
          </p:cNvCxnSpPr>
          <p:nvPr/>
        </p:nvCxnSpPr>
        <p:spPr>
          <a:xfrm flipV="1">
            <a:off x="3829050" y="2595941"/>
            <a:ext cx="463326" cy="183616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C59ECA51-6A87-5C4F-85D5-E8FCD7650F8A}"/>
              </a:ext>
            </a:extLst>
          </p:cNvPr>
          <p:cNvCxnSpPr>
            <a:cxnSpLocks/>
            <a:stCxn id="96" idx="3"/>
            <a:endCxn id="98" idx="1"/>
          </p:cNvCxnSpPr>
          <p:nvPr/>
        </p:nvCxnSpPr>
        <p:spPr>
          <a:xfrm>
            <a:off x="3829050" y="4432106"/>
            <a:ext cx="448995" cy="42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直线连接符 101">
            <a:extLst>
              <a:ext uri="{FF2B5EF4-FFF2-40B4-BE49-F238E27FC236}">
                <a16:creationId xmlns:a16="http://schemas.microsoft.com/office/drawing/2014/main" id="{51D499D4-A2EE-6A4A-AB7C-6134184E6678}"/>
              </a:ext>
            </a:extLst>
          </p:cNvPr>
          <p:cNvCxnSpPr>
            <a:cxnSpLocks/>
            <a:stCxn id="96" idx="3"/>
            <a:endCxn id="99" idx="1"/>
          </p:cNvCxnSpPr>
          <p:nvPr/>
        </p:nvCxnSpPr>
        <p:spPr>
          <a:xfrm>
            <a:off x="3829050" y="4432106"/>
            <a:ext cx="450738" cy="11955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直线箭头连接符 102">
            <a:extLst>
              <a:ext uri="{FF2B5EF4-FFF2-40B4-BE49-F238E27FC236}">
                <a16:creationId xmlns:a16="http://schemas.microsoft.com/office/drawing/2014/main" id="{B6CFED0D-1385-BE41-85FC-29A2ABB6A6CB}"/>
              </a:ext>
            </a:extLst>
          </p:cNvPr>
          <p:cNvCxnSpPr>
            <a:cxnSpLocks/>
            <a:stCxn id="97" idx="3"/>
          </p:cNvCxnSpPr>
          <p:nvPr/>
        </p:nvCxnSpPr>
        <p:spPr>
          <a:xfrm>
            <a:off x="6142197" y="2595941"/>
            <a:ext cx="698937" cy="26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直线箭头连接符 103">
            <a:extLst>
              <a:ext uri="{FF2B5EF4-FFF2-40B4-BE49-F238E27FC236}">
                <a16:creationId xmlns:a16="http://schemas.microsoft.com/office/drawing/2014/main" id="{35AC2E6A-1549-AD48-B5BA-ACB1A60AAA0E}"/>
              </a:ext>
            </a:extLst>
          </p:cNvPr>
          <p:cNvCxnSpPr>
            <a:cxnSpLocks/>
            <a:stCxn id="98" idx="3"/>
          </p:cNvCxnSpPr>
          <p:nvPr/>
        </p:nvCxnSpPr>
        <p:spPr>
          <a:xfrm flipV="1">
            <a:off x="6127866" y="4436328"/>
            <a:ext cx="71995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" name="直线箭头连接符 104">
            <a:extLst>
              <a:ext uri="{FF2B5EF4-FFF2-40B4-BE49-F238E27FC236}">
                <a16:creationId xmlns:a16="http://schemas.microsoft.com/office/drawing/2014/main" id="{7D06BFB1-ED44-BC47-8CCC-C30BFB0347B0}"/>
              </a:ext>
            </a:extLst>
          </p:cNvPr>
          <p:cNvCxnSpPr>
            <a:cxnSpLocks/>
            <a:stCxn id="99" idx="3"/>
          </p:cNvCxnSpPr>
          <p:nvPr/>
        </p:nvCxnSpPr>
        <p:spPr>
          <a:xfrm flipV="1">
            <a:off x="6129609" y="5627702"/>
            <a:ext cx="71995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" name="直线箭头连接符 105">
            <a:extLst>
              <a:ext uri="{FF2B5EF4-FFF2-40B4-BE49-F238E27FC236}">
                <a16:creationId xmlns:a16="http://schemas.microsoft.com/office/drawing/2014/main" id="{D8ED1C6F-D4CC-C348-AC5C-7CEFD921E328}"/>
              </a:ext>
            </a:extLst>
          </p:cNvPr>
          <p:cNvCxnSpPr>
            <a:stCxn id="97" idx="2"/>
            <a:endCxn id="98" idx="0"/>
          </p:cNvCxnSpPr>
          <p:nvPr/>
        </p:nvCxnSpPr>
        <p:spPr>
          <a:xfrm flipH="1">
            <a:off x="5202956" y="2921761"/>
            <a:ext cx="14331" cy="11887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" name="直线箭头连接符 106">
            <a:extLst>
              <a:ext uri="{FF2B5EF4-FFF2-40B4-BE49-F238E27FC236}">
                <a16:creationId xmlns:a16="http://schemas.microsoft.com/office/drawing/2014/main" id="{9CCD158B-5C38-2249-941F-403BB32BD147}"/>
              </a:ext>
            </a:extLst>
          </p:cNvPr>
          <p:cNvCxnSpPr>
            <a:stCxn id="98" idx="2"/>
            <a:endCxn id="99" idx="0"/>
          </p:cNvCxnSpPr>
          <p:nvPr/>
        </p:nvCxnSpPr>
        <p:spPr>
          <a:xfrm>
            <a:off x="5202956" y="4762149"/>
            <a:ext cx="1743" cy="539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8" name="图片 107">
            <a:extLst>
              <a:ext uri="{FF2B5EF4-FFF2-40B4-BE49-F238E27FC236}">
                <a16:creationId xmlns:a16="http://schemas.microsoft.com/office/drawing/2014/main" id="{17A1772C-5A17-9048-BD1D-A2E50D7C01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343" t="3790" r="24795" b="58546"/>
          <a:stretch/>
        </p:blipFill>
        <p:spPr>
          <a:xfrm>
            <a:off x="6925766" y="5170501"/>
            <a:ext cx="1849822" cy="783022"/>
          </a:xfrm>
          <a:prstGeom prst="rect">
            <a:avLst/>
          </a:prstGeom>
        </p:spPr>
      </p:pic>
      <p:pic>
        <p:nvPicPr>
          <p:cNvPr id="109" name="图片 108">
            <a:extLst>
              <a:ext uri="{FF2B5EF4-FFF2-40B4-BE49-F238E27FC236}">
                <a16:creationId xmlns:a16="http://schemas.microsoft.com/office/drawing/2014/main" id="{F8B776B3-0923-FD4C-BE88-877628C32D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343" t="3791" r="24795" b="55638"/>
          <a:stretch/>
        </p:blipFill>
        <p:spPr>
          <a:xfrm>
            <a:off x="6849566" y="4000804"/>
            <a:ext cx="1849822" cy="843457"/>
          </a:xfrm>
          <a:prstGeom prst="rect">
            <a:avLst/>
          </a:prstGeom>
        </p:spPr>
      </p:pic>
      <p:cxnSp>
        <p:nvCxnSpPr>
          <p:cNvPr id="112" name="直线箭头连接符 111">
            <a:extLst>
              <a:ext uri="{FF2B5EF4-FFF2-40B4-BE49-F238E27FC236}">
                <a16:creationId xmlns:a16="http://schemas.microsoft.com/office/drawing/2014/main" id="{B38ABFC4-02CD-7E46-AC71-0C36E5903C4E}"/>
              </a:ext>
            </a:extLst>
          </p:cNvPr>
          <p:cNvCxnSpPr>
            <a:cxnSpLocks/>
          </p:cNvCxnSpPr>
          <p:nvPr/>
        </p:nvCxnSpPr>
        <p:spPr>
          <a:xfrm flipV="1">
            <a:off x="8775587" y="4432170"/>
            <a:ext cx="71995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3" name="直线箭头连接符 112">
            <a:extLst>
              <a:ext uri="{FF2B5EF4-FFF2-40B4-BE49-F238E27FC236}">
                <a16:creationId xmlns:a16="http://schemas.microsoft.com/office/drawing/2014/main" id="{227B5B91-1808-904D-8A24-56AE14629A31}"/>
              </a:ext>
            </a:extLst>
          </p:cNvPr>
          <p:cNvCxnSpPr>
            <a:cxnSpLocks/>
          </p:cNvCxnSpPr>
          <p:nvPr/>
        </p:nvCxnSpPr>
        <p:spPr>
          <a:xfrm flipV="1">
            <a:off x="8813687" y="5627700"/>
            <a:ext cx="71995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14" name="图片 113">
            <a:extLst>
              <a:ext uri="{FF2B5EF4-FFF2-40B4-BE49-F238E27FC236}">
                <a16:creationId xmlns:a16="http://schemas.microsoft.com/office/drawing/2014/main" id="{5AEAC040-14E8-454A-908A-A7A5AB5EF2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3973" y="1196752"/>
            <a:ext cx="1989683" cy="2390124"/>
          </a:xfrm>
          <a:prstGeom prst="rect">
            <a:avLst/>
          </a:prstGeom>
        </p:spPr>
      </p:pic>
      <p:pic>
        <p:nvPicPr>
          <p:cNvPr id="115" name="图片 114">
            <a:extLst>
              <a:ext uri="{FF2B5EF4-FFF2-40B4-BE49-F238E27FC236}">
                <a16:creationId xmlns:a16="http://schemas.microsoft.com/office/drawing/2014/main" id="{54F96993-E090-7047-94BB-588EA59B42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8097" y="1210580"/>
            <a:ext cx="1510866" cy="851579"/>
          </a:xfrm>
          <a:prstGeom prst="rect">
            <a:avLst/>
          </a:prstGeom>
        </p:spPr>
      </p:pic>
      <p:pic>
        <p:nvPicPr>
          <p:cNvPr id="116" name="图片 115">
            <a:extLst>
              <a:ext uri="{FF2B5EF4-FFF2-40B4-BE49-F238E27FC236}">
                <a16:creationId xmlns:a16="http://schemas.microsoft.com/office/drawing/2014/main" id="{A5F1FA8C-A9D6-BB42-B025-23E90C0E51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8689" y="2977002"/>
            <a:ext cx="1989681" cy="612564"/>
          </a:xfrm>
          <a:prstGeom prst="rect">
            <a:avLst/>
          </a:prstGeom>
        </p:spPr>
      </p:pic>
      <p:pic>
        <p:nvPicPr>
          <p:cNvPr id="117" name="图片 116">
            <a:extLst>
              <a:ext uri="{FF2B5EF4-FFF2-40B4-BE49-F238E27FC236}">
                <a16:creationId xmlns:a16="http://schemas.microsoft.com/office/drawing/2014/main" id="{6A0EF6AB-771C-F044-BF77-F892BE99D9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08097" y="2140853"/>
            <a:ext cx="1510866" cy="719295"/>
          </a:xfrm>
          <a:prstGeom prst="rect">
            <a:avLst/>
          </a:prstGeom>
        </p:spPr>
      </p:pic>
      <p:cxnSp>
        <p:nvCxnSpPr>
          <p:cNvPr id="118" name="直线箭头连接符 117">
            <a:extLst>
              <a:ext uri="{FF2B5EF4-FFF2-40B4-BE49-F238E27FC236}">
                <a16:creationId xmlns:a16="http://schemas.microsoft.com/office/drawing/2014/main" id="{6A515359-FA12-5649-8D7B-CC5C83380345}"/>
              </a:ext>
            </a:extLst>
          </p:cNvPr>
          <p:cNvCxnSpPr>
            <a:cxnSpLocks/>
          </p:cNvCxnSpPr>
          <p:nvPr/>
        </p:nvCxnSpPr>
        <p:spPr>
          <a:xfrm>
            <a:off x="9195449" y="2391813"/>
            <a:ext cx="35340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9" name="矩形: 圆角 18">
            <a:extLst>
              <a:ext uri="{FF2B5EF4-FFF2-40B4-BE49-F238E27FC236}">
                <a16:creationId xmlns:a16="http://schemas.microsoft.com/office/drawing/2014/main" id="{392D873D-FCE6-1A4C-BC6F-355F1E698267}"/>
              </a:ext>
            </a:extLst>
          </p:cNvPr>
          <p:cNvSpPr/>
          <p:nvPr/>
        </p:nvSpPr>
        <p:spPr>
          <a:xfrm>
            <a:off x="445421" y="1131584"/>
            <a:ext cx="2299729" cy="1050893"/>
          </a:xfrm>
          <a:prstGeom prst="roundRect">
            <a:avLst/>
          </a:prstGeom>
          <a:noFill/>
          <a:ln w="19050" cap="flat" cmpd="sng" algn="ctr">
            <a:solidFill>
              <a:srgbClr val="E46C0A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>
                <a:solidFill>
                  <a:srgbClr val="E46C0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基于手工特征的方法</a:t>
            </a:r>
            <a:endParaRPr lang="en-US" altLang="zh-CN" sz="1400" b="1" dirty="0">
              <a:solidFill>
                <a:srgbClr val="E46C0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>
                <a:solidFill>
                  <a:srgbClr val="E46C0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基于机器学习的方法</a:t>
            </a:r>
            <a:endParaRPr lang="en-US" altLang="zh-CN" sz="1400" b="1" dirty="0">
              <a:solidFill>
                <a:srgbClr val="E46C0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>
                <a:solidFill>
                  <a:srgbClr val="E46C0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基于深度学习的方法</a:t>
            </a:r>
          </a:p>
        </p:txBody>
      </p:sp>
      <p:cxnSp>
        <p:nvCxnSpPr>
          <p:cNvPr id="121" name="直线箭头连接符 120">
            <a:extLst>
              <a:ext uri="{FF2B5EF4-FFF2-40B4-BE49-F238E27FC236}">
                <a16:creationId xmlns:a16="http://schemas.microsoft.com/office/drawing/2014/main" id="{E8390291-2096-CC4C-98E2-C16CF17B8382}"/>
              </a:ext>
            </a:extLst>
          </p:cNvPr>
          <p:cNvCxnSpPr/>
          <p:nvPr/>
        </p:nvCxnSpPr>
        <p:spPr>
          <a:xfrm>
            <a:off x="2922347" y="1636369"/>
            <a:ext cx="308009" cy="0"/>
          </a:xfrm>
          <a:prstGeom prst="straightConnector1">
            <a:avLst/>
          </a:prstGeom>
          <a:ln w="38100">
            <a:solidFill>
              <a:srgbClr val="2851D9"/>
            </a:solidFill>
            <a:tailEnd type="arrow" w="med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矩形: 圆角 18">
            <a:extLst>
              <a:ext uri="{FF2B5EF4-FFF2-40B4-BE49-F238E27FC236}">
                <a16:creationId xmlns:a16="http://schemas.microsoft.com/office/drawing/2014/main" id="{719856ED-5EA1-5546-8BBC-B61901C22CD3}"/>
              </a:ext>
            </a:extLst>
          </p:cNvPr>
          <p:cNvSpPr/>
          <p:nvPr/>
        </p:nvSpPr>
        <p:spPr>
          <a:xfrm>
            <a:off x="3351398" y="1131582"/>
            <a:ext cx="2114332" cy="105089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决策树</a:t>
            </a:r>
            <a:endParaRPr lang="en-US" altLang="zh-CN" sz="1400" b="1" dirty="0">
              <a:solidFill>
                <a:srgbClr val="4F81B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支持向量机（</a:t>
            </a:r>
            <a:r>
              <a:rPr lang="en" altLang="zh-CN" sz="1400" b="1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SVM</a:t>
            </a:r>
            <a:r>
              <a:rPr lang="zh-CN" altLang="en" sz="1400" b="1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1400" b="1" dirty="0">
              <a:solidFill>
                <a:srgbClr val="4F81B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400" b="1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…………</a:t>
            </a:r>
            <a:endParaRPr lang="zh-CN" altLang="en-US" sz="1400" b="1" dirty="0">
              <a:solidFill>
                <a:srgbClr val="4F81B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3" name="矩形: 圆角 18">
            <a:extLst>
              <a:ext uri="{FF2B5EF4-FFF2-40B4-BE49-F238E27FC236}">
                <a16:creationId xmlns:a16="http://schemas.microsoft.com/office/drawing/2014/main" id="{879315E1-02B6-764B-9CA2-2FA6C52F1F94}"/>
              </a:ext>
            </a:extLst>
          </p:cNvPr>
          <p:cNvSpPr/>
          <p:nvPr/>
        </p:nvSpPr>
        <p:spPr>
          <a:xfrm>
            <a:off x="450435" y="2701273"/>
            <a:ext cx="2114332" cy="183616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基于目标检测</a:t>
            </a:r>
            <a:endParaRPr lang="en-US" altLang="zh-CN" sz="1400" b="1" dirty="0">
              <a:solidFill>
                <a:srgbClr val="4F81B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基于语义分割</a:t>
            </a:r>
            <a:endParaRPr lang="en-US" altLang="zh-CN" sz="1400" b="1" dirty="0">
              <a:solidFill>
                <a:srgbClr val="4F81B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基于图模型</a:t>
            </a:r>
            <a:endParaRPr lang="en-US" altLang="zh-CN" sz="1400" b="1" dirty="0">
              <a:solidFill>
                <a:srgbClr val="4F81B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基于图像到序列</a:t>
            </a:r>
            <a:endParaRPr lang="en-US" altLang="zh-CN" sz="1400" b="1" dirty="0">
              <a:solidFill>
                <a:srgbClr val="4F81B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400" b="1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…………</a:t>
            </a:r>
            <a:endParaRPr lang="zh-CN" altLang="en-US" sz="1400" b="1" dirty="0">
              <a:solidFill>
                <a:srgbClr val="4F81B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24" name="直线箭头连接符 123">
            <a:extLst>
              <a:ext uri="{FF2B5EF4-FFF2-40B4-BE49-F238E27FC236}">
                <a16:creationId xmlns:a16="http://schemas.microsoft.com/office/drawing/2014/main" id="{976B871F-F52A-3D4F-A3C2-0CF3B53FB368}"/>
              </a:ext>
            </a:extLst>
          </p:cNvPr>
          <p:cNvCxnSpPr>
            <a:cxnSpLocks/>
          </p:cNvCxnSpPr>
          <p:nvPr/>
        </p:nvCxnSpPr>
        <p:spPr>
          <a:xfrm>
            <a:off x="1507601" y="2305366"/>
            <a:ext cx="1604" cy="273390"/>
          </a:xfrm>
          <a:prstGeom prst="straightConnector1">
            <a:avLst/>
          </a:prstGeom>
          <a:ln w="38100">
            <a:solidFill>
              <a:srgbClr val="2851D9"/>
            </a:solidFill>
            <a:tailEnd type="arrow" w="med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6338C0B6-0B67-21FE-7638-CCE526ED93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610" t="53794" r="-6472" b="2681"/>
          <a:stretch>
            <a:fillRect/>
          </a:stretch>
        </p:blipFill>
        <p:spPr>
          <a:xfrm>
            <a:off x="9568689" y="4010378"/>
            <a:ext cx="1849822" cy="90485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A0D4729-31E6-B170-D215-9479524348F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150" t="53160" r="49725" b="976"/>
          <a:stretch>
            <a:fillRect/>
          </a:stretch>
        </p:blipFill>
        <p:spPr>
          <a:xfrm>
            <a:off x="9568689" y="5236189"/>
            <a:ext cx="1616107" cy="95348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6C6AB41-1646-0CCF-CDEE-234A6A95FE18}"/>
              </a:ext>
            </a:extLst>
          </p:cNvPr>
          <p:cNvSpPr txBox="1"/>
          <p:nvPr/>
        </p:nvSpPr>
        <p:spPr>
          <a:xfrm>
            <a:off x="389786" y="6234789"/>
            <a:ext cx="84938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" altLang="zh-CN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Improving table structure recognition with visual-alignment sequential coordinate modeling</a:t>
            </a:r>
            <a:r>
              <a:rPr lang="zh-CN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（</a:t>
            </a:r>
            <a:r>
              <a:rPr lang="en-US" altLang="zh-CN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CVPR2023</a:t>
            </a:r>
            <a:r>
              <a:rPr lang="zh-CN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64EDAAE-4E7C-38E2-573B-AAFC3C42A8A7}"/>
              </a:ext>
            </a:extLst>
          </p:cNvPr>
          <p:cNvSpPr txBox="1"/>
          <p:nvPr/>
        </p:nvSpPr>
        <p:spPr>
          <a:xfrm>
            <a:off x="389786" y="6511297"/>
            <a:ext cx="84938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" altLang="zh-CN" sz="1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Trocr</a:t>
            </a:r>
            <a:r>
              <a:rPr lang="en" altLang="zh-CN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Transformer-based optical character recognition with pre-trained models</a:t>
            </a:r>
            <a:r>
              <a:rPr lang="zh-CN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AAAI2023</a:t>
            </a:r>
            <a:r>
              <a:rPr lang="zh-CN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495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主要研究内容及方案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2F04F2-C95B-436F-B758-AD395AEE3757}"/>
              </a:ext>
            </a:extLst>
          </p:cNvPr>
          <p:cNvSpPr txBox="1"/>
          <p:nvPr/>
        </p:nvSpPr>
        <p:spPr>
          <a:xfrm>
            <a:off x="5521035" y="1626513"/>
            <a:ext cx="1348704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1"/>
                </a:solidFill>
                <a:latin typeface="+mj-lt"/>
              </a:rPr>
              <a:t>PART </a:t>
            </a:r>
            <a:r>
              <a:rPr lang="en-US" altLang="zh-CN" sz="2800" b="1" dirty="0">
                <a:solidFill>
                  <a:schemeClr val="accent1"/>
                </a:solidFill>
                <a:latin typeface="+mj-lt"/>
              </a:rPr>
              <a:t>II</a:t>
            </a:r>
            <a:r>
              <a:rPr lang="en-US" sz="2800" b="1" dirty="0">
                <a:solidFill>
                  <a:schemeClr val="accent1"/>
                </a:solidFill>
                <a:latin typeface="+mj-lt"/>
              </a:rPr>
              <a:t>I</a:t>
            </a:r>
            <a:endParaRPr lang="en-MY" sz="28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89697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98EC8-31AC-4DAC-B9CE-0BA372C9A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主要研究内容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动态感知的表格预处理</a:t>
            </a:r>
            <a:endParaRPr lang="en-MY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B9D8967-6AC0-004D-8546-7267A71B2B1E}"/>
              </a:ext>
            </a:extLst>
          </p:cNvPr>
          <p:cNvSpPr/>
          <p:nvPr/>
        </p:nvSpPr>
        <p:spPr>
          <a:xfrm>
            <a:off x="1599079" y="1341346"/>
            <a:ext cx="2016224" cy="72008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/>
              <a:t>固定预处理流程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5326A8-D028-9745-87A3-FF89105AE5CE}"/>
              </a:ext>
            </a:extLst>
          </p:cNvPr>
          <p:cNvSpPr/>
          <p:nvPr/>
        </p:nvSpPr>
        <p:spPr>
          <a:xfrm>
            <a:off x="4966675" y="1342266"/>
            <a:ext cx="2016224" cy="72008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/>
              <a:t>动态感知的预处理</a:t>
            </a:r>
          </a:p>
        </p:txBody>
      </p:sp>
      <p:cxnSp>
        <p:nvCxnSpPr>
          <p:cNvPr id="9" name="直线箭头连接符 84">
            <a:extLst>
              <a:ext uri="{FF2B5EF4-FFF2-40B4-BE49-F238E27FC236}">
                <a16:creationId xmlns:a16="http://schemas.microsoft.com/office/drawing/2014/main" id="{3AD119F7-C0F6-4742-BA68-176EA85CFA07}"/>
              </a:ext>
            </a:extLst>
          </p:cNvPr>
          <p:cNvCxnSpPr>
            <a:cxnSpLocks/>
          </p:cNvCxnSpPr>
          <p:nvPr/>
        </p:nvCxnSpPr>
        <p:spPr>
          <a:xfrm>
            <a:off x="4386459" y="1714343"/>
            <a:ext cx="107105" cy="0"/>
          </a:xfrm>
          <a:prstGeom prst="straightConnector1">
            <a:avLst/>
          </a:prstGeom>
          <a:ln w="50800">
            <a:solidFill>
              <a:srgbClr val="2851D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6BA6F678-F82A-5A46-88AD-2CF9E5B1E5C9}"/>
              </a:ext>
            </a:extLst>
          </p:cNvPr>
          <p:cNvSpPr/>
          <p:nvPr/>
        </p:nvSpPr>
        <p:spPr>
          <a:xfrm>
            <a:off x="1038886" y="2557766"/>
            <a:ext cx="2016224" cy="5274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结合大模型的表格检测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72319FE-AA08-994C-8FAF-852D527B2022}"/>
              </a:ext>
            </a:extLst>
          </p:cNvPr>
          <p:cNvSpPr/>
          <p:nvPr/>
        </p:nvSpPr>
        <p:spPr>
          <a:xfrm>
            <a:off x="1038897" y="3484778"/>
            <a:ext cx="2016213" cy="5274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裁剪的表格图片</a:t>
            </a:r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50F105A6-DF21-5D43-A989-2E219413B850}"/>
              </a:ext>
            </a:extLst>
          </p:cNvPr>
          <p:cNvCxnSpPr>
            <a:cxnSpLocks/>
          </p:cNvCxnSpPr>
          <p:nvPr/>
        </p:nvCxnSpPr>
        <p:spPr>
          <a:xfrm>
            <a:off x="2046998" y="3239321"/>
            <a:ext cx="0" cy="189679"/>
          </a:xfrm>
          <a:prstGeom prst="straightConnector1">
            <a:avLst/>
          </a:prstGeom>
          <a:ln w="38100">
            <a:solidFill>
              <a:srgbClr val="2851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AC273960-7DCA-4C4D-AE13-385A1EBE2C8F}"/>
              </a:ext>
            </a:extLst>
          </p:cNvPr>
          <p:cNvCxnSpPr>
            <a:cxnSpLocks/>
          </p:cNvCxnSpPr>
          <p:nvPr/>
        </p:nvCxnSpPr>
        <p:spPr>
          <a:xfrm>
            <a:off x="2046998" y="4149080"/>
            <a:ext cx="0" cy="189679"/>
          </a:xfrm>
          <a:prstGeom prst="straightConnector1">
            <a:avLst/>
          </a:prstGeom>
          <a:ln w="38100">
            <a:solidFill>
              <a:srgbClr val="2851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: 圆角 18">
            <a:extLst>
              <a:ext uri="{FF2B5EF4-FFF2-40B4-BE49-F238E27FC236}">
                <a16:creationId xmlns:a16="http://schemas.microsoft.com/office/drawing/2014/main" id="{3BCDAB49-AE19-F14C-B9D0-997942C315FF}"/>
              </a:ext>
            </a:extLst>
          </p:cNvPr>
          <p:cNvSpPr/>
          <p:nvPr/>
        </p:nvSpPr>
        <p:spPr>
          <a:xfrm>
            <a:off x="3870681" y="2570370"/>
            <a:ext cx="1693095" cy="364571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b="1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客观量化指标评分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101A6245-3A16-8C4D-A67D-FD3C1EF89916}"/>
                  </a:ext>
                </a:extLst>
              </p:cNvPr>
              <p:cNvSpPr txBox="1"/>
              <p:nvPr/>
            </p:nvSpPr>
            <p:spPr>
              <a:xfrm>
                <a:off x="3427019" y="3182485"/>
                <a:ext cx="2952328" cy="8888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m:rPr>
                          <m:lit/>
                        </m:rPr>
                        <a:rPr lang="zh-CN" altLang="en-US" sz="1600" i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𝑜𝑏𝑗𝑒𝑐𝑡𝑖𝑣𝑒</m:t>
                      </m:r>
                      <m:d>
                        <m:d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zh-CN" altLang="en-US" sz="1600" i="0">
                              <a:latin typeface="Cambria Math" panose="02040503050406030204" pitchFamily="18" charset="0"/>
                            </a:rPr>
                            <m:t>ₖ</m:t>
                          </m:r>
                        </m:e>
                      </m:d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₁ ∗ 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𝑆h𝑎𝑟𝑝𝑛𝑒𝑠𝑠</m:t>
                          </m:r>
                          <m:d>
                            <m:dPr>
                              <m:ctrlP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zh-CN" altLang="en-US" sz="1600" i="0">
                                  <a:latin typeface="Cambria Math" panose="02040503050406030204" pitchFamily="18" charset="0"/>
                                </a:rPr>
                                <m:t>ₖ</m:t>
                              </m:r>
                            </m:e>
                          </m:d>
                        </m:e>
                      </m:d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₂ ∗ 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𝐶𝑜𝑛𝑡𝑟𝑎𝑠𝑡</m:t>
                          </m:r>
                          <m:d>
                            <m:dPr>
                              <m:ctrlP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zh-CN" altLang="en-US" sz="1600" i="0">
                                  <a:latin typeface="Cambria Math" panose="02040503050406030204" pitchFamily="18" charset="0"/>
                                </a:rPr>
                                <m:t>ₖ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101A6245-3A16-8C4D-A67D-FD3C1EF899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7019" y="3182485"/>
                <a:ext cx="2952328" cy="888833"/>
              </a:xfrm>
              <a:prstGeom prst="rect">
                <a:avLst/>
              </a:prstGeom>
              <a:blipFill>
                <a:blip r:embed="rId4"/>
                <a:stretch>
                  <a:fillRect b="-42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线箭头连接符 84">
            <a:extLst>
              <a:ext uri="{FF2B5EF4-FFF2-40B4-BE49-F238E27FC236}">
                <a16:creationId xmlns:a16="http://schemas.microsoft.com/office/drawing/2014/main" id="{63B9F64C-E09B-9547-B72C-FA13C9569C43}"/>
              </a:ext>
            </a:extLst>
          </p:cNvPr>
          <p:cNvCxnSpPr>
            <a:cxnSpLocks/>
          </p:cNvCxnSpPr>
          <p:nvPr/>
        </p:nvCxnSpPr>
        <p:spPr>
          <a:xfrm>
            <a:off x="7761187" y="1714343"/>
            <a:ext cx="107105" cy="0"/>
          </a:xfrm>
          <a:prstGeom prst="straightConnector1">
            <a:avLst/>
          </a:prstGeom>
          <a:ln w="50800">
            <a:solidFill>
              <a:srgbClr val="2851D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FD711135-6860-E844-9730-D829F18F3192}"/>
              </a:ext>
            </a:extLst>
          </p:cNvPr>
          <p:cNvSpPr/>
          <p:nvPr/>
        </p:nvSpPr>
        <p:spPr>
          <a:xfrm>
            <a:off x="8400256" y="1347704"/>
            <a:ext cx="2016224" cy="72008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/>
              <a:t>多路线，评分机制</a:t>
            </a:r>
          </a:p>
        </p:txBody>
      </p:sp>
      <p:sp>
        <p:nvSpPr>
          <p:cNvPr id="28" name="矩形: 圆角 18">
            <a:extLst>
              <a:ext uri="{FF2B5EF4-FFF2-40B4-BE49-F238E27FC236}">
                <a16:creationId xmlns:a16="http://schemas.microsoft.com/office/drawing/2014/main" id="{4E17FF7B-3D27-214C-AB0E-E6E727B0D87F}"/>
              </a:ext>
            </a:extLst>
          </p:cNvPr>
          <p:cNvSpPr/>
          <p:nvPr/>
        </p:nvSpPr>
        <p:spPr>
          <a:xfrm>
            <a:off x="6379347" y="2557766"/>
            <a:ext cx="2016224" cy="364571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b="1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大模型主观语义评分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827329A1-E7EC-984C-86C9-D27A2DAC5ED6}"/>
                  </a:ext>
                </a:extLst>
              </p:cNvPr>
              <p:cNvSpPr txBox="1"/>
              <p:nvPr/>
            </p:nvSpPr>
            <p:spPr>
              <a:xfrm>
                <a:off x="6435792" y="3164883"/>
                <a:ext cx="1832910" cy="8962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m:rPr>
                          <m:lit/>
                        </m:rPr>
                        <a:rPr lang="zh-CN" altLang="en-US" sz="1600" i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𝐿𝐿𝑀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𝐿𝐿𝑀</m:t>
                      </m:r>
                    </m:oMath>
                  </m:oMathPara>
                </a14:m>
                <a:endParaRPr lang="en-US" altLang="zh-CN" sz="16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“</m:t>
                      </m:r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表格线连贯性</m:t>
                      </m:r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”</m:t>
                      </m:r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、</m:t>
                      </m:r>
                    </m:oMath>
                  </m:oMathPara>
                </a14:m>
                <a:endParaRPr lang="en-US" altLang="zh-CN" sz="12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“</m:t>
                      </m:r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文字可读性</m:t>
                      </m:r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”</m:t>
                      </m:r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、</m:t>
                      </m:r>
                    </m:oMath>
                  </m:oMathPara>
                </a14:m>
                <a:endParaRPr lang="en-US" altLang="zh-CN" sz="12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zh-CN" altLang="en-US" sz="1200" b="0" i="1" smtClean="0">
                        <a:latin typeface="Cambria Math" panose="02040503050406030204" pitchFamily="18" charset="0"/>
                      </a:rPr>
                      <m:t>        </m:t>
                    </m:r>
                    <m:r>
                      <a:rPr lang="zh-CN" altLang="en-US" sz="1200" i="1">
                        <a:latin typeface="Cambria Math" panose="02040503050406030204" pitchFamily="18" charset="0"/>
                      </a:rPr>
                      <m:t>“</m:t>
                    </m:r>
                    <m:r>
                      <a:rPr lang="zh-CN" altLang="en-US" sz="1200" i="1">
                        <a:latin typeface="Cambria Math" panose="02040503050406030204" pitchFamily="18" charset="0"/>
                      </a:rPr>
                      <m:t>整体感官质量</m:t>
                    </m:r>
                    <m:r>
                      <a:rPr lang="zh-CN" altLang="en-US" sz="1200" i="1">
                        <a:latin typeface="Cambria Math" panose="02040503050406030204" pitchFamily="18" charset="0"/>
                      </a:rPr>
                      <m:t>”</m:t>
                    </m:r>
                    <m:r>
                      <a:rPr lang="zh-CN" altLang="en-US" sz="1200" i="1" smtClean="0">
                        <a:latin typeface="Cambria Math" panose="02040503050406030204" pitchFamily="18" charset="0"/>
                      </a:rPr>
                      <m:t>等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200" dirty="0"/>
                  <a:t> </a:t>
                </a: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827329A1-E7EC-984C-86C9-D27A2DAC5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5792" y="3164883"/>
                <a:ext cx="1832910" cy="896271"/>
              </a:xfrm>
              <a:prstGeom prst="rect">
                <a:avLst/>
              </a:prstGeom>
              <a:blipFill>
                <a:blip r:embed="rId5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加号 30">
            <a:extLst>
              <a:ext uri="{FF2B5EF4-FFF2-40B4-BE49-F238E27FC236}">
                <a16:creationId xmlns:a16="http://schemas.microsoft.com/office/drawing/2014/main" id="{821FDF63-9895-F743-B69C-17C39967A815}"/>
              </a:ext>
            </a:extLst>
          </p:cNvPr>
          <p:cNvSpPr/>
          <p:nvPr/>
        </p:nvSpPr>
        <p:spPr>
          <a:xfrm>
            <a:off x="5827545" y="2590644"/>
            <a:ext cx="288032" cy="307845"/>
          </a:xfrm>
          <a:prstGeom prst="mathPlus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6A0426FD-8A06-5C4E-8966-E449C09963B2}"/>
                  </a:ext>
                </a:extLst>
              </p:cNvPr>
              <p:cNvSpPr txBox="1"/>
              <p:nvPr/>
            </p:nvSpPr>
            <p:spPr>
              <a:xfrm>
                <a:off x="9060790" y="3192490"/>
                <a:ext cx="2579826" cy="8197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m:rPr>
                          <m:lit/>
                        </m:rPr>
                        <a:rPr lang="zh-CN" altLang="en-US" sz="1600" i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𝑡𝑜𝑡𝑎𝑙</m:t>
                      </m:r>
                      <m:d>
                        <m:d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zh-CN" altLang="en-US" sz="1600" i="0">
                              <a:latin typeface="Cambria Math" panose="02040503050406030204" pitchFamily="18" charset="0"/>
                            </a:rPr>
                            <m:t>ₖ</m:t>
                          </m:r>
                        </m:e>
                      </m:d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 ∗ 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m:rPr>
                          <m:lit/>
                        </m:rPr>
                        <a:rPr lang="zh-CN" altLang="en-US" sz="1600" i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𝑜𝑏𝑗𝑒𝑐𝑡𝑖𝑣𝑒</m:t>
                      </m:r>
                      <m:d>
                        <m:d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zh-CN" altLang="en-US" sz="1600" i="0">
                              <a:latin typeface="Cambria Math" panose="02040503050406030204" pitchFamily="18" charset="0"/>
                            </a:rPr>
                            <m:t>ₖ</m:t>
                          </m:r>
                        </m:e>
                      </m:d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 ∗ 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m:rPr>
                          <m:lit/>
                        </m:rPr>
                        <a:rPr lang="zh-CN" altLang="en-US" sz="1600" i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𝐿𝐿𝑀</m:t>
                      </m:r>
                      <m:d>
                        <m:d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zh-CN" altLang="en-US" sz="1600" i="0">
                              <a:latin typeface="Cambria Math" panose="02040503050406030204" pitchFamily="18" charset="0"/>
                            </a:rPr>
                            <m:t>ₖ</m:t>
                          </m:r>
                        </m:e>
                      </m:d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6A0426FD-8A06-5C4E-8966-E449C09963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0790" y="3192490"/>
                <a:ext cx="2579826" cy="819712"/>
              </a:xfrm>
              <a:prstGeom prst="rect">
                <a:avLst/>
              </a:prstGeom>
              <a:blipFill>
                <a:blip r:embed="rId6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等于 33">
            <a:extLst>
              <a:ext uri="{FF2B5EF4-FFF2-40B4-BE49-F238E27FC236}">
                <a16:creationId xmlns:a16="http://schemas.microsoft.com/office/drawing/2014/main" id="{A375A9A3-3E34-114F-B43E-80FCD05D8982}"/>
              </a:ext>
            </a:extLst>
          </p:cNvPr>
          <p:cNvSpPr/>
          <p:nvPr/>
        </p:nvSpPr>
        <p:spPr>
          <a:xfrm>
            <a:off x="8659341" y="2645211"/>
            <a:ext cx="216018" cy="189679"/>
          </a:xfrm>
          <a:prstGeom prst="mathEqual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5" name="矩形: 圆角 18">
            <a:extLst>
              <a:ext uri="{FF2B5EF4-FFF2-40B4-BE49-F238E27FC236}">
                <a16:creationId xmlns:a16="http://schemas.microsoft.com/office/drawing/2014/main" id="{1533C70F-BA84-FD44-8429-9ED53D4C0E2A}"/>
              </a:ext>
            </a:extLst>
          </p:cNvPr>
          <p:cNvSpPr/>
          <p:nvPr/>
        </p:nvSpPr>
        <p:spPr>
          <a:xfrm>
            <a:off x="9211142" y="2570369"/>
            <a:ext cx="1802692" cy="364571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b="1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最终评分</a:t>
            </a:r>
          </a:p>
        </p:txBody>
      </p: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9CE89730-4905-2142-90B1-4C9733E3A384}"/>
              </a:ext>
            </a:extLst>
          </p:cNvPr>
          <p:cNvCxnSpPr>
            <a:cxnSpLocks/>
          </p:cNvCxnSpPr>
          <p:nvPr/>
        </p:nvCxnSpPr>
        <p:spPr>
          <a:xfrm>
            <a:off x="10200456" y="4253589"/>
            <a:ext cx="0" cy="386385"/>
          </a:xfrm>
          <a:prstGeom prst="straightConnector1">
            <a:avLst/>
          </a:prstGeom>
          <a:ln w="38100">
            <a:solidFill>
              <a:srgbClr val="2851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>
            <a:extLst>
              <a:ext uri="{FF2B5EF4-FFF2-40B4-BE49-F238E27FC236}">
                <a16:creationId xmlns:a16="http://schemas.microsoft.com/office/drawing/2014/main" id="{307A0DF8-65AF-FD4C-4857-6E1222EDA1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40040" y="4931199"/>
            <a:ext cx="571248" cy="571248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E440BF3A-9570-33E2-A575-C6640CFDE261}"/>
              </a:ext>
            </a:extLst>
          </p:cNvPr>
          <p:cNvGrpSpPr/>
          <p:nvPr/>
        </p:nvGrpSpPr>
        <p:grpSpPr>
          <a:xfrm>
            <a:off x="767408" y="4584469"/>
            <a:ext cx="1863633" cy="1385948"/>
            <a:chOff x="583325" y="2413664"/>
            <a:chExt cx="1863633" cy="1385948"/>
          </a:xfrm>
          <a:noFill/>
        </p:grpSpPr>
        <p:pic>
          <p:nvPicPr>
            <p:cNvPr id="7" name="图片 6" descr="手机屏幕的截图&#10;&#10;AI 生成的内容可能不正确。">
              <a:extLst>
                <a:ext uri="{FF2B5EF4-FFF2-40B4-BE49-F238E27FC236}">
                  <a16:creationId xmlns:a16="http://schemas.microsoft.com/office/drawing/2014/main" id="{C1BEB0F1-09F4-EB68-0CBB-AFD595D4D1D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83325" y="2413664"/>
              <a:ext cx="1863633" cy="1015336"/>
            </a:xfrm>
            <a:prstGeom prst="rect">
              <a:avLst/>
            </a:prstGeom>
            <a:grpFill/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59EBD06-97CD-6826-5552-D8E9A0045DFF}"/>
                </a:ext>
              </a:extLst>
            </p:cNvPr>
            <p:cNvSpPr/>
            <p:nvPr/>
          </p:nvSpPr>
          <p:spPr>
            <a:xfrm>
              <a:off x="583325" y="3429000"/>
              <a:ext cx="1698171" cy="37061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dirty="0"/>
                <a:t>低质量图片</a:t>
              </a:r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9E8408ED-E4DE-801B-40D9-95EBFC8261CA}"/>
              </a:ext>
            </a:extLst>
          </p:cNvPr>
          <p:cNvSpPr/>
          <p:nvPr/>
        </p:nvSpPr>
        <p:spPr>
          <a:xfrm>
            <a:off x="2976578" y="5615148"/>
            <a:ext cx="1698171" cy="3706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大模型评估图片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6885626-B525-24FC-8A5A-1769E8A1AAD5}"/>
              </a:ext>
            </a:extLst>
          </p:cNvPr>
          <p:cNvSpPr/>
          <p:nvPr/>
        </p:nvSpPr>
        <p:spPr>
          <a:xfrm>
            <a:off x="4447921" y="4277922"/>
            <a:ext cx="1698171" cy="3706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路线 </a:t>
            </a:r>
            <a:r>
              <a:rPr kumimoji="1" lang="en-US" altLang="zh-CN" sz="1400" dirty="0"/>
              <a:t>1</a:t>
            </a:r>
            <a:endParaRPr kumimoji="1" lang="zh-CN" altLang="en-US" sz="14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944F20D-AA75-1C5C-8F1E-FF2067F3C23E}"/>
              </a:ext>
            </a:extLst>
          </p:cNvPr>
          <p:cNvSpPr/>
          <p:nvPr/>
        </p:nvSpPr>
        <p:spPr>
          <a:xfrm>
            <a:off x="4447920" y="5062210"/>
            <a:ext cx="1698171" cy="3706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路线 </a:t>
            </a:r>
            <a:r>
              <a:rPr kumimoji="1" lang="en-US" altLang="zh-CN" sz="1400" dirty="0"/>
              <a:t>2</a:t>
            </a:r>
            <a:endParaRPr kumimoji="1" lang="zh-CN" altLang="en-US" sz="1400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CF975C7-20E9-94B8-9A17-E2BFE19DE471}"/>
              </a:ext>
            </a:extLst>
          </p:cNvPr>
          <p:cNvSpPr/>
          <p:nvPr/>
        </p:nvSpPr>
        <p:spPr>
          <a:xfrm>
            <a:off x="4447921" y="5846498"/>
            <a:ext cx="1698171" cy="3706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路线 </a:t>
            </a:r>
            <a:r>
              <a:rPr kumimoji="1" lang="en-US" altLang="zh-CN" sz="1400" dirty="0"/>
              <a:t>3</a:t>
            </a:r>
            <a:endParaRPr kumimoji="1" lang="zh-CN" altLang="en-US" sz="1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B71FC59-521A-2195-4534-80FCEAE65A34}"/>
              </a:ext>
            </a:extLst>
          </p:cNvPr>
          <p:cNvSpPr txBox="1"/>
          <p:nvPr/>
        </p:nvSpPr>
        <p:spPr>
          <a:xfrm>
            <a:off x="5672722" y="4253589"/>
            <a:ext cx="4411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00" dirty="0"/>
              <a:t>处理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698F4A8-4C1C-0C9B-50ED-94BE0A40AECD}"/>
              </a:ext>
            </a:extLst>
          </p:cNvPr>
          <p:cNvSpPr txBox="1"/>
          <p:nvPr/>
        </p:nvSpPr>
        <p:spPr>
          <a:xfrm>
            <a:off x="5704946" y="5056328"/>
            <a:ext cx="4411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00" dirty="0"/>
              <a:t>处理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7335B0C-8D93-B481-E510-E20B25D83FF0}"/>
              </a:ext>
            </a:extLst>
          </p:cNvPr>
          <p:cNvSpPr txBox="1"/>
          <p:nvPr/>
        </p:nvSpPr>
        <p:spPr>
          <a:xfrm>
            <a:off x="5710749" y="5777572"/>
            <a:ext cx="4411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00" dirty="0"/>
              <a:t>处理</a:t>
            </a:r>
          </a:p>
          <a:p>
            <a:endParaRPr kumimoji="1" lang="zh-CN" altLang="en-US" sz="1000" dirty="0"/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7E2870E1-CD2D-5DBC-C8B0-DC8A7FB8D95D}"/>
              </a:ext>
            </a:extLst>
          </p:cNvPr>
          <p:cNvCxnSpPr>
            <a:cxnSpLocks/>
          </p:cNvCxnSpPr>
          <p:nvPr/>
        </p:nvCxnSpPr>
        <p:spPr>
          <a:xfrm>
            <a:off x="2717076" y="5288497"/>
            <a:ext cx="69368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08968072-6A6F-F9AF-200E-AB31893925CE}"/>
              </a:ext>
            </a:extLst>
          </p:cNvPr>
          <p:cNvCxnSpPr>
            <a:cxnSpLocks/>
          </p:cNvCxnSpPr>
          <p:nvPr/>
        </p:nvCxnSpPr>
        <p:spPr>
          <a:xfrm flipV="1">
            <a:off x="4242530" y="4463228"/>
            <a:ext cx="512161" cy="67085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1ED8D1A6-A073-B0FA-F007-1547BAE0743C}"/>
              </a:ext>
            </a:extLst>
          </p:cNvPr>
          <p:cNvCxnSpPr>
            <a:cxnSpLocks/>
          </p:cNvCxnSpPr>
          <p:nvPr/>
        </p:nvCxnSpPr>
        <p:spPr>
          <a:xfrm>
            <a:off x="4242530" y="5277386"/>
            <a:ext cx="69368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3599F451-50FA-0CE9-7C3B-4FBEDAB83459}"/>
              </a:ext>
            </a:extLst>
          </p:cNvPr>
          <p:cNvCxnSpPr>
            <a:cxnSpLocks/>
          </p:cNvCxnSpPr>
          <p:nvPr/>
        </p:nvCxnSpPr>
        <p:spPr>
          <a:xfrm>
            <a:off x="4242530" y="5467162"/>
            <a:ext cx="512161" cy="56464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F4EE74B8-5253-AC96-9199-C8FA714644B9}"/>
              </a:ext>
            </a:extLst>
          </p:cNvPr>
          <p:cNvCxnSpPr>
            <a:cxnSpLocks/>
          </p:cNvCxnSpPr>
          <p:nvPr/>
        </p:nvCxnSpPr>
        <p:spPr>
          <a:xfrm>
            <a:off x="5663952" y="4484634"/>
            <a:ext cx="41600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线箭头连接符 38">
            <a:extLst>
              <a:ext uri="{FF2B5EF4-FFF2-40B4-BE49-F238E27FC236}">
                <a16:creationId xmlns:a16="http://schemas.microsoft.com/office/drawing/2014/main" id="{3B9D33CD-5E9D-138C-1560-FC5EFE0E60BA}"/>
              </a:ext>
            </a:extLst>
          </p:cNvPr>
          <p:cNvCxnSpPr>
            <a:cxnSpLocks/>
          </p:cNvCxnSpPr>
          <p:nvPr/>
        </p:nvCxnSpPr>
        <p:spPr>
          <a:xfrm>
            <a:off x="5676524" y="5305247"/>
            <a:ext cx="41600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28F9DD1C-F5CC-8F3D-2AFD-7F3F846F3D3C}"/>
              </a:ext>
            </a:extLst>
          </p:cNvPr>
          <p:cNvCxnSpPr>
            <a:cxnSpLocks/>
          </p:cNvCxnSpPr>
          <p:nvPr/>
        </p:nvCxnSpPr>
        <p:spPr>
          <a:xfrm>
            <a:off x="5689097" y="6054929"/>
            <a:ext cx="41600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22696247-BC21-B1FA-94A5-24AFEF0C06BD}"/>
              </a:ext>
            </a:extLst>
          </p:cNvPr>
          <p:cNvGrpSpPr/>
          <p:nvPr/>
        </p:nvGrpSpPr>
        <p:grpSpPr>
          <a:xfrm>
            <a:off x="9360507" y="4907421"/>
            <a:ext cx="1698171" cy="1215017"/>
            <a:chOff x="9070428" y="2584595"/>
            <a:chExt cx="1698171" cy="1215017"/>
          </a:xfrm>
        </p:grpSpPr>
        <p:pic>
          <p:nvPicPr>
            <p:cNvPr id="50" name="图片 49" descr="手机屏幕截图&#10;&#10;AI 生成的内容可能不正确。">
              <a:extLst>
                <a:ext uri="{FF2B5EF4-FFF2-40B4-BE49-F238E27FC236}">
                  <a16:creationId xmlns:a16="http://schemas.microsoft.com/office/drawing/2014/main" id="{6DF8E0FE-77E2-6783-B560-93FF72FE90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5836" t="1436" r="6265" b="21747"/>
            <a:stretch>
              <a:fillRect/>
            </a:stretch>
          </p:blipFill>
          <p:spPr>
            <a:xfrm>
              <a:off x="9070428" y="2584595"/>
              <a:ext cx="1645919" cy="673474"/>
            </a:xfrm>
            <a:prstGeom prst="rect">
              <a:avLst/>
            </a:prstGeom>
          </p:spPr>
        </p:pic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ED185175-6801-9860-A67F-839531758FA4}"/>
                </a:ext>
              </a:extLst>
            </p:cNvPr>
            <p:cNvSpPr/>
            <p:nvPr/>
          </p:nvSpPr>
          <p:spPr>
            <a:xfrm>
              <a:off x="9070428" y="3429000"/>
              <a:ext cx="1698171" cy="3706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dirty="0"/>
                <a:t>高质量图片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69A02A2D-E555-AC78-FE33-6785D37617F2}"/>
                  </a:ext>
                </a:extLst>
              </p:cNvPr>
              <p:cNvSpPr txBox="1"/>
              <p:nvPr/>
            </p:nvSpPr>
            <p:spPr>
              <a:xfrm>
                <a:off x="7182423" y="4306968"/>
                <a:ext cx="122348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40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m:rPr>
                          <m:lit/>
                        </m:rPr>
                        <a:rPr lang="zh-CN" altLang="en-US" sz="1400" i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zh-CN" altLang="en-US" sz="1400" i="1">
                          <a:latin typeface="Cambria Math" panose="02040503050406030204" pitchFamily="18" charset="0"/>
                        </a:rPr>
                        <m:t>𝑡𝑜𝑡𝑎𝑙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_1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69A02A2D-E555-AC78-FE33-6785D3761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2423" y="4306968"/>
                <a:ext cx="1223480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0BA3CDE6-A47E-2D2B-4E3E-9E77E967ADE0}"/>
                  </a:ext>
                </a:extLst>
              </p:cNvPr>
              <p:cNvSpPr txBox="1"/>
              <p:nvPr/>
            </p:nvSpPr>
            <p:spPr>
              <a:xfrm>
                <a:off x="6672064" y="5076934"/>
                <a:ext cx="224419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40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m:rPr>
                          <m:lit/>
                        </m:rPr>
                        <a:rPr lang="zh-CN" altLang="en-US" sz="1400" i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zh-CN" altLang="en-US" sz="1400" i="1">
                          <a:latin typeface="Cambria Math" panose="02040503050406030204" pitchFamily="18" charset="0"/>
                        </a:rPr>
                        <m:t>𝑡𝑜𝑡𝑎𝑙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_2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0BA3CDE6-A47E-2D2B-4E3E-9E77E967A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064" y="5076934"/>
                <a:ext cx="2244199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364D488B-6929-44AB-6E2B-B19ABDF2C2E0}"/>
                  </a:ext>
                </a:extLst>
              </p:cNvPr>
              <p:cNvSpPr txBox="1"/>
              <p:nvPr/>
            </p:nvSpPr>
            <p:spPr>
              <a:xfrm>
                <a:off x="7119002" y="5877263"/>
                <a:ext cx="135032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40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m:rPr>
                          <m:lit/>
                        </m:rPr>
                        <a:rPr lang="zh-CN" altLang="en-US" sz="1400" i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zh-CN" altLang="en-US" sz="1400" i="1">
                          <a:latin typeface="Cambria Math" panose="02040503050406030204" pitchFamily="18" charset="0"/>
                        </a:rPr>
                        <m:t>𝑡𝑜𝑡𝑎𝑙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_3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364D488B-6929-44AB-6E2B-B19ABDF2C2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9002" y="5877263"/>
                <a:ext cx="1350324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直线箭头连接符 45">
            <a:extLst>
              <a:ext uri="{FF2B5EF4-FFF2-40B4-BE49-F238E27FC236}">
                <a16:creationId xmlns:a16="http://schemas.microsoft.com/office/drawing/2014/main" id="{2C70A9D6-B5FB-6749-BF35-BF4FDC9885C8}"/>
              </a:ext>
            </a:extLst>
          </p:cNvPr>
          <p:cNvCxnSpPr>
            <a:cxnSpLocks/>
          </p:cNvCxnSpPr>
          <p:nvPr/>
        </p:nvCxnSpPr>
        <p:spPr>
          <a:xfrm>
            <a:off x="8330075" y="4467113"/>
            <a:ext cx="690030" cy="39175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234CCE22-F77C-B2BE-9812-3B0BED7C0874}"/>
              </a:ext>
            </a:extLst>
          </p:cNvPr>
          <p:cNvCxnSpPr/>
          <p:nvPr/>
        </p:nvCxnSpPr>
        <p:spPr>
          <a:xfrm>
            <a:off x="8328248" y="5253608"/>
            <a:ext cx="69368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D2621044-0D39-6CBF-2D60-B9F0F6B62AE1}"/>
              </a:ext>
            </a:extLst>
          </p:cNvPr>
          <p:cNvCxnSpPr>
            <a:cxnSpLocks/>
          </p:cNvCxnSpPr>
          <p:nvPr/>
        </p:nvCxnSpPr>
        <p:spPr>
          <a:xfrm flipV="1">
            <a:off x="8328248" y="5602779"/>
            <a:ext cx="691857" cy="40524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8E77DAAD-E411-B6F5-B072-F5D477071256}"/>
              </a:ext>
            </a:extLst>
          </p:cNvPr>
          <p:cNvSpPr txBox="1"/>
          <p:nvPr/>
        </p:nvSpPr>
        <p:spPr>
          <a:xfrm>
            <a:off x="8537853" y="4352921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选择最高分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AE9ECF4-85D6-F3B1-AC07-46AE4175EDF5}"/>
              </a:ext>
            </a:extLst>
          </p:cNvPr>
          <p:cNvSpPr/>
          <p:nvPr/>
        </p:nvSpPr>
        <p:spPr>
          <a:xfrm>
            <a:off x="5591945" y="4314504"/>
            <a:ext cx="1698171" cy="3706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图片 </a:t>
            </a:r>
            <a:r>
              <a:rPr kumimoji="1" lang="en-US" altLang="zh-CN" sz="1400" dirty="0"/>
              <a:t>1</a:t>
            </a:r>
            <a:endParaRPr kumimoji="1" lang="zh-CN" altLang="en-US" sz="1400" dirty="0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A75B12CB-482C-0B4C-A0DD-4817C9BE5A99}"/>
              </a:ext>
            </a:extLst>
          </p:cNvPr>
          <p:cNvSpPr/>
          <p:nvPr/>
        </p:nvSpPr>
        <p:spPr>
          <a:xfrm>
            <a:off x="5591944" y="5098792"/>
            <a:ext cx="1698171" cy="3706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图片 </a:t>
            </a:r>
            <a:r>
              <a:rPr kumimoji="1" lang="en-US" altLang="zh-CN" sz="1400" dirty="0"/>
              <a:t>2</a:t>
            </a:r>
            <a:endParaRPr kumimoji="1" lang="zh-CN" altLang="en-US" sz="1400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99B1921-6092-E166-7CF2-F415EA62858A}"/>
              </a:ext>
            </a:extLst>
          </p:cNvPr>
          <p:cNvSpPr/>
          <p:nvPr/>
        </p:nvSpPr>
        <p:spPr>
          <a:xfrm>
            <a:off x="5591945" y="5883080"/>
            <a:ext cx="1698171" cy="3706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图片 </a:t>
            </a:r>
            <a:r>
              <a:rPr kumimoji="1" lang="en-US" altLang="zh-CN" sz="1400" dirty="0"/>
              <a:t>3</a:t>
            </a:r>
            <a:endParaRPr kumimoji="1" lang="zh-CN" altLang="en-US" sz="1400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953B0ED-78B7-EAD6-DBEC-0ABB66340010}"/>
              </a:ext>
            </a:extLst>
          </p:cNvPr>
          <p:cNvSpPr txBox="1"/>
          <p:nvPr/>
        </p:nvSpPr>
        <p:spPr>
          <a:xfrm>
            <a:off x="6816746" y="4290171"/>
            <a:ext cx="4411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00" dirty="0"/>
              <a:t>评分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73D9FF7F-FB45-A2FB-71F9-46640BC94959}"/>
              </a:ext>
            </a:extLst>
          </p:cNvPr>
          <p:cNvSpPr txBox="1"/>
          <p:nvPr/>
        </p:nvSpPr>
        <p:spPr>
          <a:xfrm>
            <a:off x="6848970" y="5092910"/>
            <a:ext cx="4411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00" dirty="0"/>
              <a:t>评分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A613E29B-2CF6-5A4A-C6A3-20C28942D1C8}"/>
              </a:ext>
            </a:extLst>
          </p:cNvPr>
          <p:cNvSpPr txBox="1"/>
          <p:nvPr/>
        </p:nvSpPr>
        <p:spPr>
          <a:xfrm>
            <a:off x="6854773" y="5814154"/>
            <a:ext cx="4411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00" dirty="0"/>
              <a:t>评分</a:t>
            </a:r>
          </a:p>
        </p:txBody>
      </p:sp>
      <p:cxnSp>
        <p:nvCxnSpPr>
          <p:cNvPr id="58" name="直线箭头连接符 57">
            <a:extLst>
              <a:ext uri="{FF2B5EF4-FFF2-40B4-BE49-F238E27FC236}">
                <a16:creationId xmlns:a16="http://schemas.microsoft.com/office/drawing/2014/main" id="{89C2673D-B051-3BFE-D262-F79981FFD017}"/>
              </a:ext>
            </a:extLst>
          </p:cNvPr>
          <p:cNvCxnSpPr>
            <a:cxnSpLocks/>
          </p:cNvCxnSpPr>
          <p:nvPr/>
        </p:nvCxnSpPr>
        <p:spPr>
          <a:xfrm>
            <a:off x="6841016" y="4521216"/>
            <a:ext cx="41600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91B1DEFC-EF82-8311-DD00-6BA3B250F37D}"/>
              </a:ext>
            </a:extLst>
          </p:cNvPr>
          <p:cNvCxnSpPr>
            <a:cxnSpLocks/>
          </p:cNvCxnSpPr>
          <p:nvPr/>
        </p:nvCxnSpPr>
        <p:spPr>
          <a:xfrm>
            <a:off x="6853588" y="5341829"/>
            <a:ext cx="41600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线箭头连接符 59">
            <a:extLst>
              <a:ext uri="{FF2B5EF4-FFF2-40B4-BE49-F238E27FC236}">
                <a16:creationId xmlns:a16="http://schemas.microsoft.com/office/drawing/2014/main" id="{6A21A654-CCF9-47FF-E816-B2B29588E5D3}"/>
              </a:ext>
            </a:extLst>
          </p:cNvPr>
          <p:cNvCxnSpPr>
            <a:cxnSpLocks/>
          </p:cNvCxnSpPr>
          <p:nvPr/>
        </p:nvCxnSpPr>
        <p:spPr>
          <a:xfrm>
            <a:off x="6866161" y="6091511"/>
            <a:ext cx="41600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6498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圆角矩形 43">
            <a:extLst>
              <a:ext uri="{FF2B5EF4-FFF2-40B4-BE49-F238E27FC236}">
                <a16:creationId xmlns:a16="http://schemas.microsoft.com/office/drawing/2014/main" id="{BA014CDE-9D1C-C249-89F0-CD363A5E3B2F}"/>
              </a:ext>
            </a:extLst>
          </p:cNvPr>
          <p:cNvSpPr/>
          <p:nvPr/>
        </p:nvSpPr>
        <p:spPr>
          <a:xfrm>
            <a:off x="5960247" y="1328508"/>
            <a:ext cx="5760629" cy="1809040"/>
          </a:xfrm>
          <a:prstGeom prst="roundRect">
            <a:avLst/>
          </a:prstGeom>
          <a:ln w="25400"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D7F9461C-9561-2C47-9A2A-69016DCBE51D}"/>
              </a:ext>
            </a:extLst>
          </p:cNvPr>
          <p:cNvSpPr/>
          <p:nvPr/>
        </p:nvSpPr>
        <p:spPr>
          <a:xfrm>
            <a:off x="5951984" y="4869160"/>
            <a:ext cx="5760628" cy="1080120"/>
          </a:xfrm>
          <a:prstGeom prst="roundRect">
            <a:avLst/>
          </a:prstGeom>
          <a:ln w="25400"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098EC8-31AC-4DAC-B9CE-0BA372C9A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主要研究内容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上下文学习驱动的表格识别引擎</a:t>
            </a:r>
            <a:endParaRPr lang="en-MY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41FFE82-0B07-4B42-8376-B6DAF9496A92}"/>
              </a:ext>
            </a:extLst>
          </p:cNvPr>
          <p:cNvSpPr/>
          <p:nvPr/>
        </p:nvSpPr>
        <p:spPr>
          <a:xfrm>
            <a:off x="3359696" y="2547306"/>
            <a:ext cx="2016224" cy="72008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" altLang="zh-CN" dirty="0"/>
              <a:t>ICL</a:t>
            </a:r>
            <a:r>
              <a:rPr kumimoji="1" lang="zh-CN" altLang="en-US" dirty="0"/>
              <a:t>选取结构识别示例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1DCDA8A-9851-1448-979C-587A86346CC8}"/>
              </a:ext>
            </a:extLst>
          </p:cNvPr>
          <p:cNvSpPr/>
          <p:nvPr/>
        </p:nvSpPr>
        <p:spPr>
          <a:xfrm>
            <a:off x="3389199" y="1268760"/>
            <a:ext cx="2016224" cy="72008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/>
              <a:t>预处理结果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7BC208-FF2E-2E48-B123-CBC4996617D3}"/>
              </a:ext>
            </a:extLst>
          </p:cNvPr>
          <p:cNvSpPr/>
          <p:nvPr/>
        </p:nvSpPr>
        <p:spPr>
          <a:xfrm>
            <a:off x="3389199" y="3840598"/>
            <a:ext cx="2016224" cy="72008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/>
              <a:t>大模型输出是表格结构</a:t>
            </a:r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284C9EBD-3068-B348-987E-FABE8C6FCE21}"/>
              </a:ext>
            </a:extLst>
          </p:cNvPr>
          <p:cNvCxnSpPr>
            <a:cxnSpLocks/>
          </p:cNvCxnSpPr>
          <p:nvPr/>
        </p:nvCxnSpPr>
        <p:spPr>
          <a:xfrm>
            <a:off x="4383260" y="2077124"/>
            <a:ext cx="0" cy="311808"/>
          </a:xfrm>
          <a:prstGeom prst="straightConnector1">
            <a:avLst/>
          </a:prstGeom>
          <a:ln w="38100">
            <a:solidFill>
              <a:srgbClr val="2851D9"/>
            </a:solidFill>
            <a:tailEnd type="arrow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023153EB-DA62-FE4B-A088-9C7DA2332494}"/>
              </a:ext>
            </a:extLst>
          </p:cNvPr>
          <p:cNvCxnSpPr>
            <a:cxnSpLocks/>
          </p:cNvCxnSpPr>
          <p:nvPr/>
        </p:nvCxnSpPr>
        <p:spPr>
          <a:xfrm>
            <a:off x="4397516" y="3356992"/>
            <a:ext cx="0" cy="360040"/>
          </a:xfrm>
          <a:prstGeom prst="straightConnector1">
            <a:avLst/>
          </a:prstGeom>
          <a:ln w="38100">
            <a:solidFill>
              <a:srgbClr val="2851D9"/>
            </a:solidFill>
            <a:tailEnd type="arrow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197500CE-1CB8-D848-9230-B11E69175585}"/>
              </a:ext>
            </a:extLst>
          </p:cNvPr>
          <p:cNvSpPr txBox="1"/>
          <p:nvPr/>
        </p:nvSpPr>
        <p:spPr>
          <a:xfrm>
            <a:off x="5321799" y="2490817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zh-CN" dirty="0"/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F39D4EB0-4EBC-544D-B56C-2CF7A1EAD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934355"/>
            <a:ext cx="5202399" cy="8454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A69629A9-44D4-6A44-8573-B11FB0781AA5}"/>
                  </a:ext>
                </a:extLst>
              </p:cNvPr>
              <p:cNvSpPr txBox="1"/>
              <p:nvPr/>
            </p:nvSpPr>
            <p:spPr>
              <a:xfrm>
                <a:off x="5830590" y="1456533"/>
                <a:ext cx="6098058" cy="9321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​=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𝑎𝑟𝑔𝑚𝑎𝑥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⊂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 ∣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∣=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​[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𝑆𝑖𝑚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​)+(1−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)⋅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𝐷𝑖𝑣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zh-CN" altLang="zh-CN" dirty="0"/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A69629A9-44D4-6A44-8573-B11FB0781A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590" y="1456533"/>
                <a:ext cx="6098058" cy="9321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41A43042-18BA-6A40-8673-1DEAD82DBBE1}"/>
                  </a:ext>
                </a:extLst>
              </p:cNvPr>
              <p:cNvSpPr txBox="1"/>
              <p:nvPr/>
            </p:nvSpPr>
            <p:spPr>
              <a:xfrm>
                <a:off x="6240016" y="2516672"/>
                <a:ext cx="609805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zh-CN" sz="18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基于</a:t>
                </a:r>
                <a:r>
                  <a:rPr lang="zh-CN" altLang="zh-CN" sz="1800" b="1" dirty="0">
                    <a:solidFill>
                      <a:srgbClr val="C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语义相似度</a:t>
                </a:r>
                <a:r>
                  <a:rPr lang="zh-CN" altLang="zh-CN" sz="18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的选择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𝑠𝑖𝑚</m:t>
                        </m:r>
                      </m:sub>
                    </m:sSub>
                  </m:oMath>
                </a14:m>
                <a:r>
                  <a:rPr lang="en-US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​</a:t>
                </a:r>
                <a:r>
                  <a:rPr lang="zh-CN" altLang="zh-CN" sz="18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:r>
                  <a:rPr lang="zh-CN" altLang="zh-CN" sz="1800" b="1" dirty="0">
                    <a:solidFill>
                      <a:srgbClr val="C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基于多样性</a:t>
                </a:r>
                <a:r>
                  <a:rPr lang="zh-CN" altLang="zh-CN" sz="18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的选择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𝑑𝑖𝑣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41A43042-18BA-6A40-8673-1DEAD82DBB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0016" y="2516672"/>
                <a:ext cx="6098058" cy="369332"/>
              </a:xfrm>
              <a:prstGeom prst="rect">
                <a:avLst/>
              </a:prstGeom>
              <a:blipFill>
                <a:blip r:embed="rId6"/>
                <a:stretch>
                  <a:fillRect l="-832" t="-16667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直线箭头连接符 44">
            <a:extLst>
              <a:ext uri="{FF2B5EF4-FFF2-40B4-BE49-F238E27FC236}">
                <a16:creationId xmlns:a16="http://schemas.microsoft.com/office/drawing/2014/main" id="{97488432-E981-654C-A7F6-86E6CFFFCE0B}"/>
              </a:ext>
            </a:extLst>
          </p:cNvPr>
          <p:cNvCxnSpPr>
            <a:cxnSpLocks/>
          </p:cNvCxnSpPr>
          <p:nvPr/>
        </p:nvCxnSpPr>
        <p:spPr>
          <a:xfrm>
            <a:off x="7896200" y="3284984"/>
            <a:ext cx="0" cy="1296144"/>
          </a:xfrm>
          <a:prstGeom prst="straightConnector1">
            <a:avLst/>
          </a:prstGeom>
          <a:ln w="38100">
            <a:solidFill>
              <a:srgbClr val="2851D9"/>
            </a:solidFill>
            <a:tailEnd type="arrow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925181B1-1604-DE49-A42C-C32DC862A8B7}"/>
              </a:ext>
            </a:extLst>
          </p:cNvPr>
          <p:cNvSpPr txBox="1"/>
          <p:nvPr/>
        </p:nvSpPr>
        <p:spPr>
          <a:xfrm>
            <a:off x="8207018" y="3809945"/>
            <a:ext cx="2164054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/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选取</a:t>
            </a:r>
            <a:r>
              <a:rPr lang="zh-CN" altLang="zh-CN" sz="1600" dirty="0">
                <a:effectLst/>
                <a:ea typeface="Times New Roman" panose="02020603050405020304" pitchFamily="18" charset="0"/>
              </a:rPr>
              <a:t>3-5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个结构识别示例</a:t>
            </a:r>
            <a:r>
              <a:rPr lang="zh-CN" altLang="zh-CN" sz="1600" dirty="0">
                <a:effectLst/>
              </a:rPr>
              <a:t> </a:t>
            </a:r>
            <a:endParaRPr kumimoji="1" lang="zh-CN" altLang="en-US" sz="1600" dirty="0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2AB0D66-39E3-494E-9F63-AF2AAD065B00}"/>
              </a:ext>
            </a:extLst>
          </p:cNvPr>
          <p:cNvSpPr/>
          <p:nvPr/>
        </p:nvSpPr>
        <p:spPr>
          <a:xfrm>
            <a:off x="3389199" y="5188782"/>
            <a:ext cx="2016224" cy="72008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/>
              <a:t>大模型进行内容识别</a:t>
            </a:r>
          </a:p>
        </p:txBody>
      </p: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EA660F13-A9B7-3449-A1C3-8EC56F0AD320}"/>
              </a:ext>
            </a:extLst>
          </p:cNvPr>
          <p:cNvCxnSpPr>
            <a:cxnSpLocks/>
          </p:cNvCxnSpPr>
          <p:nvPr/>
        </p:nvCxnSpPr>
        <p:spPr>
          <a:xfrm>
            <a:off x="4367808" y="4725144"/>
            <a:ext cx="0" cy="360040"/>
          </a:xfrm>
          <a:prstGeom prst="straightConnector1">
            <a:avLst/>
          </a:prstGeom>
          <a:ln w="38100">
            <a:solidFill>
              <a:srgbClr val="2851D9"/>
            </a:solidFill>
            <a:tailEnd type="arrow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箭头连接符 84">
            <a:extLst>
              <a:ext uri="{FF2B5EF4-FFF2-40B4-BE49-F238E27FC236}">
                <a16:creationId xmlns:a16="http://schemas.microsoft.com/office/drawing/2014/main" id="{9695DFA2-3157-6B4A-AAAA-747A89ACF56B}"/>
              </a:ext>
            </a:extLst>
          </p:cNvPr>
          <p:cNvCxnSpPr>
            <a:cxnSpLocks/>
          </p:cNvCxnSpPr>
          <p:nvPr/>
        </p:nvCxnSpPr>
        <p:spPr>
          <a:xfrm>
            <a:off x="5663952" y="2886004"/>
            <a:ext cx="107105" cy="0"/>
          </a:xfrm>
          <a:prstGeom prst="straightConnector1">
            <a:avLst/>
          </a:prstGeom>
          <a:ln w="50800">
            <a:solidFill>
              <a:srgbClr val="2851D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F1CA96DF-D2A5-708D-D797-A4F9B360E4DF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57" r="30760"/>
          <a:stretch>
            <a:fillRect/>
          </a:stretch>
        </p:blipFill>
        <p:spPr bwMode="auto">
          <a:xfrm>
            <a:off x="132883" y="1226487"/>
            <a:ext cx="2945499" cy="479480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22019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98EC8-31AC-4DAC-B9CE-0BA372C9A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主要研究内容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大模型表格识别决策框架</a:t>
            </a:r>
            <a:endParaRPr lang="en-MY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A88F80A-AC7D-624E-9DAD-9754CD6A03ED}"/>
              </a:ext>
            </a:extLst>
          </p:cNvPr>
          <p:cNvSpPr/>
          <p:nvPr/>
        </p:nvSpPr>
        <p:spPr>
          <a:xfrm>
            <a:off x="6096000" y="1487008"/>
            <a:ext cx="3138849" cy="72008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/>
              <a:t>浏览器</a:t>
            </a:r>
            <a:r>
              <a:rPr kumimoji="1" lang="en-US" altLang="zh-CN" dirty="0"/>
              <a:t>/</a:t>
            </a:r>
            <a:r>
              <a:rPr kumimoji="1" lang="zh-CN" altLang="en-US" dirty="0"/>
              <a:t>服务器（</a:t>
            </a:r>
            <a:r>
              <a:rPr kumimoji="1" lang="en" altLang="zh-CN" dirty="0"/>
              <a:t>B/S</a:t>
            </a:r>
            <a:r>
              <a:rPr kumimoji="1" lang="zh-CN" altLang="en" dirty="0"/>
              <a:t>）</a:t>
            </a:r>
            <a:r>
              <a:rPr kumimoji="1" lang="zh-CN" altLang="en-US" dirty="0"/>
              <a:t>模式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0C75097-7842-8348-9A2E-8EDD0EEAA5DD}"/>
              </a:ext>
            </a:extLst>
          </p:cNvPr>
          <p:cNvSpPr/>
          <p:nvPr/>
        </p:nvSpPr>
        <p:spPr>
          <a:xfrm>
            <a:off x="4468152" y="3491987"/>
            <a:ext cx="2491944" cy="72008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/>
              <a:t>前端操作界面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C0EFBD6-BB8E-1D4A-92AE-728DA8A78467}"/>
              </a:ext>
            </a:extLst>
          </p:cNvPr>
          <p:cNvSpPr/>
          <p:nvPr/>
        </p:nvSpPr>
        <p:spPr>
          <a:xfrm>
            <a:off x="8407769" y="3491987"/>
            <a:ext cx="2491944" cy="72008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/>
              <a:t>后端服务器</a:t>
            </a:r>
          </a:p>
        </p:txBody>
      </p:sp>
      <p:pic>
        <p:nvPicPr>
          <p:cNvPr id="12" name="图形 11">
            <a:extLst>
              <a:ext uri="{FF2B5EF4-FFF2-40B4-BE49-F238E27FC236}">
                <a16:creationId xmlns:a16="http://schemas.microsoft.com/office/drawing/2014/main" id="{F18D9EA6-BDA5-7944-A883-E5A6CA30F1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92062" y="3639661"/>
            <a:ext cx="572406" cy="572406"/>
          </a:xfrm>
          <a:prstGeom prst="rect">
            <a:avLst/>
          </a:prstGeom>
        </p:spPr>
      </p:pic>
      <p:pic>
        <p:nvPicPr>
          <p:cNvPr id="14" name="图形 13">
            <a:extLst>
              <a:ext uri="{FF2B5EF4-FFF2-40B4-BE49-F238E27FC236}">
                <a16:creationId xmlns:a16="http://schemas.microsoft.com/office/drawing/2014/main" id="{8AD97CE5-4506-2C4A-AF28-7F13AFBE41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0176" y="3565824"/>
            <a:ext cx="572406" cy="572406"/>
          </a:xfrm>
          <a:prstGeom prst="rect">
            <a:avLst/>
          </a:prstGeom>
        </p:spPr>
      </p:pic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951F490B-DA46-EB48-BAD9-06A77520CFBE}"/>
              </a:ext>
            </a:extLst>
          </p:cNvPr>
          <p:cNvCxnSpPr>
            <a:cxnSpLocks/>
          </p:cNvCxnSpPr>
          <p:nvPr/>
        </p:nvCxnSpPr>
        <p:spPr>
          <a:xfrm flipH="1">
            <a:off x="6528048" y="2436748"/>
            <a:ext cx="519899" cy="844308"/>
          </a:xfrm>
          <a:prstGeom prst="straightConnector1">
            <a:avLst/>
          </a:prstGeom>
          <a:ln w="38100">
            <a:solidFill>
              <a:srgbClr val="2851D9"/>
            </a:solidFill>
            <a:tailEnd type="arrow" w="med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3E28FE63-7CA5-194F-9E1D-C7292D205B5C}"/>
              </a:ext>
            </a:extLst>
          </p:cNvPr>
          <p:cNvCxnSpPr>
            <a:cxnSpLocks/>
          </p:cNvCxnSpPr>
          <p:nvPr/>
        </p:nvCxnSpPr>
        <p:spPr>
          <a:xfrm>
            <a:off x="8399033" y="2490342"/>
            <a:ext cx="555145" cy="790714"/>
          </a:xfrm>
          <a:prstGeom prst="straightConnector1">
            <a:avLst/>
          </a:prstGeom>
          <a:ln w="38100">
            <a:solidFill>
              <a:srgbClr val="2851D9"/>
            </a:solidFill>
            <a:tailEnd type="arrow" w="med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圆角 18">
            <a:extLst>
              <a:ext uri="{FF2B5EF4-FFF2-40B4-BE49-F238E27FC236}">
                <a16:creationId xmlns:a16="http://schemas.microsoft.com/office/drawing/2014/main" id="{69CE7964-8DC2-9F48-8F56-63BAA3648A1B}"/>
              </a:ext>
            </a:extLst>
          </p:cNvPr>
          <p:cNvSpPr/>
          <p:nvPr/>
        </p:nvSpPr>
        <p:spPr>
          <a:xfrm>
            <a:off x="4534248" y="4538347"/>
            <a:ext cx="2299729" cy="1213611"/>
          </a:xfrm>
          <a:prstGeom prst="roundRect">
            <a:avLst/>
          </a:prstGeom>
          <a:noFill/>
          <a:ln w="19050" cap="flat" cmpd="sng" algn="ctr">
            <a:solidFill>
              <a:srgbClr val="E46C0A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E46C0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图像上传</a:t>
            </a:r>
            <a:endParaRPr lang="en-US" altLang="zh-CN" sz="1600" b="1" dirty="0">
              <a:solidFill>
                <a:srgbClr val="E46C0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E46C0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结果可视化校对</a:t>
            </a:r>
            <a:endParaRPr lang="en-US" altLang="zh-CN" sz="1600" b="1" dirty="0">
              <a:solidFill>
                <a:srgbClr val="E46C0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E46C0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数据导出</a:t>
            </a:r>
          </a:p>
        </p:txBody>
      </p:sp>
      <p:sp>
        <p:nvSpPr>
          <p:cNvPr id="25" name="矩形: 圆角 18">
            <a:extLst>
              <a:ext uri="{FF2B5EF4-FFF2-40B4-BE49-F238E27FC236}">
                <a16:creationId xmlns:a16="http://schemas.microsoft.com/office/drawing/2014/main" id="{F7D911E1-9D44-9246-8875-61DE735A9385}"/>
              </a:ext>
            </a:extLst>
          </p:cNvPr>
          <p:cNvSpPr/>
          <p:nvPr/>
        </p:nvSpPr>
        <p:spPr>
          <a:xfrm>
            <a:off x="8184232" y="4538346"/>
            <a:ext cx="2491944" cy="1213611"/>
          </a:xfrm>
          <a:prstGeom prst="roundRect">
            <a:avLst/>
          </a:prstGeom>
          <a:noFill/>
          <a:ln w="19050" cap="flat" cmpd="sng" algn="ctr">
            <a:solidFill>
              <a:srgbClr val="E46C0A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E46C0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动态预处理</a:t>
            </a:r>
            <a:endParaRPr lang="en-US" altLang="zh-CN" sz="1600" b="1" dirty="0">
              <a:solidFill>
                <a:srgbClr val="E46C0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E46C0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表格结构和内容识别</a:t>
            </a:r>
            <a:endParaRPr lang="en-US" altLang="zh-CN" sz="1600" b="1" dirty="0">
              <a:solidFill>
                <a:srgbClr val="E46C0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E46C0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完整表格数据输出</a:t>
            </a:r>
            <a:endParaRPr lang="en-US" altLang="zh-CN" sz="1600" b="1" dirty="0">
              <a:solidFill>
                <a:srgbClr val="E46C0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8F5D33D-C0A3-6D19-EAFF-63D5D5D471B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36" t="358" r="31066" b="-358"/>
          <a:stretch>
            <a:fillRect/>
          </a:stretch>
        </p:blipFill>
        <p:spPr>
          <a:xfrm>
            <a:off x="247500" y="1537786"/>
            <a:ext cx="3444562" cy="4500047"/>
          </a:xfrm>
          <a:prstGeom prst="rect">
            <a:avLst/>
          </a:prstGeom>
        </p:spPr>
      </p:pic>
      <p:sp>
        <p:nvSpPr>
          <p:cNvPr id="8" name="矩形: 圆角 18">
            <a:extLst>
              <a:ext uri="{FF2B5EF4-FFF2-40B4-BE49-F238E27FC236}">
                <a16:creationId xmlns:a16="http://schemas.microsoft.com/office/drawing/2014/main" id="{6F0C434D-F007-208F-1742-3B3E14DF2F7D}"/>
              </a:ext>
            </a:extLst>
          </p:cNvPr>
          <p:cNvSpPr/>
          <p:nvPr/>
        </p:nvSpPr>
        <p:spPr>
          <a:xfrm>
            <a:off x="3528143" y="2067445"/>
            <a:ext cx="2299729" cy="1213611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Vue </a:t>
            </a:r>
            <a:r>
              <a:rPr lang="zh-CN" altLang="en-US" sz="1600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前端开发框架</a:t>
            </a:r>
            <a:endParaRPr lang="en-US" altLang="zh-CN" sz="1600" dirty="0">
              <a:solidFill>
                <a:srgbClr val="4F81B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权限认证管理</a:t>
            </a:r>
            <a:endParaRPr lang="en-US" altLang="zh-CN" sz="1600" dirty="0">
              <a:solidFill>
                <a:srgbClr val="4F81B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操作界面开发</a:t>
            </a:r>
            <a:endParaRPr lang="en-US" altLang="zh-CN" sz="1600" dirty="0">
              <a:solidFill>
                <a:srgbClr val="4F81B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矩形: 圆角 18">
            <a:extLst>
              <a:ext uri="{FF2B5EF4-FFF2-40B4-BE49-F238E27FC236}">
                <a16:creationId xmlns:a16="http://schemas.microsoft.com/office/drawing/2014/main" id="{BACEE6EA-EB64-9C12-E7B2-B410B40FECCC}"/>
              </a:ext>
            </a:extLst>
          </p:cNvPr>
          <p:cNvSpPr/>
          <p:nvPr/>
        </p:nvSpPr>
        <p:spPr>
          <a:xfrm>
            <a:off x="9502977" y="2067444"/>
            <a:ext cx="2441523" cy="1213611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Flask </a:t>
            </a:r>
            <a:r>
              <a:rPr lang="zh-CN" altLang="en-US" sz="1600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后端开发框架</a:t>
            </a:r>
            <a:endParaRPr lang="en-US" altLang="zh-CN" sz="1600" dirty="0">
              <a:solidFill>
                <a:srgbClr val="4F81B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表格识别引擎</a:t>
            </a:r>
            <a:endParaRPr lang="en-US" altLang="zh-CN" sz="1600" dirty="0">
              <a:solidFill>
                <a:srgbClr val="4F81B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结果后处理</a:t>
            </a:r>
            <a:endParaRPr lang="en-US" altLang="zh-CN" sz="1600" dirty="0">
              <a:solidFill>
                <a:srgbClr val="4F81B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974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/>
          </p:cNvSpPr>
          <p:nvPr/>
        </p:nvSpPr>
        <p:spPr>
          <a:xfrm>
            <a:off x="3200400" y="2676173"/>
            <a:ext cx="5791200" cy="1477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研究进度安排</a:t>
            </a:r>
            <a:endParaRPr lang="en-US" sz="4800" b="1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2F04F2-C95B-436F-B758-AD395AEE3757}"/>
              </a:ext>
            </a:extLst>
          </p:cNvPr>
          <p:cNvSpPr txBox="1"/>
          <p:nvPr/>
        </p:nvSpPr>
        <p:spPr>
          <a:xfrm>
            <a:off x="5521035" y="1626513"/>
            <a:ext cx="138877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1"/>
                </a:solidFill>
                <a:latin typeface="+mj-lt"/>
              </a:rPr>
              <a:t>PART </a:t>
            </a:r>
            <a:r>
              <a:rPr lang="en-US" altLang="zh-CN" sz="2800" b="1" dirty="0">
                <a:solidFill>
                  <a:schemeClr val="accent1"/>
                </a:solidFill>
                <a:latin typeface="+mj-lt"/>
              </a:rPr>
              <a:t>IV</a:t>
            </a:r>
            <a:endParaRPr lang="en-MY" sz="28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33142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98EC8-31AC-4DAC-B9CE-0BA372C9A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研究进度安排</a:t>
            </a:r>
            <a:endParaRPr lang="en-MY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2938D1AE-6E56-48F9-BAA3-CABFB0CA509F}"/>
              </a:ext>
            </a:extLst>
          </p:cNvPr>
          <p:cNvGrpSpPr/>
          <p:nvPr/>
        </p:nvGrpSpPr>
        <p:grpSpPr>
          <a:xfrm>
            <a:off x="519900" y="3171070"/>
            <a:ext cx="11006068" cy="2398799"/>
            <a:chOff x="609600" y="2845591"/>
            <a:chExt cx="11006068" cy="2398799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76A8A78-026B-4921-B35C-B1FFA7015BFB}"/>
                </a:ext>
              </a:extLst>
            </p:cNvPr>
            <p:cNvSpPr/>
            <p:nvPr/>
          </p:nvSpPr>
          <p:spPr>
            <a:xfrm>
              <a:off x="609600" y="2845594"/>
              <a:ext cx="1930208" cy="204588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just">
                <a:lnSpc>
                  <a:spcPct val="125000"/>
                </a:lnSpc>
              </a:pPr>
              <a:r>
                <a:rPr lang="zh-CN" altLang="en-US" dirty="0">
                  <a:latin typeface="DengXian" panose="02010600030101010101" pitchFamily="2" charset="-122"/>
                  <a:ea typeface="DengXian" panose="02010600030101010101" pitchFamily="2" charset="-122"/>
                  <a:cs typeface="Times New Roman" panose="02020603050405020304" pitchFamily="18" charset="0"/>
                </a:rPr>
                <a:t>（</a:t>
              </a:r>
              <a:r>
                <a:rPr lang="en-US" altLang="zh-CN" dirty="0">
                  <a:latin typeface="DengXian" panose="02010600030101010101" pitchFamily="2" charset="-122"/>
                  <a:ea typeface="DengXian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en-US" dirty="0">
                  <a:latin typeface="DengXian" panose="02010600030101010101" pitchFamily="2" charset="-122"/>
                  <a:ea typeface="DengXian" panose="02010600030101010101" pitchFamily="2" charset="-122"/>
                  <a:cs typeface="Times New Roman" panose="02020603050405020304" pitchFamily="18" charset="0"/>
                </a:rPr>
                <a:t>）实现动态感知的表格预处理模块。</a:t>
              </a:r>
              <a:endParaRPr lang="en-US" altLang="zh-CN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endParaRPr>
            </a:p>
            <a:p>
              <a:pPr algn="just">
                <a:lnSpc>
                  <a:spcPct val="125000"/>
                </a:lnSpc>
              </a:pPr>
              <a:r>
                <a:rPr lang="zh-CN" altLang="en-US" dirty="0">
                  <a:latin typeface="DengXian" panose="02010600030101010101" pitchFamily="2" charset="-122"/>
                  <a:ea typeface="DengXian" panose="02010600030101010101" pitchFamily="2" charset="-122"/>
                  <a:cs typeface="Times New Roman" panose="02020603050405020304" pitchFamily="18" charset="0"/>
                </a:rPr>
                <a:t>（</a:t>
              </a:r>
              <a:r>
                <a:rPr lang="en-US" altLang="zh-CN" dirty="0">
                  <a:latin typeface="DengXian" panose="02010600030101010101" pitchFamily="2" charset="-122"/>
                  <a:ea typeface="DengXian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en-US" dirty="0">
                  <a:latin typeface="DengXian" panose="02010600030101010101" pitchFamily="2" charset="-122"/>
                  <a:ea typeface="DengXian" panose="02010600030101010101" pitchFamily="2" charset="-122"/>
                  <a:cs typeface="Times New Roman" panose="02020603050405020304" pitchFamily="18" charset="0"/>
                </a:rPr>
                <a:t>）验证模块有效性，并根据结果进行相关的改进。</a:t>
              </a:r>
              <a:endParaRPr lang="en-US" altLang="zh-CN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5FA67E-BA25-4EB6-94D4-FFE28F996FEB}"/>
                </a:ext>
              </a:extLst>
            </p:cNvPr>
            <p:cNvSpPr/>
            <p:nvPr/>
          </p:nvSpPr>
          <p:spPr>
            <a:xfrm>
              <a:off x="2893870" y="2845592"/>
              <a:ext cx="1930208" cy="2396810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dirty="0">
                  <a:latin typeface="DengXian" panose="02010600030101010101" pitchFamily="2" charset="-122"/>
                  <a:ea typeface="DengXian" panose="02010600030101010101" pitchFamily="2" charset="-122"/>
                </a:rPr>
                <a:t>（</a:t>
              </a:r>
              <a:r>
                <a:rPr lang="en-US" altLang="zh-CN" dirty="0">
                  <a:latin typeface="DengXian" panose="02010600030101010101" pitchFamily="2" charset="-122"/>
                  <a:ea typeface="DengXian" panose="02010600030101010101" pitchFamily="2" charset="-122"/>
                </a:rPr>
                <a:t>1</a:t>
              </a:r>
              <a:r>
                <a:rPr lang="zh-CN" altLang="en-US" dirty="0">
                  <a:latin typeface="DengXian" panose="02010600030101010101" pitchFamily="2" charset="-122"/>
                  <a:ea typeface="DengXian" panose="02010600030101010101" pitchFamily="2" charset="-122"/>
                </a:rPr>
                <a:t>）完成基于上下文学习驱动的表格识别引擎的方案设计和实现。</a:t>
              </a:r>
              <a:endParaRPr lang="en-US" altLang="zh-CN" dirty="0">
                <a:latin typeface="DengXian" panose="02010600030101010101" pitchFamily="2" charset="-122"/>
                <a:ea typeface="DengXian" panose="02010600030101010101" pitchFamily="2" charset="-122"/>
              </a:endParaRPr>
            </a:p>
            <a:p>
              <a:pPr>
                <a:lnSpc>
                  <a:spcPct val="125000"/>
                </a:lnSpc>
              </a:pPr>
              <a:r>
                <a:rPr lang="zh-CN" altLang="en-US" dirty="0">
                  <a:latin typeface="DengXian" panose="02010600030101010101" pitchFamily="2" charset="-122"/>
                  <a:ea typeface="DengXian" panose="02010600030101010101" pitchFamily="2" charset="-122"/>
                </a:rPr>
                <a:t>（</a:t>
              </a:r>
              <a:r>
                <a:rPr lang="en-US" altLang="zh-CN" dirty="0">
                  <a:latin typeface="DengXian" panose="02010600030101010101" pitchFamily="2" charset="-122"/>
                  <a:ea typeface="DengXian" panose="02010600030101010101" pitchFamily="2" charset="-122"/>
                </a:rPr>
                <a:t>2</a:t>
              </a:r>
              <a:r>
                <a:rPr lang="zh-CN" altLang="en-US" dirty="0">
                  <a:latin typeface="DengXian" panose="02010600030101010101" pitchFamily="2" charset="-122"/>
                  <a:ea typeface="DengXian" panose="02010600030101010101" pitchFamily="2" charset="-122"/>
                </a:rPr>
                <a:t>）整合预处理模块，实现整个系统的基础搭建。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C228FA0-54DE-47B5-83FE-29D50213E88A}"/>
                </a:ext>
              </a:extLst>
            </p:cNvPr>
            <p:cNvSpPr/>
            <p:nvPr/>
          </p:nvSpPr>
          <p:spPr>
            <a:xfrm>
              <a:off x="5154518" y="2845592"/>
              <a:ext cx="1930208" cy="239879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dirty="0">
                  <a:latin typeface="DengXian" panose="02010600030101010101" pitchFamily="2" charset="-122"/>
                  <a:ea typeface="DengXian" panose="02010600030101010101" pitchFamily="2" charset="-122"/>
                </a:rPr>
                <a:t>（</a:t>
              </a:r>
              <a:r>
                <a:rPr lang="en-US" altLang="zh-CN" dirty="0">
                  <a:latin typeface="DengXian" panose="02010600030101010101" pitchFamily="2" charset="-122"/>
                  <a:ea typeface="DengXian" panose="02010600030101010101" pitchFamily="2" charset="-122"/>
                </a:rPr>
                <a:t>1</a:t>
              </a:r>
              <a:r>
                <a:rPr lang="zh-CN" altLang="en-US" dirty="0">
                  <a:latin typeface="DengXian" panose="02010600030101010101" pitchFamily="2" charset="-122"/>
                  <a:ea typeface="DengXian" panose="02010600030101010101" pitchFamily="2" charset="-122"/>
                </a:rPr>
                <a:t>）验证系统有效性，完成数据集的效果验证。</a:t>
              </a:r>
              <a:endParaRPr lang="en-US" altLang="zh-CN" dirty="0">
                <a:latin typeface="DengXian" panose="02010600030101010101" pitchFamily="2" charset="-122"/>
                <a:ea typeface="DengXian" panose="02010600030101010101" pitchFamily="2" charset="-122"/>
              </a:endParaRPr>
            </a:p>
            <a:p>
              <a:pPr>
                <a:lnSpc>
                  <a:spcPct val="125000"/>
                </a:lnSpc>
              </a:pPr>
              <a:r>
                <a:rPr lang="zh-CN" altLang="en-US" dirty="0">
                  <a:latin typeface="DengXian" panose="02010600030101010101" pitchFamily="2" charset="-122"/>
                  <a:ea typeface="DengXian" panose="02010600030101010101" pitchFamily="2" charset="-122"/>
                </a:rPr>
                <a:t>（</a:t>
              </a:r>
              <a:r>
                <a:rPr lang="en-US" altLang="zh-CN" dirty="0">
                  <a:latin typeface="DengXian" panose="02010600030101010101" pitchFamily="2" charset="-122"/>
                  <a:ea typeface="DengXian" panose="02010600030101010101" pitchFamily="2" charset="-122"/>
                </a:rPr>
                <a:t>2</a:t>
              </a:r>
              <a:r>
                <a:rPr lang="zh-CN" altLang="en-US" dirty="0">
                  <a:latin typeface="DengXian" panose="02010600030101010101" pitchFamily="2" charset="-122"/>
                  <a:ea typeface="DengXian" panose="02010600030101010101" pitchFamily="2" charset="-122"/>
                </a:rPr>
                <a:t>）实现表格识别系统的相关开发。（</a:t>
              </a:r>
              <a:r>
                <a:rPr lang="en-US" altLang="zh-CN" dirty="0">
                  <a:latin typeface="DengXian" panose="02010600030101010101" pitchFamily="2" charset="-122"/>
                  <a:ea typeface="DengXian" panose="02010600030101010101" pitchFamily="2" charset="-122"/>
                </a:rPr>
                <a:t>3</a:t>
              </a:r>
              <a:r>
                <a:rPr lang="zh-CN" altLang="en-US" dirty="0">
                  <a:latin typeface="DengXian" panose="02010600030101010101" pitchFamily="2" charset="-122"/>
                  <a:ea typeface="DengXian" panose="02010600030101010101" pitchFamily="2" charset="-122"/>
                </a:rPr>
                <a:t>）准备中期答辩。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1606804-E36D-4E13-B59F-BABB9470AFFB}"/>
                </a:ext>
              </a:extLst>
            </p:cNvPr>
            <p:cNvSpPr/>
            <p:nvPr/>
          </p:nvSpPr>
          <p:spPr>
            <a:xfrm>
              <a:off x="7419989" y="2845592"/>
              <a:ext cx="1930208" cy="204588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just">
                <a:lnSpc>
                  <a:spcPct val="125000"/>
                </a:lnSpc>
              </a:pPr>
              <a:r>
                <a:rPr lang="zh-CN" altLang="en-US" dirty="0">
                  <a:latin typeface="DengXian" panose="02010600030101010101" pitchFamily="2" charset="-122"/>
                  <a:ea typeface="DengXian" panose="02010600030101010101" pitchFamily="2" charset="-122"/>
                  <a:cs typeface="Times New Roman" panose="02020603050405020304" pitchFamily="18" charset="0"/>
                </a:rPr>
                <a:t> （</a:t>
              </a:r>
              <a:r>
                <a:rPr lang="en-US" altLang="zh-CN" dirty="0">
                  <a:latin typeface="DengXian" panose="02010600030101010101" pitchFamily="2" charset="-122"/>
                  <a:ea typeface="DengXian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en-US" dirty="0">
                  <a:latin typeface="DengXian" panose="02010600030101010101" pitchFamily="2" charset="-122"/>
                  <a:ea typeface="DengXian" panose="02010600030101010101" pitchFamily="2" charset="-122"/>
                  <a:cs typeface="Times New Roman" panose="02020603050405020304" pitchFamily="18" charset="0"/>
                </a:rPr>
                <a:t>）总结相关工作， 撰写课题相关小论文。</a:t>
              </a:r>
            </a:p>
            <a:p>
              <a:pPr algn="just">
                <a:lnSpc>
                  <a:spcPct val="125000"/>
                </a:lnSpc>
              </a:pPr>
              <a:r>
                <a:rPr lang="zh-CN" altLang="en-US" dirty="0">
                  <a:latin typeface="DengXian" panose="02010600030101010101" pitchFamily="2" charset="-122"/>
                  <a:ea typeface="DengXian" panose="02010600030101010101" pitchFamily="2" charset="-122"/>
                  <a:cs typeface="Times New Roman" panose="02020603050405020304" pitchFamily="18" charset="0"/>
                </a:rPr>
                <a:t>（</a:t>
              </a:r>
              <a:r>
                <a:rPr lang="en-US" altLang="zh-CN" dirty="0">
                  <a:latin typeface="DengXian" panose="02010600030101010101" pitchFamily="2" charset="-122"/>
                  <a:ea typeface="DengXian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en-US" dirty="0">
                  <a:latin typeface="DengXian" panose="02010600030101010101" pitchFamily="2" charset="-122"/>
                  <a:ea typeface="DengXian" panose="02010600030101010101" pitchFamily="2" charset="-122"/>
                  <a:cs typeface="Times New Roman" panose="02020603050405020304" pitchFamily="18" charset="0"/>
                </a:rPr>
                <a:t>）寻求基于大模型的表格识别算法的进一步优化。</a:t>
              </a:r>
              <a:endParaRPr lang="en-US" altLang="zh-CN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7DD7662-DCF4-46B1-A27E-8C0DCE8798D3}"/>
                </a:ext>
              </a:extLst>
            </p:cNvPr>
            <p:cNvSpPr/>
            <p:nvPr/>
          </p:nvSpPr>
          <p:spPr>
            <a:xfrm>
              <a:off x="9685460" y="2845591"/>
              <a:ext cx="1930208" cy="135338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just">
                <a:lnSpc>
                  <a:spcPct val="125000"/>
                </a:lnSpc>
              </a:pPr>
              <a:r>
                <a:rPr lang="zh-CN" altLang="en-US" dirty="0">
                  <a:latin typeface="DengXian" panose="02010600030101010101" pitchFamily="2" charset="-122"/>
                  <a:ea typeface="DengXian" panose="02010600030101010101" pitchFamily="2" charset="-122"/>
                  <a:cs typeface="Times New Roman" panose="02020603050405020304" pitchFamily="18" charset="0"/>
                </a:rPr>
                <a:t>（</a:t>
              </a:r>
              <a:r>
                <a:rPr lang="en-US" altLang="zh-CN" dirty="0">
                  <a:latin typeface="DengXian" panose="02010600030101010101" pitchFamily="2" charset="-122"/>
                  <a:ea typeface="DengXian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en-US" dirty="0">
                  <a:latin typeface="DengXian" panose="02010600030101010101" pitchFamily="2" charset="-122"/>
                  <a:ea typeface="DengXian" panose="02010600030101010101" pitchFamily="2" charset="-122"/>
                  <a:cs typeface="Times New Roman" panose="02020603050405020304" pitchFamily="18" charset="0"/>
                </a:rPr>
                <a:t>）总结课题所有工作和成果。</a:t>
              </a:r>
              <a:endParaRPr lang="en-US" altLang="zh-CN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endParaRPr>
            </a:p>
            <a:p>
              <a:pPr algn="just">
                <a:lnSpc>
                  <a:spcPct val="125000"/>
                </a:lnSpc>
              </a:pPr>
              <a:r>
                <a:rPr lang="zh-CN" altLang="en-US" dirty="0">
                  <a:latin typeface="DengXian" panose="02010600030101010101" pitchFamily="2" charset="-122"/>
                  <a:ea typeface="DengXian" panose="02010600030101010101" pitchFamily="2" charset="-122"/>
                  <a:cs typeface="Times New Roman" panose="02020603050405020304" pitchFamily="18" charset="0"/>
                </a:rPr>
                <a:t>（</a:t>
              </a:r>
              <a:r>
                <a:rPr lang="en-US" altLang="zh-CN" dirty="0">
                  <a:latin typeface="DengXian" panose="02010600030101010101" pitchFamily="2" charset="-122"/>
                  <a:ea typeface="DengXian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en-US" dirty="0">
                  <a:latin typeface="DengXian" panose="02010600030101010101" pitchFamily="2" charset="-122"/>
                  <a:ea typeface="DengXian" panose="02010600030101010101" pitchFamily="2" charset="-122"/>
                  <a:cs typeface="Times New Roman" panose="02020603050405020304" pitchFamily="18" charset="0"/>
                </a:rPr>
                <a:t>）撰写毕业论文，准备毕业答辩。</a:t>
              </a:r>
              <a:endParaRPr lang="en-US" altLang="zh-CN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E9A4823F-F5F8-4C62-BD92-19C63D953F8C}"/>
              </a:ext>
            </a:extLst>
          </p:cNvPr>
          <p:cNvGrpSpPr/>
          <p:nvPr/>
        </p:nvGrpSpPr>
        <p:grpSpPr>
          <a:xfrm>
            <a:off x="0" y="1700808"/>
            <a:ext cx="12192000" cy="1050653"/>
            <a:chOff x="0" y="1412780"/>
            <a:chExt cx="12192000" cy="1050653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95AD8C76-BD7E-43FB-87F9-E7830078C2D3}"/>
                </a:ext>
              </a:extLst>
            </p:cNvPr>
            <p:cNvCxnSpPr/>
            <p:nvPr/>
          </p:nvCxnSpPr>
          <p:spPr>
            <a:xfrm>
              <a:off x="0" y="1772816"/>
              <a:ext cx="12192000" cy="0"/>
            </a:xfrm>
            <a:prstGeom prst="line">
              <a:avLst/>
            </a:prstGeom>
            <a:ln w="381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AF7E470B-1AAC-4F30-BC98-87130B814666}"/>
                </a:ext>
              </a:extLst>
            </p:cNvPr>
            <p:cNvGrpSpPr/>
            <p:nvPr/>
          </p:nvGrpSpPr>
          <p:grpSpPr>
            <a:xfrm>
              <a:off x="633222" y="1412780"/>
              <a:ext cx="1906586" cy="1050653"/>
              <a:chOff x="633222" y="2007394"/>
              <a:chExt cx="1906586" cy="550331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75D4811-A2E0-4DAC-A77C-6EF3106FD53A}"/>
                  </a:ext>
                </a:extLst>
              </p:cNvPr>
              <p:cNvSpPr/>
              <p:nvPr/>
            </p:nvSpPr>
            <p:spPr>
              <a:xfrm>
                <a:off x="633222" y="2007394"/>
                <a:ext cx="1906586" cy="44706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accent1"/>
                    </a:solidFill>
                    <a:latin typeface="+mj-lt"/>
                  </a:rPr>
                  <a:t>202</a:t>
                </a:r>
                <a:r>
                  <a:rPr lang="en-US" altLang="zh-CN" sz="2400" b="1" dirty="0">
                    <a:solidFill>
                      <a:schemeClr val="accent1"/>
                    </a:solidFill>
                    <a:latin typeface="+mj-lt"/>
                  </a:rPr>
                  <a:t>5</a:t>
                </a:r>
                <a:r>
                  <a:rPr lang="zh-CN" altLang="en-US" sz="2400" b="1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年</a:t>
                </a:r>
                <a:endParaRPr lang="en-US" altLang="zh-CN" sz="24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en-US" altLang="zh-CN" sz="2400" b="1" dirty="0">
                    <a:solidFill>
                      <a:schemeClr val="accent1"/>
                    </a:solidFill>
                    <a:latin typeface="+mj-lt"/>
                  </a:rPr>
                  <a:t>9</a:t>
                </a:r>
                <a:r>
                  <a:rPr lang="zh-CN" altLang="en-US" sz="2400" b="1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月</a:t>
                </a:r>
                <a:r>
                  <a:rPr lang="en-US" altLang="zh-CN" sz="2400" b="1" dirty="0">
                    <a:solidFill>
                      <a:schemeClr val="accent1"/>
                    </a:solidFill>
                    <a:latin typeface="+mj-lt"/>
                  </a:rPr>
                  <a:t>-12</a:t>
                </a:r>
                <a:r>
                  <a:rPr lang="zh-CN" altLang="en-US" sz="2400" b="1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月</a:t>
                </a:r>
                <a:endParaRPr lang="en-MY" sz="24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" name="Isosceles Triangle 39">
                <a:extLst>
                  <a:ext uri="{FF2B5EF4-FFF2-40B4-BE49-F238E27FC236}">
                    <a16:creationId xmlns:a16="http://schemas.microsoft.com/office/drawing/2014/main" id="{8545733D-BCDC-4C34-B21C-B29E876E9AAB}"/>
                  </a:ext>
                </a:extLst>
              </p:cNvPr>
              <p:cNvSpPr/>
              <p:nvPr/>
            </p:nvSpPr>
            <p:spPr>
              <a:xfrm rot="10800000">
                <a:off x="1394704" y="2425728"/>
                <a:ext cx="360000" cy="131997"/>
              </a:xfrm>
              <a:prstGeom prst="triangle">
                <a:avLst/>
              </a:prstGeom>
              <a:solidFill>
                <a:schemeClr val="accent6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MY"/>
              </a:p>
            </p:txBody>
          </p:sp>
        </p:grpSp>
        <p:grpSp>
          <p:nvGrpSpPr>
            <p:cNvPr id="24" name="Group 40">
              <a:extLst>
                <a:ext uri="{FF2B5EF4-FFF2-40B4-BE49-F238E27FC236}">
                  <a16:creationId xmlns:a16="http://schemas.microsoft.com/office/drawing/2014/main" id="{3500B98A-17AE-412B-A2C3-8517CC600EC4}"/>
                </a:ext>
              </a:extLst>
            </p:cNvPr>
            <p:cNvGrpSpPr/>
            <p:nvPr/>
          </p:nvGrpSpPr>
          <p:grpSpPr>
            <a:xfrm>
              <a:off x="2905681" y="1412780"/>
              <a:ext cx="1906586" cy="1050653"/>
              <a:chOff x="633222" y="2007394"/>
              <a:chExt cx="1906586" cy="550331"/>
            </a:xfrm>
          </p:grpSpPr>
          <p:sp>
            <p:nvSpPr>
              <p:cNvPr id="25" name="Rectangle 4">
                <a:extLst>
                  <a:ext uri="{FF2B5EF4-FFF2-40B4-BE49-F238E27FC236}">
                    <a16:creationId xmlns:a16="http://schemas.microsoft.com/office/drawing/2014/main" id="{8EB9C95F-27CE-4A00-8EC5-C8B79E58B121}"/>
                  </a:ext>
                </a:extLst>
              </p:cNvPr>
              <p:cNvSpPr/>
              <p:nvPr/>
            </p:nvSpPr>
            <p:spPr>
              <a:xfrm>
                <a:off x="633222" y="2007394"/>
                <a:ext cx="1906586" cy="44706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accent1"/>
                    </a:solidFill>
                    <a:latin typeface="+mj-lt"/>
                  </a:rPr>
                  <a:t>202</a:t>
                </a:r>
                <a:r>
                  <a:rPr lang="en-US" altLang="zh-CN" sz="2400" b="1" dirty="0">
                    <a:solidFill>
                      <a:schemeClr val="accent1"/>
                    </a:solidFill>
                    <a:latin typeface="+mj-lt"/>
                  </a:rPr>
                  <a:t>6</a:t>
                </a:r>
                <a:r>
                  <a:rPr lang="zh-CN" altLang="en-US" sz="2400" b="1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年</a:t>
                </a:r>
                <a:endParaRPr lang="en-US" altLang="zh-CN" sz="24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en-US" altLang="zh-CN" sz="2400" b="1" dirty="0">
                    <a:solidFill>
                      <a:schemeClr val="accent1"/>
                    </a:solidFill>
                    <a:latin typeface="+mj-lt"/>
                  </a:rPr>
                  <a:t>1</a:t>
                </a:r>
                <a:r>
                  <a:rPr lang="zh-CN" altLang="en-US" sz="2400" b="1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月</a:t>
                </a:r>
                <a:r>
                  <a:rPr lang="en-US" altLang="zh-CN" sz="2400" b="1" dirty="0">
                    <a:solidFill>
                      <a:schemeClr val="accent1"/>
                    </a:solidFill>
                    <a:latin typeface="+mj-lt"/>
                  </a:rPr>
                  <a:t>-3</a:t>
                </a:r>
                <a:r>
                  <a:rPr lang="zh-CN" altLang="en-US" sz="2400" b="1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月</a:t>
                </a:r>
                <a:endParaRPr lang="en-MY" sz="24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Isosceles Triangle 39">
                <a:extLst>
                  <a:ext uri="{FF2B5EF4-FFF2-40B4-BE49-F238E27FC236}">
                    <a16:creationId xmlns:a16="http://schemas.microsoft.com/office/drawing/2014/main" id="{9D784B88-7CCF-4D27-8A14-B544FA68C86A}"/>
                  </a:ext>
                </a:extLst>
              </p:cNvPr>
              <p:cNvSpPr/>
              <p:nvPr/>
            </p:nvSpPr>
            <p:spPr>
              <a:xfrm rot="10800000">
                <a:off x="1394704" y="2425728"/>
                <a:ext cx="360000" cy="131997"/>
              </a:xfrm>
              <a:prstGeom prst="triangle">
                <a:avLst/>
              </a:prstGeom>
              <a:solidFill>
                <a:schemeClr val="accent6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MY"/>
              </a:p>
            </p:txBody>
          </p:sp>
        </p:grpSp>
        <p:grpSp>
          <p:nvGrpSpPr>
            <p:cNvPr id="27" name="Group 40">
              <a:extLst>
                <a:ext uri="{FF2B5EF4-FFF2-40B4-BE49-F238E27FC236}">
                  <a16:creationId xmlns:a16="http://schemas.microsoft.com/office/drawing/2014/main" id="{77845F28-B11A-48EE-9F95-3C46685EBFA3}"/>
                </a:ext>
              </a:extLst>
            </p:cNvPr>
            <p:cNvGrpSpPr/>
            <p:nvPr/>
          </p:nvGrpSpPr>
          <p:grpSpPr>
            <a:xfrm>
              <a:off x="5178140" y="1412780"/>
              <a:ext cx="1906586" cy="1050653"/>
              <a:chOff x="633222" y="2007394"/>
              <a:chExt cx="1906586" cy="550331"/>
            </a:xfrm>
          </p:grpSpPr>
          <p:sp>
            <p:nvSpPr>
              <p:cNvPr id="28" name="Rectangle 4">
                <a:extLst>
                  <a:ext uri="{FF2B5EF4-FFF2-40B4-BE49-F238E27FC236}">
                    <a16:creationId xmlns:a16="http://schemas.microsoft.com/office/drawing/2014/main" id="{53C9BAC8-0DF3-4596-9125-4F91D68E6FA5}"/>
                  </a:ext>
                </a:extLst>
              </p:cNvPr>
              <p:cNvSpPr/>
              <p:nvPr/>
            </p:nvSpPr>
            <p:spPr>
              <a:xfrm>
                <a:off x="633222" y="2007394"/>
                <a:ext cx="1906586" cy="44706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accent1"/>
                    </a:solidFill>
                    <a:latin typeface="+mj-lt"/>
                  </a:rPr>
                  <a:t>202</a:t>
                </a:r>
                <a:r>
                  <a:rPr lang="en-US" altLang="zh-CN" sz="2400" b="1" dirty="0">
                    <a:solidFill>
                      <a:schemeClr val="accent1"/>
                    </a:solidFill>
                    <a:latin typeface="+mj-lt"/>
                  </a:rPr>
                  <a:t>6</a:t>
                </a:r>
                <a:r>
                  <a:rPr lang="zh-CN" altLang="en-US" sz="2400" b="1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年</a:t>
                </a:r>
                <a:endParaRPr lang="en-US" altLang="zh-CN" sz="24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en-US" altLang="zh-CN" sz="2400" b="1" dirty="0">
                    <a:solidFill>
                      <a:schemeClr val="accent1"/>
                    </a:solidFill>
                    <a:latin typeface="+mj-lt"/>
                    <a:ea typeface="微软雅黑" panose="020B0503020204020204" pitchFamily="34" charset="-122"/>
                  </a:rPr>
                  <a:t>4</a:t>
                </a:r>
                <a:r>
                  <a:rPr lang="zh-CN" altLang="en-US" sz="2400" b="1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月</a:t>
                </a:r>
                <a:r>
                  <a:rPr lang="en-US" altLang="zh-CN" sz="2400" b="1" dirty="0">
                    <a:solidFill>
                      <a:schemeClr val="accent1"/>
                    </a:solidFill>
                    <a:latin typeface="+mj-lt"/>
                  </a:rPr>
                  <a:t>-5</a:t>
                </a:r>
                <a:r>
                  <a:rPr lang="zh-CN" altLang="en-US" sz="2400" b="1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月</a:t>
                </a:r>
                <a:endParaRPr lang="en-MY" sz="24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Isosceles Triangle 39">
                <a:extLst>
                  <a:ext uri="{FF2B5EF4-FFF2-40B4-BE49-F238E27FC236}">
                    <a16:creationId xmlns:a16="http://schemas.microsoft.com/office/drawing/2014/main" id="{F2BB8FB1-BCB9-4EB9-B98C-D458216E478F}"/>
                  </a:ext>
                </a:extLst>
              </p:cNvPr>
              <p:cNvSpPr/>
              <p:nvPr/>
            </p:nvSpPr>
            <p:spPr>
              <a:xfrm rot="10800000">
                <a:off x="1394704" y="2425728"/>
                <a:ext cx="360000" cy="131997"/>
              </a:xfrm>
              <a:prstGeom prst="triangle">
                <a:avLst/>
              </a:prstGeom>
              <a:solidFill>
                <a:schemeClr val="accent6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MY"/>
              </a:p>
            </p:txBody>
          </p:sp>
        </p:grpSp>
        <p:grpSp>
          <p:nvGrpSpPr>
            <p:cNvPr id="30" name="Group 40">
              <a:extLst>
                <a:ext uri="{FF2B5EF4-FFF2-40B4-BE49-F238E27FC236}">
                  <a16:creationId xmlns:a16="http://schemas.microsoft.com/office/drawing/2014/main" id="{948C1A2F-3A4B-4FF5-AC0C-7005C153A48B}"/>
                </a:ext>
              </a:extLst>
            </p:cNvPr>
            <p:cNvGrpSpPr/>
            <p:nvPr/>
          </p:nvGrpSpPr>
          <p:grpSpPr>
            <a:xfrm>
              <a:off x="7431800" y="1412780"/>
              <a:ext cx="1906586" cy="1050653"/>
              <a:chOff x="633222" y="2007394"/>
              <a:chExt cx="1906586" cy="550331"/>
            </a:xfrm>
          </p:grpSpPr>
          <p:sp>
            <p:nvSpPr>
              <p:cNvPr id="31" name="Rectangle 4">
                <a:extLst>
                  <a:ext uri="{FF2B5EF4-FFF2-40B4-BE49-F238E27FC236}">
                    <a16:creationId xmlns:a16="http://schemas.microsoft.com/office/drawing/2014/main" id="{6548452A-29E9-4E4C-B35E-19790C74DDBE}"/>
                  </a:ext>
                </a:extLst>
              </p:cNvPr>
              <p:cNvSpPr/>
              <p:nvPr/>
            </p:nvSpPr>
            <p:spPr>
              <a:xfrm>
                <a:off x="633222" y="2007394"/>
                <a:ext cx="1906586" cy="44706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accent1"/>
                    </a:solidFill>
                    <a:latin typeface="+mj-lt"/>
                  </a:rPr>
                  <a:t>202</a:t>
                </a:r>
                <a:r>
                  <a:rPr lang="en-US" altLang="zh-CN" sz="2400" b="1" dirty="0">
                    <a:solidFill>
                      <a:schemeClr val="accent1"/>
                    </a:solidFill>
                    <a:latin typeface="+mj-lt"/>
                  </a:rPr>
                  <a:t>6</a:t>
                </a:r>
                <a:r>
                  <a:rPr lang="zh-CN" altLang="en-US" sz="2400" b="1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年</a:t>
                </a:r>
                <a:endParaRPr lang="en-US" altLang="zh-CN" sz="24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en-US" altLang="zh-CN" sz="2400" b="1" dirty="0">
                    <a:solidFill>
                      <a:schemeClr val="accent1"/>
                    </a:solidFill>
                    <a:latin typeface="+mj-lt"/>
                    <a:ea typeface="微软雅黑" panose="020B0503020204020204" pitchFamily="34" charset="-122"/>
                  </a:rPr>
                  <a:t>6</a:t>
                </a:r>
                <a:r>
                  <a:rPr lang="zh-CN" altLang="en-US" sz="2400" b="1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月</a:t>
                </a:r>
                <a:r>
                  <a:rPr lang="en-US" altLang="zh-CN" sz="2400" b="1" dirty="0">
                    <a:solidFill>
                      <a:schemeClr val="accent1"/>
                    </a:solidFill>
                    <a:latin typeface="+mj-lt"/>
                  </a:rPr>
                  <a:t>-8</a:t>
                </a:r>
                <a:r>
                  <a:rPr lang="zh-CN" altLang="en-US" sz="2400" b="1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月</a:t>
                </a:r>
                <a:endParaRPr lang="en-MY" sz="24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Isosceles Triangle 39">
                <a:extLst>
                  <a:ext uri="{FF2B5EF4-FFF2-40B4-BE49-F238E27FC236}">
                    <a16:creationId xmlns:a16="http://schemas.microsoft.com/office/drawing/2014/main" id="{6DF2AF83-BD10-4220-B539-6C462088122A}"/>
                  </a:ext>
                </a:extLst>
              </p:cNvPr>
              <p:cNvSpPr/>
              <p:nvPr/>
            </p:nvSpPr>
            <p:spPr>
              <a:xfrm rot="10800000">
                <a:off x="1394704" y="2425728"/>
                <a:ext cx="360000" cy="131997"/>
              </a:xfrm>
              <a:prstGeom prst="triangle">
                <a:avLst/>
              </a:prstGeom>
              <a:solidFill>
                <a:schemeClr val="accent6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MY"/>
              </a:p>
            </p:txBody>
          </p:sp>
        </p:grpSp>
        <p:grpSp>
          <p:nvGrpSpPr>
            <p:cNvPr id="33" name="Group 40">
              <a:extLst>
                <a:ext uri="{FF2B5EF4-FFF2-40B4-BE49-F238E27FC236}">
                  <a16:creationId xmlns:a16="http://schemas.microsoft.com/office/drawing/2014/main" id="{EC304E90-79B0-408D-A2CD-8AE8B1394837}"/>
                </a:ext>
              </a:extLst>
            </p:cNvPr>
            <p:cNvGrpSpPr/>
            <p:nvPr/>
          </p:nvGrpSpPr>
          <p:grpSpPr>
            <a:xfrm>
              <a:off x="9698717" y="1412780"/>
              <a:ext cx="1906586" cy="1050653"/>
              <a:chOff x="633222" y="2007394"/>
              <a:chExt cx="1906586" cy="550331"/>
            </a:xfrm>
          </p:grpSpPr>
          <p:sp>
            <p:nvSpPr>
              <p:cNvPr id="38" name="Rectangle 4">
                <a:extLst>
                  <a:ext uri="{FF2B5EF4-FFF2-40B4-BE49-F238E27FC236}">
                    <a16:creationId xmlns:a16="http://schemas.microsoft.com/office/drawing/2014/main" id="{293EA400-E910-41B4-BBCC-8A22FC2E270F}"/>
                  </a:ext>
                </a:extLst>
              </p:cNvPr>
              <p:cNvSpPr/>
              <p:nvPr/>
            </p:nvSpPr>
            <p:spPr>
              <a:xfrm>
                <a:off x="633222" y="2007394"/>
                <a:ext cx="1906586" cy="44706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accent1"/>
                    </a:solidFill>
                    <a:latin typeface="+mj-lt"/>
                  </a:rPr>
                  <a:t>202</a:t>
                </a:r>
                <a:r>
                  <a:rPr lang="en-US" altLang="zh-CN" sz="2400" b="1" dirty="0">
                    <a:solidFill>
                      <a:schemeClr val="accent1"/>
                    </a:solidFill>
                    <a:latin typeface="+mj-lt"/>
                  </a:rPr>
                  <a:t>6</a:t>
                </a:r>
                <a:r>
                  <a:rPr lang="zh-CN" altLang="en-US" sz="2400" b="1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年</a:t>
                </a:r>
                <a:endParaRPr lang="en-US" altLang="zh-CN" sz="24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en-US" altLang="zh-CN" sz="2400" b="1" dirty="0">
                    <a:solidFill>
                      <a:schemeClr val="accent1"/>
                    </a:solidFill>
                    <a:latin typeface="+mj-lt"/>
                  </a:rPr>
                  <a:t>8</a:t>
                </a:r>
                <a:r>
                  <a:rPr lang="zh-CN" altLang="en-US" sz="2400" b="1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月</a:t>
                </a:r>
                <a:r>
                  <a:rPr lang="en-US" altLang="zh-CN" sz="2400" b="1" dirty="0">
                    <a:solidFill>
                      <a:schemeClr val="accent1"/>
                    </a:solidFill>
                    <a:latin typeface="+mj-lt"/>
                  </a:rPr>
                  <a:t>-12</a:t>
                </a:r>
                <a:r>
                  <a:rPr lang="zh-CN" altLang="en-US" sz="2400" b="1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月</a:t>
                </a:r>
                <a:endParaRPr lang="en-MY" sz="24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Isosceles Triangle 39">
                <a:extLst>
                  <a:ext uri="{FF2B5EF4-FFF2-40B4-BE49-F238E27FC236}">
                    <a16:creationId xmlns:a16="http://schemas.microsoft.com/office/drawing/2014/main" id="{98B0C351-17D0-43E5-BCDE-F4108003158B}"/>
                  </a:ext>
                </a:extLst>
              </p:cNvPr>
              <p:cNvSpPr/>
              <p:nvPr/>
            </p:nvSpPr>
            <p:spPr>
              <a:xfrm rot="10800000">
                <a:off x="1394704" y="2425728"/>
                <a:ext cx="360000" cy="131997"/>
              </a:xfrm>
              <a:prstGeom prst="triangle">
                <a:avLst/>
              </a:prstGeom>
              <a:solidFill>
                <a:schemeClr val="accent6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MY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627788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4C2CA-695C-4813-A06F-F1804FA0F6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Thanks!</a:t>
            </a:r>
            <a:endParaRPr lang="en-MY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0B06AC-1BF7-40CC-ADD4-C4722C7176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2300" y="4191000"/>
            <a:ext cx="5867400" cy="42545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请各位老师批评指正</a:t>
            </a:r>
            <a:endParaRPr lang="en-MY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003986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None&quot;,&quot;HeaderHeight&quot;:0.0,&quot;FooterHeight&quot;:0.0,&quot;SideMargin&quot;:0.0,&quot;TopMargin&quot;:0.0,&quot;BottomMargin&quot;:0.0,&quot;IntervalMargin&quot;:0.0,&quot;SettingType&quot;:&quot;System&quot;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ce Default">
      <a:majorFont>
        <a:latin typeface="Arial"/>
        <a:ea typeface="Noto Sans S Chinese Black"/>
        <a:cs typeface=""/>
      </a:majorFont>
      <a:minorFont>
        <a:latin typeface="Calibri Light"/>
        <a:ea typeface="Noto Sans S Chinese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just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9242</TotalTime>
  <Words>943</Words>
  <Application>Microsoft Macintosh PowerPoint</Application>
  <PresentationFormat>宽屏</PresentationFormat>
  <Paragraphs>148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DengXian</vt:lpstr>
      <vt:lpstr>黑体</vt:lpstr>
      <vt:lpstr>宋体</vt:lpstr>
      <vt:lpstr>微软雅黑</vt:lpstr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结合大模型的表格识别方法与系统 开题答辩</vt:lpstr>
      <vt:lpstr>PowerPoint 演示文稿</vt:lpstr>
      <vt:lpstr>研究目的及意义</vt:lpstr>
      <vt:lpstr>研究目的及意义</vt:lpstr>
      <vt:lpstr>研究现状及分析</vt:lpstr>
      <vt:lpstr>表格识别任务研究现状</vt:lpstr>
      <vt:lpstr>主要研究内容及方案</vt:lpstr>
      <vt:lpstr>主要研究内容—动态感知的表格预处理</vt:lpstr>
      <vt:lpstr>主要研究内容—上下文学习驱动的表格识别引擎</vt:lpstr>
      <vt:lpstr>主要研究内容—大模型表格识别决策框架</vt:lpstr>
      <vt:lpstr>PowerPoint 演示文稿</vt:lpstr>
      <vt:lpstr>研究进度安排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#我给母校送模板#</dc:title>
  <dc:creator>Shao Kang Chan</dc:creator>
  <cp:keywords>51PPT模板网</cp:keywords>
  <cp:lastModifiedBy>T206674</cp:lastModifiedBy>
  <cp:revision>983</cp:revision>
  <dcterms:created xsi:type="dcterms:W3CDTF">2019-01-02T13:38:39Z</dcterms:created>
  <dcterms:modified xsi:type="dcterms:W3CDTF">2025-09-09T06:28:24Z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Nuaxnuy@DESKTOP-GLORKB7</vt:lpwstr>
  </property>
  <property fmtid="{D5CDD505-2E9C-101B-9397-08002B2CF9AE}" pid="5" name="MSIP_Label_f42aa342-8706-4288-bd11-ebb85995028c_SetDate">
    <vt:lpwstr>2019-04-13T03:22:24.4542264Z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79d03e65-7467-42db-b610-b9cac49b6011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