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svg" ContentType="image/svg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 type="wide"/>
  <p:notesSz cx="6858000" cy="9144000"/>
  <p:defaultTextStyle>
    <a:defPPr>
      <a:defRPr lang="zh-CN"/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Theme" Type="http://schemas.openxmlformats.org/officeDocument/2006/relationships/theme" Target="theme/theme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sv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jp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jp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jp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jp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50000" y="220000"/>
            <a:ext cx="11092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zh-CN" sz="2600">
                <a:b/>
                <a:solidFill>
                  <a:srgbClr val="1F2937"/>
                </a:solidFill>
                <a:latin typeface="Microsoft YaHei"/>
                <a:ea typeface="Microsoft YaHei"/>
              </a:rPr>
              <a:t>图2-1 不同表格场景的数据规模对比</a:t>
            </a:r>
            <a:endParaRPr lang="zh-CN" sz="2600"/>
          </a:p>
        </p:txBody>
      </p:sp>
      <p:pic>
        <p:nvPicPr>
          <p:cNvPr id="3" name="Image 数据规模对比.svg" descr="Image 数据规模对比.sv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071" y="780000"/>
            <a:ext cx="9777857" cy="5070000"/>
          </a:xfrm>
          <a:prstGeom prst="rect">
            <a:avLst/>
          </a:prstGeom>
        </p:spPr>
      </p:pic>
      <p:sp>
        <p:nvSpPr>
          <p:cNvPr id="4" name="Path"/>
          <p:cNvSpPr txBox="1"/>
          <p:nvPr/>
        </p:nvSpPr>
        <p:spPr>
          <a:xfrm>
            <a:off x="550000" y="6020000"/>
            <a:ext cx="11092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zh-CN" sz="1200">
                <a:solidFill>
                  <a:srgbClr val="1F2937"/>
                </a:solidFill>
                <a:latin typeface="Microsoft YaHei"/>
                <a:ea typeface="Microsoft YaHei"/>
              </a:rPr>
              <a:t>01. 中期image/数据规模对比.svg</a:t>
            </a:r>
            <a:endParaRPr lang="zh-CN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50000" y="220000"/>
            <a:ext cx="11092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zh-CN" sz="2600">
                <a:b/>
                <a:solidFill>
                  <a:srgbClr val="1F2937"/>
                </a:solidFill>
                <a:latin typeface="Microsoft YaHei"/>
                <a:ea typeface="Microsoft YaHei"/>
              </a:rPr>
              <a:t>图2-1 动态感知表格预处理模块框架</a:t>
            </a:r>
            <a:endParaRPr lang="zh-CN" sz="2600"/>
          </a:p>
        </p:txBody>
      </p:sp>
      <p:pic>
        <p:nvPicPr>
          <p:cNvPr id="3" name="Image 预处理框架.png" descr="Image 预处理框架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015" y="780000"/>
            <a:ext cx="9685970" cy="5070000"/>
          </a:xfrm>
          <a:prstGeom prst="rect">
            <a:avLst/>
          </a:prstGeom>
        </p:spPr>
      </p:pic>
      <p:sp>
        <p:nvSpPr>
          <p:cNvPr id="4" name="Path"/>
          <p:cNvSpPr txBox="1"/>
          <p:nvPr/>
        </p:nvSpPr>
        <p:spPr>
          <a:xfrm>
            <a:off x="550000" y="6020000"/>
            <a:ext cx="11092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zh-CN" sz="1200">
                <a:solidFill>
                  <a:srgbClr val="1F2937"/>
                </a:solidFill>
                <a:latin typeface="Microsoft YaHei"/>
                <a:ea typeface="Microsoft YaHei"/>
              </a:rPr>
              <a:t>02. 中期image/预处理框架.png</a:t>
            </a:r>
            <a:endParaRPr lang="zh-CN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50000" y="220000"/>
            <a:ext cx="11092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zh-CN" sz="2600">
                <a:b/>
                <a:solidFill>
                  <a:srgbClr val="1F2937"/>
                </a:solidFill>
                <a:latin typeface="Microsoft YaHei"/>
                <a:ea typeface="Microsoft YaHei"/>
              </a:rPr>
              <a:t>00_original.jpg</a:t>
            </a:r>
            <a:endParaRPr lang="zh-CN" sz="2600"/>
          </a:p>
        </p:txBody>
      </p:sp>
      <p:pic>
        <p:nvPicPr>
          <p:cNvPr id="3" name="Image 00_original.jpg" descr="Image 00_origin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2103028"/>
            <a:ext cx="10992000" cy="2423943"/>
          </a:xfrm>
          <a:prstGeom prst="rect">
            <a:avLst/>
          </a:prstGeom>
        </p:spPr>
      </p:pic>
      <p:sp>
        <p:nvSpPr>
          <p:cNvPr id="4" name="Path"/>
          <p:cNvSpPr txBox="1"/>
          <p:nvPr/>
        </p:nvSpPr>
        <p:spPr>
          <a:xfrm>
            <a:off x="550000" y="6020000"/>
            <a:ext cx="11092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zh-CN" sz="1200">
                <a:solidFill>
                  <a:srgbClr val="1F2937"/>
                </a:solidFill>
                <a:latin typeface="Microsoft YaHei"/>
                <a:ea typeface="Microsoft YaHei"/>
              </a:rPr>
              <a:t>03. 中期image/预处理图片/1711.09541v1.2/00_original.jpg</a:t>
            </a:r>
            <a:endParaRPr lang="zh-CN"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50000" y="220000"/>
            <a:ext cx="11092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zh-CN" sz="2600">
                <a:b/>
                <a:solidFill>
                  <a:srgbClr val="1F2937"/>
                </a:solidFill>
                <a:latin typeface="Microsoft YaHei"/>
                <a:ea typeface="Microsoft YaHei"/>
              </a:rPr>
              <a:t>02_table_line_enhance_processed.jpg</a:t>
            </a:r>
            <a:endParaRPr lang="zh-CN" sz="2600"/>
          </a:p>
        </p:txBody>
      </p:sp>
      <p:pic>
        <p:nvPicPr>
          <p:cNvPr id="3" name="Image 02_table_line_enhance_processed.jpg" descr="Image 02_table_line_enhance_process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2103028"/>
            <a:ext cx="10992000" cy="2423943"/>
          </a:xfrm>
          <a:prstGeom prst="rect">
            <a:avLst/>
          </a:prstGeom>
        </p:spPr>
      </p:pic>
      <p:sp>
        <p:nvSpPr>
          <p:cNvPr id="4" name="Path"/>
          <p:cNvSpPr txBox="1"/>
          <p:nvPr/>
        </p:nvSpPr>
        <p:spPr>
          <a:xfrm>
            <a:off x="550000" y="6020000"/>
            <a:ext cx="11092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zh-CN" sz="1200">
                <a:solidFill>
                  <a:srgbClr val="1F2937"/>
                </a:solidFill>
                <a:latin typeface="Microsoft YaHei"/>
                <a:ea typeface="Microsoft YaHei"/>
              </a:rPr>
              <a:t>04. 中期image/预处理图片/1711.09541v1.2/02_table_line_enhance_processed.jpg</a:t>
            </a:r>
            <a:endParaRPr lang="zh-CN"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50000" y="220000"/>
            <a:ext cx="11092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zh-CN" sz="2600">
                <a:b/>
                <a:solidFill>
                  <a:srgbClr val="1F2937"/>
                </a:solidFill>
                <a:latin typeface="Microsoft YaHei"/>
                <a:ea typeface="Microsoft YaHei"/>
              </a:rPr>
              <a:t>直接识别结果图.png</a:t>
            </a:r>
            <a:endParaRPr lang="zh-CN" sz="2600"/>
          </a:p>
        </p:txBody>
      </p:sp>
      <p:pic>
        <p:nvPicPr>
          <p:cNvPr id="3" name="Image 直接识别结果图.png" descr="Image 直接识别结果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874178"/>
            <a:ext cx="10992000" cy="4881643"/>
          </a:xfrm>
          <a:prstGeom prst="rect">
            <a:avLst/>
          </a:prstGeom>
        </p:spPr>
      </p:pic>
      <p:sp>
        <p:nvSpPr>
          <p:cNvPr id="4" name="Path"/>
          <p:cNvSpPr txBox="1"/>
          <p:nvPr/>
        </p:nvSpPr>
        <p:spPr>
          <a:xfrm>
            <a:off x="550000" y="6020000"/>
            <a:ext cx="11092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zh-CN" sz="1200">
                <a:solidFill>
                  <a:srgbClr val="1F2937"/>
                </a:solidFill>
                <a:latin typeface="Microsoft YaHei"/>
                <a:ea typeface="Microsoft YaHei"/>
              </a:rPr>
              <a:t>05. 中期image/预处理图片/1711.09541v1.2/直接识别结果图.png</a:t>
            </a:r>
            <a:endParaRPr lang="zh-CN"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50000" y="220000"/>
            <a:ext cx="11092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zh-CN" sz="2600">
                <a:b/>
                <a:solidFill>
                  <a:srgbClr val="1F2937"/>
                </a:solidFill>
                <a:latin typeface="Microsoft YaHei"/>
                <a:ea typeface="Microsoft YaHei"/>
              </a:rPr>
              <a:t>预处理结果图.png</a:t>
            </a:r>
            <a:endParaRPr lang="zh-CN" sz="2600"/>
          </a:p>
        </p:txBody>
      </p:sp>
      <p:pic>
        <p:nvPicPr>
          <p:cNvPr id="3" name="Image 预处理结果图.png" descr="Image 预处理结果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1517921"/>
            <a:ext cx="10992000" cy="3594158"/>
          </a:xfrm>
          <a:prstGeom prst="rect">
            <a:avLst/>
          </a:prstGeom>
        </p:spPr>
      </p:pic>
      <p:sp>
        <p:nvSpPr>
          <p:cNvPr id="4" name="Path"/>
          <p:cNvSpPr txBox="1"/>
          <p:nvPr/>
        </p:nvSpPr>
        <p:spPr>
          <a:xfrm>
            <a:off x="550000" y="6020000"/>
            <a:ext cx="11092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zh-CN" sz="1200">
                <a:solidFill>
                  <a:srgbClr val="1F2937"/>
                </a:solidFill>
                <a:latin typeface="Microsoft YaHei"/>
                <a:ea typeface="Microsoft YaHei"/>
              </a:rPr>
              <a:t>06. 中期image/预处理图片/1711.09541v1.2/预处理结果图.png</a:t>
            </a:r>
            <a:endParaRPr lang="zh-CN"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50000" y="220000"/>
            <a:ext cx="11092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zh-CN" sz="2600">
                <a:b/>
                <a:solidFill>
                  <a:srgbClr val="1F2937"/>
                </a:solidFill>
                <a:latin typeface="Microsoft YaHei"/>
                <a:ea typeface="Microsoft YaHei"/>
              </a:rPr>
              <a:t>标准答案.png</a:t>
            </a:r>
            <a:endParaRPr lang="zh-CN" sz="2600"/>
          </a:p>
        </p:txBody>
      </p:sp>
      <p:pic>
        <p:nvPicPr>
          <p:cNvPr id="3" name="Image 标准答案.png" descr="Image 标准答案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1228631"/>
            <a:ext cx="10992000" cy="4172738"/>
          </a:xfrm>
          <a:prstGeom prst="rect">
            <a:avLst/>
          </a:prstGeom>
        </p:spPr>
      </p:pic>
      <p:sp>
        <p:nvSpPr>
          <p:cNvPr id="4" name="Path"/>
          <p:cNvSpPr txBox="1"/>
          <p:nvPr/>
        </p:nvSpPr>
        <p:spPr>
          <a:xfrm>
            <a:off x="550000" y="6020000"/>
            <a:ext cx="11092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zh-CN" sz="1200">
                <a:solidFill>
                  <a:srgbClr val="1F2937"/>
                </a:solidFill>
                <a:latin typeface="Microsoft YaHei"/>
                <a:ea typeface="Microsoft YaHei"/>
              </a:rPr>
              <a:t>07. 中期image/预处理图片/1711.09541v1.2/标准答案.png</a:t>
            </a:r>
            <a:endParaRPr lang="zh-CN"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50000" y="220000"/>
            <a:ext cx="11092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zh-CN" sz="2600">
                <a:b/>
                <a:solidFill>
                  <a:srgbClr val="1F2937"/>
                </a:solidFill>
                <a:latin typeface="Microsoft YaHei"/>
                <a:ea typeface="Microsoft YaHei"/>
              </a:rPr>
              <a:t>00_original.jpg</a:t>
            </a:r>
            <a:endParaRPr lang="zh-CN" sz="2600"/>
          </a:p>
        </p:txBody>
      </p:sp>
      <p:pic>
        <p:nvPicPr>
          <p:cNvPr id="3" name="Image 00_original.jpg" descr="Image 00_origin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7411" y="780000"/>
            <a:ext cx="7177178" cy="5070000"/>
          </a:xfrm>
          <a:prstGeom prst="rect">
            <a:avLst/>
          </a:prstGeom>
        </p:spPr>
      </p:pic>
      <p:sp>
        <p:nvSpPr>
          <p:cNvPr id="4" name="Path"/>
          <p:cNvSpPr txBox="1"/>
          <p:nvPr/>
        </p:nvSpPr>
        <p:spPr>
          <a:xfrm>
            <a:off x="550000" y="6020000"/>
            <a:ext cx="11092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zh-CN" sz="1200">
                <a:solidFill>
                  <a:srgbClr val="1F2937"/>
                </a:solidFill>
                <a:latin typeface="Microsoft YaHei"/>
                <a:ea typeface="Microsoft YaHei"/>
              </a:rPr>
              <a:t>08. 中期image/预处理图片/1803.11333v1.1/00_original.jpg</a:t>
            </a:r>
            <a:endParaRPr lang="zh-CN" sz="1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50000" y="220000"/>
            <a:ext cx="11092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zh-CN" sz="2600">
                <a:b/>
                <a:solidFill>
                  <a:srgbClr val="1F2937"/>
                </a:solidFill>
                <a:latin typeface="Microsoft YaHei"/>
                <a:ea typeface="Microsoft YaHei"/>
              </a:rPr>
              <a:t>02_table_line_enhance_used.jpg</a:t>
            </a:r>
            <a:endParaRPr lang="zh-CN" sz="2600"/>
          </a:p>
        </p:txBody>
      </p:sp>
      <p:pic>
        <p:nvPicPr>
          <p:cNvPr id="3" name="Image 02_table_line_enhance_used.jpg" descr="Image 02_table_line_enhance_us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7411" y="780000"/>
            <a:ext cx="7177178" cy="5070000"/>
          </a:xfrm>
          <a:prstGeom prst="rect">
            <a:avLst/>
          </a:prstGeom>
        </p:spPr>
      </p:pic>
      <p:sp>
        <p:nvSpPr>
          <p:cNvPr id="4" name="Path"/>
          <p:cNvSpPr txBox="1"/>
          <p:nvPr/>
        </p:nvSpPr>
        <p:spPr>
          <a:xfrm>
            <a:off x="550000" y="6020000"/>
            <a:ext cx="11092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zh-CN" sz="1200">
                <a:solidFill>
                  <a:srgbClr val="1F2937"/>
                </a:solidFill>
                <a:latin typeface="Microsoft YaHei"/>
                <a:ea typeface="Microsoft YaHei"/>
              </a:rPr>
              <a:t>09. 中期image/预处理图片/1803.11333v1.1/02_table_line_enhance_used.jpg</a:t>
            </a:r>
            <a:endParaRPr lang="zh-CN" sz="1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50000" y="220000"/>
            <a:ext cx="11092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zh-CN" sz="2600">
                <a:b/>
                <a:solidFill>
                  <a:srgbClr val="1F2937"/>
                </a:solidFill>
                <a:latin typeface="Microsoft YaHei"/>
                <a:ea typeface="Microsoft YaHei"/>
              </a:rPr>
              <a:t>直接识别结果图.png</a:t>
            </a:r>
            <a:endParaRPr lang="zh-CN" sz="2600"/>
          </a:p>
        </p:txBody>
      </p:sp>
      <p:pic>
        <p:nvPicPr>
          <p:cNvPr id="3" name="Image 直接识别结果图.png" descr="Image 直接识别结果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232" y="780000"/>
            <a:ext cx="6019536" cy="5070000"/>
          </a:xfrm>
          <a:prstGeom prst="rect">
            <a:avLst/>
          </a:prstGeom>
        </p:spPr>
      </p:pic>
      <p:sp>
        <p:nvSpPr>
          <p:cNvPr id="4" name="Path"/>
          <p:cNvSpPr txBox="1"/>
          <p:nvPr/>
        </p:nvSpPr>
        <p:spPr>
          <a:xfrm>
            <a:off x="550000" y="6020000"/>
            <a:ext cx="11092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zh-CN" sz="1200">
                <a:solidFill>
                  <a:srgbClr val="1F2937"/>
                </a:solidFill>
                <a:latin typeface="Microsoft YaHei"/>
                <a:ea typeface="Microsoft YaHei"/>
              </a:rPr>
              <a:t>10. 中期image/预处理图片/1803.11333v1.1/直接识别结果图.png</a:t>
            </a:r>
            <a:endParaRPr lang="zh-CN" sz="1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50000" y="220000"/>
            <a:ext cx="11092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zh-CN" sz="2600">
                <a:b/>
                <a:solidFill>
                  <a:srgbClr val="1F2937"/>
                </a:solidFill>
                <a:latin typeface="Microsoft YaHei"/>
                <a:ea typeface="Microsoft YaHei"/>
              </a:rPr>
              <a:t>预处理结果图.png</a:t>
            </a:r>
            <a:endParaRPr lang="zh-CN" sz="2600"/>
          </a:p>
        </p:txBody>
      </p:sp>
      <p:pic>
        <p:nvPicPr>
          <p:cNvPr id="3" name="Image 预处理结果图.png" descr="Image 预处理结果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2925" y="780000"/>
            <a:ext cx="6786150" cy="5070000"/>
          </a:xfrm>
          <a:prstGeom prst="rect">
            <a:avLst/>
          </a:prstGeom>
        </p:spPr>
      </p:pic>
      <p:sp>
        <p:nvSpPr>
          <p:cNvPr id="4" name="Path"/>
          <p:cNvSpPr txBox="1"/>
          <p:nvPr/>
        </p:nvSpPr>
        <p:spPr>
          <a:xfrm>
            <a:off x="550000" y="6020000"/>
            <a:ext cx="11092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zh-CN" sz="1200">
                <a:solidFill>
                  <a:srgbClr val="1F2937"/>
                </a:solidFill>
                <a:latin typeface="Microsoft YaHei"/>
                <a:ea typeface="Microsoft YaHei"/>
              </a:rPr>
              <a:t>11. 中期image/预处理图片/1803.11333v1.1/预处理结果图.png</a:t>
            </a:r>
            <a:endParaRPr lang="zh-CN" sz="1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50000" y="220000"/>
            <a:ext cx="11092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zh-CN" sz="2600">
                <a:b/>
                <a:solidFill>
                  <a:srgbClr val="1F2937"/>
                </a:solidFill>
                <a:latin typeface="Microsoft YaHei"/>
                <a:ea typeface="Microsoft YaHei"/>
              </a:rPr>
              <a:t>标准答案.png</a:t>
            </a:r>
            <a:endParaRPr lang="zh-CN" sz="2600"/>
          </a:p>
        </p:txBody>
      </p:sp>
      <p:pic>
        <p:nvPicPr>
          <p:cNvPr id="3" name="Image 标准答案.png" descr="Image 标准答案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4613" y="780000"/>
            <a:ext cx="6642774" cy="5070000"/>
          </a:xfrm>
          <a:prstGeom prst="rect">
            <a:avLst/>
          </a:prstGeom>
        </p:spPr>
      </p:pic>
      <p:sp>
        <p:nvSpPr>
          <p:cNvPr id="4" name="Path"/>
          <p:cNvSpPr txBox="1"/>
          <p:nvPr/>
        </p:nvSpPr>
        <p:spPr>
          <a:xfrm>
            <a:off x="550000" y="6020000"/>
            <a:ext cx="11092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zh-CN" sz="1200">
                <a:solidFill>
                  <a:srgbClr val="1F2937"/>
                </a:solidFill>
                <a:latin typeface="Microsoft YaHei"/>
                <a:ea typeface="Microsoft YaHei"/>
              </a:rPr>
              <a:t>12. 中期image/预处理图片/1803.11333v1.1/标准答案.png</a:t>
            </a:r>
            <a:endParaRPr lang="zh-CN" sz="1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50000" y="220000"/>
            <a:ext cx="11092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zh-CN" sz="2600">
                <a:b/>
                <a:solidFill>
                  <a:srgbClr val="1F2937"/>
                </a:solidFill>
                <a:latin typeface="Microsoft YaHei"/>
                <a:ea typeface="Microsoft YaHei"/>
              </a:rPr>
              <a:t>00_original.jpg</a:t>
            </a:r>
            <a:endParaRPr lang="zh-CN" sz="2600"/>
          </a:p>
        </p:txBody>
      </p:sp>
      <p:pic>
        <p:nvPicPr>
          <p:cNvPr id="3" name="Image 00_original.jpg" descr="Image 00_origin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2760" y="780000"/>
            <a:ext cx="3366480" cy="5070000"/>
          </a:xfrm>
          <a:prstGeom prst="rect">
            <a:avLst/>
          </a:prstGeom>
        </p:spPr>
      </p:pic>
      <p:sp>
        <p:nvSpPr>
          <p:cNvPr id="4" name="Path"/>
          <p:cNvSpPr txBox="1"/>
          <p:nvPr/>
        </p:nvSpPr>
        <p:spPr>
          <a:xfrm>
            <a:off x="550000" y="6020000"/>
            <a:ext cx="11092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zh-CN" sz="1200">
                <a:solidFill>
                  <a:srgbClr val="1F2937"/>
                </a:solidFill>
                <a:latin typeface="Microsoft YaHei"/>
                <a:ea typeface="Microsoft YaHei"/>
              </a:rPr>
              <a:t>13. 中期image/预处理图片/Commodity_lst_Medical_SciTSR322458115_1000006076891651/00_original.jpg</a:t>
            </a:r>
            <a:endParaRPr lang="zh-CN" sz="1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50000" y="220000"/>
            <a:ext cx="11092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zh-CN" sz="2600">
                <a:b/>
                <a:solidFill>
                  <a:srgbClr val="1F2937"/>
                </a:solidFill>
                <a:latin typeface="Microsoft YaHei"/>
                <a:ea typeface="Microsoft YaHei"/>
              </a:rPr>
              <a:t>03_sharpen_used.jpg</a:t>
            </a:r>
            <a:endParaRPr lang="zh-CN" sz="2600"/>
          </a:p>
        </p:txBody>
      </p:sp>
      <p:pic>
        <p:nvPicPr>
          <p:cNvPr id="3" name="Image 03_sharpen_used.jpg" descr="Image 03_sharpen_us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6342" y="780000"/>
            <a:ext cx="7679315" cy="5070000"/>
          </a:xfrm>
          <a:prstGeom prst="rect">
            <a:avLst/>
          </a:prstGeom>
        </p:spPr>
      </p:pic>
      <p:sp>
        <p:nvSpPr>
          <p:cNvPr id="4" name="Path"/>
          <p:cNvSpPr txBox="1"/>
          <p:nvPr/>
        </p:nvSpPr>
        <p:spPr>
          <a:xfrm>
            <a:off x="550000" y="6020000"/>
            <a:ext cx="11092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zh-CN" sz="1200">
                <a:solidFill>
                  <a:srgbClr val="1F2937"/>
                </a:solidFill>
                <a:latin typeface="Microsoft YaHei"/>
                <a:ea typeface="Microsoft YaHei"/>
              </a:rPr>
              <a:t>14. 中期image/预处理图片/Commodity_lst_Medical_SciTSR322458115_1000006076891651/03_sharpen_used.jpg</a:t>
            </a:r>
            <a:endParaRPr lang="zh-CN" sz="1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50000" y="220000"/>
            <a:ext cx="11092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zh-CN" sz="2600">
                <a:b/>
                <a:solidFill>
                  <a:srgbClr val="1F2937"/>
                </a:solidFill>
                <a:latin typeface="Microsoft YaHei"/>
                <a:ea typeface="Microsoft YaHei"/>
              </a:rPr>
              <a:t>直接识别结果图.png</a:t>
            </a:r>
            <a:endParaRPr lang="zh-CN" sz="2600"/>
          </a:p>
        </p:txBody>
      </p:sp>
      <p:pic>
        <p:nvPicPr>
          <p:cNvPr id="3" name="Image 直接识别结果图.png" descr="Image 直接识别结果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1008" y="780000"/>
            <a:ext cx="3909984" cy="5070000"/>
          </a:xfrm>
          <a:prstGeom prst="rect">
            <a:avLst/>
          </a:prstGeom>
        </p:spPr>
      </p:pic>
      <p:sp>
        <p:nvSpPr>
          <p:cNvPr id="4" name="Path"/>
          <p:cNvSpPr txBox="1"/>
          <p:nvPr/>
        </p:nvSpPr>
        <p:spPr>
          <a:xfrm>
            <a:off x="550000" y="6020000"/>
            <a:ext cx="11092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zh-CN" sz="1200">
                <a:solidFill>
                  <a:srgbClr val="1F2937"/>
                </a:solidFill>
                <a:latin typeface="Microsoft YaHei"/>
                <a:ea typeface="Microsoft YaHei"/>
              </a:rPr>
              <a:t>15. 中期image/预处理图片/Commodity_lst_Medical_SciTSR322458115_1000006076891651/直接识别结果图.png</a:t>
            </a:r>
            <a:endParaRPr lang="zh-CN" sz="12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50000" y="220000"/>
            <a:ext cx="11092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zh-CN" sz="2600">
                <a:b/>
                <a:solidFill>
                  <a:srgbClr val="1F2937"/>
                </a:solidFill>
                <a:latin typeface="Microsoft YaHei"/>
                <a:ea typeface="Microsoft YaHei"/>
              </a:rPr>
              <a:t>预处理识别结果图.png</a:t>
            </a:r>
            <a:endParaRPr lang="zh-CN" sz="2600"/>
          </a:p>
        </p:txBody>
      </p:sp>
      <p:pic>
        <p:nvPicPr>
          <p:cNvPr id="3" name="Image 预处理识别结果图.png" descr="Image 预处理识别结果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481" y="780000"/>
            <a:ext cx="9827037" cy="5070000"/>
          </a:xfrm>
          <a:prstGeom prst="rect">
            <a:avLst/>
          </a:prstGeom>
        </p:spPr>
      </p:pic>
      <p:sp>
        <p:nvSpPr>
          <p:cNvPr id="4" name="Path"/>
          <p:cNvSpPr txBox="1"/>
          <p:nvPr/>
        </p:nvSpPr>
        <p:spPr>
          <a:xfrm>
            <a:off x="550000" y="6020000"/>
            <a:ext cx="11092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zh-CN" sz="1200">
                <a:solidFill>
                  <a:srgbClr val="1F2937"/>
                </a:solidFill>
                <a:latin typeface="Microsoft YaHei"/>
                <a:ea typeface="Microsoft YaHei"/>
              </a:rPr>
              <a:t>16. 中期image/预处理图片/Commodity_lst_Medical_SciTSR322458115_1000006076891651/预处理识别结果图.png</a:t>
            </a:r>
            <a:endParaRPr lang="zh-CN" sz="1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50000" y="220000"/>
            <a:ext cx="11092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zh-CN" sz="2600">
                <a:b/>
                <a:solidFill>
                  <a:srgbClr val="1F2937"/>
                </a:solidFill>
                <a:latin typeface="Microsoft YaHei"/>
                <a:ea typeface="Microsoft YaHei"/>
              </a:rPr>
              <a:t>标准答案.png</a:t>
            </a:r>
            <a:endParaRPr lang="zh-CN" sz="2600"/>
          </a:p>
        </p:txBody>
      </p:sp>
      <p:pic>
        <p:nvPicPr>
          <p:cNvPr id="3" name="Image 标准答案.png" descr="Image 标准答案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2061115"/>
            <a:ext cx="10992000" cy="2507769"/>
          </a:xfrm>
          <a:prstGeom prst="rect">
            <a:avLst/>
          </a:prstGeom>
        </p:spPr>
      </p:pic>
      <p:sp>
        <p:nvSpPr>
          <p:cNvPr id="4" name="Path"/>
          <p:cNvSpPr txBox="1"/>
          <p:nvPr/>
        </p:nvSpPr>
        <p:spPr>
          <a:xfrm>
            <a:off x="550000" y="6020000"/>
            <a:ext cx="11092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zh-CN" sz="1200">
                <a:solidFill>
                  <a:srgbClr val="1F2937"/>
                </a:solidFill>
                <a:latin typeface="Microsoft YaHei"/>
                <a:ea typeface="Microsoft YaHei"/>
              </a:rPr>
              <a:t>17. 中期image/预处理图片/Commodity_lst_Medical_SciTSR322458115_1000006076891651/标准答案.png</a:t>
            </a:r>
            <a:endParaRPr lang="zh-CN" sz="12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50000" y="220000"/>
            <a:ext cx="11092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zh-CN" sz="2600">
                <a:b/>
                <a:solidFill>
                  <a:srgbClr val="1F2937"/>
                </a:solidFill>
                <a:latin typeface="Microsoft YaHei"/>
                <a:ea typeface="Microsoft YaHei"/>
              </a:rPr>
              <a:t>00_original.jpg</a:t>
            </a:r>
            <a:endParaRPr lang="zh-CN" sz="2600"/>
          </a:p>
        </p:txBody>
      </p:sp>
      <p:pic>
        <p:nvPicPr>
          <p:cNvPr id="3" name="Image 00_original.jpg" descr="Image 00_origin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43" y="780000"/>
            <a:ext cx="10854713" cy="5070000"/>
          </a:xfrm>
          <a:prstGeom prst="rect">
            <a:avLst/>
          </a:prstGeom>
        </p:spPr>
      </p:pic>
      <p:sp>
        <p:nvSpPr>
          <p:cNvPr id="4" name="Path"/>
          <p:cNvSpPr txBox="1"/>
          <p:nvPr/>
        </p:nvSpPr>
        <p:spPr>
          <a:xfrm>
            <a:off x="550000" y="6020000"/>
            <a:ext cx="11092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zh-CN" sz="1200">
                <a:solidFill>
                  <a:srgbClr val="1F2937"/>
                </a:solidFill>
                <a:latin typeface="Microsoft YaHei"/>
                <a:ea typeface="Microsoft YaHei"/>
              </a:rPr>
              <a:t>18. 中期image/预处理图片/PMC5603042_002_00/00_original.jpg</a:t>
            </a:r>
            <a:endParaRPr lang="zh-CN" sz="12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50000" y="220000"/>
            <a:ext cx="11092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zh-CN" sz="2600">
                <a:b/>
                <a:solidFill>
                  <a:srgbClr val="1F2937"/>
                </a:solidFill>
                <a:latin typeface="Microsoft YaHei"/>
                <a:ea typeface="Microsoft YaHei"/>
              </a:rPr>
              <a:t>03_table_line_enhance_used.jpg</a:t>
            </a:r>
            <a:endParaRPr lang="zh-CN" sz="2600"/>
          </a:p>
        </p:txBody>
      </p:sp>
      <p:pic>
        <p:nvPicPr>
          <p:cNvPr id="3" name="Image 03_table_line_enhance_used.jpg" descr="Image 03_table_line_enhance_us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43" y="780000"/>
            <a:ext cx="10854713" cy="5070000"/>
          </a:xfrm>
          <a:prstGeom prst="rect">
            <a:avLst/>
          </a:prstGeom>
        </p:spPr>
      </p:pic>
      <p:sp>
        <p:nvSpPr>
          <p:cNvPr id="4" name="Path"/>
          <p:cNvSpPr txBox="1"/>
          <p:nvPr/>
        </p:nvSpPr>
        <p:spPr>
          <a:xfrm>
            <a:off x="550000" y="6020000"/>
            <a:ext cx="11092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zh-CN" sz="1200">
                <a:solidFill>
                  <a:srgbClr val="1F2937"/>
                </a:solidFill>
                <a:latin typeface="Microsoft YaHei"/>
                <a:ea typeface="Microsoft YaHei"/>
              </a:rPr>
              <a:t>19. 中期image/预处理图片/PMC5603042_002_00/03_table_line_enhance_used.jpg</a:t>
            </a:r>
            <a:endParaRPr lang="zh-CN" sz="12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50000" y="220000"/>
            <a:ext cx="11092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zh-CN" sz="2600">
                <a:b/>
                <a:solidFill>
                  <a:srgbClr val="1F2937"/>
                </a:solidFill>
                <a:latin typeface="Microsoft YaHei"/>
                <a:ea typeface="Microsoft YaHei"/>
              </a:rPr>
              <a:t>直接识别结果图.png</a:t>
            </a:r>
            <a:endParaRPr lang="zh-CN" sz="2600"/>
          </a:p>
        </p:txBody>
      </p:sp>
      <p:pic>
        <p:nvPicPr>
          <p:cNvPr id="3" name="Image 直接识别结果图.png" descr="Image 直接识别结果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804" y="780000"/>
            <a:ext cx="5892391" cy="5070000"/>
          </a:xfrm>
          <a:prstGeom prst="rect">
            <a:avLst/>
          </a:prstGeom>
        </p:spPr>
      </p:pic>
      <p:sp>
        <p:nvSpPr>
          <p:cNvPr id="4" name="Path"/>
          <p:cNvSpPr txBox="1"/>
          <p:nvPr/>
        </p:nvSpPr>
        <p:spPr>
          <a:xfrm>
            <a:off x="550000" y="6020000"/>
            <a:ext cx="11092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zh-CN" sz="1200">
                <a:solidFill>
                  <a:srgbClr val="1F2937"/>
                </a:solidFill>
                <a:latin typeface="Microsoft YaHei"/>
                <a:ea typeface="Microsoft YaHei"/>
              </a:rPr>
              <a:t>20. 中期image/预处理图片/PMC5603042_002_00/直接识别结果图.png</a:t>
            </a:r>
            <a:endParaRPr lang="zh-CN" sz="12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50000" y="220000"/>
            <a:ext cx="11092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zh-CN" sz="2600">
                <a:b/>
                <a:solidFill>
                  <a:srgbClr val="1F2937"/>
                </a:solidFill>
                <a:latin typeface="Microsoft YaHei"/>
                <a:ea typeface="Microsoft YaHei"/>
              </a:rPr>
              <a:t>预处理结果图.png</a:t>
            </a:r>
            <a:endParaRPr lang="zh-CN" sz="2600"/>
          </a:p>
        </p:txBody>
      </p:sp>
      <p:pic>
        <p:nvPicPr>
          <p:cNvPr id="3" name="Image 预处理结果图.png" descr="Image 预处理结果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3364" y="780000"/>
            <a:ext cx="6785271" cy="5070000"/>
          </a:xfrm>
          <a:prstGeom prst="rect">
            <a:avLst/>
          </a:prstGeom>
        </p:spPr>
      </p:pic>
      <p:sp>
        <p:nvSpPr>
          <p:cNvPr id="4" name="Path"/>
          <p:cNvSpPr txBox="1"/>
          <p:nvPr/>
        </p:nvSpPr>
        <p:spPr>
          <a:xfrm>
            <a:off x="550000" y="6020000"/>
            <a:ext cx="11092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zh-CN" sz="1200">
                <a:solidFill>
                  <a:srgbClr val="1F2937"/>
                </a:solidFill>
                <a:latin typeface="Microsoft YaHei"/>
                <a:ea typeface="Microsoft YaHei"/>
              </a:rPr>
              <a:t>21. 中期image/预处理图片/PMC5603042_002_00/预处理结果图.png</a:t>
            </a:r>
            <a:endParaRPr lang="zh-CN" sz="12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50000" y="220000"/>
            <a:ext cx="11092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zh-CN" sz="2600">
                <a:b/>
                <a:solidFill>
                  <a:srgbClr val="1F2937"/>
                </a:solidFill>
                <a:latin typeface="Microsoft YaHei"/>
                <a:ea typeface="Microsoft YaHei"/>
              </a:rPr>
              <a:t>标准答案.png</a:t>
            </a:r>
            <a:endParaRPr lang="zh-CN" sz="2600"/>
          </a:p>
        </p:txBody>
      </p:sp>
      <p:pic>
        <p:nvPicPr>
          <p:cNvPr id="3" name="Image 标准答案.png" descr="Image 标准答案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4730" y="780000"/>
            <a:ext cx="6062539" cy="5070000"/>
          </a:xfrm>
          <a:prstGeom prst="rect">
            <a:avLst/>
          </a:prstGeom>
        </p:spPr>
      </p:pic>
      <p:sp>
        <p:nvSpPr>
          <p:cNvPr id="4" name="Path"/>
          <p:cNvSpPr txBox="1"/>
          <p:nvPr/>
        </p:nvSpPr>
        <p:spPr>
          <a:xfrm>
            <a:off x="550000" y="6020000"/>
            <a:ext cx="11092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zh-CN" sz="1200">
                <a:solidFill>
                  <a:srgbClr val="1F2937"/>
                </a:solidFill>
                <a:latin typeface="Microsoft YaHei"/>
                <a:ea typeface="Microsoft YaHei"/>
              </a:rPr>
              <a:t>22. 中期image/预处理图片/PMC5603042_002_00/标准答案.png</a:t>
            </a:r>
            <a:endParaRPr lang="zh-CN" sz="12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50000" y="220000"/>
            <a:ext cx="11092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zh-CN" sz="2600">
                <a:b/>
                <a:solidFill>
                  <a:srgbClr val="1F2937"/>
                </a:solidFill>
                <a:latin typeface="Microsoft YaHei"/>
                <a:ea typeface="Microsoft YaHei"/>
              </a:rPr>
              <a:t>图2-2 基于上下文示例学习的表格结构识别框架</a:t>
            </a:r>
            <a:endParaRPr lang="zh-CN" sz="2600"/>
          </a:p>
        </p:txBody>
      </p:sp>
      <p:pic>
        <p:nvPicPr>
          <p:cNvPr id="3" name="Image 上下文识别.png" descr="Image 上下文识别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015" y="780000"/>
            <a:ext cx="9685970" cy="5070000"/>
          </a:xfrm>
          <a:prstGeom prst="rect">
            <a:avLst/>
          </a:prstGeom>
        </p:spPr>
      </p:pic>
      <p:sp>
        <p:nvSpPr>
          <p:cNvPr id="4" name="Path"/>
          <p:cNvSpPr txBox="1"/>
          <p:nvPr/>
        </p:nvSpPr>
        <p:spPr>
          <a:xfrm>
            <a:off x="550000" y="6020000"/>
            <a:ext cx="11092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zh-CN" sz="1200">
                <a:solidFill>
                  <a:srgbClr val="1F2937"/>
                </a:solidFill>
                <a:latin typeface="Microsoft YaHei"/>
                <a:ea typeface="Microsoft YaHei"/>
              </a:rPr>
              <a:t>23. 中期image/上下文识别.png</a:t>
            </a:r>
            <a:endParaRPr lang="zh-CN" sz="12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50000" y="220000"/>
            <a:ext cx="11092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zh-CN" sz="2600">
                <a:b/>
                <a:solidFill>
                  <a:srgbClr val="1F2937"/>
                </a:solidFill>
                <a:latin typeface="Microsoft YaHei"/>
                <a:ea typeface="Microsoft YaHei"/>
              </a:rPr>
              <a:t>图2-3 面向表格识别结果的质量评估与后处理修复框架</a:t>
            </a:r>
            <a:endParaRPr lang="zh-CN" sz="2600"/>
          </a:p>
        </p:txBody>
      </p:sp>
      <p:pic>
        <p:nvPicPr>
          <p:cNvPr id="3" name="Image 质量评估后处理框架.png" descr="Image 质量评估后处理框架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015" y="780000"/>
            <a:ext cx="9685970" cy="5070000"/>
          </a:xfrm>
          <a:prstGeom prst="rect">
            <a:avLst/>
          </a:prstGeom>
        </p:spPr>
      </p:pic>
      <p:sp>
        <p:nvSpPr>
          <p:cNvPr id="4" name="Path"/>
          <p:cNvSpPr txBox="1"/>
          <p:nvPr/>
        </p:nvSpPr>
        <p:spPr>
          <a:xfrm>
            <a:off x="550000" y="6020000"/>
            <a:ext cx="11092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zh-CN" sz="1200">
                <a:solidFill>
                  <a:srgbClr val="1F2937"/>
                </a:solidFill>
                <a:latin typeface="Microsoft YaHei"/>
                <a:ea typeface="Microsoft YaHei"/>
              </a:rPr>
              <a:t>24. 中期image/质量评估后处理框架.png</a:t>
            </a:r>
            <a:endParaRPr lang="zh-CN" sz="12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50000" y="220000"/>
            <a:ext cx="11092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zh-CN" sz="2600">
                <a:b/>
                <a:solidFill>
                  <a:srgbClr val="1F2937"/>
                </a:solidFill>
                <a:latin typeface="Microsoft YaHei"/>
                <a:ea typeface="Microsoft YaHei"/>
              </a:rPr>
              <a:t>图2-8 系统主界面</a:t>
            </a:r>
            <a:endParaRPr lang="zh-CN" sz="2600"/>
          </a:p>
        </p:txBody>
      </p:sp>
      <p:pic>
        <p:nvPicPr>
          <p:cNvPr id="3" name="Image 程序主界面.png" descr="Image 程序主界面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903" y="780000"/>
            <a:ext cx="10794193" cy="5070000"/>
          </a:xfrm>
          <a:prstGeom prst="rect">
            <a:avLst/>
          </a:prstGeom>
        </p:spPr>
      </p:pic>
      <p:sp>
        <p:nvSpPr>
          <p:cNvPr id="4" name="Path"/>
          <p:cNvSpPr txBox="1"/>
          <p:nvPr/>
        </p:nvSpPr>
        <p:spPr>
          <a:xfrm>
            <a:off x="550000" y="6020000"/>
            <a:ext cx="11092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zh-CN" sz="1200">
                <a:solidFill>
                  <a:srgbClr val="1F2937"/>
                </a:solidFill>
                <a:latin typeface="Microsoft YaHei"/>
                <a:ea typeface="Microsoft YaHei"/>
              </a:rPr>
              <a:t>25. 中期image/程序主界面.png</a:t>
            </a:r>
            <a:endParaRPr lang="zh-CN" sz="12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50000" y="220000"/>
            <a:ext cx="11092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zh-CN" sz="2600">
                <a:b/>
                <a:solidFill>
                  <a:srgbClr val="1F2937"/>
                </a:solidFill>
                <a:latin typeface="Microsoft YaHei"/>
                <a:ea typeface="Microsoft YaHei"/>
              </a:rPr>
              <a:t>图2-8 系统识别页面</a:t>
            </a:r>
            <a:endParaRPr lang="zh-CN" sz="2600"/>
          </a:p>
        </p:txBody>
      </p:sp>
      <p:pic>
        <p:nvPicPr>
          <p:cNvPr id="3" name="Image 程序识别页面.png" descr="Image 程序识别页面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405" y="780000"/>
            <a:ext cx="8991190" cy="5070000"/>
          </a:xfrm>
          <a:prstGeom prst="rect">
            <a:avLst/>
          </a:prstGeom>
        </p:spPr>
      </p:pic>
      <p:sp>
        <p:nvSpPr>
          <p:cNvPr id="4" name="Path"/>
          <p:cNvSpPr txBox="1"/>
          <p:nvPr/>
        </p:nvSpPr>
        <p:spPr>
          <a:xfrm>
            <a:off x="550000" y="6020000"/>
            <a:ext cx="11092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zh-CN" sz="1200">
                <a:solidFill>
                  <a:srgbClr val="1F2937"/>
                </a:solidFill>
                <a:latin typeface="Microsoft YaHei"/>
                <a:ea typeface="Microsoft YaHei"/>
              </a:rPr>
              <a:t>26. 中期image/程序识别页面.png</a:t>
            </a:r>
            <a:endParaRPr lang="zh-CN" sz="12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50000" y="220000"/>
            <a:ext cx="11092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zh-CN" sz="2600">
                <a:b/>
                <a:solidFill>
                  <a:srgbClr val="1F2937"/>
                </a:solidFill>
                <a:latin typeface="Microsoft YaHei"/>
                <a:ea typeface="Microsoft YaHei"/>
              </a:rPr>
              <a:t>图2-9 系统识别结果展示页面</a:t>
            </a:r>
            <a:endParaRPr lang="zh-CN" sz="2600"/>
          </a:p>
        </p:txBody>
      </p:sp>
      <p:pic>
        <p:nvPicPr>
          <p:cNvPr id="3" name="Image 程序识别结果.png" descr="Image 程序识别结果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704" y="780000"/>
            <a:ext cx="10068591" cy="5070000"/>
          </a:xfrm>
          <a:prstGeom prst="rect">
            <a:avLst/>
          </a:prstGeom>
        </p:spPr>
      </p:pic>
      <p:sp>
        <p:nvSpPr>
          <p:cNvPr id="4" name="Path"/>
          <p:cNvSpPr txBox="1"/>
          <p:nvPr/>
        </p:nvSpPr>
        <p:spPr>
          <a:xfrm>
            <a:off x="550000" y="6020000"/>
            <a:ext cx="11092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zh-CN" sz="1200">
                <a:solidFill>
                  <a:srgbClr val="1F2937"/>
                </a:solidFill>
                <a:latin typeface="Microsoft YaHei"/>
                <a:ea typeface="Microsoft YaHei"/>
              </a:rPr>
              <a:t>27. 中期image/程序识别结果.png</a:t>
            </a:r>
            <a:endParaRPr lang="zh-CN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2937"/>
      </a:dk2>
      <a:lt2>
        <a:srgbClr val="F9FAFB"/>
      </a:lt2>
      <a:accent1>
        <a:srgbClr val="2563EB"/>
      </a:accent1>
      <a:accent2>
        <a:srgbClr val="10B981"/>
      </a:accent2>
      <a:accent3>
        <a:srgbClr val="F59E0B"/>
      </a:accent3>
      <a:accent4>
        <a:srgbClr val="EF4444"/>
      </a:accent4>
      <a:accent5>
        <a:srgbClr val="8B5CF6"/>
      </a:accent5>
      <a:accent6>
        <a:srgbClr val="06B6D4"/>
      </a:accent6>
      <a:hlink>
        <a:srgbClr val="0000FF"/>
      </a:hlink>
      <a:folHlink>
        <a:srgbClr val="800080"/>
      </a:folHlink>
    </a:clrScheme>
    <a:fontScheme name="Office">
      <a:majorFont>
        <a:latin typeface="Aptos Display"/>
        <a:ea typeface="Microsoft YaHei"/>
        <a:cs typeface=""/>
      </a:majorFont>
      <a:minorFont>
        <a:latin typeface="Aptos"/>
        <a:ea typeface="Microsoft YaHei"/>
        <a:cs typeface=""/>
      </a:minorFont>
    </a:fontScheme>
    <a:fmtScheme name="Office">
      <a:fillStyleLst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27</Slides>
  <Notes>0</Notes>
  <HiddenSlides>0</HiddenSlides>
  <MMClips>0</MMClips>
  <ScaleCrop>false</ScaleCrop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中期报告引用图像</dc:title>
  <dc:creator>Codex</dc:creator>
  <cp:lastModifiedBy>Codex</cp:lastModifiedBy>
  <dcterms:created xsi:type="dcterms:W3CDTF">2026-06-22T00:00:00Z</dcterms:created>
  <dcterms:modified xsi:type="dcterms:W3CDTF">2026-06-22T00:00:00Z</dcterms:modified>
</cp:coreProperties>
</file>