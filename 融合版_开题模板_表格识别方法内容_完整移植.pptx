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98" r:id="rId3"/>
    <p:sldId id="296" r:id="rId5"/>
    <p:sldId id="297" r:id="rId6"/>
    <p:sldId id="390" r:id="rId7"/>
    <p:sldId id="389" r:id="rId8"/>
    <p:sldId id="405" r:id="rId9"/>
    <p:sldId id="388" r:id="rId10"/>
    <p:sldId id="398" r:id="rId11"/>
    <p:sldId id="400" r:id="rId12"/>
    <p:sldId id="402" r:id="rId13"/>
    <p:sldId id="387" r:id="rId14"/>
    <p:sldId id="404" r:id="rId15"/>
    <p:sldId id="328" r:id="rId16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6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151D9"/>
    <a:srgbClr val="FF0000"/>
    <a:srgbClr val="E46C0A"/>
    <a:srgbClr val="F79646"/>
    <a:srgbClr val="2359A8"/>
    <a:srgbClr val="E7E8EA"/>
    <a:srgbClr val="CCCCCC"/>
    <a:srgbClr val="33CC33"/>
    <a:srgbClr val="808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293" autoAdjust="0"/>
  </p:normalViewPr>
  <p:slideViewPr>
    <p:cSldViewPr showGuides="1">
      <p:cViewPr varScale="1">
        <p:scale>
          <a:sx n="103" d="100"/>
          <a:sy n="103" d="100"/>
        </p:scale>
        <p:origin x="14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5" d="100"/>
          <a:sy n="45" d="100"/>
        </p:scale>
        <p:origin x="276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4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CAFED6-BBFF-47F8-BA67-8C89EF98F2F9}" type="datetimeFigureOut">
              <a:rPr lang="en-MY" smtClean="0"/>
            </a:fld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EAD88-E094-40E6-89E6-169A6FA4014E}" type="slidenum">
              <a:rPr lang="en-MY" smtClean="0"/>
            </a:fld>
            <a:endParaRPr lang="en-MY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130F-E62B-4865-9403-AFA4411E240C}" type="datetimeFigureOut">
              <a:rPr lang="en-MY" smtClean="0"/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各位老师大家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下午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好，我的开题答辩题目是“</a:t>
            </a:r>
            <a:r>
              <a:rPr lang="zh-CN" altLang="en-US" dirty="0"/>
              <a:t>结合大模型的表格识别方法与系统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，我的导师是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卢光明老师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下面，我将从以下四个方面具体展开介绍。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首先是研究的目的及意义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MY" dirty="0" err="1"/>
              <a:t>其中表格检测主要是基于目标检查</a:t>
            </a:r>
            <a:r>
              <a:rPr lang="zh-CN" altLang="en-US" dirty="0"/>
              <a:t>，如</a:t>
            </a:r>
            <a:r>
              <a:rPr lang="en-US" altLang="zh-CN" dirty="0"/>
              <a:t> YOLO </a:t>
            </a:r>
            <a:r>
              <a:rPr lang="zh-CN" altLang="en-US" dirty="0"/>
              <a:t>模型</a:t>
            </a:r>
            <a:r>
              <a:rPr lang="en-MY" dirty="0" err="1"/>
              <a:t>和基于语义分割</a:t>
            </a:r>
            <a:r>
              <a:rPr lang="zh-CN" altLang="en-US" dirty="0"/>
              <a:t>，表格识别则是全部都有，当前效果比较好的是基于图像到序列的模型。主要也是利用</a:t>
            </a:r>
            <a:r>
              <a:rPr lang="en-US" altLang="zh-CN" dirty="0"/>
              <a:t> </a:t>
            </a:r>
            <a:r>
              <a:rPr lang="en-US" altLang="zh-CN" dirty="0" err="1"/>
              <a:t>tramsformer</a:t>
            </a:r>
            <a:r>
              <a:rPr lang="en-US" altLang="zh-CN" dirty="0"/>
              <a:t> </a:t>
            </a:r>
            <a:r>
              <a:rPr lang="zh-CN" altLang="en-US" dirty="0"/>
              <a:t>的强大能力来更好的识别表格结构，比如论文</a:t>
            </a: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Huang Y, Lu N, Chen D, et al. Improving table structure recognition with visual-alignment sequential coordinate modeling[C]//Proceedings of the IEEE/CVF Conference on Computer Vision and Pattern Recognition. 2023: 11134-11143.</a:t>
            </a:r>
            <a:r>
              <a:rPr lang="zh-CN" altLang="en-US" dirty="0"/>
              <a:t>，比较经典的论文有，内容识别当前主要是基于图像到序列，也就是端到端，比较有名的是</a:t>
            </a:r>
            <a:r>
              <a:rPr lang="en-US" altLang="zh-CN" dirty="0"/>
              <a:t> </a:t>
            </a:r>
            <a:r>
              <a:rPr lang="en-US" altLang="zh-CN" dirty="0" err="1"/>
              <a:t>TrOCR</a:t>
            </a:r>
            <a:r>
              <a:rPr lang="en-US" altLang="zh-CN" dirty="0"/>
              <a:t> </a:t>
            </a:r>
            <a:r>
              <a:rPr lang="zh-CN" altLang="en-US" dirty="0"/>
              <a:t>， </a:t>
            </a:r>
            <a:b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YOLO-OCR</a:t>
            </a:r>
            <a:endParaRPr lang="en-GB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dirty="0" err="1"/>
              <a:t>等等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那么基于以上研究目的和发展现状，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下面将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介绍本课题的主要研究内容。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最后介绍一下课题的研究进度安排。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我的汇报到此结束，敬请各位评委老师批评指正。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9D891-9604-4945-B734-849E67A857E2}" type="slidenum">
              <a:rPr lang="en-MY" smtClean="0"/>
            </a:fld>
            <a:endParaRPr lang="en-MY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rcRect b="15407"/>
          <a:stretch>
            <a:fillRect/>
          </a:stretch>
        </p:blipFill>
        <p:spPr>
          <a:xfrm>
            <a:off x="0" y="-1"/>
            <a:ext cx="12204000" cy="68729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" name="矩形 11"/>
          <p:cNvSpPr/>
          <p:nvPr userDrawn="1"/>
        </p:nvSpPr>
        <p:spPr>
          <a:xfrm>
            <a:off x="-332" y="0"/>
            <a:ext cx="12240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24100" y="2500306"/>
            <a:ext cx="7239000" cy="1330325"/>
          </a:xfrm>
        </p:spPr>
        <p:txBody>
          <a:bodyPr lIns="0" tIns="0" rIns="0" bIns="0" anchor="b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YOUR TITLE STYLE</a:t>
            </a:r>
            <a:endParaRPr lang="en-MY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1872" y="5000636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pic>
        <p:nvPicPr>
          <p:cNvPr id="7" name="图片 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1" name="图片 10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5" name="Rectangle 4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267200" y="480536"/>
            <a:ext cx="297517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CONTENT</a:t>
            </a:r>
            <a:endParaRPr lang="en-MY" sz="4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b="155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15" name="Group 14"/>
          <p:cNvGrpSpPr/>
          <p:nvPr/>
        </p:nvGrpSpPr>
        <p:grpSpPr>
          <a:xfrm>
            <a:off x="609600" y="4419369"/>
            <a:ext cx="2971800" cy="776529"/>
            <a:chOff x="380999" y="4419913"/>
            <a:chExt cx="2971800" cy="776529"/>
          </a:xfrm>
        </p:grpSpPr>
        <p:sp>
          <p:nvSpPr>
            <p:cNvPr id="17" name="Right Triangle 16"/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0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8610602" y="4419369"/>
            <a:ext cx="2971800" cy="776529"/>
            <a:chOff x="380999" y="4419913"/>
            <a:chExt cx="2971800" cy="776529"/>
          </a:xfrm>
        </p:grpSpPr>
        <p:sp>
          <p:nvSpPr>
            <p:cNvPr id="26" name="Right Triangle 25"/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29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610602" y="1309547"/>
            <a:ext cx="2971800" cy="2971800"/>
          </a:xfrm>
        </p:spPr>
        <p:txBody>
          <a:bodyPr/>
          <a:lstStyle/>
          <a:p>
            <a:endParaRPr lang="en-MY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4604784" y="4421496"/>
            <a:ext cx="2971800" cy="776529"/>
            <a:chOff x="380999" y="4419913"/>
            <a:chExt cx="2971800" cy="776529"/>
          </a:xfrm>
        </p:grpSpPr>
        <p:sp>
          <p:nvSpPr>
            <p:cNvPr id="31" name="Right Triangle 30"/>
            <p:cNvSpPr/>
            <p:nvPr/>
          </p:nvSpPr>
          <p:spPr>
            <a:xfrm rot="18900000">
              <a:off x="1671374" y="4805390"/>
              <a:ext cx="391052" cy="391052"/>
            </a:xfrm>
            <a:prstGeom prst="rtTriangle">
              <a:avLst/>
            </a:prstGeom>
            <a:solidFill>
              <a:schemeClr val="accent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80999" y="4419913"/>
              <a:ext cx="2971800" cy="553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sz="2400" b="1" dirty="0">
                <a:latin typeface="+mj-lt"/>
              </a:endParaRPr>
            </a:p>
          </p:txBody>
        </p:sp>
      </p:grpSp>
      <p:sp>
        <p:nvSpPr>
          <p:cNvPr id="3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604784" y="1311674"/>
            <a:ext cx="2971800" cy="2971800"/>
          </a:xfrm>
        </p:spPr>
        <p:txBody>
          <a:bodyPr/>
          <a:lstStyle/>
          <a:p>
            <a:endParaRPr lang="en-MY"/>
          </a:p>
        </p:txBody>
      </p:sp>
      <p:pic>
        <p:nvPicPr>
          <p:cNvPr id="22" name="图片 2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3" name="图片 22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co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1663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5" name="Rectangle 14"/>
          <p:cNvSpPr/>
          <p:nvPr/>
        </p:nvSpPr>
        <p:spPr>
          <a:xfrm>
            <a:off x="623316" y="5162279"/>
            <a:ext cx="3858768" cy="8688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22623" y="1306913"/>
            <a:ext cx="3860154" cy="3855366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51663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9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1663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0" name="Rectangle 59"/>
          <p:cNvSpPr/>
          <p:nvPr userDrawn="1"/>
        </p:nvSpPr>
        <p:spPr>
          <a:xfrm>
            <a:off x="51663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98907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2" name="Rectangle 61"/>
          <p:cNvSpPr/>
          <p:nvPr userDrawn="1"/>
        </p:nvSpPr>
        <p:spPr>
          <a:xfrm>
            <a:off x="98907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3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98907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4" name="Rectangle 63"/>
          <p:cNvSpPr/>
          <p:nvPr userDrawn="1"/>
        </p:nvSpPr>
        <p:spPr>
          <a:xfrm>
            <a:off x="98907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528560" y="130994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6" name="Rectangle 65"/>
          <p:cNvSpPr/>
          <p:nvPr userDrawn="1"/>
        </p:nvSpPr>
        <p:spPr>
          <a:xfrm>
            <a:off x="7528560" y="299035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7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7528560" y="3802091"/>
            <a:ext cx="1691640" cy="1691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MY" dirty="0"/>
            </a:lvl1pPr>
          </a:lstStyle>
          <a:p>
            <a:pPr lvl="0"/>
            <a:endParaRPr lang="en-MY" dirty="0"/>
          </a:p>
        </p:txBody>
      </p:sp>
      <p:sp>
        <p:nvSpPr>
          <p:cNvPr id="68" name="Rectangle 67"/>
          <p:cNvSpPr/>
          <p:nvPr userDrawn="1"/>
        </p:nvSpPr>
        <p:spPr>
          <a:xfrm>
            <a:off x="7528560" y="5482506"/>
            <a:ext cx="16916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4" name="图片 23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25" name="图片 24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4343400" cy="43434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3" name="图片 12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4" name="图片 13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7781260" y="1757030"/>
            <a:ext cx="3801140" cy="3801140"/>
          </a:xfrm>
          <a:custGeom>
            <a:avLst/>
            <a:gdLst>
              <a:gd name="connsiteX0" fmla="*/ 1848652 w 3763963"/>
              <a:gd name="connsiteY0" fmla="*/ 0 h 3763963"/>
              <a:gd name="connsiteX1" fmla="*/ 1915311 w 3763963"/>
              <a:gd name="connsiteY1" fmla="*/ 0 h 3763963"/>
              <a:gd name="connsiteX2" fmla="*/ 2074575 w 3763963"/>
              <a:gd name="connsiteY2" fmla="*/ 8042 h 3763963"/>
              <a:gd name="connsiteX3" fmla="*/ 3755920 w 3763963"/>
              <a:gd name="connsiteY3" fmla="*/ 1689387 h 3763963"/>
              <a:gd name="connsiteX4" fmla="*/ 3763963 w 3763963"/>
              <a:gd name="connsiteY4" fmla="*/ 1848670 h 3763963"/>
              <a:gd name="connsiteX5" fmla="*/ 3763963 w 3763963"/>
              <a:gd name="connsiteY5" fmla="*/ 1915292 h 3763963"/>
              <a:gd name="connsiteX6" fmla="*/ 3755920 w 3763963"/>
              <a:gd name="connsiteY6" fmla="*/ 2074575 h 3763963"/>
              <a:gd name="connsiteX7" fmla="*/ 2074575 w 3763963"/>
              <a:gd name="connsiteY7" fmla="*/ 3755920 h 3763963"/>
              <a:gd name="connsiteX8" fmla="*/ 1915291 w 3763963"/>
              <a:gd name="connsiteY8" fmla="*/ 3763963 h 3763963"/>
              <a:gd name="connsiteX9" fmla="*/ 1848672 w 3763963"/>
              <a:gd name="connsiteY9" fmla="*/ 3763963 h 3763963"/>
              <a:gd name="connsiteX10" fmla="*/ 1689388 w 3763963"/>
              <a:gd name="connsiteY10" fmla="*/ 3755920 h 3763963"/>
              <a:gd name="connsiteX11" fmla="*/ 8042 w 3763963"/>
              <a:gd name="connsiteY11" fmla="*/ 2074575 h 3763963"/>
              <a:gd name="connsiteX12" fmla="*/ 0 w 3763963"/>
              <a:gd name="connsiteY12" fmla="*/ 1915311 h 3763963"/>
              <a:gd name="connsiteX13" fmla="*/ 0 w 3763963"/>
              <a:gd name="connsiteY13" fmla="*/ 1848651 h 3763963"/>
              <a:gd name="connsiteX14" fmla="*/ 8042 w 3763963"/>
              <a:gd name="connsiteY14" fmla="*/ 1689387 h 3763963"/>
              <a:gd name="connsiteX15" fmla="*/ 1689388 w 3763963"/>
              <a:gd name="connsiteY15" fmla="*/ 8042 h 3763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63963" h="3763963">
                <a:moveTo>
                  <a:pt x="1848652" y="0"/>
                </a:moveTo>
                <a:lnTo>
                  <a:pt x="1915311" y="0"/>
                </a:lnTo>
                <a:lnTo>
                  <a:pt x="2074575" y="8042"/>
                </a:lnTo>
                <a:cubicBezTo>
                  <a:pt x="2961101" y="98074"/>
                  <a:pt x="3665888" y="802862"/>
                  <a:pt x="3755920" y="1689387"/>
                </a:cubicBezTo>
                <a:lnTo>
                  <a:pt x="3763963" y="1848670"/>
                </a:lnTo>
                <a:lnTo>
                  <a:pt x="3763963" y="1915292"/>
                </a:lnTo>
                <a:lnTo>
                  <a:pt x="3755920" y="2074575"/>
                </a:lnTo>
                <a:cubicBezTo>
                  <a:pt x="3665888" y="2961101"/>
                  <a:pt x="2961101" y="3665889"/>
                  <a:pt x="2074575" y="3755920"/>
                </a:cubicBezTo>
                <a:lnTo>
                  <a:pt x="1915291" y="3763963"/>
                </a:lnTo>
                <a:lnTo>
                  <a:pt x="1848672" y="3763963"/>
                </a:lnTo>
                <a:lnTo>
                  <a:pt x="1689388" y="3755920"/>
                </a:lnTo>
                <a:cubicBezTo>
                  <a:pt x="802862" y="3665889"/>
                  <a:pt x="98074" y="2961101"/>
                  <a:pt x="8042" y="2074575"/>
                </a:cubicBezTo>
                <a:lnTo>
                  <a:pt x="0" y="1915311"/>
                </a:lnTo>
                <a:lnTo>
                  <a:pt x="0" y="1848651"/>
                </a:lnTo>
                <a:lnTo>
                  <a:pt x="8042" y="1689387"/>
                </a:lnTo>
                <a:cubicBezTo>
                  <a:pt x="98074" y="802862"/>
                  <a:pt x="802862" y="98074"/>
                  <a:pt x="1689388" y="80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/>
          <a:srcRect l="36064" t="20617" r="35753" b="58813"/>
          <a:stretch>
            <a:fillRect/>
          </a:stretch>
        </p:blipFill>
        <p:spPr>
          <a:xfrm>
            <a:off x="341887" y="1408687"/>
            <a:ext cx="1410713" cy="1410713"/>
          </a:xfrm>
          <a:custGeom>
            <a:avLst/>
            <a:gdLst>
              <a:gd name="connsiteX0" fmla="*/ 0 w 1410713"/>
              <a:gd name="connsiteY0" fmla="*/ 0 h 1410713"/>
              <a:gd name="connsiteX1" fmla="*/ 1410713 w 1410713"/>
              <a:gd name="connsiteY1" fmla="*/ 0 h 1410713"/>
              <a:gd name="connsiteX2" fmla="*/ 1410713 w 1410713"/>
              <a:gd name="connsiteY2" fmla="*/ 1410713 h 1410713"/>
              <a:gd name="connsiteX3" fmla="*/ 0 w 1410713"/>
              <a:gd name="connsiteY3" fmla="*/ 1410713 h 1410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0713" h="1410713">
                <a:moveTo>
                  <a:pt x="0" y="0"/>
                </a:moveTo>
                <a:lnTo>
                  <a:pt x="1410713" y="0"/>
                </a:lnTo>
                <a:lnTo>
                  <a:pt x="1410713" y="1410713"/>
                </a:lnTo>
                <a:lnTo>
                  <a:pt x="0" y="1410713"/>
                </a:lnTo>
                <a:close/>
              </a:path>
            </a:pathLst>
          </a:custGeom>
        </p:spPr>
      </p:pic>
      <p:pic>
        <p:nvPicPr>
          <p:cNvPr id="16" name="图片 15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7" name="图片 16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B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0972800" cy="2239963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09600" y="1485899"/>
            <a:ext cx="2743200" cy="43434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4" name="Rectangle 3"/>
          <p:cNvSpPr/>
          <p:nvPr userDrawn="1"/>
        </p:nvSpPr>
        <p:spPr>
          <a:xfrm>
            <a:off x="3657600" y="1485898"/>
            <a:ext cx="2743200" cy="4343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47668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4533900" y="2106929"/>
            <a:ext cx="3124200" cy="3124200"/>
          </a:xfrm>
          <a:custGeom>
            <a:avLst/>
            <a:gdLst>
              <a:gd name="connsiteX0" fmla="*/ 1448904 w 3124200"/>
              <a:gd name="connsiteY0" fmla="*/ 0 h 3124200"/>
              <a:gd name="connsiteX1" fmla="*/ 1675299 w 3124200"/>
              <a:gd name="connsiteY1" fmla="*/ 0 h 3124200"/>
              <a:gd name="connsiteX2" fmla="*/ 1722401 w 3124200"/>
              <a:gd name="connsiteY2" fmla="*/ 2379 h 3124200"/>
              <a:gd name="connsiteX3" fmla="*/ 3121824 w 3124200"/>
              <a:gd name="connsiteY3" fmla="*/ 1401801 h 3124200"/>
              <a:gd name="connsiteX4" fmla="*/ 3124200 w 3124200"/>
              <a:gd name="connsiteY4" fmla="*/ 1448864 h 3124200"/>
              <a:gd name="connsiteX5" fmla="*/ 3124200 w 3124200"/>
              <a:gd name="connsiteY5" fmla="*/ 1675339 h 3124200"/>
              <a:gd name="connsiteX6" fmla="*/ 3121824 w 3124200"/>
              <a:gd name="connsiteY6" fmla="*/ 1722401 h 3124200"/>
              <a:gd name="connsiteX7" fmla="*/ 1722401 w 3124200"/>
              <a:gd name="connsiteY7" fmla="*/ 3121824 h 3124200"/>
              <a:gd name="connsiteX8" fmla="*/ 1675338 w 3124200"/>
              <a:gd name="connsiteY8" fmla="*/ 3124200 h 3124200"/>
              <a:gd name="connsiteX9" fmla="*/ 1448865 w 3124200"/>
              <a:gd name="connsiteY9" fmla="*/ 3124200 h 3124200"/>
              <a:gd name="connsiteX10" fmla="*/ 1401801 w 3124200"/>
              <a:gd name="connsiteY10" fmla="*/ 3121824 h 3124200"/>
              <a:gd name="connsiteX11" fmla="*/ 2379 w 3124200"/>
              <a:gd name="connsiteY11" fmla="*/ 1722401 h 3124200"/>
              <a:gd name="connsiteX12" fmla="*/ 0 w 3124200"/>
              <a:gd name="connsiteY12" fmla="*/ 1675299 h 3124200"/>
              <a:gd name="connsiteX13" fmla="*/ 0 w 3124200"/>
              <a:gd name="connsiteY13" fmla="*/ 1448903 h 3124200"/>
              <a:gd name="connsiteX14" fmla="*/ 2379 w 3124200"/>
              <a:gd name="connsiteY14" fmla="*/ 1401801 h 3124200"/>
              <a:gd name="connsiteX15" fmla="*/ 1401801 w 3124200"/>
              <a:gd name="connsiteY15" fmla="*/ 2379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124200" h="3124200">
                <a:moveTo>
                  <a:pt x="1448904" y="0"/>
                </a:moveTo>
                <a:lnTo>
                  <a:pt x="1675299" y="0"/>
                </a:lnTo>
                <a:lnTo>
                  <a:pt x="1722401" y="2379"/>
                </a:lnTo>
                <a:cubicBezTo>
                  <a:pt x="2460277" y="77314"/>
                  <a:pt x="3046888" y="663925"/>
                  <a:pt x="3121824" y="1401801"/>
                </a:cubicBezTo>
                <a:lnTo>
                  <a:pt x="3124200" y="1448864"/>
                </a:lnTo>
                <a:lnTo>
                  <a:pt x="3124200" y="1675339"/>
                </a:lnTo>
                <a:lnTo>
                  <a:pt x="3121824" y="1722401"/>
                </a:lnTo>
                <a:cubicBezTo>
                  <a:pt x="3046888" y="2460277"/>
                  <a:pt x="2460277" y="3046888"/>
                  <a:pt x="1722401" y="3121824"/>
                </a:cubicBezTo>
                <a:lnTo>
                  <a:pt x="1675338" y="3124200"/>
                </a:lnTo>
                <a:lnTo>
                  <a:pt x="1448865" y="3124200"/>
                </a:lnTo>
                <a:lnTo>
                  <a:pt x="1401801" y="3121824"/>
                </a:lnTo>
                <a:cubicBezTo>
                  <a:pt x="663926" y="3046888"/>
                  <a:pt x="77314" y="2460277"/>
                  <a:pt x="2379" y="1722401"/>
                </a:cubicBezTo>
                <a:lnTo>
                  <a:pt x="0" y="1675299"/>
                </a:lnTo>
                <a:lnTo>
                  <a:pt x="0" y="1448903"/>
                </a:lnTo>
                <a:lnTo>
                  <a:pt x="2379" y="1401801"/>
                </a:lnTo>
                <a:cubicBezTo>
                  <a:pt x="77314" y="663925"/>
                  <a:pt x="663926" y="77314"/>
                  <a:pt x="1401801" y="2379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486400" y="3884589"/>
            <a:ext cx="6096000" cy="190822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2743199" cy="424756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839200" y="1545249"/>
            <a:ext cx="2743200" cy="4247561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11811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/>
          </p:nvPr>
        </p:nvSpPr>
        <p:spPr>
          <a:xfrm>
            <a:off x="88773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>
          <a:xfrm>
            <a:off x="5029200" y="1752600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83820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495801" y="1545248"/>
            <a:ext cx="3200399" cy="1883752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096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0960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3907788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2" name="图片 11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6" name="图片 15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in a room&#10;&#10;Description automatically generated"/>
          <p:cNvPicPr>
            <a:picLocks noChangeAspect="1"/>
          </p:cNvPicPr>
          <p:nvPr userDrawn="1"/>
        </p:nvPicPr>
        <p:blipFill>
          <a:blip r:embed="rId2"/>
          <a:srcRect t="312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2377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0" y="2676173"/>
            <a:ext cx="5791200" cy="1477328"/>
          </a:xfrm>
        </p:spPr>
        <p:txBody>
          <a:bodyPr/>
          <a:lstStyle>
            <a:lvl1pPr algn="ctr">
              <a:defRPr sz="4800" b="1"/>
            </a:lvl1pPr>
          </a:lstStyle>
          <a:p>
            <a:r>
              <a:rPr lang="en-US" dirty="0"/>
              <a:t>Click to edit</a:t>
            </a:r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Rectangle 3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5" name="Group 5"/>
          <p:cNvGrpSpPr/>
          <p:nvPr userDrawn="1"/>
        </p:nvGrpSpPr>
        <p:grpSpPr>
          <a:xfrm>
            <a:off x="4541217" y="1516136"/>
            <a:ext cx="3109566" cy="911046"/>
            <a:chOff x="4541217" y="1177231"/>
            <a:chExt cx="3109566" cy="911046"/>
          </a:xfrm>
        </p:grpSpPr>
        <p:sp>
          <p:nvSpPr>
            <p:cNvPr id="9" name="Rectangle 8"/>
            <p:cNvSpPr/>
            <p:nvPr/>
          </p:nvSpPr>
          <p:spPr>
            <a:xfrm>
              <a:off x="4541217" y="1177231"/>
              <a:ext cx="3109566" cy="65156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8900000">
              <a:off x="5913103" y="1717294"/>
              <a:ext cx="365794" cy="370983"/>
            </a:xfrm>
            <a:prstGeom prst="rtTriangle">
              <a:avLst/>
            </a:prstGeom>
            <a:solidFill>
              <a:schemeClr val="accent6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5147925" y="1733551"/>
            <a:ext cx="1896150" cy="4077630"/>
          </a:xfrm>
          <a:custGeom>
            <a:avLst/>
            <a:gdLst>
              <a:gd name="connsiteX0" fmla="*/ 288075 w 1896150"/>
              <a:gd name="connsiteY0" fmla="*/ 0 h 4077630"/>
              <a:gd name="connsiteX1" fmla="*/ 1608074 w 1896150"/>
              <a:gd name="connsiteY1" fmla="*/ 0 h 4077630"/>
              <a:gd name="connsiteX2" fmla="*/ 1608074 w 1896150"/>
              <a:gd name="connsiteY2" fmla="*/ 4590 h 4077630"/>
              <a:gd name="connsiteX3" fmla="*/ 1695196 w 1896150"/>
              <a:gd name="connsiteY3" fmla="*/ 4590 h 4077630"/>
              <a:gd name="connsiteX4" fmla="*/ 1896150 w 1896150"/>
              <a:gd name="connsiteY4" fmla="*/ 206242 h 4077630"/>
              <a:gd name="connsiteX5" fmla="*/ 1896150 w 1896150"/>
              <a:gd name="connsiteY5" fmla="*/ 3875978 h 4077630"/>
              <a:gd name="connsiteX6" fmla="*/ 1695196 w 1896150"/>
              <a:gd name="connsiteY6" fmla="*/ 4077630 h 4077630"/>
              <a:gd name="connsiteX7" fmla="*/ 200954 w 1896150"/>
              <a:gd name="connsiteY7" fmla="*/ 4077630 h 4077630"/>
              <a:gd name="connsiteX8" fmla="*/ 0 w 1896150"/>
              <a:gd name="connsiteY8" fmla="*/ 3875978 h 4077630"/>
              <a:gd name="connsiteX9" fmla="*/ 0 w 1896150"/>
              <a:gd name="connsiteY9" fmla="*/ 206242 h 4077630"/>
              <a:gd name="connsiteX10" fmla="*/ 200954 w 1896150"/>
              <a:gd name="connsiteY10" fmla="*/ 4590 h 4077630"/>
              <a:gd name="connsiteX11" fmla="*/ 288075 w 1896150"/>
              <a:gd name="connsiteY11" fmla="*/ 4590 h 4077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96150" h="4077630">
                <a:moveTo>
                  <a:pt x="288075" y="0"/>
                </a:moveTo>
                <a:lnTo>
                  <a:pt x="1608074" y="0"/>
                </a:lnTo>
                <a:lnTo>
                  <a:pt x="1608074" y="4590"/>
                </a:lnTo>
                <a:lnTo>
                  <a:pt x="1695196" y="4590"/>
                </a:lnTo>
                <a:cubicBezTo>
                  <a:pt x="1806180" y="4590"/>
                  <a:pt x="1896150" y="94873"/>
                  <a:pt x="1896150" y="206242"/>
                </a:cubicBezTo>
                <a:lnTo>
                  <a:pt x="1896150" y="3875978"/>
                </a:lnTo>
                <a:cubicBezTo>
                  <a:pt x="1896150" y="3987347"/>
                  <a:pt x="1806180" y="4077630"/>
                  <a:pt x="1695196" y="4077630"/>
                </a:cubicBezTo>
                <a:lnTo>
                  <a:pt x="200954" y="4077630"/>
                </a:lnTo>
                <a:cubicBezTo>
                  <a:pt x="89970" y="4077630"/>
                  <a:pt x="0" y="3987347"/>
                  <a:pt x="0" y="3875978"/>
                </a:cubicBezTo>
                <a:lnTo>
                  <a:pt x="0" y="206242"/>
                </a:lnTo>
                <a:cubicBezTo>
                  <a:pt x="0" y="94872"/>
                  <a:pt x="89970" y="4590"/>
                  <a:pt x="200954" y="4590"/>
                </a:cubicBezTo>
                <a:lnTo>
                  <a:pt x="288075" y="45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-35952" y="2391156"/>
            <a:ext cx="4599432" cy="2602410"/>
          </a:xfrm>
          <a:custGeom>
            <a:avLst/>
            <a:gdLst>
              <a:gd name="connsiteX0" fmla="*/ 0 w 4599432"/>
              <a:gd name="connsiteY0" fmla="*/ 0 h 2602410"/>
              <a:gd name="connsiteX1" fmla="*/ 4599432 w 4599432"/>
              <a:gd name="connsiteY1" fmla="*/ 0 h 2602410"/>
              <a:gd name="connsiteX2" fmla="*/ 4599432 w 4599432"/>
              <a:gd name="connsiteY2" fmla="*/ 2602410 h 2602410"/>
              <a:gd name="connsiteX3" fmla="*/ 0 w 4599432"/>
              <a:gd name="connsiteY3" fmla="*/ 2602410 h 2602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9432" h="2602410">
                <a:moveTo>
                  <a:pt x="0" y="0"/>
                </a:moveTo>
                <a:lnTo>
                  <a:pt x="4599432" y="0"/>
                </a:lnTo>
                <a:lnTo>
                  <a:pt x="4599432" y="2602410"/>
                </a:lnTo>
                <a:lnTo>
                  <a:pt x="0" y="26024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MY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22" name="Picture 21" descr="A screenshot of a computer scree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967333" y="2254186"/>
            <a:ext cx="6462194" cy="3003486"/>
          </a:xfrm>
          <a:custGeom>
            <a:avLst/>
            <a:gdLst>
              <a:gd name="connsiteX0" fmla="*/ 1143000 w 7772400"/>
              <a:gd name="connsiteY0" fmla="*/ 194854 h 4180114"/>
              <a:gd name="connsiteX1" fmla="*/ 1143000 w 7772400"/>
              <a:gd name="connsiteY1" fmla="*/ 3776254 h 4180114"/>
              <a:gd name="connsiteX2" fmla="*/ 6629402 w 7772400"/>
              <a:gd name="connsiteY2" fmla="*/ 3776254 h 4180114"/>
              <a:gd name="connsiteX3" fmla="*/ 6629402 w 7772400"/>
              <a:gd name="connsiteY3" fmla="*/ 194854 h 4180114"/>
              <a:gd name="connsiteX4" fmla="*/ 0 w 7772400"/>
              <a:gd name="connsiteY4" fmla="*/ 0 h 4180114"/>
              <a:gd name="connsiteX5" fmla="*/ 7772400 w 7772400"/>
              <a:gd name="connsiteY5" fmla="*/ 0 h 4180114"/>
              <a:gd name="connsiteX6" fmla="*/ 7772400 w 7772400"/>
              <a:gd name="connsiteY6" fmla="*/ 4180114 h 4180114"/>
              <a:gd name="connsiteX7" fmla="*/ 0 w 7772400"/>
              <a:gd name="connsiteY7" fmla="*/ 4180114 h 418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72400" h="4180114">
                <a:moveTo>
                  <a:pt x="1143000" y="194854"/>
                </a:moveTo>
                <a:lnTo>
                  <a:pt x="1143000" y="3776254"/>
                </a:lnTo>
                <a:lnTo>
                  <a:pt x="6629402" y="3776254"/>
                </a:lnTo>
                <a:lnTo>
                  <a:pt x="6629402" y="194854"/>
                </a:lnTo>
                <a:close/>
                <a:moveTo>
                  <a:pt x="0" y="0"/>
                </a:moveTo>
                <a:lnTo>
                  <a:pt x="7772400" y="0"/>
                </a:lnTo>
                <a:lnTo>
                  <a:pt x="7772400" y="4180114"/>
                </a:lnTo>
                <a:lnTo>
                  <a:pt x="0" y="4180114"/>
                </a:lnTo>
                <a:close/>
              </a:path>
            </a:pathLst>
          </a:custGeom>
        </p:spPr>
      </p:pic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3528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010400" y="1600200"/>
            <a:ext cx="1828800" cy="1828800"/>
          </a:xfrm>
        </p:spPr>
        <p:txBody>
          <a:bodyPr/>
          <a:lstStyle/>
          <a:p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s and 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09600" y="1043940"/>
            <a:ext cx="10972800" cy="45719"/>
            <a:chOff x="0" y="990600"/>
            <a:chExt cx="12192001" cy="45719"/>
          </a:xfrm>
        </p:grpSpPr>
        <p:sp>
          <p:nvSpPr>
            <p:cNvPr id="7" name="Rectangle 6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30151"/>
            <a:ext cx="10972800" cy="813789"/>
          </a:xfrm>
        </p:spPr>
        <p:txBody>
          <a:bodyPr lIns="0" tIns="0" rIns="0" bIns="0">
            <a:normAutofit/>
          </a:bodyPr>
          <a:lstStyle>
            <a:lvl1pPr algn="l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pic>
        <p:nvPicPr>
          <p:cNvPr id="13" name="Graphic 12" descr="Thumbs Up Sig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00" y="1905000"/>
            <a:ext cx="2438400" cy="2438400"/>
          </a:xfrm>
          <a:prstGeom prst="rect">
            <a:avLst/>
          </a:prstGeom>
        </p:spPr>
      </p:pic>
      <p:pic>
        <p:nvPicPr>
          <p:cNvPr id="14" name="Graphic 13" descr="Thumbs Up Sign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982200" y="2514600"/>
            <a:ext cx="2438400" cy="2438400"/>
          </a:xfrm>
          <a:prstGeom prst="rect">
            <a:avLst/>
          </a:prstGeom>
        </p:spPr>
      </p:pic>
      <p:sp>
        <p:nvSpPr>
          <p:cNvPr id="18" name="Rectangle 8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9" name="Rectangle 2"/>
          <p:cNvSpPr/>
          <p:nvPr userDrawn="1"/>
        </p:nvSpPr>
        <p:spPr>
          <a:xfrm>
            <a:off x="0" y="6248400"/>
            <a:ext cx="152400" cy="6096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pic>
        <p:nvPicPr>
          <p:cNvPr id="11" name="图片 10" descr="logo[1]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425284" y="6361766"/>
            <a:ext cx="2314318" cy="424820"/>
          </a:xfrm>
          <a:prstGeom prst="rect">
            <a:avLst/>
          </a:prstGeom>
        </p:spPr>
      </p:pic>
      <p:pic>
        <p:nvPicPr>
          <p:cNvPr id="12" name="图片 11" descr="透明版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ore front at day&#10;&#10;Description automatically generated"/>
          <p:cNvPicPr>
            <a:picLocks noChangeAspect="1"/>
          </p:cNvPicPr>
          <p:nvPr userDrawn="1"/>
        </p:nvPicPr>
        <p:blipFill>
          <a:blip r:embed="rId2">
            <a:grayscl/>
            <a:lum bright="30000"/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5274" y="2719385"/>
            <a:ext cx="10972800" cy="638177"/>
          </a:xfrm>
        </p:spPr>
        <p:txBody>
          <a:bodyPr lIns="0" tIns="0" rIns="0" bIns="0" anchor="b">
            <a:no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THANKS FOR YOUR ATTENTION!</a:t>
            </a:r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00434" y="4503748"/>
            <a:ext cx="5867400" cy="425450"/>
          </a:xfrm>
        </p:spPr>
        <p:txBody>
          <a:bodyPr lIns="0" tIns="0" rIns="0" bIns="0"/>
          <a:lstStyle>
            <a:lvl1pPr marL="0" indent="0" algn="ctr">
              <a:buNone/>
              <a:defRPr sz="2400" b="1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Reporter:  XXXX    Time: XXXXX</a:t>
            </a:r>
            <a:endParaRPr lang="en-MY" dirty="0"/>
          </a:p>
        </p:txBody>
      </p:sp>
      <p:grpSp>
        <p:nvGrpSpPr>
          <p:cNvPr id="21" name="组合 20"/>
          <p:cNvGrpSpPr/>
          <p:nvPr userDrawn="1"/>
        </p:nvGrpSpPr>
        <p:grpSpPr>
          <a:xfrm flipV="1">
            <a:off x="-47668" y="2786058"/>
            <a:ext cx="2119306" cy="500066"/>
            <a:chOff x="0" y="3571876"/>
            <a:chExt cx="12192000" cy="112297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8" name="Rectangle 2"/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flipV="1">
            <a:off x="10096528" y="2803530"/>
            <a:ext cx="2119306" cy="500066"/>
            <a:chOff x="0" y="3571876"/>
            <a:chExt cx="12192000" cy="112297"/>
          </a:xfrm>
        </p:grpSpPr>
        <p:sp>
          <p:nvSpPr>
            <p:cNvPr id="13" name="Rectangle 9"/>
            <p:cNvSpPr/>
            <p:nvPr userDrawn="1"/>
          </p:nvSpPr>
          <p:spPr>
            <a:xfrm rot="5400000">
              <a:off x="6060280" y="-2488404"/>
              <a:ext cx="71439" cy="121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4" name="Rectangle 2"/>
            <p:cNvSpPr/>
            <p:nvPr userDrawn="1"/>
          </p:nvSpPr>
          <p:spPr>
            <a:xfrm rot="5400000">
              <a:off x="6073140" y="-2434686"/>
              <a:ext cx="45719" cy="1219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</p:grpSp>
      <p:pic>
        <p:nvPicPr>
          <p:cNvPr id="17" name="图片 16" descr="logo[1].png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/>
          </a:blip>
          <a:stretch>
            <a:fillRect/>
          </a:stretch>
        </p:blipFill>
        <p:spPr>
          <a:xfrm>
            <a:off x="380961" y="285728"/>
            <a:ext cx="4476789" cy="821767"/>
          </a:xfrm>
          <a:prstGeom prst="rect">
            <a:avLst/>
          </a:prstGeom>
        </p:spPr>
      </p:pic>
      <p:pic>
        <p:nvPicPr>
          <p:cNvPr id="19" name="图片 18" descr="透明版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9525024" y="-642966"/>
            <a:ext cx="2324106" cy="232410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6.png"/><Relationship Id="rId2" Type="http://schemas.openxmlformats.org/officeDocument/2006/relationships/tags" Target="../tags/tag1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9606" y="2564904"/>
            <a:ext cx="9612788" cy="133032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结合大模型的表格识别方法与系统</a:t>
            </a:r>
            <a:br>
              <a:rPr lang="zh-CN" altLang="en-US" dirty="0"/>
            </a:br>
            <a:r>
              <a:rPr lang="zh-CN" altLang="en-US" sz="2700" dirty="0"/>
              <a:t>硕士学位论文中期答辩</a:t>
            </a:r>
            <a:endParaRPr lang="en-MY" sz="2700" dirty="0">
              <a:ea typeface="黑体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500338" y="4509120"/>
            <a:ext cx="7268070" cy="1656184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报告人：覃浩</a:t>
            </a:r>
            <a:endParaRPr lang="en-US" altLang="zh-CN" b="1" dirty="0">
              <a:solidFill>
                <a:srgbClr val="2359A8"/>
              </a:solidFill>
              <a:latin typeface="+mj-lt"/>
              <a:ea typeface="宋体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指导老师：卢光明</a:t>
            </a:r>
            <a:endParaRPr lang="en-US" altLang="zh-CN" b="1" dirty="0">
              <a:solidFill>
                <a:srgbClr val="2359A8"/>
              </a:solidFill>
              <a:latin typeface="+mj-lt"/>
              <a:ea typeface="宋体" pitchFamily="2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2026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年</a:t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6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月</a:t>
            </a:r>
            <a:r>
              <a:rPr lang="en-US" altLang="zh-CN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22</a:t>
            </a:r>
            <a:r>
              <a:rPr lang="zh-CN" altLang="en-US" b="1" dirty="0">
                <a:solidFill>
                  <a:srgbClr val="2359A8"/>
                </a:solidFill>
                <a:latin typeface="+mj-lt"/>
                <a:ea typeface="宋体" pitchFamily="2" charset="-122"/>
              </a:rPr>
              <a:t>日</a:t>
            </a:r>
            <a:endParaRPr lang="en-MY" b="1" dirty="0">
              <a:solidFill>
                <a:srgbClr val="2359A8"/>
              </a:solidFill>
              <a:latin typeface="+mj-lt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419100"/>
            <a:ext cx="10363200" cy="914400"/>
          </a:xfrm>
          <a:prstGeom prst="roundRect">
            <a:avLst>
              <a:gd name="adj" fmla="val 2916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E0EC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5981700" cy="44577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771525" y="17621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771525" y="311467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8" name="Shape 5"/>
          <p:cNvSpPr/>
          <p:nvPr/>
        </p:nvSpPr>
        <p:spPr>
          <a:xfrm>
            <a:off x="771525" y="44672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pic>
        <p:nvPicPr>
          <p:cNvPr id="20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524000"/>
            <a:ext cx="4152900" cy="4457700"/>
          </a:xfrm>
          <a:prstGeom prst="rect">
            <a:avLst/>
          </a:prstGeom>
        </p:spPr>
      </p:pic>
      <p:sp>
        <p:nvSpPr>
          <p:cNvPr id="210" name="Shape 6"/>
          <p:cNvSpPr/>
          <p:nvPr/>
        </p:nvSpPr>
        <p:spPr>
          <a:xfrm>
            <a:off x="6943725" y="1724025"/>
            <a:ext cx="3771900" cy="2710160"/>
          </a:xfrm>
          <a:prstGeom prst="roundRect">
            <a:avLst>
              <a:gd name="adj" fmla="val 2846"/>
            </a:avLst>
          </a:prstGeom>
          <a:solidFill>
            <a:srgbClr val="FFFFFF">
              <a:alpha val="0"/>
            </a:srgbClr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211" name="Shape 7"/>
          <p:cNvSpPr/>
          <p:nvPr/>
        </p:nvSpPr>
        <p:spPr>
          <a:xfrm>
            <a:off x="6943725" y="4567535"/>
            <a:ext cx="3771900" cy="1214140"/>
          </a:xfrm>
          <a:prstGeom prst="roundRect">
            <a:avLst>
              <a:gd name="adj" fmla="val 14180"/>
            </a:avLst>
          </a:prstGeom>
          <a:solidFill>
            <a:srgbClr val="F3F7FD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212" name="Text 11"/>
          <p:cNvSpPr/>
          <p:nvPr/>
        </p:nvSpPr>
        <p:spPr>
          <a:xfrm>
            <a:off x="914400" y="18907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任务价值：表格是文档核心结构化载体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914400" y="21526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财务报表、科研论文、政务档案等关键信息高度依赖表格组织，识别质量直接影响后续计算与分析。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914400" y="324326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场景挑战：输入质量与版式复杂度双重波动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914400" y="350520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PDF、扫描件、拍照文档常伴随噪声、模糊、阴影、透视畸变与弱线框，结构恢复难度显著增加。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914400" y="45958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方法瓶颈：传统流程在复杂样本泛化不足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914400" y="48577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固定预处理与单次识别易出现误差传播，面对复杂表头、跨行跨列与多表混排时稳定性不足。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7067550" y="4677073"/>
            <a:ext cx="3524250" cy="174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研究动因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7067550" y="4941838"/>
            <a:ext cx="35242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需构建“输入质量优化—结构理解—结果校验”一体化链路，才能提升复杂真实场景下的准确率与可用性。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571500" y="5739557"/>
            <a:ext cx="427620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21" name="图片 11" descr="upload_post_object_v2_31620991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43" y="1802703"/>
            <a:ext cx="3275057" cy="2552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705053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D6DFEC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7103"/>
            <a:ext cx="10363200" cy="173355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7334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410527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08" name="Shape 5"/>
          <p:cNvSpPr/>
          <p:nvPr/>
        </p:nvSpPr>
        <p:spPr>
          <a:xfrm>
            <a:off x="74771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pic>
        <p:nvPicPr>
          <p:cNvPr id="20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53053"/>
            <a:ext cx="10363200" cy="2133600"/>
          </a:xfrm>
          <a:prstGeom prst="rect">
            <a:avLst/>
          </a:prstGeom>
        </p:spPr>
      </p:pic>
      <p:sp>
        <p:nvSpPr>
          <p:cNvPr id="210" name="Shape 6"/>
          <p:cNvSpPr/>
          <p:nvPr/>
        </p:nvSpPr>
        <p:spPr>
          <a:xfrm>
            <a:off x="714375" y="4254008"/>
            <a:ext cx="10020300" cy="1466850"/>
          </a:xfrm>
          <a:prstGeom prst="roundRect">
            <a:avLst>
              <a:gd name="adj" fmla="val 9715"/>
            </a:avLst>
          </a:prstGeom>
          <a:solidFill>
            <a:srgbClr val="F6F9FE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11" name="Shape 7"/>
          <p:cNvSpPr/>
          <p:nvPr/>
        </p:nvSpPr>
        <p:spPr>
          <a:xfrm>
            <a:off x="876300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212" name="Shape 8"/>
          <p:cNvSpPr/>
          <p:nvPr/>
        </p:nvSpPr>
        <p:spPr>
          <a:xfrm>
            <a:off x="2935114" y="4377833"/>
            <a:ext cx="1664791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213" name="Shape 9"/>
          <p:cNvSpPr/>
          <p:nvPr/>
        </p:nvSpPr>
        <p:spPr>
          <a:xfrm>
            <a:off x="4994002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214" name="Shape 10"/>
          <p:cNvSpPr/>
          <p:nvPr/>
        </p:nvSpPr>
        <p:spPr>
          <a:xfrm>
            <a:off x="7052816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215" name="Shape 11"/>
          <p:cNvSpPr/>
          <p:nvPr/>
        </p:nvSpPr>
        <p:spPr>
          <a:xfrm>
            <a:off x="9111630" y="4377833"/>
            <a:ext cx="1461120" cy="1219200"/>
          </a:xfrm>
          <a:prstGeom prst="roundRect">
            <a:avLst>
              <a:gd name="adj" fmla="val 11719"/>
            </a:avLst>
          </a:prstGeom>
          <a:solidFill>
            <a:srgbClr val="EEF4FD"/>
          </a:solidFill>
          <a:ln w="9525">
            <a:solidFill>
              <a:srgbClr val="C7D5E8"/>
            </a:solidFill>
            <a:prstDash val="solid"/>
          </a:ln>
        </p:spPr>
      </p:sp>
      <p:sp>
        <p:nvSpPr>
          <p:cNvPr id="216" name="Text 15"/>
          <p:cNvSpPr/>
          <p:nvPr/>
        </p:nvSpPr>
        <p:spPr>
          <a:xfrm>
            <a:off x="8572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1：复杂场景鲁棒识别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838211" y="2633567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覆盖出版物、科研论文、弱线框复杂布局等多类型输入，提升复杂样本适应性。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422910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2：端到端闭环流程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4219599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实现输入解析、动态预处理、结构识别、质量评估与后处理到结构化输出的全链路。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76009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3：大模型能力融合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7600906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利用上下文学习与决策机制提升结构理解、结果稳定性与复杂关系恢复能力。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714375" y="3914978"/>
            <a:ext cx="1000125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技术路线（总体链路）</a:t>
            </a:r>
            <a:endParaRPr lang="en-US" sz="13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1441921" y="4779818"/>
            <a:ext cx="533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1299790" y="5016008"/>
            <a:ext cx="817662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图像 / PDF 页面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2642815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3434135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动态预处理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3367460" y="5016008"/>
            <a:ext cx="8001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问题感知与优选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4701704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549294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5407149" y="5016008"/>
            <a:ext cx="838349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特征+示例+提示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6760518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7351737" y="4779818"/>
            <a:ext cx="10668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3" name="Text 32"/>
          <p:cNvSpPr/>
          <p:nvPr/>
        </p:nvSpPr>
        <p:spPr>
          <a:xfrm>
            <a:off x="7427937" y="5016008"/>
            <a:ext cx="914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校验、修复、重试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4" name="Text 33"/>
          <p:cNvSpPr/>
          <p:nvPr/>
        </p:nvSpPr>
        <p:spPr>
          <a:xfrm>
            <a:off x="8819331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950877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结构化输出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6" name="Text 35"/>
          <p:cNvSpPr/>
          <p:nvPr/>
        </p:nvSpPr>
        <p:spPr>
          <a:xfrm>
            <a:off x="9489579" y="5016008"/>
            <a:ext cx="705148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HTML / JSON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总体方案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419100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19250"/>
            <a:ext cx="10363200" cy="356235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695334" y="1821911"/>
            <a:ext cx="10020300" cy="2209800"/>
          </a:xfrm>
          <a:prstGeom prst="roundRect">
            <a:avLst>
              <a:gd name="adj" fmla="val 4281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7143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208" name="Shape 5"/>
          <p:cNvSpPr/>
          <p:nvPr/>
        </p:nvSpPr>
        <p:spPr>
          <a:xfrm>
            <a:off x="408622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209" name="Shape 6"/>
          <p:cNvSpPr/>
          <p:nvPr/>
        </p:nvSpPr>
        <p:spPr>
          <a:xfrm>
            <a:off x="74580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210" name="Shape 7"/>
          <p:cNvSpPr/>
          <p:nvPr/>
        </p:nvSpPr>
        <p:spPr>
          <a:xfrm>
            <a:off x="533400" y="5334000"/>
            <a:ext cx="10363200" cy="685800"/>
          </a:xfrm>
          <a:prstGeom prst="roundRect">
            <a:avLst>
              <a:gd name="adj" fmla="val 44444"/>
            </a:avLst>
          </a:prstGeom>
          <a:solidFill>
            <a:srgbClr val="EEF4FD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211" name="Text 10"/>
          <p:cNvSpPr/>
          <p:nvPr/>
        </p:nvSpPr>
        <p:spPr>
          <a:xfrm>
            <a:off x="8382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输入解析与图像预处理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828710" y="4535809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支持图像/PDF页面输入，动态选择最优预处理链，提升结构可辨识性。</a:t>
            </a:r>
            <a:endParaRPr lang="en-US" sz="10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21005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上下文学习驱动结构识别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4210057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通过特征提取、示例检索与提示构造，引导大模型生成表格结构与内容。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75819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质量评估与后处理输出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7581904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基于合法性与一致性评估触发修复、重识别与细化，输出 HTML/JSON 结果。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695325" y="5424488"/>
            <a:ext cx="100393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714329" y="5587160"/>
            <a:ext cx="10039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将“大模型推理能力”与“传统工程闭环”结合，已实现从输入到结构化输出的可运行系统路径。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19" name="图片 7" descr="upload_post_object_v2_40903408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10" y="2239382"/>
            <a:ext cx="1779966" cy="1374943"/>
          </a:xfrm>
          <a:prstGeom prst="rect">
            <a:avLst/>
          </a:prstGeom>
        </p:spPr>
      </p:pic>
      <p:pic>
        <p:nvPicPr>
          <p:cNvPr id="220" name="图片 22" descr="upload_post_object_v2_25371574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467" y="2239393"/>
            <a:ext cx="1831949" cy="1415098"/>
          </a:xfrm>
          <a:prstGeom prst="rect">
            <a:avLst/>
          </a:prstGeom>
        </p:spPr>
      </p:pic>
      <p:pic>
        <p:nvPicPr>
          <p:cNvPr id="221" name="图片 24" descr="upload_post_object_v2_36960886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184" y="2279425"/>
            <a:ext cx="1799685" cy="1334931"/>
          </a:xfrm>
          <a:prstGeom prst="rect">
            <a:avLst/>
          </a:prstGeom>
        </p:spPr>
      </p:pic>
      <p:pic>
        <p:nvPicPr>
          <p:cNvPr id="222" name="图片 25" descr="upload_post_object_v2_2348475615"/>
          <p:cNvPicPr>
            <a:picLocks noChangeAspect="1"/>
          </p:cNvPicPr>
          <p:nvPr/>
        </p:nvPicPr>
        <p:blipFill>
          <a:blip r:embed="rId6"/>
          <a:srcRect r="24572"/>
          <a:stretch>
            <a:fillRect/>
          </a:stretch>
        </p:blipFill>
        <p:spPr>
          <a:xfrm>
            <a:off x="8395130" y="2298171"/>
            <a:ext cx="1888047" cy="1297439"/>
          </a:xfrm>
          <a:prstGeom prst="rect">
            <a:avLst/>
          </a:prstGeom>
        </p:spPr>
      </p:pic>
      <p:sp>
        <p:nvSpPr>
          <p:cNvPr id="223" name="右箭头 26"/>
          <p:cNvSpPr/>
          <p:nvPr userDrawn="1"/>
        </p:nvSpPr>
        <p:spPr>
          <a:xfrm>
            <a:off x="2782437" y="2940309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24" name="右箭头 28"/>
          <p:cNvSpPr/>
          <p:nvPr userDrawn="1"/>
        </p:nvSpPr>
        <p:spPr>
          <a:xfrm>
            <a:off x="7842511" y="2923336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25" name="文本框 29"/>
          <p:cNvSpPr txBox="1"/>
          <p:nvPr userDrawn="1"/>
        </p:nvSpPr>
        <p:spPr>
          <a:xfrm>
            <a:off x="1373229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原始图像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6" name="文本框 30"/>
          <p:cNvSpPr txBox="1"/>
          <p:nvPr userDrawn="1"/>
        </p:nvSpPr>
        <p:spPr>
          <a:xfrm>
            <a:off x="3772006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预处理图像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7" name="文本框 32"/>
          <p:cNvSpPr txBox="1"/>
          <p:nvPr userDrawn="1"/>
        </p:nvSpPr>
        <p:spPr>
          <a:xfrm>
            <a:off x="6223527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识别结果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8" name="文本框 33"/>
          <p:cNvSpPr txBox="1"/>
          <p:nvPr userDrawn="1"/>
        </p:nvSpPr>
        <p:spPr>
          <a:xfrm>
            <a:off x="9002915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后处理修复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9" name="右箭头 34"/>
          <p:cNvSpPr/>
          <p:nvPr userDrawn="1"/>
        </p:nvSpPr>
        <p:spPr>
          <a:xfrm>
            <a:off x="5291696" y="2940334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动态感知表格预处理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4DD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62100"/>
            <a:ext cx="3714750" cy="40005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714375" y="1743075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714375" y="2700412"/>
            <a:ext cx="3371850" cy="842963"/>
          </a:xfrm>
          <a:prstGeom prst="roundRect">
            <a:avLst>
              <a:gd name="adj" fmla="val 24514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208" name="Shape 5"/>
          <p:cNvSpPr/>
          <p:nvPr/>
        </p:nvSpPr>
        <p:spPr>
          <a:xfrm>
            <a:off x="714375" y="3657674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209" name="Shape 6"/>
          <p:cNvSpPr/>
          <p:nvPr/>
        </p:nvSpPr>
        <p:spPr>
          <a:xfrm>
            <a:off x="714375" y="4615011"/>
            <a:ext cx="3371850" cy="766614"/>
          </a:xfrm>
          <a:prstGeom prst="roundRect">
            <a:avLst>
              <a:gd name="adj" fmla="val 29640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pic>
        <p:nvPicPr>
          <p:cNvPr id="2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562100"/>
            <a:ext cx="6438900" cy="4000500"/>
          </a:xfrm>
          <a:prstGeom prst="rect">
            <a:avLst/>
          </a:prstGeom>
        </p:spPr>
      </p:pic>
      <p:sp>
        <p:nvSpPr>
          <p:cNvPr id="211" name="Shape 7"/>
          <p:cNvSpPr/>
          <p:nvPr/>
        </p:nvSpPr>
        <p:spPr>
          <a:xfrm>
            <a:off x="4619625" y="1724025"/>
            <a:ext cx="6134100" cy="3105150"/>
          </a:xfrm>
          <a:prstGeom prst="roundRect">
            <a:avLst>
              <a:gd name="adj" fmla="val 2168"/>
            </a:avLst>
          </a:prstGeom>
          <a:solidFill>
            <a:srgbClr val="F7FA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2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05350" y="1809750"/>
            <a:ext cx="5962650" cy="2952750"/>
          </a:xfrm>
          <a:prstGeom prst="rect">
            <a:avLst/>
          </a:prstGeom>
        </p:spPr>
      </p:pic>
      <p:sp>
        <p:nvSpPr>
          <p:cNvPr id="213" name="Shape 8"/>
          <p:cNvSpPr/>
          <p:nvPr/>
        </p:nvSpPr>
        <p:spPr>
          <a:xfrm>
            <a:off x="4619625" y="4924425"/>
            <a:ext cx="6134100" cy="529977"/>
          </a:xfrm>
          <a:prstGeom prst="roundRect">
            <a:avLst>
              <a:gd name="adj" fmla="val 62018"/>
            </a:avLst>
          </a:prstGeom>
          <a:solidFill>
            <a:srgbClr val="FFFFFF"/>
          </a:solidFill>
          <a:ln w="9525">
            <a:solidFill>
              <a:srgbClr val="D5DFEC"/>
            </a:solidFill>
            <a:prstDash val="solid"/>
          </a:ln>
        </p:spPr>
      </p:sp>
      <p:sp>
        <p:nvSpPr>
          <p:cNvPr id="214" name="Shape 9"/>
          <p:cNvSpPr/>
          <p:nvPr/>
        </p:nvSpPr>
        <p:spPr>
          <a:xfrm>
            <a:off x="533400" y="5676900"/>
            <a:ext cx="10363200" cy="342900"/>
          </a:xfrm>
          <a:prstGeom prst="roundRect">
            <a:avLst>
              <a:gd name="adj" fmla="val 148148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215" name="Text 13"/>
          <p:cNvSpPr/>
          <p:nvPr/>
        </p:nvSpPr>
        <p:spPr>
          <a:xfrm>
            <a:off x="819150" y="1833563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图像退化问题感知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819150" y="2057400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大模型识别噪声、模糊、阴影、对比度不足与边界冗余等退化类型。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819150" y="2790899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候选链生成与并行执行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819150" y="301473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自动生成多条操作链（去噪/增强/锐化/裁剪等），并与原图共同比较。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819150" y="3748162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综合评分优选结果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819150" y="3971999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融合客观质量指标与大模型语义评分，输出更利于结构识别的图像。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819150" y="4700736"/>
            <a:ext cx="31623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819150" y="491787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预处理对 TEDS-Struct 改善更稳定，验证了“结构可恢复性优先”的价值。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4743450" y="4991100"/>
            <a:ext cx="5886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图示要点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4" name="Text 22"/>
          <p:cNvSpPr/>
          <p:nvPr/>
        </p:nvSpPr>
        <p:spPr>
          <a:xfrm>
            <a:off x="4743450" y="5189190"/>
            <a:ext cx="5886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框架体现了“链间优选 + 步骤级接受/回退”的双层决策机制，避免固定流程过处理。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676275" y="5758607"/>
            <a:ext cx="541771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模块已完成原型实现并形成首轮实验验证，支撑后续识别链路稳定性优化。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上下文识别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642925"/>
            <a:ext cx="10363200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4975"/>
            <a:ext cx="6362700" cy="398145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676275" y="1947850"/>
            <a:ext cx="60960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20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33575"/>
            <a:ext cx="5924550" cy="3048000"/>
          </a:xfrm>
          <a:prstGeom prst="rect">
            <a:avLst/>
          </a:prstGeom>
        </p:spPr>
      </p:pic>
      <p:sp>
        <p:nvSpPr>
          <p:cNvPr id="208" name="Shape 4"/>
          <p:cNvSpPr/>
          <p:nvPr/>
        </p:nvSpPr>
        <p:spPr>
          <a:xfrm>
            <a:off x="676275" y="5243500"/>
            <a:ext cx="6096000" cy="400050"/>
          </a:xfrm>
          <a:prstGeom prst="roundRect">
            <a:avLst>
              <a:gd name="adj" fmla="val 10884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20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04975"/>
            <a:ext cx="3810000" cy="3981450"/>
          </a:xfrm>
          <a:prstGeom prst="rect">
            <a:avLst/>
          </a:prstGeom>
        </p:spPr>
      </p:pic>
      <p:sp>
        <p:nvSpPr>
          <p:cNvPr id="210" name="Shape 5"/>
          <p:cNvSpPr/>
          <p:nvPr/>
        </p:nvSpPr>
        <p:spPr>
          <a:xfrm>
            <a:off x="7248525" y="1966900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1" name="Shape 6"/>
          <p:cNvSpPr/>
          <p:nvPr/>
        </p:nvSpPr>
        <p:spPr>
          <a:xfrm>
            <a:off x="7248525" y="2970225"/>
            <a:ext cx="3505200" cy="888950"/>
          </a:xfrm>
          <a:prstGeom prst="roundRect">
            <a:avLst>
              <a:gd name="adj" fmla="val 22043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2" name="Shape 7"/>
          <p:cNvSpPr/>
          <p:nvPr/>
        </p:nvSpPr>
        <p:spPr>
          <a:xfrm>
            <a:off x="7248525" y="3973475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3" name="Shape 8"/>
          <p:cNvSpPr/>
          <p:nvPr/>
        </p:nvSpPr>
        <p:spPr>
          <a:xfrm>
            <a:off x="7248525" y="4976800"/>
            <a:ext cx="3505200" cy="647700"/>
          </a:xfrm>
          <a:prstGeom prst="roundRect">
            <a:avLst>
              <a:gd name="adj" fmla="val 41522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214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5" name="Text 13"/>
          <p:cNvSpPr/>
          <p:nvPr/>
        </p:nvSpPr>
        <p:spPr>
          <a:xfrm>
            <a:off x="800100" y="5353782"/>
            <a:ext cx="44785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主流程已打通，并支持示例不足时自动回退无示例模式。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7353300" y="2057388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特征提取与示例检索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7343734" y="2394875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提取表格视觉特征，按相似度筛选示例，并兼顾示例多样性以降低过拟合风险。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6"/>
          <p:cNvSpPr/>
          <p:nvPr/>
        </p:nvSpPr>
        <p:spPr>
          <a:xfrm>
            <a:off x="7353300" y="3060712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提示构造引导结构生成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7343734" y="339820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组织任务指令与参考示例，驱动大模型输出表格结构；异常时进入校验与有限重试。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7353300" y="4063963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结构化解析与结果修复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19"/>
          <p:cNvSpPr/>
          <p:nvPr/>
        </p:nvSpPr>
        <p:spPr>
          <a:xfrm>
            <a:off x="7343734" y="440145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输出 HTML 表格并解析单元格内容，形成内容矩阵与明细结果，支撑后续修复与展示。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7353300" y="5062525"/>
            <a:ext cx="32956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阶段判断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7517799" y="5222559"/>
            <a:ext cx="308349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上下文学习在复杂表格场景中已验证可行，核心瓶颈聚焦于示例匹配与复杂跨度恢复。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结果评估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642925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400" y="1785925"/>
            <a:ext cx="4495800" cy="4000500"/>
          </a:xfrm>
          <a:prstGeom prst="rect">
            <a:avLst/>
          </a:prstGeom>
        </p:spPr>
      </p:pic>
      <p:sp>
        <p:nvSpPr>
          <p:cNvPr id="206" name="Shape 3"/>
          <p:cNvSpPr/>
          <p:nvPr>
            <p:custDataLst>
              <p:tags r:id="rId4"/>
            </p:custDataLst>
          </p:nvPr>
        </p:nvSpPr>
        <p:spPr>
          <a:xfrm>
            <a:off x="695325" y="1947850"/>
            <a:ext cx="4191000" cy="846758"/>
          </a:xfrm>
          <a:prstGeom prst="roundRect">
            <a:avLst>
              <a:gd name="adj" fmla="val 24295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07" name="Shape 4"/>
          <p:cNvSpPr/>
          <p:nvPr>
            <p:custDataLst>
              <p:tags r:id="rId5"/>
            </p:custDataLst>
          </p:nvPr>
        </p:nvSpPr>
        <p:spPr>
          <a:xfrm>
            <a:off x="695325" y="2908908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08" name="Shape 5"/>
          <p:cNvSpPr/>
          <p:nvPr>
            <p:custDataLst>
              <p:tags r:id="rId6"/>
            </p:custDataLst>
          </p:nvPr>
        </p:nvSpPr>
        <p:spPr>
          <a:xfrm>
            <a:off x="695325" y="3869891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09" name="Shape 6"/>
          <p:cNvSpPr/>
          <p:nvPr>
            <p:custDataLst>
              <p:tags r:id="rId7"/>
            </p:custDataLst>
          </p:nvPr>
        </p:nvSpPr>
        <p:spPr>
          <a:xfrm>
            <a:off x="695325" y="4830874"/>
            <a:ext cx="4191000" cy="793626"/>
          </a:xfrm>
          <a:prstGeom prst="roundRect">
            <a:avLst>
              <a:gd name="adj" fmla="val 27657"/>
            </a:avLst>
          </a:prstGeom>
          <a:solidFill>
            <a:srgbClr val="EDF3FC"/>
          </a:solidFill>
          <a:ln w="9525">
            <a:solidFill>
              <a:srgbClr val="CCD9E9"/>
            </a:solidFill>
            <a:prstDash val="solid"/>
          </a:ln>
        </p:spPr>
      </p:sp>
      <p:pic>
        <p:nvPicPr>
          <p:cNvPr id="210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700" y="1785925"/>
            <a:ext cx="5676900" cy="4000500"/>
          </a:xfrm>
          <a:prstGeom prst="rect">
            <a:avLst/>
          </a:prstGeom>
        </p:spPr>
      </p:pic>
      <p:sp>
        <p:nvSpPr>
          <p:cNvPr id="211" name="Shape 7"/>
          <p:cNvSpPr/>
          <p:nvPr/>
        </p:nvSpPr>
        <p:spPr>
          <a:xfrm>
            <a:off x="5362575" y="1928800"/>
            <a:ext cx="54102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212" name="Image 3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448300" y="2014525"/>
            <a:ext cx="5238750" cy="3048000"/>
          </a:xfrm>
          <a:prstGeom prst="rect">
            <a:avLst/>
          </a:prstGeom>
        </p:spPr>
      </p:pic>
      <p:sp>
        <p:nvSpPr>
          <p:cNvPr id="213" name="Shape 8"/>
          <p:cNvSpPr/>
          <p:nvPr/>
        </p:nvSpPr>
        <p:spPr>
          <a:xfrm>
            <a:off x="5362575" y="5224450"/>
            <a:ext cx="5410200" cy="419100"/>
          </a:xfrm>
          <a:prstGeom prst="roundRect">
            <a:avLst>
              <a:gd name="adj" fmla="val 9917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sp>
        <p:nvSpPr>
          <p:cNvPr id="214" name="Text 12"/>
          <p:cNvSpPr/>
          <p:nvPr>
            <p:custDataLst>
              <p:tags r:id="rId10"/>
            </p:custDataLst>
          </p:nvPr>
        </p:nvSpPr>
        <p:spPr>
          <a:xfrm>
            <a:off x="800100" y="203833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多维质量评估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5" name="Text 13"/>
          <p:cNvSpPr/>
          <p:nvPr>
            <p:custDataLst>
              <p:tags r:id="rId11"/>
            </p:custDataLst>
          </p:nvPr>
        </p:nvSpPr>
        <p:spPr>
          <a:xfrm>
            <a:off x="828710" y="2312245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从结构合法性、拓扑一致性、图像对齐与内容质量等维度生成评估报告。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4"/>
          <p:cNvSpPr/>
          <p:nvPr>
            <p:custDataLst>
              <p:tags r:id="rId12"/>
            </p:custDataLst>
          </p:nvPr>
        </p:nvSpPr>
        <p:spPr>
          <a:xfrm>
            <a:off x="800100" y="2999395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反馈驱动修复与重识别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5"/>
          <p:cNvSpPr/>
          <p:nvPr>
            <p:custDataLst>
              <p:tags r:id="rId13"/>
            </p:custDataLst>
          </p:nvPr>
        </p:nvSpPr>
        <p:spPr>
          <a:xfrm>
            <a:off x="828710" y="3273303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针对异常类型触发结构修复、带反馈重识别与无示例重试，降低单次生成波动。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6"/>
          <p:cNvSpPr/>
          <p:nvPr>
            <p:custDataLst>
              <p:tags r:id="rId14"/>
            </p:custDataLst>
          </p:nvPr>
        </p:nvSpPr>
        <p:spPr>
          <a:xfrm>
            <a:off x="800100" y="396037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局部细化与拆分合并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7"/>
          <p:cNvSpPr/>
          <p:nvPr>
            <p:custDataLst>
              <p:tags r:id="rId15"/>
            </p:custDataLst>
          </p:nvPr>
        </p:nvSpPr>
        <p:spPr>
          <a:xfrm>
            <a:off x="828710" y="4234286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支持单元格级细化、区域拆分识别与结果合并，增强复杂布局处理能力。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8"/>
          <p:cNvSpPr/>
          <p:nvPr>
            <p:custDataLst>
              <p:tags r:id="rId16"/>
            </p:custDataLst>
          </p:nvPr>
        </p:nvSpPr>
        <p:spPr>
          <a:xfrm>
            <a:off x="800100" y="4916599"/>
            <a:ext cx="3981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19"/>
          <p:cNvSpPr/>
          <p:nvPr>
            <p:custDataLst>
              <p:tags r:id="rId17"/>
            </p:custDataLst>
          </p:nvPr>
        </p:nvSpPr>
        <p:spPr>
          <a:xfrm>
            <a:off x="828710" y="5164759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后处理模块将系统由“单次预测”升级为“可校验、可纠偏”的闭环决策框架。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5486400" y="5344257"/>
            <a:ext cx="4705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流程重点：评估单元先判定问题类型，再选择修复动作并回流重评分，形成闭环优化。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系统实现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4025"/>
            <a:ext cx="6286500" cy="39624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676275" y="1966900"/>
            <a:ext cx="60198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20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07937"/>
            <a:ext cx="5685040" cy="3092688"/>
          </a:xfrm>
          <a:prstGeom prst="rect">
            <a:avLst/>
          </a:prstGeom>
        </p:spPr>
      </p:pic>
      <p:sp>
        <p:nvSpPr>
          <p:cNvPr id="208" name="Shape 4"/>
          <p:cNvSpPr/>
          <p:nvPr/>
        </p:nvSpPr>
        <p:spPr>
          <a:xfrm>
            <a:off x="676275" y="5262550"/>
            <a:ext cx="6019800" cy="381000"/>
          </a:xfrm>
          <a:prstGeom prst="roundRect">
            <a:avLst>
              <a:gd name="adj" fmla="val 1200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20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824025"/>
            <a:ext cx="3886200" cy="3962400"/>
          </a:xfrm>
          <a:prstGeom prst="rect">
            <a:avLst/>
          </a:prstGeom>
        </p:spPr>
      </p:pic>
      <p:sp>
        <p:nvSpPr>
          <p:cNvPr id="210" name="Shape 5"/>
          <p:cNvSpPr/>
          <p:nvPr/>
        </p:nvSpPr>
        <p:spPr>
          <a:xfrm>
            <a:off x="7172325" y="1985950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1" name="Shape 6"/>
          <p:cNvSpPr/>
          <p:nvPr/>
        </p:nvSpPr>
        <p:spPr>
          <a:xfrm>
            <a:off x="7172325" y="2951696"/>
            <a:ext cx="3581400" cy="851371"/>
          </a:xfrm>
          <a:prstGeom prst="roundRect">
            <a:avLst>
              <a:gd name="adj" fmla="val 24032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2" name="Shape 7"/>
          <p:cNvSpPr/>
          <p:nvPr/>
        </p:nvSpPr>
        <p:spPr>
          <a:xfrm>
            <a:off x="7172325" y="3917367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213" name="Shape 8"/>
          <p:cNvSpPr/>
          <p:nvPr/>
        </p:nvSpPr>
        <p:spPr>
          <a:xfrm>
            <a:off x="7172325" y="4883113"/>
            <a:ext cx="3581400" cy="741387"/>
          </a:xfrm>
          <a:prstGeom prst="roundRect">
            <a:avLst>
              <a:gd name="adj" fmla="val 31691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214" name="Text 13"/>
          <p:cNvSpPr/>
          <p:nvPr/>
        </p:nvSpPr>
        <p:spPr>
          <a:xfrm>
            <a:off x="800100" y="5363307"/>
            <a:ext cx="39832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前端交互、后端服务与算法主流程已完成</a:t>
            </a:r>
            <a:r>
              <a:rPr lang="zh-CN" alt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初步</a:t>
            </a: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联通。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7277100" y="2076437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前端层：交互与展示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7277100" y="2309800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支持文件上传、结果查看、历史记录管理与结果下载。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7277100" y="3042183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后端层：任务调度与持久化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7277100" y="3275546"/>
            <a:ext cx="3371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接收请求并调度识别流程，负责结果保存、接口返回与状态管理。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7277100" y="4007854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算法层：核心识别闭环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7277100" y="4241217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统一封装预处理、上下文识别、质量评估与后处理模块。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7277100" y="4968838"/>
            <a:ext cx="3371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7277100" y="5185978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系统已具备“输入—识别—展示—导出”的完整工程化能力。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系统展示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202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205" name="图片 14" descr="upload_post_object_v2_2339829697"/>
          <p:cNvPicPr>
            <a:picLocks noChangeAspect="1"/>
          </p:cNvPicPr>
          <p:nvPr/>
        </p:nvPicPr>
        <p:blipFill>
          <a:blip r:embed="rId2"/>
          <a:srcRect l="15693"/>
          <a:stretch>
            <a:fillRect/>
          </a:stretch>
        </p:blipFill>
        <p:spPr>
          <a:xfrm>
            <a:off x="533446" y="2390477"/>
            <a:ext cx="3292485" cy="1835525"/>
          </a:xfrm>
          <a:prstGeom prst="rect">
            <a:avLst/>
          </a:prstGeom>
        </p:spPr>
      </p:pic>
      <p:pic>
        <p:nvPicPr>
          <p:cNvPr id="206" name="图片 27" descr="upload_post_object_v2_578455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60" y="2457367"/>
            <a:ext cx="3138756" cy="1768598"/>
          </a:xfrm>
          <a:prstGeom prst="rect">
            <a:avLst/>
          </a:prstGeom>
        </p:spPr>
      </p:pic>
      <p:pic>
        <p:nvPicPr>
          <p:cNvPr id="207" name="图片 28" descr="upload_post_object_v2_13352047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537" y="2457367"/>
            <a:ext cx="3508016" cy="1768625"/>
          </a:xfrm>
          <a:prstGeom prst="rect">
            <a:avLst/>
          </a:prstGeom>
        </p:spPr>
      </p:pic>
      <p:sp>
        <p:nvSpPr>
          <p:cNvPr id="208" name="圆角矩形 29"/>
          <p:cNvSpPr/>
          <p:nvPr userDrawn="1"/>
        </p:nvSpPr>
        <p:spPr>
          <a:xfrm>
            <a:off x="666310" y="4889517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主界面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9" name="圆角矩形 30"/>
          <p:cNvSpPr/>
          <p:nvPr userDrawn="1"/>
        </p:nvSpPr>
        <p:spPr>
          <a:xfrm>
            <a:off x="4181650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上传图像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0" name="圆角矩形 31"/>
          <p:cNvSpPr/>
          <p:nvPr userDrawn="1"/>
        </p:nvSpPr>
        <p:spPr>
          <a:xfrm>
            <a:off x="7541422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查看结果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实验结果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524000"/>
            <a:ext cx="10363200" cy="40386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695325" y="1685925"/>
            <a:ext cx="10058400" cy="580058"/>
          </a:xfrm>
          <a:prstGeom prst="roundRect">
            <a:avLst>
              <a:gd name="adj" fmla="val 51771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695325" y="2380283"/>
            <a:ext cx="10058400" cy="2074813"/>
          </a:xfrm>
          <a:prstGeom prst="roundRect">
            <a:avLst>
              <a:gd name="adj" fmla="val 4856"/>
            </a:avLst>
          </a:prstGeom>
          <a:solidFill>
            <a:srgbClr val="F8FB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08" name="Shape 5"/>
          <p:cNvSpPr/>
          <p:nvPr/>
        </p:nvSpPr>
        <p:spPr>
          <a:xfrm>
            <a:off x="800100" y="2485058"/>
            <a:ext cx="9867900" cy="266700"/>
          </a:xfrm>
          <a:prstGeom prst="roundRect">
            <a:avLst>
              <a:gd name="adj" fmla="val 146939"/>
            </a:avLst>
          </a:prstGeom>
          <a:solidFill>
            <a:srgbClr val="EAF1FB"/>
          </a:solidFill>
        </p:spPr>
      </p:sp>
      <p:sp>
        <p:nvSpPr>
          <p:cNvPr id="209" name="Shape 6"/>
          <p:cNvSpPr/>
          <p:nvPr/>
        </p:nvSpPr>
        <p:spPr>
          <a:xfrm>
            <a:off x="800100" y="2485058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210" name="Shape 7"/>
          <p:cNvSpPr/>
          <p:nvPr/>
        </p:nvSpPr>
        <p:spPr>
          <a:xfrm>
            <a:off x="2609850" y="2485058"/>
            <a:ext cx="3048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211" name="Shape 8"/>
          <p:cNvSpPr/>
          <p:nvPr/>
        </p:nvSpPr>
        <p:spPr>
          <a:xfrm>
            <a:off x="5657850" y="2485058"/>
            <a:ext cx="2000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212" name="Shape 9"/>
          <p:cNvSpPr/>
          <p:nvPr/>
        </p:nvSpPr>
        <p:spPr>
          <a:xfrm>
            <a:off x="800100" y="2808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213" name="Shape 10"/>
          <p:cNvSpPr/>
          <p:nvPr/>
        </p:nvSpPr>
        <p:spPr>
          <a:xfrm>
            <a:off x="809625" y="2808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4" name="Shape 11"/>
          <p:cNvSpPr/>
          <p:nvPr/>
        </p:nvSpPr>
        <p:spPr>
          <a:xfrm>
            <a:off x="2616026" y="2808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5" name="Shape 12"/>
          <p:cNvSpPr/>
          <p:nvPr/>
        </p:nvSpPr>
        <p:spPr>
          <a:xfrm>
            <a:off x="5658073" y="2808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6" name="Shape 13"/>
          <p:cNvSpPr/>
          <p:nvPr/>
        </p:nvSpPr>
        <p:spPr>
          <a:xfrm>
            <a:off x="800100" y="3189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217" name="Shape 14"/>
          <p:cNvSpPr/>
          <p:nvPr/>
        </p:nvSpPr>
        <p:spPr>
          <a:xfrm>
            <a:off x="809625" y="3189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8" name="Shape 15"/>
          <p:cNvSpPr/>
          <p:nvPr/>
        </p:nvSpPr>
        <p:spPr>
          <a:xfrm>
            <a:off x="2616026" y="3189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9" name="Shape 16"/>
          <p:cNvSpPr/>
          <p:nvPr/>
        </p:nvSpPr>
        <p:spPr>
          <a:xfrm>
            <a:off x="5658073" y="3189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20" name="Shape 17"/>
          <p:cNvSpPr/>
          <p:nvPr/>
        </p:nvSpPr>
        <p:spPr>
          <a:xfrm>
            <a:off x="800100" y="3570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221" name="Shape 18"/>
          <p:cNvSpPr/>
          <p:nvPr/>
        </p:nvSpPr>
        <p:spPr>
          <a:xfrm>
            <a:off x="809625" y="3570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22" name="Shape 19"/>
          <p:cNvSpPr/>
          <p:nvPr/>
        </p:nvSpPr>
        <p:spPr>
          <a:xfrm>
            <a:off x="2616026" y="3570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23" name="Shape 20"/>
          <p:cNvSpPr/>
          <p:nvPr/>
        </p:nvSpPr>
        <p:spPr>
          <a:xfrm>
            <a:off x="5658073" y="3570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24" name="Shape 21"/>
          <p:cNvSpPr/>
          <p:nvPr/>
        </p:nvSpPr>
        <p:spPr>
          <a:xfrm>
            <a:off x="800100" y="3951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2F7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225" name="Shape 22"/>
          <p:cNvSpPr/>
          <p:nvPr/>
        </p:nvSpPr>
        <p:spPr>
          <a:xfrm>
            <a:off x="809625" y="3951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26" name="Shape 23"/>
          <p:cNvSpPr/>
          <p:nvPr/>
        </p:nvSpPr>
        <p:spPr>
          <a:xfrm>
            <a:off x="2616026" y="3951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27" name="Shape 24"/>
          <p:cNvSpPr/>
          <p:nvPr/>
        </p:nvSpPr>
        <p:spPr>
          <a:xfrm>
            <a:off x="5658073" y="3951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28" name="Shape 25"/>
          <p:cNvSpPr/>
          <p:nvPr/>
        </p:nvSpPr>
        <p:spPr>
          <a:xfrm>
            <a:off x="695325" y="4569396"/>
            <a:ext cx="10058400" cy="831279"/>
          </a:xfrm>
          <a:prstGeom prst="roundRect">
            <a:avLst>
              <a:gd name="adj" fmla="val 25208"/>
            </a:avLst>
          </a:prstGeom>
          <a:solidFill>
            <a:srgbClr val="EDF3FC"/>
          </a:solidFill>
          <a:ln w="9525">
            <a:solidFill>
              <a:srgbClr val="CCD9EA"/>
            </a:solidFill>
            <a:prstDash val="solid"/>
          </a:ln>
        </p:spPr>
      </p:sp>
      <p:sp>
        <p:nvSpPr>
          <p:cNvPr id="229" name="Text 28"/>
          <p:cNvSpPr/>
          <p:nvPr/>
        </p:nvSpPr>
        <p:spPr>
          <a:xfrm>
            <a:off x="838200" y="1757363"/>
            <a:ext cx="9772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评价口径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838200" y="1962150"/>
            <a:ext cx="97726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衡量“结构+内容”整体质量；TEDS-Struct 聚焦结构骨架恢复，用于判断预处理与结构识别模块贡献。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895350" y="2529855"/>
            <a:ext cx="17145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实验组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2705100" y="2529855"/>
            <a:ext cx="29527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场景与设置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3" name="Text 32"/>
          <p:cNvSpPr/>
          <p:nvPr/>
        </p:nvSpPr>
        <p:spPr>
          <a:xfrm>
            <a:off x="5753100" y="2529855"/>
            <a:ext cx="1905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变化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4" name="Text 33"/>
          <p:cNvSpPr/>
          <p:nvPr/>
        </p:nvSpPr>
        <p:spPr>
          <a:xfrm>
            <a:off x="7753350" y="2529855"/>
            <a:ext cx="29146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TEDS-Struct 变化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904875" y="2881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6" name="Text 35"/>
          <p:cNvSpPr/>
          <p:nvPr/>
        </p:nvSpPr>
        <p:spPr>
          <a:xfrm>
            <a:off x="2711276" y="2881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Pub：Baseline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7" name="Text 36"/>
          <p:cNvSpPr/>
          <p:nvPr/>
        </p:nvSpPr>
        <p:spPr>
          <a:xfrm>
            <a:off x="5753323" y="2881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0.6951 → 0.6901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8" name="Text 37"/>
          <p:cNvSpPr/>
          <p:nvPr/>
        </p:nvSpPr>
        <p:spPr>
          <a:xfrm>
            <a:off x="7749778" y="2881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0.8465 → 0.8573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9" name="Text 38"/>
          <p:cNvSpPr/>
          <p:nvPr/>
        </p:nvSpPr>
        <p:spPr>
          <a:xfrm>
            <a:off x="904875" y="3262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0" name="Text 39"/>
          <p:cNvSpPr/>
          <p:nvPr/>
        </p:nvSpPr>
        <p:spPr>
          <a:xfrm>
            <a:off x="2711276" y="3262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Sci：Baseline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1" name="Text 40"/>
          <p:cNvSpPr/>
          <p:nvPr/>
        </p:nvSpPr>
        <p:spPr>
          <a:xfrm>
            <a:off x="5753323" y="3262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0.8360 → 0.8438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2" name="Text 41"/>
          <p:cNvSpPr/>
          <p:nvPr/>
        </p:nvSpPr>
        <p:spPr>
          <a:xfrm>
            <a:off x="7749778" y="3262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0.9182 → 0.9206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3" name="Text 42"/>
          <p:cNvSpPr/>
          <p:nvPr/>
        </p:nvSpPr>
        <p:spPr>
          <a:xfrm>
            <a:off x="904875" y="3643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4" name="Text 43"/>
          <p:cNvSpPr/>
          <p:nvPr/>
        </p:nvSpPr>
        <p:spPr>
          <a:xfrm>
            <a:off x="2711276" y="3643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WTW：Baseline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5" name="Text 44"/>
          <p:cNvSpPr/>
          <p:nvPr/>
        </p:nvSpPr>
        <p:spPr>
          <a:xfrm>
            <a:off x="5753323" y="3643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0.2301 → 0.2322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6" name="Text 45"/>
          <p:cNvSpPr/>
          <p:nvPr/>
        </p:nvSpPr>
        <p:spPr>
          <a:xfrm>
            <a:off x="7749778" y="3643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0.3627 → 0.3828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7" name="Text 46"/>
          <p:cNvSpPr/>
          <p:nvPr/>
        </p:nvSpPr>
        <p:spPr>
          <a:xfrm>
            <a:off x="904875" y="4024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Qwen3-VL-8B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8" name="Text 47"/>
          <p:cNvSpPr/>
          <p:nvPr/>
        </p:nvSpPr>
        <p:spPr>
          <a:xfrm>
            <a:off x="2711276" y="4024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Sci：Baseline → demo+preprocess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9" name="Text 48"/>
          <p:cNvSpPr/>
          <p:nvPr/>
        </p:nvSpPr>
        <p:spPr>
          <a:xfrm>
            <a:off x="5753323" y="4024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0.8530 → 0.8830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0" name="Text 49"/>
          <p:cNvSpPr/>
          <p:nvPr/>
        </p:nvSpPr>
        <p:spPr>
          <a:xfrm>
            <a:off x="7749778" y="4024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0.9210 → 0.9410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1" name="Text 50"/>
          <p:cNvSpPr/>
          <p:nvPr/>
        </p:nvSpPr>
        <p:spPr>
          <a:xfrm>
            <a:off x="800100" y="4655121"/>
            <a:ext cx="9848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阶段结论（3点）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2" name="Text 51"/>
          <p:cNvSpPr/>
          <p:nvPr/>
        </p:nvSpPr>
        <p:spPr>
          <a:xfrm>
            <a:off x="800100" y="4872261"/>
            <a:ext cx="9848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1) 预处理对结构指标提升更稳定，验证“结构可恢复性优先”假设。 2) Sci/WTW 场景收益更明显，复杂场景对方法改进更敏感。 3) 示例学习与预处理联用在复杂论文表格中带来显著增益。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存在问题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10363200" cy="39624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695325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838200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208" name="Shape 5"/>
          <p:cNvSpPr/>
          <p:nvPr/>
        </p:nvSpPr>
        <p:spPr>
          <a:xfrm>
            <a:off x="838200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209" name="Shape 6"/>
          <p:cNvSpPr/>
          <p:nvPr/>
        </p:nvSpPr>
        <p:spPr>
          <a:xfrm>
            <a:off x="4095750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210" name="Shape 7"/>
          <p:cNvSpPr/>
          <p:nvPr/>
        </p:nvSpPr>
        <p:spPr>
          <a:xfrm>
            <a:off x="4238625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211" name="Shape 8"/>
          <p:cNvSpPr/>
          <p:nvPr/>
        </p:nvSpPr>
        <p:spPr>
          <a:xfrm>
            <a:off x="4238625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212" name="Shape 9"/>
          <p:cNvSpPr/>
          <p:nvPr/>
        </p:nvSpPr>
        <p:spPr>
          <a:xfrm>
            <a:off x="7496175" y="1762125"/>
            <a:ext cx="3257550" cy="3657600"/>
          </a:xfrm>
          <a:prstGeom prst="roundRect">
            <a:avLst>
              <a:gd name="adj" fmla="val 1970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213" name="Shape 10"/>
          <p:cNvSpPr/>
          <p:nvPr/>
        </p:nvSpPr>
        <p:spPr>
          <a:xfrm>
            <a:off x="7639050" y="1905000"/>
            <a:ext cx="2990850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214" name="Shape 11"/>
          <p:cNvSpPr/>
          <p:nvPr/>
        </p:nvSpPr>
        <p:spPr>
          <a:xfrm>
            <a:off x="7639050" y="4737943"/>
            <a:ext cx="2990850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215" name="Shape 12"/>
          <p:cNvSpPr/>
          <p:nvPr/>
        </p:nvSpPr>
        <p:spPr>
          <a:xfrm>
            <a:off x="533400" y="5676900"/>
            <a:ext cx="10363200" cy="323850"/>
          </a:xfrm>
          <a:prstGeom prst="roundRect">
            <a:avLst>
              <a:gd name="adj" fmla="val 166090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216" name="Text 16"/>
          <p:cNvSpPr/>
          <p:nvPr/>
        </p:nvSpPr>
        <p:spPr>
          <a:xfrm>
            <a:off x="933450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预处理收益场景依赖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838200" y="237246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不同数据场景对同一候选链响应不一致，收益波动明显。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838200" y="2820144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结构指标提升通常更稳定，但内容指标提升不总是同步。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838200" y="326781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评分机制与最终识别质量仍存在偏差，需进一步校准。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942975" y="4823668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关键词：场景差异、评分一致性、稳定增益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4333875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大模型结构生成波动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4238625" y="2372469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受提示组织与示例匹配影响，输出格式偶发不规范。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4238625" y="2634407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复杂表头与跨行跨列场景中，局部结构遗漏仍会出现。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4238625" y="3082082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已有校验与重试机制，但尚不能完全消除随机性。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5" name="Text 25"/>
          <p:cNvSpPr/>
          <p:nvPr/>
        </p:nvSpPr>
        <p:spPr>
          <a:xfrm>
            <a:off x="4448189" y="4823702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关键词：输出一致性、格式约束、重试鲁棒性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6" name="Text 26"/>
          <p:cNvSpPr/>
          <p:nvPr/>
        </p:nvSpPr>
        <p:spPr>
          <a:xfrm>
            <a:off x="7734300" y="1972494"/>
            <a:ext cx="178117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复杂结构与内容对齐困难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7639050" y="2372469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多级表头、弱线框与密集文本场景下，边界判断易偏差。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7639050" y="2820144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局部结构偏差会放大内容归属错误，影响最终可用性。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7639050" y="3267819"/>
            <a:ext cx="29908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结构恢复与内容落位协同机制仍需持续强化。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0" name="Text 30"/>
          <p:cNvSpPr/>
          <p:nvPr/>
        </p:nvSpPr>
        <p:spPr>
          <a:xfrm>
            <a:off x="7743825" y="4823668"/>
            <a:ext cx="27813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关键词：单元格对齐、跨度恢复、复杂场景鲁棒性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1" name="Text 31"/>
          <p:cNvSpPr/>
          <p:nvPr/>
        </p:nvSpPr>
        <p:spPr>
          <a:xfrm>
            <a:off x="676275" y="5749082"/>
            <a:ext cx="480454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结论：当前瓶颈集中于“稳定性与一致性”，后续工作将以问题驱动方式开展针对性优化。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后续计划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1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2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20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04" name="Shape 2"/>
          <p:cNvSpPr/>
          <p:nvPr/>
        </p:nvSpPr>
        <p:spPr>
          <a:xfrm>
            <a:off x="533400" y="928664"/>
            <a:ext cx="10424163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20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30" y="2109764"/>
            <a:ext cx="10488694" cy="3390900"/>
          </a:xfrm>
          <a:prstGeom prst="rect">
            <a:avLst/>
          </a:prstGeom>
        </p:spPr>
      </p:pic>
      <p:sp>
        <p:nvSpPr>
          <p:cNvPr id="206" name="Shape 3"/>
          <p:cNvSpPr/>
          <p:nvPr/>
        </p:nvSpPr>
        <p:spPr>
          <a:xfrm>
            <a:off x="630755" y="2271689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207" name="Shape 4"/>
          <p:cNvSpPr/>
          <p:nvPr/>
        </p:nvSpPr>
        <p:spPr>
          <a:xfrm>
            <a:off x="773630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E8F0FC"/>
          </a:solidFill>
        </p:spPr>
      </p:sp>
      <p:sp>
        <p:nvSpPr>
          <p:cNvPr id="208" name="Shape 5"/>
          <p:cNvSpPr/>
          <p:nvPr/>
        </p:nvSpPr>
        <p:spPr>
          <a:xfrm>
            <a:off x="773630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209" name="Shape 6"/>
          <p:cNvSpPr/>
          <p:nvPr/>
        </p:nvSpPr>
        <p:spPr>
          <a:xfrm>
            <a:off x="4069317" y="2271728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210" name="Shape 7"/>
          <p:cNvSpPr/>
          <p:nvPr/>
        </p:nvSpPr>
        <p:spPr>
          <a:xfrm>
            <a:off x="4212155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DFEAFB"/>
          </a:solidFill>
        </p:spPr>
      </p:sp>
      <p:sp>
        <p:nvSpPr>
          <p:cNvPr id="211" name="Shape 8"/>
          <p:cNvSpPr/>
          <p:nvPr/>
        </p:nvSpPr>
        <p:spPr>
          <a:xfrm>
            <a:off x="4212155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212" name="Shape 9"/>
          <p:cNvSpPr/>
          <p:nvPr/>
        </p:nvSpPr>
        <p:spPr>
          <a:xfrm>
            <a:off x="7507805" y="2271689"/>
            <a:ext cx="3333750" cy="3086100"/>
          </a:xfrm>
          <a:prstGeom prst="roundRect">
            <a:avLst>
              <a:gd name="adj" fmla="val 2195"/>
            </a:avLst>
          </a:prstGeom>
          <a:solidFill>
            <a:srgbClr val="EEF5FF"/>
          </a:solidFill>
          <a:ln w="9525">
            <a:solidFill>
              <a:srgbClr val="C5D6EE"/>
            </a:solidFill>
            <a:prstDash val="solid"/>
          </a:ln>
        </p:spPr>
      </p:sp>
      <p:sp>
        <p:nvSpPr>
          <p:cNvPr id="213" name="Shape 10"/>
          <p:cNvSpPr/>
          <p:nvPr/>
        </p:nvSpPr>
        <p:spPr>
          <a:xfrm>
            <a:off x="7650680" y="2414564"/>
            <a:ext cx="3067050" cy="382563"/>
          </a:xfrm>
          <a:prstGeom prst="roundRect">
            <a:avLst>
              <a:gd name="adj" fmla="val 95217"/>
            </a:avLst>
          </a:prstGeom>
          <a:solidFill>
            <a:srgbClr val="BDD7EE">
              <a:alpha val="100000"/>
            </a:srgbClr>
          </a:solidFill>
        </p:spPr>
      </p:sp>
      <p:sp>
        <p:nvSpPr>
          <p:cNvPr id="214" name="Shape 11"/>
          <p:cNvSpPr/>
          <p:nvPr/>
        </p:nvSpPr>
        <p:spPr>
          <a:xfrm>
            <a:off x="7650680" y="4813301"/>
            <a:ext cx="3067050" cy="401613"/>
          </a:xfrm>
          <a:prstGeom prst="roundRect">
            <a:avLst>
              <a:gd name="adj" fmla="val 86398"/>
            </a:avLst>
          </a:prstGeom>
          <a:solidFill>
            <a:srgbClr val="EDF3FC">
              <a:alpha val="100000"/>
            </a:srgbClr>
          </a:solidFill>
          <a:ln w="9525">
            <a:solidFill>
              <a:srgbClr val="B9CDE8"/>
            </a:solidFill>
            <a:prstDash val="solid"/>
          </a:ln>
        </p:spPr>
      </p:sp>
      <p:sp>
        <p:nvSpPr>
          <p:cNvPr id="215" name="Text 15"/>
          <p:cNvSpPr/>
          <p:nvPr/>
        </p:nvSpPr>
        <p:spPr>
          <a:xfrm>
            <a:off x="868880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阶段一：6–8月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773630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继续优化动态预处理与上下文学习识别引擎。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773630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补充困难样本分析，改进示例选择与提示构造。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773630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开展对比/消融实验，完成首轮误差归因整理。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878405" y="4924327"/>
            <a:ext cx="19812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目标：方法稳定性与证据充分性提升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4307405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阶段二：8–9月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4212155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完善系统联调，优化运行效率与异常处理能力。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4212155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强化中间过程记录、结果回看与导出管理能力。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4212155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形成可支撑论文复现与答辩演示的稳定原型。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4316930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目标：系统完整度与可展示性提升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5" name="Text 25"/>
          <p:cNvSpPr/>
          <p:nvPr/>
        </p:nvSpPr>
        <p:spPr>
          <a:xfrm>
            <a:off x="7745930" y="2489648"/>
            <a:ext cx="1199406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阶段三：9–1</a:t>
            </a:r>
            <a:r>
              <a:rPr lang="en-US" altLang="zh-CN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6" name="Text 26"/>
          <p:cNvSpPr/>
          <p:nvPr/>
        </p:nvSpPr>
        <p:spPr>
          <a:xfrm>
            <a:off x="7650680" y="2897139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9–10月：完成论文初稿与图表材料整理。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7" name="Text 27"/>
          <p:cNvSpPr/>
          <p:nvPr/>
        </p:nvSpPr>
        <p:spPr>
          <a:xfrm>
            <a:off x="7650680" y="3159077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10–11月：根据导师反馈修改定稿并核对实验表述。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8" name="Text 28"/>
          <p:cNvSpPr/>
          <p:nvPr/>
        </p:nvSpPr>
        <p:spPr>
          <a:xfrm>
            <a:off x="7650680" y="3421014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同步完成答辩PPT、展示材料与预答辩准备。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9" name="Text 29"/>
          <p:cNvSpPr/>
          <p:nvPr/>
        </p:nvSpPr>
        <p:spPr>
          <a:xfrm>
            <a:off x="7755455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目标：高质量定稿并按期完成答辩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30" name="图片 15" descr="upload_post_object_v2_255402833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355401" y="521795"/>
            <a:ext cx="3602163" cy="15879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谢谢</a:t>
            </a:r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2300" y="4191000"/>
            <a:ext cx="5867400" cy="42545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en-MY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2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3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4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5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6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7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8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9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10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11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12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13.xml><?xml version="1.0" encoding="utf-8"?>
<p:tagLst xmlns:p="http://schemas.openxmlformats.org/presentationml/2006/main">
  <p:tag name="KSO_WM_DIAGRAM_VIRTUALLY_FRAME" val="{&quot;height&quot;:315,&quot;left&quot;:42,&quot;top&quot;:140.6240157480315,&quot;width&quot;:354}"/>
</p:tagLst>
</file>

<file path=ppt/tags/tag14.xml><?xml version="1.0" encoding="utf-8"?>
<p:tagLst xmlns:p="http://schemas.openxmlformats.org/presentationml/2006/main">
  <p:tag name="ISLIDE.GUIDESSETTING" val="{&quot;Id&quot;:null,&quot;Name&quot;:&quot;None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ce Default">
      <a:majorFont>
        <a:latin typeface="Arial"/>
        <a:ea typeface="Noto Sans S Chinese Black"/>
        <a:cs typeface=""/>
      </a:majorFont>
      <a:minorFont>
        <a:latin typeface="Calibri Light"/>
        <a:ea typeface="Noto Sans S Chinese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just"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2737</Words>
  <Application>WPS 演示</Application>
  <PresentationFormat>宽屏</PresentationFormat>
  <Paragraphs>304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黑体</vt:lpstr>
      <vt:lpstr>黑体-简</vt:lpstr>
      <vt:lpstr>微软雅黑</vt:lpstr>
      <vt:lpstr>汉仪旗黑</vt:lpstr>
      <vt:lpstr>Times New Roman</vt:lpstr>
      <vt:lpstr>微软雅黑</vt:lpstr>
      <vt:lpstr>Calibri Light</vt:lpstr>
      <vt:lpstr>Helvetica Neue</vt:lpstr>
      <vt:lpstr>Noto Sans S Chinese Black</vt:lpstr>
      <vt:lpstr>苹方-简</vt:lpstr>
      <vt:lpstr>宋体-简</vt:lpstr>
      <vt:lpstr>Noto Sans S Chinese Light</vt:lpstr>
      <vt:lpstr>Calibri</vt:lpstr>
      <vt:lpstr>等线</vt:lpstr>
      <vt:lpstr>宋体</vt:lpstr>
      <vt:lpstr>Arial Unicode MS</vt:lpstr>
      <vt:lpstr>黑体</vt:lpstr>
      <vt:lpstr>Office Theme</vt:lpstr>
      <vt:lpstr>结合大模型的表格识别方法与系统 硕士学位论文中期答辩</vt:lpstr>
      <vt:lpstr>研究背景</vt:lpstr>
      <vt:lpstr>研究目标</vt:lpstr>
      <vt:lpstr>总体方案</vt:lpstr>
      <vt:lpstr>动态感知表格预处理</vt:lpstr>
      <vt:lpstr>上下文识别</vt:lpstr>
      <vt:lpstr>结果评估</vt:lpstr>
      <vt:lpstr>系统实现</vt:lpstr>
      <vt:lpstr>系统展示</vt:lpstr>
      <vt:lpstr>实验结果</vt:lpstr>
      <vt:lpstr>存在问题</vt:lpstr>
      <vt:lpstr>后续计划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Shao Kang Chan</dc:creator>
  <cp:keywords>51PPT模板网</cp:keywords>
  <cp:lastModifiedBy>灿烂</cp:lastModifiedBy>
  <cp:revision>984</cp:revision>
  <dcterms:created xsi:type="dcterms:W3CDTF">2026-06-23T03:01:50Z</dcterms:created>
  <dcterms:modified xsi:type="dcterms:W3CDTF">2026-06-23T03:01:50Z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2019-04-13T03:22:24.4542264Z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79d03e65-7467-42db-b610-b9cac49b6011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2052-12.1.26016.26016</vt:lpwstr>
  </property>
  <property fmtid="{D5CDD505-2E9C-101B-9397-08002B2CF9AE}" pid="12" name="ICV">
    <vt:lpwstr>DAEF30C2D46CD4E71EF7396ACC8D87D2_42</vt:lpwstr>
  </property>
</Properties>
</file>