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/>
          <p:nvPr/>
        </p:nvSpPr>
        <p:spPr>
          <a:xfrm>
            <a:off x="182880" y="82296"/>
            <a:ext cx="2926080" cy="3874769"/>
          </a:xfrm>
          <a:prstGeom prst="roundRect">
            <a:avLst>
              <a:gd name="adj" fmla="val 4796"/>
            </a:avLst>
          </a:prstGeom>
          <a:solidFill>
            <a:srgbClr val="EEF5FF"/>
          </a:solidFill>
          <a:ln w="14000">
            <a:solidFill>
              <a:srgbClr val="5A82D1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4" name="Text 4"/>
          <p:cNvSpPr/>
          <p:nvPr/>
        </p:nvSpPr>
        <p:spPr>
          <a:xfrm>
            <a:off x="792480" y="116586"/>
            <a:ext cx="1706880" cy="445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2457B2"/>
                </a:solidFill>
                <a:latin typeface="Aptos"/>
                <a:ea typeface="微软雅黑"/>
              </a:rPr>
              <a:t>前端交互层</a:t>
            </a:r>
            <a:endParaRPr lang="zh-CN" sz="1800" b="1">
              <a:solidFill>
                <a:srgbClr val="2457B2"/>
              </a:solidFill>
              <a:latin typeface="Aptos"/>
              <a:ea typeface="微软雅黑"/>
            </a:endParaRPr>
          </a:p>
        </p:txBody>
      </p:sp>
      <p:sp>
        <p:nvSpPr>
          <p:cNvPr id="5" name="Text 5"/>
          <p:cNvSpPr/>
          <p:nvPr/>
        </p:nvSpPr>
        <p:spPr>
          <a:xfrm>
            <a:off x="623570" y="425450"/>
            <a:ext cx="207264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100" b="1">
                <a:solidFill>
                  <a:srgbClr val="2457B2"/>
                </a:solidFill>
                <a:latin typeface="Aptos"/>
                <a:ea typeface="微软雅黑"/>
              </a:rPr>
              <a:t>Vue 3 + Vite + Element Plus</a:t>
            </a:r>
            <a:endParaRPr lang="zh-CN" sz="1100" b="1">
              <a:solidFill>
                <a:srgbClr val="2457B2"/>
              </a:solidFill>
              <a:latin typeface="Aptos"/>
              <a:ea typeface="微软雅黑"/>
            </a:endParaRPr>
          </a:p>
        </p:txBody>
      </p:sp>
      <p:sp>
        <p:nvSpPr>
          <p:cNvPr id="6" name="Shape 6"/>
          <p:cNvSpPr/>
          <p:nvPr/>
        </p:nvSpPr>
        <p:spPr>
          <a:xfrm>
            <a:off x="341376" y="768096"/>
            <a:ext cx="2596896" cy="72009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B9B3D9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7" name="Text 7"/>
          <p:cNvSpPr/>
          <p:nvPr/>
        </p:nvSpPr>
        <p:spPr>
          <a:xfrm>
            <a:off x="499872" y="925830"/>
            <a:ext cx="390144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400" b="1"/>
          </a:p>
        </p:txBody>
      </p:sp>
      <p:sp>
        <p:nvSpPr>
          <p:cNvPr id="8" name="Text 8"/>
          <p:cNvSpPr/>
          <p:nvPr/>
        </p:nvSpPr>
        <p:spPr>
          <a:xfrm>
            <a:off x="1011936" y="884682"/>
            <a:ext cx="1706880" cy="480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20" b="1">
                <a:solidFill>
                  <a:srgbClr val="1F2937"/>
                </a:solidFill>
                <a:latin typeface="黑体" charset="0"/>
                <a:ea typeface="黑体" charset="0"/>
              </a:rPr>
              <a:t>识别页面：</a:t>
            </a:r>
            <a:endParaRPr lang="zh-CN" sz="1020" b="1">
              <a:latin typeface="黑体" charset="0"/>
              <a:ea typeface="黑体" charset="0"/>
            </a:endParaRPr>
          </a:p>
          <a:p>
            <a:pPr algn="l"/>
            <a:r>
              <a:rPr lang="zh-CN" sz="1020" b="1">
                <a:solidFill>
                  <a:srgbClr val="1F2937"/>
                </a:solidFill>
                <a:latin typeface="黑体" charset="0"/>
                <a:ea typeface="黑体" charset="0"/>
              </a:rPr>
              <a:t>图片上传、进度反馈、结果预览</a:t>
            </a:r>
            <a:endParaRPr lang="zh-CN" sz="1020" b="1">
              <a:latin typeface="黑体" charset="0"/>
              <a:ea typeface="黑体" charset="0"/>
            </a:endParaRPr>
          </a:p>
        </p:txBody>
      </p:sp>
      <p:sp>
        <p:nvSpPr>
          <p:cNvPr id="9" name="Shape 9"/>
          <p:cNvSpPr/>
          <p:nvPr/>
        </p:nvSpPr>
        <p:spPr>
          <a:xfrm>
            <a:off x="341376" y="1673352"/>
            <a:ext cx="2596896" cy="72009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B9B3D9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10" name="Text 10"/>
          <p:cNvSpPr/>
          <p:nvPr/>
        </p:nvSpPr>
        <p:spPr>
          <a:xfrm>
            <a:off x="499872" y="1831086"/>
            <a:ext cx="390144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400" b="1"/>
          </a:p>
        </p:txBody>
      </p:sp>
      <p:sp>
        <p:nvSpPr>
          <p:cNvPr id="11" name="Text 11"/>
          <p:cNvSpPr/>
          <p:nvPr/>
        </p:nvSpPr>
        <p:spPr>
          <a:xfrm>
            <a:off x="1011936" y="1789938"/>
            <a:ext cx="1706880" cy="480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20" b="1">
                <a:solidFill>
                  <a:srgbClr val="1F2937"/>
                </a:solidFill>
                <a:latin typeface="黑体" charset="0"/>
                <a:ea typeface="黑体" charset="0"/>
              </a:rPr>
              <a:t>历史页面：</a:t>
            </a:r>
            <a:endParaRPr lang="zh-CN" sz="1020" b="1">
              <a:latin typeface="黑体" charset="0"/>
              <a:ea typeface="黑体" charset="0"/>
            </a:endParaRPr>
          </a:p>
          <a:p>
            <a:pPr algn="l"/>
            <a:r>
              <a:rPr lang="zh-CN" sz="1020" b="1">
                <a:solidFill>
                  <a:srgbClr val="1F2937"/>
                </a:solidFill>
                <a:latin typeface="黑体" charset="0"/>
                <a:ea typeface="黑体" charset="0"/>
              </a:rPr>
              <a:t>记录检索、分页筛选、结果回看</a:t>
            </a:r>
            <a:endParaRPr lang="zh-CN" sz="1020" b="1">
              <a:latin typeface="黑体" charset="0"/>
              <a:ea typeface="黑体" charset="0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341376" y="2578608"/>
            <a:ext cx="2596896" cy="72009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B9B3D9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13" name="Text 13"/>
          <p:cNvSpPr/>
          <p:nvPr/>
        </p:nvSpPr>
        <p:spPr>
          <a:xfrm>
            <a:off x="499872" y="2736342"/>
            <a:ext cx="390144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400" b="1"/>
          </a:p>
        </p:txBody>
      </p:sp>
      <p:sp>
        <p:nvSpPr>
          <p:cNvPr id="14" name="Text 14"/>
          <p:cNvSpPr/>
          <p:nvPr/>
        </p:nvSpPr>
        <p:spPr>
          <a:xfrm>
            <a:off x="1011936" y="2695194"/>
            <a:ext cx="1706880" cy="480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102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用户会话：</a:t>
            </a:r>
            <a:endParaRPr lang="zh-CN" sz="1020" b="1"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lang="zh-CN" sz="102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登录/注册/体验用户、Token 管理</a:t>
            </a:r>
            <a:endParaRPr lang="zh-CN" sz="1020" b="1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341376" y="3442716"/>
            <a:ext cx="2596896" cy="356616"/>
          </a:xfrm>
          <a:prstGeom prst="roundRect">
            <a:avLst/>
          </a:prstGeom>
          <a:solidFill>
            <a:srgbClr val="EEF5FF"/>
          </a:solidFill>
          <a:ln w="9500">
            <a:solidFill>
              <a:srgbClr val="7EA7E6"/>
            </a:solidFill>
            <a:prstDash val="dash"/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1020" b="1">
                <a:solidFill>
                  <a:srgbClr val="2C5FAE"/>
                </a:solidFill>
                <a:latin typeface="Aptos"/>
                <a:ea typeface="微软雅黑"/>
              </a:rPr>
              <a:t>Pinia 状态管理     |     Axios 请求封装</a:t>
            </a:r>
            <a:endParaRPr lang="zh-CN" sz="1020" b="1">
              <a:solidFill>
                <a:srgbClr val="2C5FAE"/>
              </a:solidFill>
              <a:latin typeface="Aptos"/>
              <a:ea typeface="微软雅黑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206240" y="82550"/>
            <a:ext cx="2926080" cy="3903345"/>
          </a:xfrm>
          <a:prstGeom prst="roundRect">
            <a:avLst>
              <a:gd name="adj" fmla="val 4796"/>
            </a:avLst>
          </a:prstGeom>
          <a:solidFill>
            <a:srgbClr val="F4FAF4"/>
          </a:solidFill>
          <a:ln w="14000">
            <a:solidFill>
              <a:srgbClr val="6E966E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17" name="Text 17"/>
          <p:cNvSpPr/>
          <p:nvPr/>
        </p:nvSpPr>
        <p:spPr>
          <a:xfrm>
            <a:off x="5059680" y="116586"/>
            <a:ext cx="1219200" cy="445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527A56"/>
                </a:solidFill>
                <a:latin typeface="Aptos"/>
                <a:ea typeface="微软雅黑"/>
              </a:rPr>
              <a:t>后端服务层</a:t>
            </a:r>
            <a:endParaRPr lang="zh-CN" sz="1800" b="1">
              <a:solidFill>
                <a:srgbClr val="527A56"/>
              </a:solidFill>
              <a:latin typeface="Aptos"/>
              <a:ea typeface="微软雅黑"/>
            </a:endParaRPr>
          </a:p>
        </p:txBody>
      </p:sp>
      <p:sp>
        <p:nvSpPr>
          <p:cNvPr id="18" name="Text 18"/>
          <p:cNvSpPr/>
          <p:nvPr/>
        </p:nvSpPr>
        <p:spPr>
          <a:xfrm>
            <a:off x="4913884" y="404495"/>
            <a:ext cx="158496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100" b="1">
                <a:solidFill>
                  <a:srgbClr val="527A56"/>
                </a:solidFill>
                <a:latin typeface="Aptos"/>
                <a:ea typeface="微软雅黑"/>
              </a:rPr>
              <a:t>FastAPI + Uvicorn</a:t>
            </a:r>
            <a:endParaRPr lang="zh-CN" sz="1100" b="1">
              <a:solidFill>
                <a:srgbClr val="527A56"/>
              </a:solidFill>
              <a:latin typeface="Aptos"/>
              <a:ea typeface="微软雅黑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4340352" y="648335"/>
            <a:ext cx="2633472" cy="55549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20" name="Text 20"/>
          <p:cNvSpPr/>
          <p:nvPr/>
        </p:nvSpPr>
        <p:spPr>
          <a:xfrm>
            <a:off x="4474464" y="771779"/>
            <a:ext cx="329184" cy="34975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200" b="1"/>
          </a:p>
        </p:txBody>
      </p:sp>
      <p:sp>
        <p:nvSpPr>
          <p:cNvPr id="21" name="Text 21"/>
          <p:cNvSpPr/>
          <p:nvPr/>
        </p:nvSpPr>
        <p:spPr>
          <a:xfrm>
            <a:off x="4937760" y="730631"/>
            <a:ext cx="1828800" cy="4183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认证接口：</a:t>
            </a:r>
            <a:endParaRPr lang="zh-CN" sz="960" b="1">
              <a:latin typeface="黑体" charset="0"/>
              <a:ea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注册、登录、当前用户、资料更新</a:t>
            </a:r>
            <a:endParaRPr lang="zh-CN" sz="960" b="1">
              <a:latin typeface="黑体" charset="0"/>
              <a:ea typeface="黑体" charset="0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4340352" y="1272413"/>
            <a:ext cx="2633472" cy="6446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23" name="Text 23"/>
          <p:cNvSpPr/>
          <p:nvPr/>
        </p:nvSpPr>
        <p:spPr>
          <a:xfrm>
            <a:off x="4474464" y="1395857"/>
            <a:ext cx="329184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200" b="1"/>
          </a:p>
        </p:txBody>
      </p:sp>
      <p:sp>
        <p:nvSpPr>
          <p:cNvPr id="24" name="Text 24"/>
          <p:cNvSpPr/>
          <p:nvPr/>
        </p:nvSpPr>
        <p:spPr>
          <a:xfrm>
            <a:off x="4937760" y="1354709"/>
            <a:ext cx="1828800" cy="5074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上传接口：</a:t>
            </a:r>
            <a:endParaRPr lang="zh-CN" sz="960" b="1">
              <a:latin typeface="黑体" charset="0"/>
              <a:ea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格式校验、大小校验、文件落盘、</a:t>
            </a:r>
            <a:endParaRPr lang="zh-CN" sz="960" b="1">
              <a:latin typeface="黑体" charset="0"/>
              <a:ea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图像尺寸解析</a:t>
            </a:r>
            <a:endParaRPr lang="zh-CN" sz="960" b="1">
              <a:latin typeface="黑体" charset="0"/>
              <a:ea typeface="黑体" charset="0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4340352" y="1985645"/>
            <a:ext cx="2633472" cy="55549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26" name="Text 26"/>
          <p:cNvSpPr/>
          <p:nvPr/>
        </p:nvSpPr>
        <p:spPr>
          <a:xfrm>
            <a:off x="4474464" y="2109089"/>
            <a:ext cx="329184" cy="34975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200" b="1"/>
          </a:p>
        </p:txBody>
      </p:sp>
      <p:sp>
        <p:nvSpPr>
          <p:cNvPr id="27" name="Text 27"/>
          <p:cNvSpPr/>
          <p:nvPr/>
        </p:nvSpPr>
        <p:spPr>
          <a:xfrm>
            <a:off x="4937760" y="2067941"/>
            <a:ext cx="1828800" cy="4183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识别接口：</a:t>
            </a:r>
            <a:endParaRPr lang="zh-CN" sz="960" b="1">
              <a:latin typeface="黑体" charset="0"/>
              <a:ea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任务触发、状态更新、结果封装</a:t>
            </a:r>
            <a:endParaRPr lang="zh-CN" sz="960" b="1">
              <a:latin typeface="黑体" charset="0"/>
              <a:ea typeface="黑体" charset="0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4340352" y="2609723"/>
            <a:ext cx="2633472" cy="644652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29" name="Text 29"/>
          <p:cNvSpPr/>
          <p:nvPr/>
        </p:nvSpPr>
        <p:spPr>
          <a:xfrm>
            <a:off x="4474464" y="2733167"/>
            <a:ext cx="329184" cy="4389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200" b="1"/>
          </a:p>
        </p:txBody>
      </p:sp>
      <p:sp>
        <p:nvSpPr>
          <p:cNvPr id="30" name="Text 30"/>
          <p:cNvSpPr/>
          <p:nvPr/>
        </p:nvSpPr>
        <p:spPr>
          <a:xfrm>
            <a:off x="4937760" y="2691765"/>
            <a:ext cx="2011680" cy="5073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查询接口：</a:t>
            </a:r>
            <a:endParaRPr lang="zh-CN" sz="960" b="1">
              <a:latin typeface="黑体" charset="0"/>
              <a:ea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仪表盘统计、历史记录、</a:t>
            </a:r>
            <a:endParaRPr lang="zh-CN" sz="960" b="1">
              <a:latin typeface="黑体" charset="0"/>
              <a:ea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结果详情、删除记录</a:t>
            </a:r>
            <a:endParaRPr lang="zh-CN" sz="960" b="1">
              <a:latin typeface="黑体" charset="0"/>
              <a:ea typeface="黑体" charset="0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4340352" y="3322955"/>
            <a:ext cx="2633472" cy="555498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9DB79E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32" name="Text 32"/>
          <p:cNvSpPr/>
          <p:nvPr/>
        </p:nvSpPr>
        <p:spPr>
          <a:xfrm>
            <a:off x="4474464" y="3446399"/>
            <a:ext cx="329184" cy="34975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200" b="1"/>
          </a:p>
        </p:txBody>
      </p:sp>
      <p:sp>
        <p:nvSpPr>
          <p:cNvPr id="33" name="Text 33"/>
          <p:cNvSpPr/>
          <p:nvPr/>
        </p:nvSpPr>
        <p:spPr>
          <a:xfrm>
            <a:off x="4937760" y="3405505"/>
            <a:ext cx="2035175" cy="4184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静态资源服务：</a:t>
            </a:r>
            <a:endParaRPr lang="zh-CN" sz="960" b="1"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uploads、results</a:t>
            </a:r>
            <a:r>
              <a:rPr lang="en-US" alt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、</a:t>
            </a:r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middle_image</a:t>
            </a:r>
            <a:endParaRPr lang="zh-CN" sz="960" b="1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7924800" y="82296"/>
            <a:ext cx="2438400" cy="3874769"/>
          </a:xfrm>
          <a:prstGeom prst="roundRect">
            <a:avLst>
              <a:gd name="adj" fmla="val 5000"/>
            </a:avLst>
          </a:prstGeom>
          <a:solidFill>
            <a:srgbClr val="FFF7EF"/>
          </a:solidFill>
          <a:ln w="14000">
            <a:solidFill>
              <a:srgbClr val="F29A4A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35" name="Text 35"/>
          <p:cNvSpPr/>
          <p:nvPr/>
        </p:nvSpPr>
        <p:spPr>
          <a:xfrm>
            <a:off x="8328025" y="116840"/>
            <a:ext cx="1550035" cy="44577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800" b="1">
                <a:solidFill>
                  <a:srgbClr val="E47725"/>
                </a:solidFill>
                <a:latin typeface="Aptos"/>
                <a:ea typeface="微软雅黑"/>
              </a:rPr>
              <a:t>识别引擎</a:t>
            </a:r>
            <a:endParaRPr lang="zh-CN" sz="1800" b="1">
              <a:solidFill>
                <a:srgbClr val="E47725"/>
              </a:solidFill>
              <a:latin typeface="Aptos"/>
              <a:ea typeface="微软雅黑"/>
            </a:endParaRPr>
          </a:p>
        </p:txBody>
      </p:sp>
      <p:sp>
        <p:nvSpPr>
          <p:cNvPr id="36" name="Text 36"/>
          <p:cNvSpPr/>
          <p:nvPr/>
        </p:nvSpPr>
        <p:spPr>
          <a:xfrm>
            <a:off x="8112125" y="461645"/>
            <a:ext cx="2035175" cy="2628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100" b="1">
                <a:solidFill>
                  <a:srgbClr val="E47725"/>
                </a:solidFill>
                <a:latin typeface="Aptos"/>
                <a:ea typeface="微软雅黑"/>
              </a:rPr>
              <a:t>TableRecognitionSystem</a:t>
            </a:r>
            <a:endParaRPr lang="zh-CN" sz="1100" b="1">
              <a:solidFill>
                <a:srgbClr val="E47725"/>
              </a:solidFill>
              <a:latin typeface="Aptos"/>
              <a:ea typeface="微软雅黑"/>
            </a:endParaRPr>
          </a:p>
        </p:txBody>
      </p:sp>
      <p:sp>
        <p:nvSpPr>
          <p:cNvPr id="37" name="Shape 37"/>
          <p:cNvSpPr/>
          <p:nvPr/>
        </p:nvSpPr>
        <p:spPr>
          <a:xfrm>
            <a:off x="8083550" y="754380"/>
            <a:ext cx="2084705" cy="480695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38" name="Text 38"/>
          <p:cNvSpPr/>
          <p:nvPr/>
        </p:nvSpPr>
        <p:spPr>
          <a:xfrm>
            <a:off x="8241792" y="870966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100" b="1"/>
          </a:p>
        </p:txBody>
      </p:sp>
      <p:sp>
        <p:nvSpPr>
          <p:cNvPr id="39" name="Text 39"/>
          <p:cNvSpPr/>
          <p:nvPr/>
        </p:nvSpPr>
        <p:spPr>
          <a:xfrm>
            <a:off x="8827008" y="836676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图像加载</a:t>
            </a:r>
            <a:endParaRPr lang="zh-CN" sz="960" b="1"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ImageLoader</a:t>
            </a:r>
            <a:endParaRPr lang="zh-CN" sz="960" b="1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0" name="Line 40"/>
          <p:cNvSpPr/>
          <p:nvPr/>
        </p:nvSpPr>
        <p:spPr>
          <a:xfrm>
            <a:off x="9131808" y="1289304"/>
            <a:ext cx="1219" cy="116586"/>
          </a:xfrm>
          <a:prstGeom prst="line">
            <a:avLst/>
          </a:prstGeom>
          <a:ln w="11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1" name="Shape 41"/>
          <p:cNvSpPr/>
          <p:nvPr/>
        </p:nvSpPr>
        <p:spPr>
          <a:xfrm>
            <a:off x="8083550" y="1419860"/>
            <a:ext cx="2084705" cy="480695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42" name="Text 42"/>
          <p:cNvSpPr/>
          <p:nvPr/>
        </p:nvSpPr>
        <p:spPr>
          <a:xfrm>
            <a:off x="8241792" y="1536192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100" b="1"/>
          </a:p>
        </p:txBody>
      </p:sp>
      <p:sp>
        <p:nvSpPr>
          <p:cNvPr id="43" name="Text 43"/>
          <p:cNvSpPr/>
          <p:nvPr/>
        </p:nvSpPr>
        <p:spPr>
          <a:xfrm>
            <a:off x="8827008" y="1501902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动态预处理</a:t>
            </a:r>
            <a:endParaRPr lang="zh-CN" sz="960" b="1"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DynamicPreprocessor</a:t>
            </a:r>
            <a:endParaRPr lang="zh-CN" sz="960" b="1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4" name="Line 44"/>
          <p:cNvSpPr/>
          <p:nvPr/>
        </p:nvSpPr>
        <p:spPr>
          <a:xfrm>
            <a:off x="9131808" y="1954530"/>
            <a:ext cx="1219" cy="116586"/>
          </a:xfrm>
          <a:prstGeom prst="line">
            <a:avLst/>
          </a:prstGeom>
          <a:ln w="11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5" name="Shape 45"/>
          <p:cNvSpPr/>
          <p:nvPr/>
        </p:nvSpPr>
        <p:spPr>
          <a:xfrm>
            <a:off x="8083550" y="2084705"/>
            <a:ext cx="2084705" cy="48006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46" name="Text 46"/>
          <p:cNvSpPr/>
          <p:nvPr/>
        </p:nvSpPr>
        <p:spPr>
          <a:xfrm>
            <a:off x="8241792" y="2201418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100" b="1"/>
          </a:p>
        </p:txBody>
      </p:sp>
      <p:sp>
        <p:nvSpPr>
          <p:cNvPr id="47" name="Text 47"/>
          <p:cNvSpPr/>
          <p:nvPr/>
        </p:nvSpPr>
        <p:spPr>
          <a:xfrm>
            <a:off x="8827008" y="2167128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ICL 表格识别</a:t>
            </a:r>
            <a:endParaRPr lang="zh-CN" sz="960" b="1">
              <a:latin typeface="黑体" charset="0"/>
              <a:ea typeface="黑体" charset="0"/>
              <a:cs typeface="黑体" charset="0"/>
            </a:endParaRPr>
          </a:p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  <a:cs typeface="黑体" charset="0"/>
              </a:rPr>
              <a:t>ICLTableEngine</a:t>
            </a:r>
            <a:endParaRPr lang="zh-CN" sz="960" b="1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8" name="Line 48"/>
          <p:cNvSpPr/>
          <p:nvPr/>
        </p:nvSpPr>
        <p:spPr>
          <a:xfrm>
            <a:off x="9131808" y="2619756"/>
            <a:ext cx="1219" cy="116585"/>
          </a:xfrm>
          <a:prstGeom prst="line">
            <a:avLst/>
          </a:prstGeom>
          <a:ln w="11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49" name="Shape 49"/>
          <p:cNvSpPr/>
          <p:nvPr/>
        </p:nvSpPr>
        <p:spPr>
          <a:xfrm>
            <a:off x="8083550" y="2792095"/>
            <a:ext cx="2084705" cy="438785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50" name="Text 50"/>
          <p:cNvSpPr/>
          <p:nvPr/>
        </p:nvSpPr>
        <p:spPr>
          <a:xfrm>
            <a:off x="8241792" y="2866644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100" b="1"/>
          </a:p>
        </p:txBody>
      </p:sp>
      <p:sp>
        <p:nvSpPr>
          <p:cNvPr id="51" name="Text 51"/>
          <p:cNvSpPr/>
          <p:nvPr/>
        </p:nvSpPr>
        <p:spPr>
          <a:xfrm>
            <a:off x="8827008" y="2832354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质量评估与后处理</a:t>
            </a:r>
            <a:endParaRPr lang="zh-CN" sz="960" b="1">
              <a:solidFill>
                <a:srgbClr val="1F2937"/>
              </a:solidFill>
              <a:latin typeface="黑体" charset="0"/>
              <a:ea typeface="黑体" charset="0"/>
            </a:endParaRPr>
          </a:p>
        </p:txBody>
      </p:sp>
      <p:sp>
        <p:nvSpPr>
          <p:cNvPr id="52" name="Line 52"/>
          <p:cNvSpPr/>
          <p:nvPr/>
        </p:nvSpPr>
        <p:spPr>
          <a:xfrm>
            <a:off x="9131808" y="3284982"/>
            <a:ext cx="1219" cy="116585"/>
          </a:xfrm>
          <a:prstGeom prst="line">
            <a:avLst/>
          </a:prstGeom>
          <a:ln w="11000">
            <a:solidFill>
              <a:srgbClr val="333333"/>
            </a:solidFill>
            <a:tailEnd type="triangle"/>
          </a:ln>
        </p:spPr>
        <p:txBody>
          <a:bodyPr/>
          <a:lstStyle/>
          <a:p/>
        </p:txBody>
      </p:sp>
      <p:sp>
        <p:nvSpPr>
          <p:cNvPr id="53" name="Shape 53"/>
          <p:cNvSpPr/>
          <p:nvPr/>
        </p:nvSpPr>
        <p:spPr>
          <a:xfrm>
            <a:off x="8083550" y="3446145"/>
            <a:ext cx="2084705" cy="438785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F2A057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54" name="Text 54"/>
          <p:cNvSpPr/>
          <p:nvPr/>
        </p:nvSpPr>
        <p:spPr>
          <a:xfrm>
            <a:off x="8241792" y="3531870"/>
            <a:ext cx="341376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100" b="1"/>
          </a:p>
        </p:txBody>
      </p:sp>
      <p:sp>
        <p:nvSpPr>
          <p:cNvPr id="55" name="Text 55"/>
          <p:cNvSpPr/>
          <p:nvPr/>
        </p:nvSpPr>
        <p:spPr>
          <a:xfrm>
            <a:off x="8827008" y="3497580"/>
            <a:ext cx="115824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60" b="1">
                <a:solidFill>
                  <a:srgbClr val="1F2937"/>
                </a:solidFill>
                <a:latin typeface="黑体" charset="0"/>
                <a:ea typeface="黑体" charset="0"/>
              </a:rPr>
              <a:t>结果解析与保存</a:t>
            </a:r>
            <a:endParaRPr lang="zh-CN" sz="960" b="1">
              <a:solidFill>
                <a:srgbClr val="1F2937"/>
              </a:solidFill>
              <a:latin typeface="黑体" charset="0"/>
              <a:ea typeface="黑体" charset="0"/>
            </a:endParaRPr>
          </a:p>
        </p:txBody>
      </p:sp>
      <p:sp>
        <p:nvSpPr>
          <p:cNvPr id="56" name="Shape 56"/>
          <p:cNvSpPr/>
          <p:nvPr/>
        </p:nvSpPr>
        <p:spPr>
          <a:xfrm>
            <a:off x="11216640" y="1200150"/>
            <a:ext cx="1036320" cy="2228850"/>
          </a:xfrm>
          <a:prstGeom prst="roundRect">
            <a:avLst/>
          </a:prstGeom>
          <a:solidFill>
            <a:srgbClr val="F8F3FF"/>
          </a:solidFill>
          <a:ln w="14000">
            <a:solidFill>
              <a:srgbClr val="8066B2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58" name="Text 58"/>
          <p:cNvSpPr/>
          <p:nvPr/>
        </p:nvSpPr>
        <p:spPr>
          <a:xfrm>
            <a:off x="11399520" y="1975103"/>
            <a:ext cx="670560" cy="5829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3600" b="1"/>
          </a:p>
        </p:txBody>
      </p:sp>
      <p:sp>
        <p:nvSpPr>
          <p:cNvPr id="59" name="Text 59"/>
          <p:cNvSpPr/>
          <p:nvPr/>
        </p:nvSpPr>
        <p:spPr>
          <a:xfrm>
            <a:off x="11436096" y="2777490"/>
            <a:ext cx="609600" cy="4800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6B4FB3"/>
                </a:solidFill>
                <a:latin typeface="Aptos"/>
                <a:ea typeface="微软雅黑"/>
              </a:rPr>
              <a:t>LLM</a:t>
            </a:r>
            <a:endParaRPr lang="zh-CN" sz="1300" b="1"/>
          </a:p>
          <a:p>
            <a:pPr algn="ctr"/>
            <a:r>
              <a:rPr lang="zh-CN" sz="1300" b="1">
                <a:solidFill>
                  <a:srgbClr val="6B4FB3"/>
                </a:solidFill>
                <a:latin typeface="Aptos"/>
                <a:ea typeface="微软雅黑"/>
              </a:rPr>
              <a:t>(大模型)</a:t>
            </a:r>
            <a:endParaRPr lang="zh-CN" sz="1300" b="1"/>
          </a:p>
        </p:txBody>
      </p:sp>
      <p:sp>
        <p:nvSpPr>
          <p:cNvPr id="60" name="Line 60"/>
          <p:cNvSpPr/>
          <p:nvPr/>
        </p:nvSpPr>
        <p:spPr>
          <a:xfrm>
            <a:off x="3169920" y="1954149"/>
            <a:ext cx="938784" cy="685"/>
          </a:xfrm>
          <a:prstGeom prst="line">
            <a:avLst/>
          </a:prstGeom>
          <a:ln w="55000">
            <a:solidFill>
              <a:srgbClr val="66666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1" name="Text 61"/>
          <p:cNvSpPr/>
          <p:nvPr/>
        </p:nvSpPr>
        <p:spPr>
          <a:xfrm>
            <a:off x="3194304" y="1885950"/>
            <a:ext cx="914400" cy="9258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950" b="1">
                <a:solidFill>
                  <a:srgbClr val="1F2937"/>
                </a:solidFill>
                <a:latin typeface="Aptos"/>
                <a:ea typeface="微软雅黑"/>
              </a:rPr>
              <a:t>HTTP / REST API</a:t>
            </a:r>
            <a:endParaRPr lang="zh-CN" sz="950" b="1"/>
          </a:p>
        </p:txBody>
      </p:sp>
      <p:sp>
        <p:nvSpPr>
          <p:cNvPr id="62" name="Line 62"/>
          <p:cNvSpPr/>
          <p:nvPr/>
        </p:nvSpPr>
        <p:spPr>
          <a:xfrm>
            <a:off x="7193280" y="1954529"/>
            <a:ext cx="633984" cy="685"/>
          </a:xfrm>
          <a:prstGeom prst="line">
            <a:avLst/>
          </a:prstGeom>
          <a:ln w="55000">
            <a:solidFill>
              <a:srgbClr val="666666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3" name="Line 63"/>
          <p:cNvSpPr/>
          <p:nvPr/>
        </p:nvSpPr>
        <p:spPr>
          <a:xfrm>
            <a:off x="10387584" y="2318004"/>
            <a:ext cx="768096" cy="685"/>
          </a:xfrm>
          <a:prstGeom prst="line">
            <a:avLst/>
          </a:prstGeom>
          <a:ln w="16000">
            <a:solidFill>
              <a:srgbClr val="8066B2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64" name="Text 64"/>
          <p:cNvSpPr/>
          <p:nvPr/>
        </p:nvSpPr>
        <p:spPr>
          <a:xfrm>
            <a:off x="10387330" y="1916811"/>
            <a:ext cx="67056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黑体" charset="0"/>
                <a:ea typeface="黑体" charset="0"/>
              </a:rPr>
              <a:t>多模态提示</a:t>
            </a:r>
            <a:endParaRPr lang="zh-CN" sz="880" b="1">
              <a:latin typeface="黑体" charset="0"/>
              <a:ea typeface="黑体" charset="0"/>
            </a:endParaRPr>
          </a:p>
          <a:p>
            <a:pPr algn="ctr"/>
            <a:r>
              <a:rPr lang="zh-CN" sz="880" b="1">
                <a:solidFill>
                  <a:srgbClr val="1F2937"/>
                </a:solidFill>
                <a:latin typeface="黑体" charset="0"/>
                <a:ea typeface="黑体" charset="0"/>
              </a:rPr>
              <a:t>与结构生成</a:t>
            </a:r>
            <a:endParaRPr lang="zh-CN" sz="880" b="1">
              <a:latin typeface="黑体" charset="0"/>
              <a:ea typeface="黑体" charset="0"/>
            </a:endParaRPr>
          </a:p>
        </p:txBody>
      </p:sp>
      <p:sp>
        <p:nvSpPr>
          <p:cNvPr id="65" name="Shape 65"/>
          <p:cNvSpPr/>
          <p:nvPr/>
        </p:nvSpPr>
        <p:spPr>
          <a:xfrm>
            <a:off x="182880" y="4059936"/>
            <a:ext cx="12070080" cy="617220"/>
          </a:xfrm>
          <a:prstGeom prst="roundRect">
            <a:avLst/>
          </a:prstGeom>
          <a:solidFill>
            <a:srgbClr val="F8FBFF"/>
          </a:solidFill>
          <a:ln w="10000">
            <a:solidFill>
              <a:srgbClr val="7EA0D8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66" name="Text 66"/>
          <p:cNvSpPr/>
          <p:nvPr/>
        </p:nvSpPr>
        <p:spPr>
          <a:xfrm>
            <a:off x="316992" y="4258818"/>
            <a:ext cx="67056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2457B2"/>
                </a:solidFill>
                <a:latin typeface="黑体" charset="0"/>
                <a:ea typeface="黑体" charset="0"/>
              </a:rPr>
              <a:t>主流程</a:t>
            </a:r>
            <a:endParaRPr lang="zh-CN" sz="1300" b="1">
              <a:solidFill>
                <a:srgbClr val="2457B2"/>
              </a:solidFill>
              <a:latin typeface="黑体" charset="0"/>
              <a:ea typeface="黑体" charset="0"/>
            </a:endParaRPr>
          </a:p>
        </p:txBody>
      </p:sp>
      <p:sp>
        <p:nvSpPr>
          <p:cNvPr id="67" name="Shape 67"/>
          <p:cNvSpPr/>
          <p:nvPr/>
        </p:nvSpPr>
        <p:spPr>
          <a:xfrm>
            <a:off x="1097280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用户上传</a:t>
            </a:r>
            <a:endParaRPr lang="zh-CN" sz="920" b="1">
              <a:latin typeface="黑体" charset="0"/>
              <a:ea typeface="黑体" charset="0"/>
            </a:endParaRPr>
          </a:p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表格图片</a:t>
            </a:r>
            <a:endParaRPr lang="zh-CN" sz="920" b="1">
              <a:latin typeface="黑体" charset="0"/>
              <a:ea typeface="黑体" charset="0"/>
            </a:endParaRPr>
          </a:p>
        </p:txBody>
      </p:sp>
      <p:sp>
        <p:nvSpPr>
          <p:cNvPr id="68" name="Line 68"/>
          <p:cNvSpPr/>
          <p:nvPr/>
        </p:nvSpPr>
        <p:spPr>
          <a:xfrm>
            <a:off x="2072639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69" name="Shape 69"/>
          <p:cNvSpPr/>
          <p:nvPr/>
        </p:nvSpPr>
        <p:spPr>
          <a:xfrm>
            <a:off x="2365248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前端封装</a:t>
            </a:r>
            <a:endParaRPr lang="zh-CN" sz="920" b="1">
              <a:latin typeface="黑体" charset="0"/>
              <a:ea typeface="黑体" charset="0"/>
            </a:endParaRPr>
          </a:p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请求</a:t>
            </a:r>
            <a:endParaRPr lang="zh-CN" sz="920" b="1">
              <a:latin typeface="黑体" charset="0"/>
              <a:ea typeface="黑体" charset="0"/>
            </a:endParaRPr>
          </a:p>
        </p:txBody>
      </p:sp>
      <p:sp>
        <p:nvSpPr>
          <p:cNvPr id="70" name="Line 70"/>
          <p:cNvSpPr/>
          <p:nvPr/>
        </p:nvSpPr>
        <p:spPr>
          <a:xfrm>
            <a:off x="3340608" y="4341114"/>
            <a:ext cx="304799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1" name="Shape 71"/>
          <p:cNvSpPr/>
          <p:nvPr/>
        </p:nvSpPr>
        <p:spPr>
          <a:xfrm>
            <a:off x="3633216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后端鉴权</a:t>
            </a:r>
            <a:endParaRPr lang="zh-CN" sz="920" b="1">
              <a:latin typeface="黑体" charset="0"/>
              <a:ea typeface="黑体" charset="0"/>
            </a:endParaRPr>
          </a:p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与文件校验</a:t>
            </a:r>
            <a:endParaRPr lang="zh-CN" sz="920" b="1">
              <a:latin typeface="黑体" charset="0"/>
              <a:ea typeface="黑体" charset="0"/>
            </a:endParaRPr>
          </a:p>
        </p:txBody>
      </p:sp>
      <p:sp>
        <p:nvSpPr>
          <p:cNvPr id="72" name="Line 72"/>
          <p:cNvSpPr/>
          <p:nvPr/>
        </p:nvSpPr>
        <p:spPr>
          <a:xfrm>
            <a:off x="4608576" y="4341114"/>
            <a:ext cx="304799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3" name="Shape 73"/>
          <p:cNvSpPr/>
          <p:nvPr/>
        </p:nvSpPr>
        <p:spPr>
          <a:xfrm>
            <a:off x="4901184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调用识别引擎</a:t>
            </a:r>
            <a:endParaRPr lang="zh-CN" sz="920" b="1">
              <a:solidFill>
                <a:srgbClr val="2457B2"/>
              </a:solidFill>
              <a:latin typeface="黑体" charset="0"/>
              <a:ea typeface="黑体" charset="0"/>
            </a:endParaRPr>
          </a:p>
        </p:txBody>
      </p:sp>
      <p:sp>
        <p:nvSpPr>
          <p:cNvPr id="74" name="Line 74"/>
          <p:cNvSpPr/>
          <p:nvPr/>
        </p:nvSpPr>
        <p:spPr>
          <a:xfrm>
            <a:off x="5876544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5" name="Shape 75"/>
          <p:cNvSpPr/>
          <p:nvPr/>
        </p:nvSpPr>
        <p:spPr>
          <a:xfrm>
            <a:off x="6169152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预处理与</a:t>
            </a:r>
            <a:endParaRPr lang="zh-CN" sz="920" b="1">
              <a:latin typeface="黑体" charset="0"/>
              <a:ea typeface="黑体" charset="0"/>
            </a:endParaRPr>
          </a:p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表格识别</a:t>
            </a:r>
            <a:endParaRPr lang="zh-CN" sz="920" b="1">
              <a:latin typeface="黑体" charset="0"/>
              <a:ea typeface="黑体" charset="0"/>
            </a:endParaRPr>
          </a:p>
        </p:txBody>
      </p:sp>
      <p:sp>
        <p:nvSpPr>
          <p:cNvPr id="76" name="Line 76"/>
          <p:cNvSpPr/>
          <p:nvPr/>
        </p:nvSpPr>
        <p:spPr>
          <a:xfrm>
            <a:off x="7144512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7" name="Shape 77"/>
          <p:cNvSpPr/>
          <p:nvPr/>
        </p:nvSpPr>
        <p:spPr>
          <a:xfrm>
            <a:off x="7437120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  <a:cs typeface="黑体" charset="0"/>
              </a:rPr>
              <a:t>调用大模型</a:t>
            </a:r>
            <a:endParaRPr lang="zh-CN" sz="920" b="1">
              <a:latin typeface="黑体" charset="0"/>
              <a:ea typeface="黑体" charset="0"/>
              <a:cs typeface="黑体" charset="0"/>
            </a:endParaRPr>
          </a:p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  <a:cs typeface="黑体" charset="0"/>
              </a:rPr>
              <a:t>生成 HTML 结构</a:t>
            </a:r>
            <a:endParaRPr lang="zh-CN" sz="920" b="1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8" name="Line 78"/>
          <p:cNvSpPr/>
          <p:nvPr/>
        </p:nvSpPr>
        <p:spPr>
          <a:xfrm>
            <a:off x="8412480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79" name="Shape 79"/>
          <p:cNvSpPr/>
          <p:nvPr/>
        </p:nvSpPr>
        <p:spPr>
          <a:xfrm>
            <a:off x="8705088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后处理与</a:t>
            </a:r>
            <a:endParaRPr lang="zh-CN" sz="920" b="1">
              <a:latin typeface="黑体" charset="0"/>
              <a:ea typeface="黑体" charset="0"/>
            </a:endParaRPr>
          </a:p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结果组织</a:t>
            </a:r>
            <a:endParaRPr lang="zh-CN" sz="920" b="1">
              <a:latin typeface="黑体" charset="0"/>
              <a:ea typeface="黑体" charset="0"/>
            </a:endParaRPr>
          </a:p>
        </p:txBody>
      </p:sp>
      <p:sp>
        <p:nvSpPr>
          <p:cNvPr id="80" name="Line 80"/>
          <p:cNvSpPr/>
          <p:nvPr/>
        </p:nvSpPr>
        <p:spPr>
          <a:xfrm>
            <a:off x="9680448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1" name="Shape 81"/>
          <p:cNvSpPr/>
          <p:nvPr/>
        </p:nvSpPr>
        <p:spPr>
          <a:xfrm>
            <a:off x="9973056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写入数据库</a:t>
            </a:r>
            <a:endParaRPr lang="zh-CN" sz="920" b="1">
              <a:latin typeface="黑体" charset="0"/>
              <a:ea typeface="黑体" charset="0"/>
            </a:endParaRPr>
          </a:p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和结果目录</a:t>
            </a:r>
            <a:endParaRPr lang="zh-CN" sz="920" b="1">
              <a:latin typeface="黑体" charset="0"/>
              <a:ea typeface="黑体" charset="0"/>
            </a:endParaRPr>
          </a:p>
        </p:txBody>
      </p:sp>
      <p:sp>
        <p:nvSpPr>
          <p:cNvPr id="82" name="Line 82"/>
          <p:cNvSpPr/>
          <p:nvPr/>
        </p:nvSpPr>
        <p:spPr>
          <a:xfrm>
            <a:off x="10948415" y="4341114"/>
            <a:ext cx="304800" cy="685"/>
          </a:xfrm>
          <a:prstGeom prst="line">
            <a:avLst/>
          </a:prstGeom>
          <a:ln w="12000">
            <a:solidFill>
              <a:srgbClr val="344154"/>
            </a:solidFill>
            <a:tailEnd type="triangle"/>
          </a:ln>
        </p:spPr>
        <p:txBody>
          <a:bodyPr/>
          <a:lstStyle/>
          <a:p/>
        </p:txBody>
      </p:sp>
      <p:sp>
        <p:nvSpPr>
          <p:cNvPr id="83" name="Shape 83"/>
          <p:cNvSpPr/>
          <p:nvPr/>
        </p:nvSpPr>
        <p:spPr>
          <a:xfrm>
            <a:off x="11241024" y="4155948"/>
            <a:ext cx="975360" cy="37719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92B1E3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前端展示结果</a:t>
            </a:r>
            <a:endParaRPr lang="zh-CN" sz="920" b="1">
              <a:latin typeface="黑体" charset="0"/>
              <a:ea typeface="黑体" charset="0"/>
            </a:endParaRPr>
          </a:p>
          <a:p>
            <a:pPr algn="ctr"/>
            <a:r>
              <a:rPr lang="zh-CN" sz="920" b="1">
                <a:solidFill>
                  <a:srgbClr val="2457B2"/>
                </a:solidFill>
                <a:latin typeface="黑体" charset="0"/>
                <a:ea typeface="黑体" charset="0"/>
              </a:rPr>
              <a:t>与历史统计</a:t>
            </a:r>
            <a:endParaRPr lang="zh-CN" sz="920" b="1">
              <a:latin typeface="黑体" charset="0"/>
              <a:ea typeface="黑体" charset="0"/>
            </a:endParaRPr>
          </a:p>
        </p:txBody>
      </p:sp>
      <p:sp>
        <p:nvSpPr>
          <p:cNvPr id="84" name="Shape 84"/>
          <p:cNvSpPr/>
          <p:nvPr/>
        </p:nvSpPr>
        <p:spPr>
          <a:xfrm>
            <a:off x="182880" y="4766310"/>
            <a:ext cx="12070080" cy="500633"/>
          </a:xfrm>
          <a:prstGeom prst="roundRect">
            <a:avLst/>
          </a:prstGeom>
          <a:solidFill>
            <a:srgbClr val="FBF8FF"/>
          </a:solidFill>
          <a:ln w="9500">
            <a:solidFill>
              <a:srgbClr val="B79BD9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85" name="Text 85"/>
          <p:cNvSpPr/>
          <p:nvPr/>
        </p:nvSpPr>
        <p:spPr>
          <a:xfrm>
            <a:off x="316992" y="4930902"/>
            <a:ext cx="670560" cy="2400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300" b="1">
                <a:solidFill>
                  <a:srgbClr val="7658B5"/>
                </a:solidFill>
                <a:latin typeface="黑体" charset="0"/>
                <a:ea typeface="黑体" charset="0"/>
              </a:rPr>
              <a:t>次要路径</a:t>
            </a:r>
            <a:endParaRPr lang="zh-CN" sz="1300" b="1">
              <a:solidFill>
                <a:srgbClr val="7658B5"/>
              </a:solidFill>
              <a:latin typeface="黑体" charset="0"/>
              <a:ea typeface="黑体" charset="0"/>
            </a:endParaRPr>
          </a:p>
        </p:txBody>
      </p:sp>
      <p:sp>
        <p:nvSpPr>
          <p:cNvPr id="86" name="Shape 86"/>
          <p:cNvSpPr/>
          <p:nvPr/>
        </p:nvSpPr>
        <p:spPr>
          <a:xfrm>
            <a:off x="1097280" y="4862322"/>
            <a:ext cx="1158240" cy="30861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B79BD9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30" b="1">
                <a:solidFill>
                  <a:srgbClr val="7658B5"/>
                </a:solidFill>
                <a:latin typeface="黑体" charset="0"/>
                <a:ea typeface="黑体" charset="0"/>
                <a:cs typeface="黑体" charset="0"/>
              </a:rPr>
              <a:t>历史查询/结果回看</a:t>
            </a:r>
            <a:endParaRPr lang="zh-CN" sz="930" b="1">
              <a:solidFill>
                <a:srgbClr val="7658B5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87" name="Shape 87"/>
          <p:cNvSpPr/>
          <p:nvPr/>
        </p:nvSpPr>
        <p:spPr>
          <a:xfrm>
            <a:off x="4267200" y="4862322"/>
            <a:ext cx="1524000" cy="30861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B79BD9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30" b="1">
                <a:solidFill>
                  <a:srgbClr val="7658B5"/>
                </a:solidFill>
                <a:latin typeface="黑体" charset="0"/>
                <a:ea typeface="黑体" charset="0"/>
              </a:rPr>
              <a:t>后端查询接口</a:t>
            </a:r>
            <a:endParaRPr lang="zh-CN" sz="930" b="1">
              <a:solidFill>
                <a:srgbClr val="7658B5"/>
              </a:solidFill>
              <a:latin typeface="黑体" charset="0"/>
              <a:ea typeface="黑体" charset="0"/>
            </a:endParaRPr>
          </a:p>
        </p:txBody>
      </p:sp>
      <p:sp>
        <p:nvSpPr>
          <p:cNvPr id="88" name="Shape 88"/>
          <p:cNvSpPr/>
          <p:nvPr/>
        </p:nvSpPr>
        <p:spPr>
          <a:xfrm>
            <a:off x="9351264" y="4862322"/>
            <a:ext cx="1584960" cy="308610"/>
          </a:xfrm>
          <a:prstGeom prst="roundRect">
            <a:avLst/>
          </a:prstGeom>
          <a:solidFill>
            <a:srgbClr val="FFFFFF"/>
          </a:solidFill>
          <a:ln w="9500">
            <a:solidFill>
              <a:srgbClr val="B79BD9"/>
            </a:solidFill>
          </a:ln>
        </p:spPr>
        <p:txBody>
          <a:bodyPr wrap="square" lIns="45720" tIns="22860" rIns="45720" bIns="22860" anchor="ctr"/>
          <a:lstStyle/>
          <a:p>
            <a:pPr algn="ctr"/>
            <a:r>
              <a:rPr lang="zh-CN" sz="930" b="1">
                <a:solidFill>
                  <a:srgbClr val="7658B5"/>
                </a:solidFill>
                <a:latin typeface="黑体" charset="0"/>
                <a:ea typeface="黑体" charset="0"/>
              </a:rPr>
              <a:t>数据库与结果文件</a:t>
            </a:r>
            <a:endParaRPr lang="zh-CN" sz="930" b="1">
              <a:solidFill>
                <a:srgbClr val="7658B5"/>
              </a:solidFill>
              <a:latin typeface="黑体" charset="0"/>
              <a:ea typeface="黑体" charset="0"/>
            </a:endParaRPr>
          </a:p>
        </p:txBody>
      </p:sp>
      <p:sp>
        <p:nvSpPr>
          <p:cNvPr id="89" name="Line 89"/>
          <p:cNvSpPr/>
          <p:nvPr/>
        </p:nvSpPr>
        <p:spPr>
          <a:xfrm>
            <a:off x="2255520" y="5020056"/>
            <a:ext cx="2011679" cy="685"/>
          </a:xfrm>
          <a:prstGeom prst="line">
            <a:avLst/>
          </a:prstGeom>
          <a:ln w="10000">
            <a:solidFill>
              <a:srgbClr val="8B6CC8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90" name="Line 90"/>
          <p:cNvSpPr/>
          <p:nvPr/>
        </p:nvSpPr>
        <p:spPr>
          <a:xfrm>
            <a:off x="5791200" y="5020056"/>
            <a:ext cx="3560064" cy="685"/>
          </a:xfrm>
          <a:prstGeom prst="line">
            <a:avLst/>
          </a:prstGeom>
          <a:ln w="10000">
            <a:solidFill>
              <a:srgbClr val="8B6CC8"/>
            </a:solidFill>
            <a:prstDash val="dash"/>
            <a:tailEnd type="triangle"/>
          </a:ln>
        </p:spPr>
        <p:txBody>
          <a:bodyPr/>
          <a:lstStyle/>
          <a:p/>
        </p:txBody>
      </p:sp>
      <p:sp>
        <p:nvSpPr>
          <p:cNvPr id="91" name="Shape 91"/>
          <p:cNvSpPr/>
          <p:nvPr/>
        </p:nvSpPr>
        <p:spPr>
          <a:xfrm>
            <a:off x="182880" y="5335270"/>
            <a:ext cx="12070080" cy="1097280"/>
          </a:xfrm>
          <a:prstGeom prst="roundRect">
            <a:avLst/>
          </a:prstGeom>
          <a:solidFill>
            <a:srgbClr val="F7F7F7"/>
          </a:solidFill>
          <a:ln w="9000">
            <a:solidFill>
              <a:srgbClr val="A6A6A6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92" name="Text 92"/>
          <p:cNvSpPr/>
          <p:nvPr/>
        </p:nvSpPr>
        <p:spPr>
          <a:xfrm>
            <a:off x="5364480" y="5403850"/>
            <a:ext cx="1463040" cy="274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zh-CN" sz="1400" b="1">
                <a:solidFill>
                  <a:srgbClr val="666666"/>
                </a:solidFill>
                <a:latin typeface="Aptos"/>
                <a:ea typeface="微软雅黑"/>
              </a:rPr>
              <a:t>数据与文件存储层</a:t>
            </a:r>
            <a:endParaRPr lang="zh-CN" sz="1400" b="1">
              <a:solidFill>
                <a:srgbClr val="666666"/>
              </a:solidFill>
              <a:latin typeface="Aptos"/>
              <a:ea typeface="微软雅黑"/>
            </a:endParaRPr>
          </a:p>
        </p:txBody>
      </p:sp>
      <p:sp>
        <p:nvSpPr>
          <p:cNvPr id="93" name="Shape 93"/>
          <p:cNvSpPr/>
          <p:nvPr/>
        </p:nvSpPr>
        <p:spPr>
          <a:xfrm>
            <a:off x="950976" y="5657596"/>
            <a:ext cx="2499360" cy="67208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B1B1B1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94" name="Text 94"/>
          <p:cNvSpPr/>
          <p:nvPr/>
        </p:nvSpPr>
        <p:spPr>
          <a:xfrm>
            <a:off x="1133856" y="5801614"/>
            <a:ext cx="48768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600" b="1"/>
          </a:p>
        </p:txBody>
      </p:sp>
      <p:sp>
        <p:nvSpPr>
          <p:cNvPr id="95" name="Text 95"/>
          <p:cNvSpPr/>
          <p:nvPr/>
        </p:nvSpPr>
        <p:spPr>
          <a:xfrm>
            <a:off x="1731264" y="5801614"/>
            <a:ext cx="152400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微软雅黑"/>
              </a:rPr>
              <a:t>SQLite 数据库：</a:t>
            </a:r>
            <a:endParaRPr lang="zh-CN" sz="980" b="1"/>
          </a:p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微软雅黑"/>
              </a:rPr>
              <a:t>users、recognition_records</a:t>
            </a:r>
            <a:endParaRPr lang="zh-CN" sz="980" b="1"/>
          </a:p>
        </p:txBody>
      </p:sp>
      <p:sp>
        <p:nvSpPr>
          <p:cNvPr id="96" name="Shape 96"/>
          <p:cNvSpPr/>
          <p:nvPr/>
        </p:nvSpPr>
        <p:spPr>
          <a:xfrm>
            <a:off x="3694176" y="5657596"/>
            <a:ext cx="2499360" cy="67208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B1B1B1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97" name="Text 97"/>
          <p:cNvSpPr/>
          <p:nvPr/>
        </p:nvSpPr>
        <p:spPr>
          <a:xfrm>
            <a:off x="3877056" y="5801614"/>
            <a:ext cx="48768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600" b="1"/>
          </a:p>
        </p:txBody>
      </p:sp>
      <p:sp>
        <p:nvSpPr>
          <p:cNvPr id="98" name="Text 98"/>
          <p:cNvSpPr/>
          <p:nvPr/>
        </p:nvSpPr>
        <p:spPr>
          <a:xfrm>
            <a:off x="4474464" y="5801614"/>
            <a:ext cx="152400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微软雅黑"/>
              </a:rPr>
              <a:t>上传文件目录：</a:t>
            </a:r>
            <a:endParaRPr lang="zh-CN" sz="980" b="1"/>
          </a:p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微软雅黑"/>
              </a:rPr>
              <a:t>backend/uploads</a:t>
            </a:r>
            <a:endParaRPr lang="zh-CN" sz="980" b="1"/>
          </a:p>
        </p:txBody>
      </p:sp>
      <p:sp>
        <p:nvSpPr>
          <p:cNvPr id="99" name="Shape 99"/>
          <p:cNvSpPr/>
          <p:nvPr/>
        </p:nvSpPr>
        <p:spPr>
          <a:xfrm>
            <a:off x="6437376" y="5657596"/>
            <a:ext cx="2499360" cy="67208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B1B1B1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100" name="Text 100"/>
          <p:cNvSpPr/>
          <p:nvPr/>
        </p:nvSpPr>
        <p:spPr>
          <a:xfrm>
            <a:off x="6620256" y="5801614"/>
            <a:ext cx="48768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600" b="1"/>
          </a:p>
        </p:txBody>
      </p:sp>
      <p:sp>
        <p:nvSpPr>
          <p:cNvPr id="101" name="Text 101"/>
          <p:cNvSpPr/>
          <p:nvPr/>
        </p:nvSpPr>
        <p:spPr>
          <a:xfrm>
            <a:off x="7217664" y="5801614"/>
            <a:ext cx="152400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微软雅黑"/>
              </a:rPr>
              <a:t>识别结果目录：</a:t>
            </a:r>
            <a:endParaRPr lang="zh-CN" sz="980" b="1"/>
          </a:p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微软雅黑"/>
              </a:rPr>
              <a:t>backend/results</a:t>
            </a:r>
            <a:endParaRPr lang="zh-CN" sz="980" b="1"/>
          </a:p>
        </p:txBody>
      </p:sp>
      <p:sp>
        <p:nvSpPr>
          <p:cNvPr id="102" name="Shape 102"/>
          <p:cNvSpPr/>
          <p:nvPr/>
        </p:nvSpPr>
        <p:spPr>
          <a:xfrm>
            <a:off x="9180576" y="5657596"/>
            <a:ext cx="2499360" cy="67208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B1B1B1"/>
            </a:solidFill>
          </a:ln>
        </p:spPr>
        <p:txBody>
          <a:bodyPr wrap="square" lIns="45720" tIns="22860" rIns="45720" bIns="22860" anchor="ctr"/>
          <a:lstStyle/>
          <a:p>
            <a:pPr algn="ctr"/>
            <a:endParaRPr lang="zh-CN" sz="1300" b="1"/>
          </a:p>
        </p:txBody>
      </p:sp>
      <p:sp>
        <p:nvSpPr>
          <p:cNvPr id="103" name="Text 103"/>
          <p:cNvSpPr/>
          <p:nvPr/>
        </p:nvSpPr>
        <p:spPr>
          <a:xfrm>
            <a:off x="9363456" y="5801614"/>
            <a:ext cx="48768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ctr"/>
            <a:endParaRPr lang="zh-CN" sz="2600" b="1"/>
          </a:p>
        </p:txBody>
      </p:sp>
      <p:sp>
        <p:nvSpPr>
          <p:cNvPr id="104" name="Text 104"/>
          <p:cNvSpPr/>
          <p:nvPr/>
        </p:nvSpPr>
        <p:spPr>
          <a:xfrm>
            <a:off x="9960864" y="5801614"/>
            <a:ext cx="1524000" cy="377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微软雅黑"/>
              </a:rPr>
              <a:t>中间预处理图像：</a:t>
            </a:r>
            <a:endParaRPr lang="zh-CN" sz="980" b="1"/>
          </a:p>
          <a:p>
            <a:pPr algn="l"/>
            <a:r>
              <a:rPr lang="zh-CN" sz="980" b="1">
                <a:solidFill>
                  <a:srgbClr val="333333"/>
                </a:solidFill>
                <a:latin typeface="Aptos"/>
                <a:ea typeface="微软雅黑"/>
              </a:rPr>
              <a:t>middle_image</a:t>
            </a:r>
            <a:endParaRPr lang="zh-CN" sz="980" b="1"/>
          </a:p>
        </p:txBody>
      </p:sp>
      <p:pic>
        <p:nvPicPr>
          <p:cNvPr id="110" name="图片 109" descr="上传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9425" y="925830"/>
            <a:ext cx="370205" cy="300990"/>
          </a:xfrm>
          <a:prstGeom prst="rect">
            <a:avLst/>
          </a:prstGeom>
        </p:spPr>
      </p:pic>
      <p:pic>
        <p:nvPicPr>
          <p:cNvPr id="111" name="图片 110" descr="历史页面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035" y="1772920"/>
            <a:ext cx="447040" cy="447040"/>
          </a:xfrm>
          <a:prstGeom prst="rect">
            <a:avLst/>
          </a:prstGeom>
        </p:spPr>
      </p:pic>
      <p:pic>
        <p:nvPicPr>
          <p:cNvPr id="112" name="图片 111" descr="用户会话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745" y="2777490"/>
            <a:ext cx="328295" cy="328295"/>
          </a:xfrm>
          <a:prstGeom prst="rect">
            <a:avLst/>
          </a:prstGeom>
        </p:spPr>
      </p:pic>
      <p:pic>
        <p:nvPicPr>
          <p:cNvPr id="113" name="图片 112" descr="实地认证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39920" y="724535"/>
            <a:ext cx="376555" cy="376555"/>
          </a:xfrm>
          <a:prstGeom prst="rect">
            <a:avLst/>
          </a:prstGeom>
        </p:spPr>
      </p:pic>
      <p:pic>
        <p:nvPicPr>
          <p:cNvPr id="114" name="图片 113" descr="上传 (1)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74210" y="1454785"/>
            <a:ext cx="323850" cy="263525"/>
          </a:xfrm>
          <a:prstGeom prst="rect">
            <a:avLst/>
          </a:prstGeom>
        </p:spPr>
      </p:pic>
      <p:pic>
        <p:nvPicPr>
          <p:cNvPr id="115" name="图片 114" descr="OCR识别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86910" y="2095500"/>
            <a:ext cx="329565" cy="329565"/>
          </a:xfrm>
          <a:prstGeom prst="rect">
            <a:avLst/>
          </a:prstGeom>
        </p:spPr>
      </p:pic>
      <p:pic>
        <p:nvPicPr>
          <p:cNvPr id="116" name="图片 115" descr="查询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74210" y="2733040"/>
            <a:ext cx="377825" cy="377825"/>
          </a:xfrm>
          <a:prstGeom prst="rect">
            <a:avLst/>
          </a:prstGeom>
        </p:spPr>
      </p:pic>
      <p:pic>
        <p:nvPicPr>
          <p:cNvPr id="117" name="图片 116" descr="文件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86910" y="3398520"/>
            <a:ext cx="397510" cy="397510"/>
          </a:xfrm>
          <a:prstGeom prst="rect">
            <a:avLst/>
          </a:prstGeom>
        </p:spPr>
      </p:pic>
      <p:pic>
        <p:nvPicPr>
          <p:cNvPr id="118" name="图片 117" descr="图像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237855" y="814705"/>
            <a:ext cx="412115" cy="412115"/>
          </a:xfrm>
          <a:prstGeom prst="rect">
            <a:avLst/>
          </a:prstGeom>
        </p:spPr>
      </p:pic>
      <p:pic>
        <p:nvPicPr>
          <p:cNvPr id="119" name="图片 118" descr="处理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237855" y="1454785"/>
            <a:ext cx="405130" cy="405130"/>
          </a:xfrm>
          <a:prstGeom prst="rect">
            <a:avLst/>
          </a:prstGeom>
        </p:spPr>
      </p:pic>
      <p:pic>
        <p:nvPicPr>
          <p:cNvPr id="120" name="图片 119" descr="图表-表格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246745" y="2145030"/>
            <a:ext cx="396240" cy="396240"/>
          </a:xfrm>
          <a:prstGeom prst="rect">
            <a:avLst/>
          </a:prstGeom>
        </p:spPr>
      </p:pic>
      <p:pic>
        <p:nvPicPr>
          <p:cNvPr id="121" name="图片 120" descr="评估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272145" y="2821305"/>
            <a:ext cx="377825" cy="377825"/>
          </a:xfrm>
          <a:prstGeom prst="rect">
            <a:avLst/>
          </a:prstGeom>
        </p:spPr>
      </p:pic>
      <p:pic>
        <p:nvPicPr>
          <p:cNvPr id="122" name="图片 121" descr="保存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256270" y="3465830"/>
            <a:ext cx="412750" cy="412750"/>
          </a:xfrm>
          <a:prstGeom prst="rect">
            <a:avLst/>
          </a:prstGeom>
        </p:spPr>
      </p:pic>
      <p:pic>
        <p:nvPicPr>
          <p:cNvPr id="123" name="图片 122" descr="大脑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484610" y="1936115"/>
            <a:ext cx="549910" cy="5499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472C4"/>
      </a:accent1>
      <a:accent2>
        <a:srgbClr val="70AD47"/>
      </a:accent2>
      <a:accent3>
        <a:srgbClr val="ED7D31"/>
      </a:accent3>
      <a:accent4>
        <a:srgbClr val="8064A2"/>
      </a:accent4>
      <a:accent5>
        <a:srgbClr val="5B9BD5"/>
      </a:accent5>
      <a:accent6>
        <a:srgbClr val="A5A5A5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WPS 演示</Application>
  <PresentationFormat/>
  <Paragraphs>111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8" baseType="lpstr">
      <vt:lpstr>Arial</vt:lpstr>
      <vt:lpstr>宋体</vt:lpstr>
      <vt:lpstr>Wingdings</vt:lpstr>
      <vt:lpstr>Aptos</vt:lpstr>
      <vt:lpstr>Helvetica Neue</vt:lpstr>
      <vt:lpstr>微软雅黑</vt:lpstr>
      <vt:lpstr>汉仪旗黑</vt:lpstr>
      <vt:lpstr>微软雅黑</vt:lpstr>
      <vt:lpstr>Calibri</vt:lpstr>
      <vt:lpstr>宋体-简</vt:lpstr>
      <vt:lpstr>宋体</vt:lpstr>
      <vt:lpstr>Arial Unicode MS</vt:lpstr>
      <vt:lpstr>Aptos</vt:lpstr>
      <vt:lpstr>微软雅黑</vt:lpstr>
      <vt:lpstr>黑体</vt:lpstr>
      <vt:lpstr>黑体-简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灿烂</cp:lastModifiedBy>
  <cp:revision>1</cp:revision>
  <dcterms:created xsi:type="dcterms:W3CDTF">2026-06-23T09:55:03Z</dcterms:created>
  <dcterms:modified xsi:type="dcterms:W3CDTF">2026-06-23T09:55:03Z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65CB26692082D1DAF6573A6A41CDEF87_42</vt:lpwstr>
  </property>
</Properties>
</file>