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679170" cy="7022465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9CD5"/>
    <a:srgbClr val="6B4B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35.svg"/><Relationship Id="rId34" Type="http://schemas.openxmlformats.org/officeDocument/2006/relationships/image" Target="../media/image34.png"/><Relationship Id="rId33" Type="http://schemas.openxmlformats.org/officeDocument/2006/relationships/image" Target="../media/image33.svg"/><Relationship Id="rId32" Type="http://schemas.openxmlformats.org/officeDocument/2006/relationships/image" Target="../media/image32.png"/><Relationship Id="rId31" Type="http://schemas.openxmlformats.org/officeDocument/2006/relationships/image" Target="../media/image31.svg"/><Relationship Id="rId30" Type="http://schemas.openxmlformats.org/officeDocument/2006/relationships/image" Target="../media/image30.png"/><Relationship Id="rId3" Type="http://schemas.openxmlformats.org/officeDocument/2006/relationships/image" Target="../media/image3.svg"/><Relationship Id="rId29" Type="http://schemas.openxmlformats.org/officeDocument/2006/relationships/image" Target="../media/image29.svg"/><Relationship Id="rId28" Type="http://schemas.openxmlformats.org/officeDocument/2006/relationships/image" Target="../media/image28.png"/><Relationship Id="rId27" Type="http://schemas.openxmlformats.org/officeDocument/2006/relationships/image" Target="../media/image27.svg"/><Relationship Id="rId26" Type="http://schemas.openxmlformats.org/officeDocument/2006/relationships/image" Target="../media/image26.png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219456" y="137160"/>
            <a:ext cx="1682496" cy="5513832"/>
          </a:xfrm>
          <a:prstGeom prst="roundRect">
            <a:avLst/>
          </a:prstGeom>
          <a:solidFill>
            <a:srgbClr val="FAFAFA"/>
          </a:solidFill>
          <a:ln w="16510">
            <a:solidFill>
              <a:srgbClr val="7B7F87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32" name="Shape 32"/>
          <p:cNvSpPr txBox="1"/>
          <p:nvPr/>
        </p:nvSpPr>
        <p:spPr>
          <a:xfrm>
            <a:off x="310896" y="1362456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33" name="Shape 33"/>
          <p:cNvSpPr txBox="1"/>
          <p:nvPr/>
        </p:nvSpPr>
        <p:spPr>
          <a:xfrm>
            <a:off x="411480" y="1435608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500"/>
          </a:p>
        </p:txBody>
      </p:sp>
      <p:sp>
        <p:nvSpPr>
          <p:cNvPr id="34" name="Shape 34"/>
          <p:cNvSpPr txBox="1"/>
          <p:nvPr/>
        </p:nvSpPr>
        <p:spPr>
          <a:xfrm>
            <a:off x="740664" y="1469009"/>
            <a:ext cx="896112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黑体" charset="0"/>
                <a:ea typeface="黑体" charset="0"/>
                <a:cs typeface="微软雅黑"/>
              </a:rPr>
              <a:t>预处理图像</a:t>
            </a:r>
            <a:endParaRPr lang="zh-CN" sz="1000" b="1">
              <a:solidFill>
                <a:srgbClr val="2B2F36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35" name="Connector 35"/>
          <p:cNvCxnSpPr/>
          <p:nvPr/>
        </p:nvCxnSpPr>
        <p:spPr>
          <a:xfrm>
            <a:off x="1051560" y="1773936"/>
            <a:ext cx="914" cy="320040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36" name="Shape 36"/>
          <p:cNvSpPr txBox="1"/>
          <p:nvPr/>
        </p:nvSpPr>
        <p:spPr>
          <a:xfrm>
            <a:off x="310896" y="2103120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37" name="Shape 37"/>
          <p:cNvSpPr txBox="1"/>
          <p:nvPr/>
        </p:nvSpPr>
        <p:spPr>
          <a:xfrm>
            <a:off x="411480" y="2176272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500"/>
          </a:p>
        </p:txBody>
      </p:sp>
      <p:sp>
        <p:nvSpPr>
          <p:cNvPr id="38" name="Shape 38"/>
          <p:cNvSpPr txBox="1"/>
          <p:nvPr/>
        </p:nvSpPr>
        <p:spPr>
          <a:xfrm>
            <a:off x="740664" y="2209673"/>
            <a:ext cx="896112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黑体" charset="0"/>
                <a:ea typeface="黑体" charset="0"/>
                <a:cs typeface="微软雅黑"/>
              </a:rPr>
              <a:t>特征提取</a:t>
            </a:r>
            <a:endParaRPr lang="zh-CN" sz="1000" b="1">
              <a:solidFill>
                <a:srgbClr val="2B2F36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39" name="Connector 39"/>
          <p:cNvCxnSpPr/>
          <p:nvPr/>
        </p:nvCxnSpPr>
        <p:spPr>
          <a:xfrm>
            <a:off x="1051560" y="2514600"/>
            <a:ext cx="914" cy="320040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40" name="Shape 40"/>
          <p:cNvSpPr txBox="1"/>
          <p:nvPr/>
        </p:nvSpPr>
        <p:spPr>
          <a:xfrm>
            <a:off x="310896" y="2843784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41" name="Shape 41"/>
          <p:cNvSpPr txBox="1"/>
          <p:nvPr/>
        </p:nvSpPr>
        <p:spPr>
          <a:xfrm>
            <a:off x="411480" y="2916936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500"/>
          </a:p>
        </p:txBody>
      </p:sp>
      <p:sp>
        <p:nvSpPr>
          <p:cNvPr id="42" name="Shape 42"/>
          <p:cNvSpPr txBox="1"/>
          <p:nvPr/>
        </p:nvSpPr>
        <p:spPr>
          <a:xfrm>
            <a:off x="740664" y="2950337"/>
            <a:ext cx="896112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黑体" charset="0"/>
                <a:ea typeface="黑体" charset="0"/>
                <a:cs typeface="微软雅黑"/>
              </a:rPr>
              <a:t>示例选择</a:t>
            </a:r>
            <a:endParaRPr lang="zh-CN" sz="1000" b="1">
              <a:solidFill>
                <a:srgbClr val="2B2F36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43" name="Connector 43"/>
          <p:cNvCxnSpPr/>
          <p:nvPr/>
        </p:nvCxnSpPr>
        <p:spPr>
          <a:xfrm>
            <a:off x="1051560" y="3255264"/>
            <a:ext cx="914" cy="320040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44" name="Shape 44"/>
          <p:cNvSpPr txBox="1"/>
          <p:nvPr/>
        </p:nvSpPr>
        <p:spPr>
          <a:xfrm>
            <a:off x="310896" y="3584448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45" name="Shape 45"/>
          <p:cNvSpPr txBox="1"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500"/>
          </a:p>
        </p:txBody>
      </p:sp>
      <p:sp>
        <p:nvSpPr>
          <p:cNvPr id="46" name="Shape 46"/>
          <p:cNvSpPr txBox="1"/>
          <p:nvPr/>
        </p:nvSpPr>
        <p:spPr>
          <a:xfrm>
            <a:off x="740664" y="3691001"/>
            <a:ext cx="896112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黑体" charset="0"/>
                <a:ea typeface="黑体" charset="0"/>
                <a:cs typeface="微软雅黑"/>
              </a:rPr>
              <a:t>提示构造</a:t>
            </a:r>
            <a:endParaRPr lang="zh-CN" sz="1000" b="1">
              <a:solidFill>
                <a:srgbClr val="2B2F36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47" name="Connector 47"/>
          <p:cNvCxnSpPr/>
          <p:nvPr/>
        </p:nvCxnSpPr>
        <p:spPr>
          <a:xfrm>
            <a:off x="1051560" y="3995928"/>
            <a:ext cx="914" cy="320040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48" name="Shape 48"/>
          <p:cNvSpPr txBox="1"/>
          <p:nvPr/>
        </p:nvSpPr>
        <p:spPr>
          <a:xfrm>
            <a:off x="310896" y="4325112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49" name="Shape 49"/>
          <p:cNvSpPr txBox="1"/>
          <p:nvPr/>
        </p:nvSpPr>
        <p:spPr>
          <a:xfrm>
            <a:off x="411480" y="4398264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500"/>
          </a:p>
        </p:txBody>
      </p:sp>
      <p:sp>
        <p:nvSpPr>
          <p:cNvPr id="50" name="Shape 50"/>
          <p:cNvSpPr txBox="1"/>
          <p:nvPr/>
        </p:nvSpPr>
        <p:spPr>
          <a:xfrm>
            <a:off x="740664" y="4431665"/>
            <a:ext cx="896112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黑体" charset="0"/>
                <a:ea typeface="黑体" charset="0"/>
                <a:cs typeface="微软雅黑"/>
              </a:rPr>
              <a:t>结构识别</a:t>
            </a:r>
            <a:endParaRPr lang="zh-CN" sz="1000" b="1">
              <a:solidFill>
                <a:srgbClr val="2B2F36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51" name="Connector 51"/>
          <p:cNvCxnSpPr/>
          <p:nvPr/>
        </p:nvCxnSpPr>
        <p:spPr>
          <a:xfrm>
            <a:off x="1051560" y="4736592"/>
            <a:ext cx="914" cy="320040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52" name="Shape 52"/>
          <p:cNvSpPr txBox="1"/>
          <p:nvPr/>
        </p:nvSpPr>
        <p:spPr>
          <a:xfrm>
            <a:off x="310896" y="5065776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53" name="Shape 53"/>
          <p:cNvSpPr txBox="1"/>
          <p:nvPr/>
        </p:nvSpPr>
        <p:spPr>
          <a:xfrm>
            <a:off x="411480" y="5138928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500"/>
          </a:p>
        </p:txBody>
      </p:sp>
      <p:sp>
        <p:nvSpPr>
          <p:cNvPr id="54" name="Shape 54"/>
          <p:cNvSpPr txBox="1"/>
          <p:nvPr/>
        </p:nvSpPr>
        <p:spPr>
          <a:xfrm>
            <a:off x="823214" y="5182489"/>
            <a:ext cx="896112" cy="1892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黑体" charset="0"/>
                <a:ea typeface="黑体" charset="0"/>
                <a:cs typeface="微软雅黑"/>
              </a:rPr>
              <a:t>结构化输出</a:t>
            </a:r>
            <a:endParaRPr lang="zh-CN" sz="1000" b="1">
              <a:solidFill>
                <a:srgbClr val="2B2F36"/>
              </a:solidFill>
              <a:latin typeface="黑体" charset="0"/>
              <a:ea typeface="黑体" charset="0"/>
              <a:cs typeface="微软雅黑"/>
            </a:endParaRPr>
          </a:p>
        </p:txBody>
      </p:sp>
      <p:cxnSp>
        <p:nvCxnSpPr>
          <p:cNvPr id="55" name="Connector 55"/>
          <p:cNvCxnSpPr/>
          <p:nvPr/>
        </p:nvCxnSpPr>
        <p:spPr>
          <a:xfrm>
            <a:off x="1901952" y="2734056"/>
            <a:ext cx="301752" cy="914"/>
          </a:xfrm>
          <a:prstGeom prst="straightConnector1">
            <a:avLst/>
          </a:prstGeom>
          <a:ln w="25400" cap="sq">
            <a:solidFill>
              <a:srgbClr val="4B5563"/>
            </a:solidFill>
            <a:tailEnd type="triangle"/>
          </a:ln>
        </p:spPr>
      </p:cxnSp>
      <p:sp>
        <p:nvSpPr>
          <p:cNvPr id="58" name="Shape 58"/>
          <p:cNvSpPr txBox="1"/>
          <p:nvPr/>
        </p:nvSpPr>
        <p:spPr>
          <a:xfrm>
            <a:off x="2216150" y="107950"/>
            <a:ext cx="5405120" cy="5552440"/>
          </a:xfrm>
          <a:prstGeom prst="roundRect">
            <a:avLst>
              <a:gd name="adj" fmla="val 5592"/>
            </a:avLst>
          </a:prstGeom>
          <a:solidFill>
            <a:srgbClr val="F4F9FF"/>
          </a:solidFill>
          <a:ln w="15875">
            <a:solidFill>
              <a:srgbClr val="87B5F3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000"/>
          </a:p>
        </p:txBody>
      </p:sp>
      <p:sp>
        <p:nvSpPr>
          <p:cNvPr id="59" name="Shape 59"/>
          <p:cNvSpPr txBox="1"/>
          <p:nvPr/>
        </p:nvSpPr>
        <p:spPr>
          <a:xfrm>
            <a:off x="3346704" y="246888"/>
            <a:ext cx="3127248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60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1 示例感知与上下文构建</a:t>
            </a:r>
            <a:endParaRPr lang="zh-CN" sz="1600"/>
          </a:p>
        </p:txBody>
      </p:sp>
      <p:sp>
        <p:nvSpPr>
          <p:cNvPr id="60" name="Shape 60"/>
          <p:cNvSpPr txBox="1"/>
          <p:nvPr/>
        </p:nvSpPr>
        <p:spPr>
          <a:xfrm>
            <a:off x="2359025" y="563245"/>
            <a:ext cx="5120640" cy="3075940"/>
          </a:xfrm>
          <a:prstGeom prst="roundRect">
            <a:avLst>
              <a:gd name="adj" fmla="val 9180"/>
            </a:avLst>
          </a:prstGeom>
          <a:solidFill>
            <a:srgbClr val="FBFDFF"/>
          </a:solidFill>
          <a:ln w="12700">
            <a:solidFill>
              <a:srgbClr val="2764BD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000"/>
          </a:p>
        </p:txBody>
      </p:sp>
      <p:sp>
        <p:nvSpPr>
          <p:cNvPr id="61" name="Shape 61"/>
          <p:cNvSpPr txBox="1"/>
          <p:nvPr/>
        </p:nvSpPr>
        <p:spPr>
          <a:xfrm>
            <a:off x="3758184" y="694944"/>
            <a:ext cx="2286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38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1.1 表格视觉特征提取</a:t>
            </a:r>
            <a:endParaRPr lang="zh-CN" sz="1380"/>
          </a:p>
        </p:txBody>
      </p:sp>
      <p:sp>
        <p:nvSpPr>
          <p:cNvPr id="91" name="Shape 91"/>
          <p:cNvSpPr txBox="1"/>
          <p:nvPr/>
        </p:nvSpPr>
        <p:spPr>
          <a:xfrm>
            <a:off x="2752344" y="1874647"/>
            <a:ext cx="78638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4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输入表格图像</a:t>
            </a:r>
            <a:endParaRPr lang="zh-CN" sz="840"/>
          </a:p>
        </p:txBody>
      </p:sp>
      <p:cxnSp>
        <p:nvCxnSpPr>
          <p:cNvPr id="92" name="Connector 92"/>
          <p:cNvCxnSpPr/>
          <p:nvPr/>
        </p:nvCxnSpPr>
        <p:spPr>
          <a:xfrm>
            <a:off x="3913632" y="1444752"/>
            <a:ext cx="338328" cy="914"/>
          </a:xfrm>
          <a:prstGeom prst="straightConnector1">
            <a:avLst/>
          </a:prstGeom>
          <a:ln w="22860" cap="sq">
            <a:solidFill>
              <a:srgbClr val="111827"/>
            </a:solidFill>
            <a:tailEnd type="triangle"/>
          </a:ln>
        </p:spPr>
      </p:cxnSp>
      <p:sp>
        <p:nvSpPr>
          <p:cNvPr id="93" name="Shape 93"/>
          <p:cNvSpPr txBox="1"/>
          <p:nvPr/>
        </p:nvSpPr>
        <p:spPr>
          <a:xfrm>
            <a:off x="4297680" y="1051560"/>
            <a:ext cx="1124712" cy="868680"/>
          </a:xfrm>
          <a:prstGeom prst="parallelogram">
            <a:avLst/>
          </a:prstGeom>
          <a:solidFill>
            <a:srgbClr val="EAF3FF"/>
          </a:solidFill>
          <a:ln w="15240">
            <a:solidFill>
              <a:srgbClr val="2764B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视觉编码器</a:t>
            </a:r>
            <a:endParaRPr lang="zh-CN" sz="900"/>
          </a:p>
          <a:p>
            <a:pPr algn="ctr"/>
            <a:r>
              <a:rPr lang="zh-CN" sz="90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(特征提取器)</a:t>
            </a:r>
            <a:endParaRPr lang="zh-CN" sz="900"/>
          </a:p>
        </p:txBody>
      </p:sp>
      <p:sp>
        <p:nvSpPr>
          <p:cNvPr id="94" name="Shape 94"/>
          <p:cNvSpPr txBox="1"/>
          <p:nvPr/>
        </p:nvSpPr>
        <p:spPr>
          <a:xfrm>
            <a:off x="4453128" y="1280160"/>
            <a:ext cx="2286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900"/>
          </a:p>
        </p:txBody>
      </p:sp>
      <p:cxnSp>
        <p:nvCxnSpPr>
          <p:cNvPr id="95" name="Connector 95"/>
          <p:cNvCxnSpPr/>
          <p:nvPr/>
        </p:nvCxnSpPr>
        <p:spPr>
          <a:xfrm>
            <a:off x="5422392" y="1444752"/>
            <a:ext cx="402336" cy="914"/>
          </a:xfrm>
          <a:prstGeom prst="straightConnector1">
            <a:avLst/>
          </a:prstGeom>
          <a:ln w="22860" cap="sq">
            <a:solidFill>
              <a:srgbClr val="111827"/>
            </a:solidFill>
            <a:tailEnd type="triangle"/>
          </a:ln>
        </p:spPr>
      </p:cxnSp>
      <p:sp>
        <p:nvSpPr>
          <p:cNvPr id="96" name="Shape 96"/>
          <p:cNvSpPr txBox="1"/>
          <p:nvPr/>
        </p:nvSpPr>
        <p:spPr>
          <a:xfrm>
            <a:off x="5961888" y="1380744"/>
            <a:ext cx="1307592" cy="1828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7B5F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97" name="Shape 97"/>
          <p:cNvSpPr txBox="1"/>
          <p:nvPr/>
        </p:nvSpPr>
        <p:spPr>
          <a:xfrm>
            <a:off x="5998464" y="1408176"/>
            <a:ext cx="128016" cy="118872"/>
          </a:xfrm>
          <a:prstGeom prst="rect">
            <a:avLst/>
          </a:prstGeom>
          <a:solidFill>
            <a:srgbClr val="2B66B1"/>
          </a:solidFill>
          <a:ln w="3810">
            <a:solidFill>
              <a:srgbClr val="2B66B1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98" name="Shape 98"/>
          <p:cNvSpPr txBox="1"/>
          <p:nvPr/>
        </p:nvSpPr>
        <p:spPr>
          <a:xfrm>
            <a:off x="6163056" y="1408176"/>
            <a:ext cx="128016" cy="118872"/>
          </a:xfrm>
          <a:prstGeom prst="rect">
            <a:avLst/>
          </a:prstGeom>
          <a:solidFill>
            <a:srgbClr val="2B66B1"/>
          </a:solidFill>
          <a:ln w="3810">
            <a:solidFill>
              <a:srgbClr val="2B66B1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99" name="Shape 99"/>
          <p:cNvSpPr txBox="1"/>
          <p:nvPr/>
        </p:nvSpPr>
        <p:spPr>
          <a:xfrm>
            <a:off x="6327648" y="1408176"/>
            <a:ext cx="128016" cy="118872"/>
          </a:xfrm>
          <a:prstGeom prst="rect">
            <a:avLst/>
          </a:prstGeom>
          <a:solidFill>
            <a:srgbClr val="2B66B1"/>
          </a:solidFill>
          <a:ln w="3810">
            <a:solidFill>
              <a:srgbClr val="2B66B1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0" name="Shape 100"/>
          <p:cNvSpPr txBox="1"/>
          <p:nvPr/>
        </p:nvSpPr>
        <p:spPr>
          <a:xfrm>
            <a:off x="6492240" y="1408176"/>
            <a:ext cx="128016" cy="118872"/>
          </a:xfrm>
          <a:prstGeom prst="rect">
            <a:avLst/>
          </a:prstGeom>
          <a:solidFill>
            <a:srgbClr val="79A7E0"/>
          </a:solidFill>
          <a:ln w="3810">
            <a:solidFill>
              <a:srgbClr val="79A7E0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1" name="Shape 101"/>
          <p:cNvSpPr txBox="1"/>
          <p:nvPr/>
        </p:nvSpPr>
        <p:spPr>
          <a:xfrm>
            <a:off x="6656832" y="1408176"/>
            <a:ext cx="128016" cy="118872"/>
          </a:xfrm>
          <a:prstGeom prst="rect">
            <a:avLst/>
          </a:prstGeom>
          <a:solidFill>
            <a:srgbClr val="B6D0F3"/>
          </a:solidFill>
          <a:ln w="3810">
            <a:solidFill>
              <a:srgbClr val="B6D0F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2" name="Shape 102"/>
          <p:cNvSpPr txBox="1"/>
          <p:nvPr/>
        </p:nvSpPr>
        <p:spPr>
          <a:xfrm>
            <a:off x="6821424" y="1408176"/>
            <a:ext cx="128016" cy="118872"/>
          </a:xfrm>
          <a:prstGeom prst="rect">
            <a:avLst/>
          </a:prstGeom>
          <a:solidFill>
            <a:srgbClr val="79A7E0"/>
          </a:solidFill>
          <a:ln w="3810">
            <a:solidFill>
              <a:srgbClr val="79A7E0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3" name="Shape 103"/>
          <p:cNvSpPr txBox="1"/>
          <p:nvPr/>
        </p:nvSpPr>
        <p:spPr>
          <a:xfrm>
            <a:off x="6911213" y="1380744"/>
            <a:ext cx="201168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...</a:t>
            </a:r>
            <a:endParaRPr lang="zh-CN" sz="1000"/>
          </a:p>
        </p:txBody>
      </p:sp>
      <p:sp>
        <p:nvSpPr>
          <p:cNvPr id="104" name="Shape 104"/>
          <p:cNvSpPr txBox="1"/>
          <p:nvPr/>
        </p:nvSpPr>
        <p:spPr>
          <a:xfrm>
            <a:off x="7077456" y="1408176"/>
            <a:ext cx="128016" cy="118872"/>
          </a:xfrm>
          <a:prstGeom prst="rect">
            <a:avLst/>
          </a:prstGeom>
          <a:solidFill>
            <a:srgbClr val="79A7E0"/>
          </a:solidFill>
          <a:ln w="3810">
            <a:solidFill>
              <a:srgbClr val="79A7E0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5" name="Shape 105"/>
          <p:cNvSpPr txBox="1"/>
          <p:nvPr/>
        </p:nvSpPr>
        <p:spPr>
          <a:xfrm>
            <a:off x="6199632" y="1678559"/>
            <a:ext cx="868680" cy="18161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5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特征向量</a:t>
            </a:r>
            <a:endParaRPr lang="zh-CN" sz="950"/>
          </a:p>
        </p:txBody>
      </p:sp>
      <p:sp>
        <p:nvSpPr>
          <p:cNvPr id="106" name="Shape 106"/>
          <p:cNvSpPr txBox="1"/>
          <p:nvPr/>
        </p:nvSpPr>
        <p:spPr>
          <a:xfrm>
            <a:off x="2459736" y="2295144"/>
            <a:ext cx="4910328" cy="1179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84BC"/>
            </a:solidFill>
            <a:prstDash val="dash"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7" name="Shape 107"/>
          <p:cNvSpPr txBox="1"/>
          <p:nvPr/>
        </p:nvSpPr>
        <p:spPr>
          <a:xfrm>
            <a:off x="4306824" y="2404872"/>
            <a:ext cx="1152144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05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多维布局特征</a:t>
            </a:r>
            <a:endParaRPr lang="zh-CN" sz="1050"/>
          </a:p>
        </p:txBody>
      </p:sp>
      <p:sp>
        <p:nvSpPr>
          <p:cNvPr id="108" name="Shape 108"/>
          <p:cNvSpPr txBox="1"/>
          <p:nvPr/>
        </p:nvSpPr>
        <p:spPr>
          <a:xfrm>
            <a:off x="2825496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2500"/>
          </a:p>
        </p:txBody>
      </p:sp>
      <p:sp>
        <p:nvSpPr>
          <p:cNvPr id="109" name="Shape 109"/>
          <p:cNvSpPr txBox="1"/>
          <p:nvPr/>
        </p:nvSpPr>
        <p:spPr>
          <a:xfrm>
            <a:off x="2752344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线条结构</a:t>
            </a:r>
            <a:endParaRPr lang="zh-CN" sz="880"/>
          </a:p>
        </p:txBody>
      </p:sp>
      <p:sp>
        <p:nvSpPr>
          <p:cNvPr id="110" name="Shape 110"/>
          <p:cNvSpPr txBox="1"/>
          <p:nvPr/>
        </p:nvSpPr>
        <p:spPr>
          <a:xfrm>
            <a:off x="2724912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(密度/连续性)</a:t>
            </a:r>
            <a:endParaRPr lang="zh-CN" sz="680"/>
          </a:p>
        </p:txBody>
      </p:sp>
      <p:sp>
        <p:nvSpPr>
          <p:cNvPr id="111" name="Shape 111"/>
          <p:cNvSpPr txBox="1"/>
          <p:nvPr/>
        </p:nvSpPr>
        <p:spPr>
          <a:xfrm>
            <a:off x="3739896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2500"/>
          </a:p>
        </p:txBody>
      </p:sp>
      <p:sp>
        <p:nvSpPr>
          <p:cNvPr id="112" name="Shape 112"/>
          <p:cNvSpPr txBox="1"/>
          <p:nvPr/>
        </p:nvSpPr>
        <p:spPr>
          <a:xfrm>
            <a:off x="3666744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行列分布</a:t>
            </a:r>
            <a:endParaRPr lang="zh-CN" sz="880"/>
          </a:p>
        </p:txBody>
      </p:sp>
      <p:sp>
        <p:nvSpPr>
          <p:cNvPr id="113" name="Shape 113"/>
          <p:cNvSpPr txBox="1"/>
          <p:nvPr/>
        </p:nvSpPr>
        <p:spPr>
          <a:xfrm>
            <a:off x="3639312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(行高/列宽)</a:t>
            </a:r>
            <a:endParaRPr lang="zh-CN" sz="680"/>
          </a:p>
        </p:txBody>
      </p:sp>
      <p:sp>
        <p:nvSpPr>
          <p:cNvPr id="114" name="Shape 114"/>
          <p:cNvSpPr txBox="1"/>
          <p:nvPr/>
        </p:nvSpPr>
        <p:spPr>
          <a:xfrm>
            <a:off x="4700016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2500"/>
          </a:p>
        </p:txBody>
      </p:sp>
      <p:sp>
        <p:nvSpPr>
          <p:cNvPr id="115" name="Shape 115"/>
          <p:cNvSpPr txBox="1"/>
          <p:nvPr/>
        </p:nvSpPr>
        <p:spPr>
          <a:xfrm>
            <a:off x="4626864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表头层级</a:t>
            </a:r>
            <a:endParaRPr lang="zh-CN" sz="880"/>
          </a:p>
        </p:txBody>
      </p:sp>
      <p:sp>
        <p:nvSpPr>
          <p:cNvPr id="116" name="Shape 116"/>
          <p:cNvSpPr txBox="1"/>
          <p:nvPr/>
        </p:nvSpPr>
        <p:spPr>
          <a:xfrm>
            <a:off x="4599432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(层数/跨度)</a:t>
            </a:r>
            <a:endParaRPr lang="zh-CN" sz="680"/>
          </a:p>
        </p:txBody>
      </p:sp>
      <p:sp>
        <p:nvSpPr>
          <p:cNvPr id="117" name="Shape 117"/>
          <p:cNvSpPr txBox="1"/>
          <p:nvPr/>
        </p:nvSpPr>
        <p:spPr>
          <a:xfrm>
            <a:off x="5669280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2500"/>
          </a:p>
        </p:txBody>
      </p:sp>
      <p:sp>
        <p:nvSpPr>
          <p:cNvPr id="118" name="Shape 118"/>
          <p:cNvSpPr txBox="1"/>
          <p:nvPr/>
        </p:nvSpPr>
        <p:spPr>
          <a:xfrm>
            <a:off x="5596128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文本密度</a:t>
            </a:r>
            <a:endParaRPr lang="zh-CN" sz="880"/>
          </a:p>
        </p:txBody>
      </p:sp>
      <p:sp>
        <p:nvSpPr>
          <p:cNvPr id="119" name="Shape 119"/>
          <p:cNvSpPr txBox="1"/>
          <p:nvPr/>
        </p:nvSpPr>
        <p:spPr>
          <a:xfrm>
            <a:off x="5568696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(稀疏/紧凑)</a:t>
            </a:r>
            <a:endParaRPr lang="zh-CN" sz="680"/>
          </a:p>
        </p:txBody>
      </p:sp>
      <p:sp>
        <p:nvSpPr>
          <p:cNvPr id="120" name="Shape 120"/>
          <p:cNvSpPr txBox="1"/>
          <p:nvPr/>
        </p:nvSpPr>
        <p:spPr>
          <a:xfrm>
            <a:off x="6556248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2500"/>
          </a:p>
        </p:txBody>
      </p:sp>
      <p:sp>
        <p:nvSpPr>
          <p:cNvPr id="121" name="Shape 121"/>
          <p:cNvSpPr txBox="1"/>
          <p:nvPr/>
        </p:nvSpPr>
        <p:spPr>
          <a:xfrm>
            <a:off x="6483096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整体版式</a:t>
            </a:r>
            <a:endParaRPr lang="zh-CN" sz="880"/>
          </a:p>
        </p:txBody>
      </p:sp>
      <p:sp>
        <p:nvSpPr>
          <p:cNvPr id="122" name="Shape 122"/>
          <p:cNvSpPr txBox="1"/>
          <p:nvPr/>
        </p:nvSpPr>
        <p:spPr>
          <a:xfrm>
            <a:off x="6455664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(布局模式)</a:t>
            </a:r>
            <a:endParaRPr lang="zh-CN" sz="680"/>
          </a:p>
        </p:txBody>
      </p:sp>
      <p:sp>
        <p:nvSpPr>
          <p:cNvPr id="123" name="Shape 123"/>
          <p:cNvSpPr txBox="1"/>
          <p:nvPr/>
        </p:nvSpPr>
        <p:spPr>
          <a:xfrm>
            <a:off x="2359152" y="3803904"/>
            <a:ext cx="5120640" cy="1764792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2764B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24" name="Shape 124"/>
          <p:cNvSpPr txBox="1"/>
          <p:nvPr/>
        </p:nvSpPr>
        <p:spPr>
          <a:xfrm>
            <a:off x="3429000" y="3941064"/>
            <a:ext cx="242316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32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1.2 相似性-多样性示例选择</a:t>
            </a:r>
            <a:endParaRPr lang="zh-CN" sz="1320"/>
          </a:p>
        </p:txBody>
      </p:sp>
      <p:sp>
        <p:nvSpPr>
          <p:cNvPr id="125" name="Shape 125"/>
          <p:cNvSpPr txBox="1"/>
          <p:nvPr/>
        </p:nvSpPr>
        <p:spPr>
          <a:xfrm>
            <a:off x="2441448" y="4279392"/>
            <a:ext cx="749808" cy="1106424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87B5F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26" name="Shape 126"/>
          <p:cNvSpPr txBox="1"/>
          <p:nvPr/>
        </p:nvSpPr>
        <p:spPr>
          <a:xfrm>
            <a:off x="2514600" y="4379976"/>
            <a:ext cx="60350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4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相似度筛选</a:t>
            </a:r>
            <a:endParaRPr lang="zh-CN" sz="840"/>
          </a:p>
        </p:txBody>
      </p:sp>
      <p:sp>
        <p:nvSpPr>
          <p:cNvPr id="128" name="Shape 128"/>
          <p:cNvSpPr txBox="1"/>
          <p:nvPr/>
        </p:nvSpPr>
        <p:spPr>
          <a:xfrm>
            <a:off x="2514600" y="5056632"/>
            <a:ext cx="603504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按特征相似度</a:t>
            </a:r>
            <a:endParaRPr lang="zh-CN" sz="650"/>
          </a:p>
          <a:p>
            <a:pPr algn="ctr"/>
            <a:r>
              <a:rPr lang="zh-CN" sz="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过滤候选</a:t>
            </a:r>
            <a:endParaRPr lang="zh-CN" sz="650"/>
          </a:p>
        </p:txBody>
      </p:sp>
      <p:sp>
        <p:nvSpPr>
          <p:cNvPr id="129" name="Shape 129"/>
          <p:cNvSpPr txBox="1"/>
          <p:nvPr/>
        </p:nvSpPr>
        <p:spPr>
          <a:xfrm>
            <a:off x="3419856" y="4279392"/>
            <a:ext cx="749808" cy="1106424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87B5F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30" name="Shape 130"/>
          <p:cNvSpPr txBox="1"/>
          <p:nvPr/>
        </p:nvSpPr>
        <p:spPr>
          <a:xfrm>
            <a:off x="3493008" y="4379976"/>
            <a:ext cx="60350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4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多样性约束</a:t>
            </a:r>
            <a:endParaRPr lang="zh-CN" sz="840"/>
          </a:p>
        </p:txBody>
      </p:sp>
      <p:sp>
        <p:nvSpPr>
          <p:cNvPr id="132" name="Shape 132"/>
          <p:cNvSpPr txBox="1"/>
          <p:nvPr/>
        </p:nvSpPr>
        <p:spPr>
          <a:xfrm>
            <a:off x="3438525" y="5066030"/>
            <a:ext cx="657860" cy="247015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lang="zh-CN" sz="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最大化覆盖差异</a:t>
            </a:r>
            <a:endParaRPr lang="zh-CN" sz="650"/>
          </a:p>
          <a:p>
            <a:pPr algn="ctr"/>
            <a:r>
              <a:rPr lang="zh-CN" sz="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避免冗余</a:t>
            </a:r>
            <a:endParaRPr lang="zh-CN" sz="650"/>
          </a:p>
        </p:txBody>
      </p:sp>
      <p:sp>
        <p:nvSpPr>
          <p:cNvPr id="133" name="Shape 133"/>
          <p:cNvSpPr txBox="1"/>
          <p:nvPr/>
        </p:nvSpPr>
        <p:spPr>
          <a:xfrm>
            <a:off x="4398010" y="4279265"/>
            <a:ext cx="749935" cy="1106170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87B5F3"/>
            </a:solidFill>
          </a:ln>
        </p:spPr>
        <p:txBody>
          <a:bodyPr wrap="square" lIns="27432" tIns="18288" rIns="27432" bIns="18288" anchor="ctr">
            <a:noAutofit/>
          </a:bodyPr>
          <a:lstStyle/>
          <a:p>
            <a:pPr algn="ctr"/>
            <a:endParaRPr lang="zh-CN" sz="1000"/>
          </a:p>
        </p:txBody>
      </p:sp>
      <p:sp>
        <p:nvSpPr>
          <p:cNvPr id="134" name="Shape 134"/>
          <p:cNvSpPr txBox="1"/>
          <p:nvPr/>
        </p:nvSpPr>
        <p:spPr>
          <a:xfrm>
            <a:off x="4471416" y="4371213"/>
            <a:ext cx="603504" cy="16383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4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Top-k </a:t>
            </a:r>
            <a:endParaRPr lang="zh-CN" sz="840"/>
          </a:p>
        </p:txBody>
      </p:sp>
      <p:sp>
        <p:nvSpPr>
          <p:cNvPr id="136" name="Shape 136"/>
          <p:cNvSpPr txBox="1"/>
          <p:nvPr/>
        </p:nvSpPr>
        <p:spPr>
          <a:xfrm>
            <a:off x="4471416" y="5056632"/>
            <a:ext cx="603504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平衡相似性与多样性</a:t>
            </a:r>
            <a:endParaRPr lang="zh-CN" sz="650"/>
          </a:p>
          <a:p>
            <a:pPr algn="ctr"/>
            <a:r>
              <a:rPr lang="zh-CN" sz="6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选择 Top-k</a:t>
            </a:r>
            <a:endParaRPr lang="zh-CN" sz="650"/>
          </a:p>
        </p:txBody>
      </p:sp>
      <p:cxnSp>
        <p:nvCxnSpPr>
          <p:cNvPr id="137" name="Connector 137"/>
          <p:cNvCxnSpPr/>
          <p:nvPr/>
        </p:nvCxnSpPr>
        <p:spPr>
          <a:xfrm>
            <a:off x="3191256" y="4773168"/>
            <a:ext cx="228600" cy="914"/>
          </a:xfrm>
          <a:prstGeom prst="straightConnector1">
            <a:avLst/>
          </a:prstGeom>
          <a:ln w="20320" cap="sq">
            <a:solidFill>
              <a:srgbClr val="111827"/>
            </a:solidFill>
            <a:tailEnd type="triangle"/>
          </a:ln>
        </p:spPr>
      </p:cxnSp>
      <p:cxnSp>
        <p:nvCxnSpPr>
          <p:cNvPr id="138" name="Connector 138"/>
          <p:cNvCxnSpPr/>
          <p:nvPr/>
        </p:nvCxnSpPr>
        <p:spPr>
          <a:xfrm>
            <a:off x="4169664" y="4773168"/>
            <a:ext cx="228600" cy="914"/>
          </a:xfrm>
          <a:prstGeom prst="straightConnector1">
            <a:avLst/>
          </a:prstGeom>
          <a:ln w="20320" cap="sq">
            <a:solidFill>
              <a:srgbClr val="111827"/>
            </a:solidFill>
            <a:tailEnd type="triangle"/>
          </a:ln>
        </p:spPr>
      </p:cxnSp>
      <p:cxnSp>
        <p:nvCxnSpPr>
          <p:cNvPr id="139" name="Connector 139"/>
          <p:cNvCxnSpPr/>
          <p:nvPr/>
        </p:nvCxnSpPr>
        <p:spPr>
          <a:xfrm>
            <a:off x="5148072" y="4773168"/>
            <a:ext cx="246888" cy="914"/>
          </a:xfrm>
          <a:prstGeom prst="straightConnector1">
            <a:avLst/>
          </a:prstGeom>
          <a:ln w="20320" cap="sq">
            <a:solidFill>
              <a:srgbClr val="111827"/>
            </a:solidFill>
            <a:tailEnd type="triangle"/>
          </a:ln>
        </p:spPr>
      </p:cxnSp>
      <p:sp>
        <p:nvSpPr>
          <p:cNvPr id="140" name="Shape 140"/>
          <p:cNvSpPr txBox="1"/>
          <p:nvPr/>
        </p:nvSpPr>
        <p:spPr>
          <a:xfrm>
            <a:off x="5486400" y="4197096"/>
            <a:ext cx="1874520" cy="1271016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6484BC"/>
            </a:solidFill>
            <a:prstDash val="dash"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41" name="Shape 141"/>
          <p:cNvSpPr txBox="1"/>
          <p:nvPr/>
        </p:nvSpPr>
        <p:spPr>
          <a:xfrm>
            <a:off x="5806440" y="4288536"/>
            <a:ext cx="1234440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70" b="1">
                <a:solidFill>
                  <a:srgbClr val="2764BD"/>
                </a:solidFill>
                <a:latin typeface="微软雅黑"/>
                <a:ea typeface="微软雅黑"/>
                <a:cs typeface="微软雅黑"/>
              </a:rPr>
              <a:t>最终选择的参考示例（Top-k）</a:t>
            </a:r>
            <a:endParaRPr lang="zh-CN" sz="770"/>
          </a:p>
        </p:txBody>
      </p:sp>
      <p:cxnSp>
        <p:nvCxnSpPr>
          <p:cNvPr id="282" name="Connector 282"/>
          <p:cNvCxnSpPr/>
          <p:nvPr/>
        </p:nvCxnSpPr>
        <p:spPr>
          <a:xfrm>
            <a:off x="7631684" y="2915666"/>
            <a:ext cx="365760" cy="914"/>
          </a:xfrm>
          <a:prstGeom prst="straightConnector1">
            <a:avLst/>
          </a:prstGeom>
          <a:ln w="25400" cap="sq">
            <a:solidFill>
              <a:srgbClr val="2764BD"/>
            </a:solidFill>
            <a:tailEnd type="triangle"/>
          </a:ln>
        </p:spPr>
      </p:cxnSp>
      <p:pic>
        <p:nvPicPr>
          <p:cNvPr id="369" name="图片 3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1307465" cy="688975"/>
          </a:xfrm>
          <a:prstGeom prst="rect">
            <a:avLst/>
          </a:prstGeom>
        </p:spPr>
      </p:pic>
      <p:pic>
        <p:nvPicPr>
          <p:cNvPr id="388" name="图片 387" descr="图表-表格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055" y="5113020"/>
            <a:ext cx="281940" cy="281940"/>
          </a:xfrm>
          <a:prstGeom prst="rect">
            <a:avLst/>
          </a:prstGeom>
        </p:spPr>
      </p:pic>
      <p:pic>
        <p:nvPicPr>
          <p:cNvPr id="389" name="图片 388" descr="大脑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055" y="4363085"/>
            <a:ext cx="281940" cy="281940"/>
          </a:xfrm>
          <a:prstGeom prst="rect">
            <a:avLst/>
          </a:prstGeom>
        </p:spPr>
      </p:pic>
      <p:pic>
        <p:nvPicPr>
          <p:cNvPr id="390" name="图片 389" descr="提示词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395" y="3657600"/>
            <a:ext cx="228600" cy="228600"/>
          </a:xfrm>
          <a:prstGeom prst="rect">
            <a:avLst/>
          </a:prstGeom>
        </p:spPr>
      </p:pic>
      <p:pic>
        <p:nvPicPr>
          <p:cNvPr id="391" name="图片 390" descr="测试用例子集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930" y="2916555"/>
            <a:ext cx="256540" cy="256540"/>
          </a:xfrm>
          <a:prstGeom prst="rect">
            <a:avLst/>
          </a:prstGeom>
        </p:spPr>
      </p:pic>
      <p:pic>
        <p:nvPicPr>
          <p:cNvPr id="392" name="图片 391" descr="向量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0530" y="2164080"/>
            <a:ext cx="281940" cy="281940"/>
          </a:xfrm>
          <a:prstGeom prst="rect">
            <a:avLst/>
          </a:prstGeom>
        </p:spPr>
      </p:pic>
      <p:pic>
        <p:nvPicPr>
          <p:cNvPr id="393" name="图片 392" descr="图像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1480" y="1445260"/>
            <a:ext cx="265430" cy="265430"/>
          </a:xfrm>
          <a:prstGeom prst="rect">
            <a:avLst/>
          </a:prstGeom>
        </p:spPr>
      </p:pic>
      <p:pic>
        <p:nvPicPr>
          <p:cNvPr id="394" name="图片 3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810" y="1191895"/>
            <a:ext cx="1122680" cy="591820"/>
          </a:xfrm>
          <a:prstGeom prst="rect">
            <a:avLst/>
          </a:prstGeom>
        </p:spPr>
      </p:pic>
      <p:pic>
        <p:nvPicPr>
          <p:cNvPr id="405" name="图片 404" descr="板式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79235" y="2592070"/>
            <a:ext cx="342900" cy="342900"/>
          </a:xfrm>
          <a:prstGeom prst="rect">
            <a:avLst/>
          </a:prstGeom>
        </p:spPr>
      </p:pic>
      <p:pic>
        <p:nvPicPr>
          <p:cNvPr id="406" name="图片 405" descr="文本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05475" y="2586990"/>
            <a:ext cx="393700" cy="393700"/>
          </a:xfrm>
          <a:prstGeom prst="rect">
            <a:avLst/>
          </a:prstGeom>
        </p:spPr>
      </p:pic>
      <p:pic>
        <p:nvPicPr>
          <p:cNvPr id="407" name="图片 406" descr="设置表头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751070" y="2642870"/>
            <a:ext cx="299085" cy="299085"/>
          </a:xfrm>
          <a:prstGeom prst="rect">
            <a:avLst/>
          </a:prstGeom>
        </p:spPr>
      </p:pic>
      <p:pic>
        <p:nvPicPr>
          <p:cNvPr id="408" name="图片 407" descr="行列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13175" y="2679700"/>
            <a:ext cx="283210" cy="283210"/>
          </a:xfrm>
          <a:prstGeom prst="rect">
            <a:avLst/>
          </a:prstGeom>
        </p:spPr>
      </p:pic>
      <p:pic>
        <p:nvPicPr>
          <p:cNvPr id="409" name="图片 408" descr="组织结构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79090" y="2647315"/>
            <a:ext cx="310515" cy="310515"/>
          </a:xfrm>
          <a:prstGeom prst="rect">
            <a:avLst/>
          </a:prstGeom>
        </p:spPr>
      </p:pic>
      <p:pic>
        <p:nvPicPr>
          <p:cNvPr id="410" name="图片 409" descr="排序-相似度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63190" y="4654550"/>
            <a:ext cx="255905" cy="255905"/>
          </a:xfrm>
          <a:prstGeom prst="rect">
            <a:avLst/>
          </a:prstGeom>
        </p:spPr>
      </p:pic>
      <p:pic>
        <p:nvPicPr>
          <p:cNvPr id="411" name="图片 410" descr="43.多样性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670935" y="4663440"/>
            <a:ext cx="238125" cy="238125"/>
          </a:xfrm>
          <a:prstGeom prst="rect">
            <a:avLst/>
          </a:prstGeom>
        </p:spPr>
      </p:pic>
      <p:pic>
        <p:nvPicPr>
          <p:cNvPr id="412" name="图片 411" descr="top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99305" y="4627880"/>
            <a:ext cx="282575" cy="282575"/>
          </a:xfrm>
          <a:prstGeom prst="rect">
            <a:avLst/>
          </a:prstGeom>
        </p:spPr>
      </p:pic>
      <p:grpSp>
        <p:nvGrpSpPr>
          <p:cNvPr id="415" name="组合 414"/>
          <p:cNvGrpSpPr/>
          <p:nvPr/>
        </p:nvGrpSpPr>
        <p:grpSpPr>
          <a:xfrm>
            <a:off x="5559425" y="4535170"/>
            <a:ext cx="494030" cy="803910"/>
            <a:chOff x="8755" y="7142"/>
            <a:chExt cx="778" cy="1266"/>
          </a:xfrm>
        </p:grpSpPr>
        <p:sp>
          <p:nvSpPr>
            <p:cNvPr id="142" name="Shape 142"/>
            <p:cNvSpPr txBox="1"/>
            <p:nvPr/>
          </p:nvSpPr>
          <p:spPr>
            <a:xfrm>
              <a:off x="8755" y="7142"/>
              <a:ext cx="778" cy="1267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A7A7A7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143" name="Shape 143"/>
            <p:cNvSpPr txBox="1"/>
            <p:nvPr/>
          </p:nvSpPr>
          <p:spPr>
            <a:xfrm>
              <a:off x="8826" y="7200"/>
              <a:ext cx="606" cy="2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600" b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</a:rPr>
                <a:t>示例图像</a:t>
              </a:r>
              <a:endParaRPr lang="zh-CN" sz="600"/>
            </a:p>
          </p:txBody>
        </p:sp>
        <p:sp>
          <p:nvSpPr>
            <p:cNvPr id="159" name="Shape 159"/>
            <p:cNvSpPr txBox="1"/>
            <p:nvPr/>
          </p:nvSpPr>
          <p:spPr>
            <a:xfrm>
              <a:off x="8856" y="7834"/>
              <a:ext cx="576" cy="49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600" b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</a:rPr>
                <a:t>标准 HTML 结构</a:t>
              </a:r>
              <a:endParaRPr lang="zh-CN" sz="600"/>
            </a:p>
          </p:txBody>
        </p:sp>
        <p:sp>
          <p:nvSpPr>
            <p:cNvPr id="160" name="Shape 160"/>
            <p:cNvSpPr txBox="1"/>
            <p:nvPr/>
          </p:nvSpPr>
          <p:spPr>
            <a:xfrm>
              <a:off x="9000" y="8135"/>
              <a:ext cx="288" cy="20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900"/>
            </a:p>
          </p:txBody>
        </p:sp>
        <p:pic>
          <p:nvPicPr>
            <p:cNvPr id="413" name="图片 412" descr="图表-表格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42" y="7410"/>
              <a:ext cx="432" cy="432"/>
            </a:xfrm>
            <a:prstGeom prst="rect">
              <a:avLst/>
            </a:prstGeom>
          </p:spPr>
        </p:pic>
      </p:grpSp>
      <p:grpSp>
        <p:nvGrpSpPr>
          <p:cNvPr id="416" name="组合 415"/>
          <p:cNvGrpSpPr/>
          <p:nvPr/>
        </p:nvGrpSpPr>
        <p:grpSpPr>
          <a:xfrm>
            <a:off x="6172200" y="4535170"/>
            <a:ext cx="494030" cy="803910"/>
            <a:chOff x="8755" y="7142"/>
            <a:chExt cx="778" cy="1266"/>
          </a:xfrm>
        </p:grpSpPr>
        <p:sp>
          <p:nvSpPr>
            <p:cNvPr id="417" name="Shape 142"/>
            <p:cNvSpPr txBox="1"/>
            <p:nvPr/>
          </p:nvSpPr>
          <p:spPr>
            <a:xfrm>
              <a:off x="8755" y="7142"/>
              <a:ext cx="778" cy="1267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A7A7A7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418" name="Shape 143"/>
            <p:cNvSpPr txBox="1"/>
            <p:nvPr/>
          </p:nvSpPr>
          <p:spPr>
            <a:xfrm>
              <a:off x="8826" y="7200"/>
              <a:ext cx="606" cy="2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600" b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</a:rPr>
                <a:t>示例图像</a:t>
              </a:r>
              <a:endParaRPr lang="zh-CN" sz="600"/>
            </a:p>
          </p:txBody>
        </p:sp>
        <p:sp>
          <p:nvSpPr>
            <p:cNvPr id="419" name="Shape 159"/>
            <p:cNvSpPr txBox="1"/>
            <p:nvPr/>
          </p:nvSpPr>
          <p:spPr>
            <a:xfrm>
              <a:off x="8856" y="7834"/>
              <a:ext cx="576" cy="49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600" b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</a:rPr>
                <a:t>标准 HTML 结构</a:t>
              </a:r>
              <a:endParaRPr lang="zh-CN" sz="600"/>
            </a:p>
          </p:txBody>
        </p:sp>
        <p:sp>
          <p:nvSpPr>
            <p:cNvPr id="420" name="Shape 160"/>
            <p:cNvSpPr txBox="1"/>
            <p:nvPr/>
          </p:nvSpPr>
          <p:spPr>
            <a:xfrm>
              <a:off x="9000" y="8135"/>
              <a:ext cx="288" cy="20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900"/>
            </a:p>
          </p:txBody>
        </p:sp>
        <p:pic>
          <p:nvPicPr>
            <p:cNvPr id="421" name="图片 420" descr="图表-表格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42" y="7410"/>
              <a:ext cx="432" cy="432"/>
            </a:xfrm>
            <a:prstGeom prst="rect">
              <a:avLst/>
            </a:prstGeom>
          </p:spPr>
        </p:pic>
      </p:grpSp>
      <p:grpSp>
        <p:nvGrpSpPr>
          <p:cNvPr id="422" name="组合 421"/>
          <p:cNvGrpSpPr/>
          <p:nvPr/>
        </p:nvGrpSpPr>
        <p:grpSpPr>
          <a:xfrm>
            <a:off x="6784975" y="4535170"/>
            <a:ext cx="494030" cy="803910"/>
            <a:chOff x="8755" y="7142"/>
            <a:chExt cx="778" cy="1266"/>
          </a:xfrm>
        </p:grpSpPr>
        <p:sp>
          <p:nvSpPr>
            <p:cNvPr id="423" name="Shape 142"/>
            <p:cNvSpPr txBox="1"/>
            <p:nvPr/>
          </p:nvSpPr>
          <p:spPr>
            <a:xfrm>
              <a:off x="8755" y="7142"/>
              <a:ext cx="778" cy="1267"/>
            </a:xfrm>
            <a:prstGeom prst="roundRect">
              <a:avLst/>
            </a:prstGeom>
            <a:solidFill>
              <a:srgbClr val="FFFFFF"/>
            </a:solidFill>
            <a:ln w="8890">
              <a:solidFill>
                <a:srgbClr val="A7A7A7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424" name="Shape 143"/>
            <p:cNvSpPr txBox="1"/>
            <p:nvPr/>
          </p:nvSpPr>
          <p:spPr>
            <a:xfrm>
              <a:off x="8826" y="7200"/>
              <a:ext cx="606" cy="2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600" b="0">
                  <a:solidFill>
                    <a:srgbClr val="555555"/>
                  </a:solidFill>
                  <a:latin typeface="微软雅黑"/>
                  <a:ea typeface="微软雅黑"/>
                  <a:cs typeface="微软雅黑"/>
                </a:rPr>
                <a:t>示例图像</a:t>
              </a:r>
              <a:endParaRPr lang="zh-CN" sz="600"/>
            </a:p>
          </p:txBody>
        </p:sp>
        <p:sp>
          <p:nvSpPr>
            <p:cNvPr id="425" name="Shape 159"/>
            <p:cNvSpPr txBox="1"/>
            <p:nvPr/>
          </p:nvSpPr>
          <p:spPr>
            <a:xfrm>
              <a:off x="8856" y="7834"/>
              <a:ext cx="576" cy="49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600" b="0">
                  <a:solidFill>
                    <a:srgbClr val="333333"/>
                  </a:solidFill>
                  <a:latin typeface="微软雅黑"/>
                  <a:ea typeface="微软雅黑"/>
                  <a:cs typeface="微软雅黑"/>
                </a:rPr>
                <a:t>标准 HTML 结构</a:t>
              </a:r>
              <a:endParaRPr lang="zh-CN" sz="600"/>
            </a:p>
          </p:txBody>
        </p:sp>
        <p:sp>
          <p:nvSpPr>
            <p:cNvPr id="426" name="Shape 160"/>
            <p:cNvSpPr txBox="1"/>
            <p:nvPr/>
          </p:nvSpPr>
          <p:spPr>
            <a:xfrm>
              <a:off x="9000" y="8135"/>
              <a:ext cx="288" cy="20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900"/>
            </a:p>
          </p:txBody>
        </p:sp>
        <p:pic>
          <p:nvPicPr>
            <p:cNvPr id="427" name="图片 426" descr="图表-表格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42" y="7410"/>
              <a:ext cx="432" cy="432"/>
            </a:xfrm>
            <a:prstGeom prst="rect">
              <a:avLst/>
            </a:prstGeom>
          </p:spPr>
        </p:pic>
      </p:grpSp>
      <p:grpSp>
        <p:nvGrpSpPr>
          <p:cNvPr id="433" name="组合 432"/>
          <p:cNvGrpSpPr/>
          <p:nvPr/>
        </p:nvGrpSpPr>
        <p:grpSpPr>
          <a:xfrm>
            <a:off x="7987030" y="1915160"/>
            <a:ext cx="4316730" cy="1964690"/>
            <a:chOff x="12578" y="3016"/>
            <a:chExt cx="6798" cy="3094"/>
          </a:xfrm>
        </p:grpSpPr>
        <p:sp>
          <p:nvSpPr>
            <p:cNvPr id="283" name="Shape 283"/>
            <p:cNvSpPr txBox="1"/>
            <p:nvPr/>
          </p:nvSpPr>
          <p:spPr>
            <a:xfrm>
              <a:off x="12578" y="3016"/>
              <a:ext cx="6798" cy="3095"/>
            </a:xfrm>
            <a:prstGeom prst="roundRect">
              <a:avLst>
                <a:gd name="adj" fmla="val 7663"/>
              </a:avLst>
            </a:prstGeom>
            <a:solidFill>
              <a:srgbClr val="F1FBFF"/>
            </a:solidFill>
            <a:ln w="13970">
              <a:solidFill>
                <a:srgbClr val="5AB2EA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284" name="Shape 284"/>
            <p:cNvSpPr txBox="1"/>
            <p:nvPr/>
          </p:nvSpPr>
          <p:spPr>
            <a:xfrm>
              <a:off x="13532" y="3146"/>
              <a:ext cx="4824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1400" b="1">
                  <a:solidFill>
                    <a:srgbClr val="1E73BE"/>
                  </a:solidFill>
                  <a:latin typeface="微软雅黑"/>
                  <a:ea typeface="微软雅黑"/>
                  <a:cs typeface="微软雅黑"/>
                </a:rPr>
                <a:t>2 上下文提示构造与大模型识别</a:t>
              </a:r>
              <a:endParaRPr lang="zh-CN" sz="1400"/>
            </a:p>
          </p:txBody>
        </p:sp>
        <p:sp>
          <p:nvSpPr>
            <p:cNvPr id="285" name="Shape 285"/>
            <p:cNvSpPr txBox="1"/>
            <p:nvPr/>
          </p:nvSpPr>
          <p:spPr>
            <a:xfrm>
              <a:off x="12925" y="3578"/>
              <a:ext cx="1901" cy="619"/>
            </a:xfrm>
            <a:prstGeom prst="roundRect">
              <a:avLst/>
            </a:prstGeom>
            <a:solidFill>
              <a:srgbClr val="F8FCFF"/>
            </a:solidFill>
            <a:ln w="12700">
              <a:solidFill>
                <a:srgbClr val="66B2E6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286" name="Shape 286"/>
            <p:cNvSpPr txBox="1"/>
            <p:nvPr/>
          </p:nvSpPr>
          <p:spPr>
            <a:xfrm>
              <a:off x="13098" y="3693"/>
              <a:ext cx="389" cy="38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600"/>
            </a:p>
          </p:txBody>
        </p:sp>
        <p:sp>
          <p:nvSpPr>
            <p:cNvPr id="287" name="Shape 287"/>
            <p:cNvSpPr txBox="1"/>
            <p:nvPr/>
          </p:nvSpPr>
          <p:spPr>
            <a:xfrm>
              <a:off x="13588" y="3737"/>
              <a:ext cx="950" cy="28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950" b="1">
                  <a:solidFill>
                    <a:srgbClr val="374151"/>
                  </a:solidFill>
                  <a:latin typeface="黑体" charset="0"/>
                  <a:ea typeface="黑体" charset="0"/>
                  <a:cs typeface="微软雅黑"/>
                </a:rPr>
                <a:t>任务指令</a:t>
              </a:r>
              <a:endParaRPr lang="zh-CN" sz="950" b="1">
                <a:solidFill>
                  <a:srgbClr val="374151"/>
                </a:solidFill>
                <a:latin typeface="黑体" charset="0"/>
                <a:ea typeface="黑体" charset="0"/>
                <a:cs typeface="微软雅黑"/>
              </a:endParaRPr>
            </a:p>
          </p:txBody>
        </p:sp>
        <p:sp>
          <p:nvSpPr>
            <p:cNvPr id="288" name="Shape 288"/>
            <p:cNvSpPr txBox="1"/>
            <p:nvPr/>
          </p:nvSpPr>
          <p:spPr>
            <a:xfrm>
              <a:off x="12925" y="4370"/>
              <a:ext cx="1901" cy="619"/>
            </a:xfrm>
            <a:prstGeom prst="roundRect">
              <a:avLst/>
            </a:prstGeom>
            <a:solidFill>
              <a:srgbClr val="F8FCFF"/>
            </a:solidFill>
            <a:ln w="12700">
              <a:solidFill>
                <a:srgbClr val="66B2E6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289" name="Shape 289"/>
            <p:cNvSpPr txBox="1"/>
            <p:nvPr/>
          </p:nvSpPr>
          <p:spPr>
            <a:xfrm>
              <a:off x="13098" y="4485"/>
              <a:ext cx="389" cy="38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600"/>
            </a:p>
          </p:txBody>
        </p:sp>
        <p:sp>
          <p:nvSpPr>
            <p:cNvPr id="290" name="Shape 290"/>
            <p:cNvSpPr txBox="1"/>
            <p:nvPr/>
          </p:nvSpPr>
          <p:spPr>
            <a:xfrm>
              <a:off x="13588" y="4529"/>
              <a:ext cx="950" cy="28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950" b="1">
                  <a:solidFill>
                    <a:srgbClr val="374151"/>
                  </a:solidFill>
                  <a:latin typeface="黑体" charset="0"/>
                  <a:ea typeface="黑体" charset="0"/>
                  <a:cs typeface="黑体" charset="0"/>
                </a:rPr>
                <a:t>参考示例</a:t>
              </a:r>
              <a:endParaRPr lang="zh-CN" sz="950">
                <a:latin typeface="黑体" charset="0"/>
                <a:ea typeface="黑体" charset="0"/>
                <a:cs typeface="黑体" charset="0"/>
              </a:endParaRPr>
            </a:p>
          </p:txBody>
        </p:sp>
        <p:sp>
          <p:nvSpPr>
            <p:cNvPr id="291" name="Shape 291"/>
            <p:cNvSpPr txBox="1"/>
            <p:nvPr/>
          </p:nvSpPr>
          <p:spPr>
            <a:xfrm>
              <a:off x="12925" y="5190"/>
              <a:ext cx="1901" cy="619"/>
            </a:xfrm>
            <a:prstGeom prst="roundRect">
              <a:avLst/>
            </a:prstGeom>
            <a:solidFill>
              <a:srgbClr val="F8FCFF"/>
            </a:solidFill>
            <a:ln w="12700">
              <a:solidFill>
                <a:srgbClr val="66B2E6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292" name="Shape 292"/>
            <p:cNvSpPr txBox="1"/>
            <p:nvPr/>
          </p:nvSpPr>
          <p:spPr>
            <a:xfrm>
              <a:off x="13098" y="5306"/>
              <a:ext cx="389" cy="38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600"/>
            </a:p>
          </p:txBody>
        </p:sp>
        <p:sp>
          <p:nvSpPr>
            <p:cNvPr id="293" name="Shape 293"/>
            <p:cNvSpPr txBox="1"/>
            <p:nvPr/>
          </p:nvSpPr>
          <p:spPr>
            <a:xfrm>
              <a:off x="13588" y="5350"/>
              <a:ext cx="950" cy="28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950" b="1">
                  <a:solidFill>
                    <a:srgbClr val="374151"/>
                  </a:solidFill>
                  <a:latin typeface="黑体" charset="0"/>
                  <a:ea typeface="黑体" charset="0"/>
                  <a:cs typeface="微软雅黑"/>
                </a:rPr>
                <a:t>目标图像</a:t>
              </a:r>
              <a:endParaRPr lang="zh-CN" sz="950" b="1">
                <a:solidFill>
                  <a:srgbClr val="374151"/>
                </a:solidFill>
                <a:latin typeface="黑体" charset="0"/>
                <a:ea typeface="黑体" charset="0"/>
                <a:cs typeface="微软雅黑"/>
              </a:endParaRPr>
            </a:p>
          </p:txBody>
        </p:sp>
        <p:sp>
          <p:nvSpPr>
            <p:cNvPr id="302" name="Shape 302"/>
            <p:cNvSpPr txBox="1"/>
            <p:nvPr/>
          </p:nvSpPr>
          <p:spPr>
            <a:xfrm>
              <a:off x="15732" y="4701"/>
              <a:ext cx="331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600"/>
            </a:p>
          </p:txBody>
        </p:sp>
        <p:sp>
          <p:nvSpPr>
            <p:cNvPr id="303" name="Shape 303"/>
            <p:cNvSpPr txBox="1"/>
            <p:nvPr/>
          </p:nvSpPr>
          <p:spPr>
            <a:xfrm>
              <a:off x="16265" y="4701"/>
              <a:ext cx="331" cy="31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600"/>
            </a:p>
          </p:txBody>
        </p:sp>
        <p:sp>
          <p:nvSpPr>
            <p:cNvPr id="304" name="Shape 304"/>
            <p:cNvSpPr txBox="1"/>
            <p:nvPr/>
          </p:nvSpPr>
          <p:spPr>
            <a:xfrm>
              <a:off x="15948" y="5263"/>
              <a:ext cx="346" cy="34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600"/>
            </a:p>
          </p:txBody>
        </p:sp>
        <p:cxnSp>
          <p:nvCxnSpPr>
            <p:cNvPr id="306" name="Connector 306"/>
            <p:cNvCxnSpPr/>
            <p:nvPr/>
          </p:nvCxnSpPr>
          <p:spPr>
            <a:xfrm>
              <a:off x="15019" y="4628"/>
              <a:ext cx="446" cy="1"/>
            </a:xfrm>
            <a:prstGeom prst="straightConnector1">
              <a:avLst/>
            </a:prstGeom>
            <a:ln w="20320" cap="sq">
              <a:solidFill>
                <a:srgbClr val="111827"/>
              </a:solidFill>
              <a:tailEnd type="triangle"/>
            </a:ln>
          </p:spPr>
        </p:cxnSp>
        <p:sp>
          <p:nvSpPr>
            <p:cNvPr id="307" name="Shape 307"/>
            <p:cNvSpPr txBox="1"/>
            <p:nvPr/>
          </p:nvSpPr>
          <p:spPr>
            <a:xfrm>
              <a:off x="15721" y="4039"/>
              <a:ext cx="1085" cy="1120"/>
            </a:xfrm>
            <a:prstGeom prst="roundRect">
              <a:avLst/>
            </a:prstGeom>
            <a:solidFill>
              <a:srgbClr val="EAF7FF"/>
            </a:solidFill>
            <a:ln w="13970">
              <a:solidFill>
                <a:srgbClr val="4BA3DF"/>
              </a:solidFill>
            </a:ln>
          </p:spPr>
          <p:txBody>
            <a:bodyPr wrap="square" lIns="27432" tIns="18288" rIns="27432" bIns="18288" anchor="ctr">
              <a:no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308" name="Shape 308"/>
            <p:cNvSpPr txBox="1"/>
            <p:nvPr/>
          </p:nvSpPr>
          <p:spPr>
            <a:xfrm>
              <a:off x="15926" y="4183"/>
              <a:ext cx="662" cy="60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2100"/>
            </a:p>
          </p:txBody>
        </p:sp>
        <p:sp>
          <p:nvSpPr>
            <p:cNvPr id="309" name="Shape 309"/>
            <p:cNvSpPr txBox="1"/>
            <p:nvPr/>
          </p:nvSpPr>
          <p:spPr>
            <a:xfrm>
              <a:off x="15938" y="4788"/>
              <a:ext cx="677" cy="2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830" b="1">
                  <a:solidFill>
                    <a:srgbClr val="1E73BE"/>
                  </a:solidFill>
                  <a:latin typeface="微软雅黑"/>
                  <a:ea typeface="微软雅黑"/>
                  <a:cs typeface="微软雅黑"/>
                </a:rPr>
                <a:t>大模型</a:t>
              </a:r>
              <a:endParaRPr lang="zh-CN" sz="830"/>
            </a:p>
          </p:txBody>
        </p:sp>
        <p:cxnSp>
          <p:nvCxnSpPr>
            <p:cNvPr id="311" name="Connector 311"/>
            <p:cNvCxnSpPr/>
            <p:nvPr/>
          </p:nvCxnSpPr>
          <p:spPr>
            <a:xfrm>
              <a:off x="17051" y="4644"/>
              <a:ext cx="504" cy="1"/>
            </a:xfrm>
            <a:prstGeom prst="straightConnector1">
              <a:avLst/>
            </a:prstGeom>
            <a:ln w="20320" cap="sq">
              <a:solidFill>
                <a:srgbClr val="111827"/>
              </a:solidFill>
              <a:tailEnd type="triangle"/>
            </a:ln>
          </p:spPr>
        </p:cxnSp>
        <p:sp>
          <p:nvSpPr>
            <p:cNvPr id="312" name="Shape 312"/>
            <p:cNvSpPr txBox="1"/>
            <p:nvPr/>
          </p:nvSpPr>
          <p:spPr>
            <a:xfrm>
              <a:off x="17806" y="3880"/>
              <a:ext cx="1282" cy="14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4BA3DF"/>
              </a:solidFill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endParaRPr lang="zh-CN" sz="1000"/>
            </a:p>
          </p:txBody>
        </p:sp>
        <p:sp>
          <p:nvSpPr>
            <p:cNvPr id="313" name="Shape 313"/>
            <p:cNvSpPr txBox="1"/>
            <p:nvPr/>
          </p:nvSpPr>
          <p:spPr>
            <a:xfrm>
              <a:off x="18151" y="4000"/>
              <a:ext cx="605" cy="20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830" b="1">
                  <a:solidFill>
                    <a:srgbClr val="1F2937"/>
                  </a:solidFill>
                  <a:latin typeface="微软雅黑"/>
                  <a:ea typeface="微软雅黑"/>
                  <a:cs typeface="微软雅黑"/>
                </a:rPr>
                <a:t>规范化</a:t>
              </a:r>
              <a:endParaRPr lang="zh-CN" sz="830"/>
            </a:p>
          </p:txBody>
        </p:sp>
        <p:sp>
          <p:nvSpPr>
            <p:cNvPr id="314" name="Shape 314"/>
            <p:cNvSpPr txBox="1"/>
            <p:nvPr/>
          </p:nvSpPr>
          <p:spPr>
            <a:xfrm>
              <a:off x="17957" y="4201"/>
              <a:ext cx="985" cy="24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27432" tIns="18288" rIns="27432" bIns="18288" anchor="ctr">
              <a:spAutoFit/>
            </a:bodyPr>
            <a:lstStyle/>
            <a:p>
              <a:pPr algn="ctr"/>
              <a:r>
                <a:rPr lang="zh-CN" sz="800" b="1">
                  <a:solidFill>
                    <a:srgbClr val="1F2937"/>
                  </a:solidFill>
                  <a:latin typeface="微软雅黑"/>
                  <a:ea typeface="微软雅黑"/>
                  <a:cs typeface="微软雅黑"/>
                </a:rPr>
                <a:t>HTML结构 </a:t>
              </a:r>
              <a:endParaRPr lang="zh-CN" sz="800"/>
            </a:p>
          </p:txBody>
        </p:sp>
        <p:pic>
          <p:nvPicPr>
            <p:cNvPr id="428" name="图片 427" descr="指令模板管理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185" y="3706"/>
              <a:ext cx="347" cy="347"/>
            </a:xfrm>
            <a:prstGeom prst="rect">
              <a:avLst/>
            </a:prstGeom>
          </p:spPr>
        </p:pic>
        <p:pic>
          <p:nvPicPr>
            <p:cNvPr id="429" name="图片 428" descr="行列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3185" y="4478"/>
              <a:ext cx="330" cy="330"/>
            </a:xfrm>
            <a:prstGeom prst="rect">
              <a:avLst/>
            </a:prstGeom>
          </p:spPr>
        </p:pic>
        <p:pic>
          <p:nvPicPr>
            <p:cNvPr id="430" name="图片 429" descr="图像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213" y="5294"/>
              <a:ext cx="375" cy="375"/>
            </a:xfrm>
            <a:prstGeom prst="rect">
              <a:avLst/>
            </a:prstGeom>
          </p:spPr>
        </p:pic>
        <p:pic>
          <p:nvPicPr>
            <p:cNvPr id="431" name="图片 430" descr="大模型训练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5987" y="4200"/>
              <a:ext cx="472" cy="472"/>
            </a:xfrm>
            <a:prstGeom prst="rect">
              <a:avLst/>
            </a:prstGeom>
          </p:spPr>
        </p:pic>
        <p:pic>
          <p:nvPicPr>
            <p:cNvPr id="432" name="图片 431" descr="html (1)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8080" y="4502"/>
              <a:ext cx="676" cy="6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EditableContextFlow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764BD"/>
      </a:accent1>
      <a:accent2>
        <a:srgbClr val="2F7D46"/>
      </a:accent2>
      <a:accent3>
        <a:srgbClr val="2F8FD5"/>
      </a:accent3>
      <a:accent4>
        <a:srgbClr val="6B4BB3"/>
      </a:accent4>
      <a:accent5>
        <a:srgbClr val="87B5F3"/>
      </a:accent5>
      <a:accent6>
        <a:srgbClr val="A88BE3"/>
      </a:accent6>
      <a:hlink>
        <a:srgbClr val="0563C1"/>
      </a:hlink>
      <a:folHlink>
        <a:srgbClr val="954F72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WPS 演示</Application>
  <PresentationFormat>Custom</PresentationFormat>
  <Paragraphs>92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汉仪旗黑</vt:lpstr>
      <vt:lpstr>Arial Unicode MS</vt:lpstr>
      <vt:lpstr>微软雅黑</vt:lpstr>
      <vt:lpstr>Calibri</vt:lpstr>
      <vt:lpstr>Helvetica Neue</vt:lpstr>
      <vt:lpstr>宋体-简</vt:lpstr>
      <vt:lpstr>宋体</vt:lpstr>
      <vt:lpstr>微软雅黑</vt:lpstr>
      <vt:lpstr>黑体</vt:lpstr>
      <vt:lpstr>黑体-简</vt:lpstr>
      <vt:lpstr>EditableContextFlow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示例感知上下文构建流程可编辑复刻</dc:title>
  <dc:creator>Codex</dc:creator>
  <cp:lastModifiedBy>灿烂</cp:lastModifiedBy>
  <cp:revision>2</cp:revision>
  <dcterms:created xsi:type="dcterms:W3CDTF">2026-06-23T08:57:08Z</dcterms:created>
  <dcterms:modified xsi:type="dcterms:W3CDTF">2026-06-23T08:57:08Z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A8896FCF268790130C303A6A746BBB96_42</vt:lpwstr>
  </property>
</Properties>
</file>