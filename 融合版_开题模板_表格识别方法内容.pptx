
<file path=[Content_Types].xml><?xml version="1.0" encoding="utf-8"?>
<ns0:Types xmlns:ns0="http://schemas.openxmlformats.org/package/2006/content-types">
  <ns0:Default Extension="jpeg" ContentType="image/jpeg"/>
  <ns0:Default Extension="jpg" ContentType="image/jpeg"/>
  <ns0:Default Extension="png" ContentType="image/png"/>
  <ns0:Default Extension="rels" ContentType="application/vnd.openxmlformats-package.relationships+xml"/>
  <ns0:Default Extension="svg" ContentType="image/svg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notesMasters/notesMaster1.xml" ContentType="application/vnd.openxmlformats-officedocument.presentationml.notesMaster+xml"/>
  <ns0:Override PartName="/ppt/handoutMasters/handoutMaster1.xml" ContentType="application/vnd.openxmlformats-officedocument.presentationml.handoutMaster+xml"/>
  <ns0:Override PartName="/ppt/tags/tag1.xml" ContentType="application/vnd.openxmlformats-officedocument.presentationml.tags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13.xml" ContentType="application/vnd.openxmlformats-officedocument.presentationml.slideLayout+xml"/>
  <ns0:Override PartName="/ppt/slideLayouts/slideLayout14.xml" ContentType="application/vnd.openxmlformats-officedocument.presentationml.slideLayout+xml"/>
  <ns0:Override PartName="/ppt/slideLayouts/slideLayout15.xml" ContentType="application/vnd.openxmlformats-officedocument.presentationml.slideLayout+xml"/>
  <ns0:Override PartName="/ppt/slideLayouts/slideLayout16.xml" ContentType="application/vnd.openxmlformats-officedocument.presentationml.slideLayout+xml"/>
  <ns0:Override PartName="/ppt/slideLayouts/slideLayout17.xml" ContentType="application/vnd.openxmlformats-officedocument.presentationml.slideLayout+xml"/>
  <ns0:Override PartName="/ppt/slideLayouts/slideLayout18.xml" ContentType="application/vnd.openxmlformats-officedocument.presentationml.slideLayout+xml"/>
  <ns0:Override PartName="/ppt/slideLayouts/slideLayout19.xml" ContentType="application/vnd.openxmlformats-officedocument.presentationml.slideLayout+xml"/>
  <ns0:Override PartName="/ppt/slideLayouts/slideLayout20.xml" ContentType="application/vnd.openxmlformats-officedocument.presentationml.slideLayout+xml"/>
  <ns0:Override PartName="/ppt/slideLayouts/slideLayout21.xml" ContentType="application/vnd.openxmlformats-officedocument.presentationml.slideLayout+xml"/>
  <ns0:Override PartName="/ppt/slideLayouts/slideLayout22.xml" ContentType="application/vnd.openxmlformats-officedocument.presentationml.slideLayout+xml"/>
  <ns0:Override PartName="/ppt/slideLayouts/slideLayout23.xml" ContentType="application/vnd.openxmlformats-officedocument.presentationml.slideLayout+xml"/>
  <ns0:Override PartName="/ppt/slideLayouts/slideLayout24.xml" ContentType="application/vnd.openxmlformats-officedocument.presentationml.slideLayout+xml"/>
  <ns0:Override PartName="/ppt/theme/theme2.xml" ContentType="application/vnd.openxmlformats-officedocument.theme+xml"/>
  <ns0:Override PartName="/ppt/theme/theme3.xml" ContentType="application/vnd.openxmlformats-officedocument.theme+xml"/>
  <ns0:Override PartName="/ppt/notesSlides/notesSlide1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notesSlides/notesSlide6.xml" ContentType="application/vnd.openxmlformats-officedocument.presentationml.notesSlide+xml"/>
  <ns0:Override PartName="/ppt/notesSlides/notesSlide7.xml" ContentType="application/vnd.openxmlformats-officedocument.presentationml.notesSlide+xml"/>
  <ns0:Override PartName="/ppt/notesSlides/notesSlide8.xml" ContentType="application/vnd.openxmlformats-officedocument.presentationml.notesSlide+xml"/>
  <ns0:Override PartName="/ppt/notesSlides/notesSlide9.xml" ContentType="application/vnd.openxmlformats-officedocument.presentationml.notesSlide+xml"/>
  <ns0:Override PartName="/ppt/notesSlides/notesSlide10.xml" ContentType="application/vnd.openxmlformats-officedocument.presentationml.notesSlide+xml"/>
  <ns0:Override PartName="/ppt/notesSlides/notesSlide11.xml" ContentType="application/vnd.openxmlformats-officedocument.presentationml.notesSlide+xml"/>
  <ns0:Override PartName="/ppt/notesSlides/notesSlide12.xml" ContentType="application/vnd.openxmlformats-officedocument.presentationml.notesSlide+xml"/>
  <ns0:Override PartName="/ppt/notesSlides/notesSlide13.xml" ContentType="application/vnd.openxmlformats-officedocument.presentationml.notesSlide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docProps/custom.xml" ContentType="application/vnd.openxmlformats-officedocument.custom-properties+xml"/>
</ns0: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98" r:id="rId2"/>
    <p:sldId id="296" r:id="rId3"/>
    <p:sldId id="297" r:id="rId4"/>
    <p:sldId id="390" r:id="rId5"/>
    <p:sldId id="389" r:id="rId6"/>
    <p:sldId id="405" r:id="rId7"/>
    <p:sldId id="388" r:id="rId8"/>
    <p:sldId id="398" r:id="rId9"/>
    <p:sldId id="400" r:id="rId10"/>
    <p:sldId id="402" r:id="rId11"/>
    <p:sldId id="387" r:id="rId12"/>
    <p:sldId id="404" r:id="rId13"/>
    <p:sldId id="328" r:id="rId14"/>
  </p:sldIdLst>
  <p:sldSz cx="12192000" cy="6858000"/>
  <p:notesSz cx="6858000" cy="9144000"/>
  <p:custDataLst>
    <p:tags r:id="rId1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6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0151D9"/>
    <a:srgbClr val="FF0000"/>
    <a:srgbClr val="E46C0A"/>
    <a:srgbClr val="F79646"/>
    <a:srgbClr val="2359A8"/>
    <a:srgbClr val="E7E8EA"/>
    <a:srgbClr val="CCCCCC"/>
    <a:srgbClr val="33CC33"/>
    <a:srgbClr val="8082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81293" autoAdjust="0"/>
  </p:normalViewPr>
  <p:slideViewPr>
    <p:cSldViewPr showGuides="1">
      <p:cViewPr varScale="1">
        <p:scale>
          <a:sx n="103" d="100"/>
          <a:sy n="103" d="100"/>
        </p:scale>
        <p:origin x="1464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45" d="100"/>
          <a:sy n="45" d="100"/>
        </p:scale>
        <p:origin x="2760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0BA4300-27D4-4D8E-A669-2639E34342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D1D721-75B1-46EC-94FD-F4A5194F712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CAFED6-BBFF-47F8-BA67-8C89EF98F2F9}" type="datetimeFigureOut">
              <a:rPr lang="en-MY" smtClean="0"/>
              <a:pPr/>
              <a:t>09/09/2025</a:t>
            </a:fld>
            <a:endParaRPr lang="en-MY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145538-0CB1-41AE-B1FD-AC0B7658D09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489E9D-81CB-45B3-90AA-26D540B6277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CEAD88-E094-40E6-89E6-169A6FA4014E}" type="slidenum">
              <a:rPr lang="en-MY" smtClean="0"/>
              <a:pPr/>
              <a:t>‹#›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7758447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33130F-E62B-4865-9403-AFA4411E240C}" type="datetimeFigureOut">
              <a:rPr lang="en-MY" smtClean="0"/>
              <a:pPr/>
              <a:t>09/09/2025</a:t>
            </a:fld>
            <a:endParaRPr lang="en-MY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79D891-9604-4945-B734-849E67A857E2}" type="slidenum">
              <a:rPr lang="en-MY" smtClean="0"/>
              <a:pPr/>
              <a:t>‹#›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529452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各位老师大家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下午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好，我的开题答辩题目是“</a:t>
            </a:r>
            <a:r>
              <a:rPr lang="zh-CN" altLang="en-US" dirty="0"/>
              <a:t>结合大模型的表格识别方法与系统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 ，我的导师是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卢光明老师</a:t>
            </a:r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9D891-9604-4945-B734-849E67A857E2}" type="slidenum">
              <a:rPr lang="en-MY" smtClean="0"/>
              <a:pPr/>
              <a:t>1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0336843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下面，我将从以下四个方面具体展开介绍。</a:t>
            </a:r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9D891-9604-4945-B734-849E67A857E2}" type="slidenum">
              <a:rPr lang="en-MY" smtClean="0"/>
              <a:pPr/>
              <a:t>2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1677948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首先是研究的目的及意义</a:t>
            </a:r>
          </a:p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9D891-9604-4945-B734-849E67A857E2}" type="slidenum">
              <a:rPr lang="en-MY" smtClean="0"/>
              <a:pPr/>
              <a:t>3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8324579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9D891-9604-4945-B734-849E67A857E2}" type="slidenum">
              <a:rPr lang="en-MY" smtClean="0"/>
              <a:pPr/>
              <a:t>4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164191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9D891-9604-4945-B734-849E67A857E2}" type="slidenum">
              <a:rPr lang="en-MY" smtClean="0"/>
              <a:pPr/>
              <a:t>5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0714561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MY" dirty="0" err="1"/>
              <a:t>其中表格检测主要是基于目标检查</a:t>
            </a:r>
            <a:r>
              <a:rPr lang="zh-CN" altLang="en-US" dirty="0"/>
              <a:t>，如</a:t>
            </a:r>
            <a:r>
              <a:rPr lang="en-US" altLang="zh-CN" dirty="0"/>
              <a:t> YOLO </a:t>
            </a:r>
            <a:r>
              <a:rPr lang="zh-CN" altLang="en-US" dirty="0"/>
              <a:t>模型</a:t>
            </a:r>
            <a:r>
              <a:rPr lang="en-MY" dirty="0" err="1"/>
              <a:t>和基于语义分割</a:t>
            </a:r>
            <a:r>
              <a:rPr lang="zh-CN" altLang="en-US" dirty="0"/>
              <a:t>，表格识别则是全部都有，当前效果比较好的是基于图像到序列的模型。主要也是利用</a:t>
            </a:r>
            <a:r>
              <a:rPr lang="en-US" altLang="zh-CN" dirty="0"/>
              <a:t> </a:t>
            </a:r>
            <a:r>
              <a:rPr lang="en-US" altLang="zh-CN" dirty="0" err="1"/>
              <a:t>tramsformer</a:t>
            </a:r>
            <a:r>
              <a:rPr lang="en-US" altLang="zh-CN" dirty="0"/>
              <a:t> </a:t>
            </a:r>
            <a:r>
              <a:rPr lang="zh-CN" altLang="en-US" dirty="0"/>
              <a:t>的强大能力来更好的识别表格结构，比如论文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Huang Y, Lu N, Chen D, et al. Improving table structure recognition with visual-alignment sequential coordinate modeling[C]//Proceedings of the IEEE/CVF Conference on Computer Vision and Pattern Recognition. 2023: 11134-11143.</a:t>
            </a:r>
            <a:r>
              <a:rPr lang="zh-CN" altLang="en-US" dirty="0"/>
              <a:t>，比较经典的论文有，内容识别当前主要是基于图像到序列，也就是端到端，比较有名的是</a:t>
            </a:r>
            <a:r>
              <a:rPr lang="en-US" altLang="zh-CN" dirty="0"/>
              <a:t> </a:t>
            </a:r>
            <a:r>
              <a:rPr lang="en-US" altLang="zh-CN" dirty="0" err="1"/>
              <a:t>TrOCR</a:t>
            </a:r>
            <a:r>
              <a:rPr lang="en-US" altLang="zh-CN" dirty="0"/>
              <a:t> </a:t>
            </a:r>
            <a:r>
              <a:rPr lang="zh-CN" altLang="en-US" dirty="0"/>
              <a:t>， </a:t>
            </a:r>
            <a:b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YOLO-OCR</a:t>
            </a:r>
          </a:p>
          <a:p>
            <a:r>
              <a:rPr lang="en-MY" dirty="0" err="1"/>
              <a:t>等等</a:t>
            </a:r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9D891-9604-4945-B734-849E67A857E2}" type="slidenum">
              <a:rPr lang="en-MY" smtClean="0"/>
              <a:pPr/>
              <a:t>6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451146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那么基于以上研究目的和发展现状，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下面将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介绍本课题的主要研究内容。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9D891-9604-4945-B734-849E67A857E2}" type="slidenum">
              <a:rPr lang="en-MY" smtClean="0"/>
              <a:pPr/>
              <a:t>7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4166647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9D891-9604-4945-B734-849E67A857E2}" type="slidenum">
              <a:rPr lang="en-MY" smtClean="0"/>
              <a:pPr/>
              <a:t>8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822309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9D891-9604-4945-B734-849E67A857E2}" type="slidenum">
              <a:rPr lang="en-MY" smtClean="0"/>
              <a:pPr/>
              <a:t>9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825342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9D891-9604-4945-B734-849E67A857E2}" type="slidenum">
              <a:rPr lang="en-MY" smtClean="0"/>
              <a:pPr/>
              <a:t>10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847245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最后介绍一下课题的研究进度安排。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9D891-9604-4945-B734-849E67A857E2}" type="slidenum">
              <a:rPr lang="en-MY" smtClean="0"/>
              <a:pPr/>
              <a:t>11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4529643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9D891-9604-4945-B734-849E67A857E2}" type="slidenum">
              <a:rPr lang="en-MY" smtClean="0"/>
              <a:pPr/>
              <a:t>12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951973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我的汇报到此结束，敬请各位评委老师批评指正。</a:t>
            </a:r>
          </a:p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9D891-9604-4945-B734-849E67A857E2}" type="slidenum">
              <a:rPr lang="en-MY" smtClean="0"/>
              <a:pPr/>
              <a:t>13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55569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0677836-BAC0-48C7-BF02-DE5D4852F6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5407"/>
          <a:stretch>
            <a:fillRect/>
          </a:stretch>
        </p:blipFill>
        <p:spPr>
          <a:xfrm>
            <a:off x="0" y="-1"/>
            <a:ext cx="12204000" cy="6872933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12" name="矩形 11"/>
          <p:cNvSpPr/>
          <p:nvPr userDrawn="1"/>
        </p:nvSpPr>
        <p:spPr>
          <a:xfrm>
            <a:off x="-332" y="0"/>
            <a:ext cx="12240000" cy="6858000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0AA24A-9C8D-4325-8A80-ACD80CDD4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24100" y="2500306"/>
            <a:ext cx="7239000" cy="1330325"/>
          </a:xfrm>
        </p:spPr>
        <p:txBody>
          <a:bodyPr lIns="0" tIns="0" rIns="0" bIns="0" anchor="b">
            <a:normAutofit/>
          </a:bodyPr>
          <a:lstStyle>
            <a:lvl1pPr algn="ctr">
              <a:defRPr sz="4800" b="1"/>
            </a:lvl1pPr>
          </a:lstStyle>
          <a:p>
            <a:r>
              <a:rPr lang="en-US" dirty="0"/>
              <a:t>CLICK TO EDIT YOUR TITLE STYLE</a:t>
            </a:r>
            <a:endParaRPr lang="en-MY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81B6B682-FD61-45D2-A5AC-F8AB378C676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71872" y="5000636"/>
            <a:ext cx="5867400" cy="425450"/>
          </a:xfrm>
        </p:spPr>
        <p:txBody>
          <a:bodyPr lIns="0" tIns="0" rIns="0" bIns="0"/>
          <a:lstStyle>
            <a:lvl1pPr marL="0" indent="0" algn="ctr">
              <a:buNone/>
              <a:defRPr sz="2400" b="1" baseline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Reporter:  XXXX    Time: XXXXX</a:t>
            </a:r>
            <a:endParaRPr lang="en-MY" dirty="0"/>
          </a:p>
        </p:txBody>
      </p:sp>
      <p:pic>
        <p:nvPicPr>
          <p:cNvPr id="7" name="图片 6" descr="logo[1].png"/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lum bright="-40000"/>
          </a:blip>
          <a:stretch>
            <a:fillRect/>
          </a:stretch>
        </p:blipFill>
        <p:spPr>
          <a:xfrm>
            <a:off x="380961" y="285728"/>
            <a:ext cx="4476789" cy="821767"/>
          </a:xfrm>
          <a:prstGeom prst="rect">
            <a:avLst/>
          </a:prstGeom>
        </p:spPr>
      </p:pic>
      <p:pic>
        <p:nvPicPr>
          <p:cNvPr id="11" name="图片 10" descr="透明版.png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808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94DC78-B989-4991-BDC2-A6923FDF4CE6}"/>
              </a:ext>
            </a:extLst>
          </p:cNvPr>
          <p:cNvSpPr/>
          <p:nvPr userDrawn="1"/>
        </p:nvSpPr>
        <p:spPr>
          <a:xfrm>
            <a:off x="11582401" y="381000"/>
            <a:ext cx="609600" cy="647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E8EA0F-E410-4F89-BFD7-8227D6527128}"/>
              </a:ext>
            </a:extLst>
          </p:cNvPr>
          <p:cNvSpPr/>
          <p:nvPr userDrawn="1"/>
        </p:nvSpPr>
        <p:spPr>
          <a:xfrm>
            <a:off x="11582400" y="0"/>
            <a:ext cx="612648" cy="61264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32FCAB-BC56-46CA-9B4D-0555C3A40B94}"/>
              </a:ext>
            </a:extLst>
          </p:cNvPr>
          <p:cNvSpPr txBox="1"/>
          <p:nvPr userDrawn="1"/>
        </p:nvSpPr>
        <p:spPr>
          <a:xfrm>
            <a:off x="4267200" y="480536"/>
            <a:ext cx="2975173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CONTENT</a:t>
            </a:r>
            <a:endParaRPr lang="en-MY" sz="4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24F155FA-A8F0-4E08-AA7B-5EE7A782BE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352800" cy="6858000"/>
          </a:xfrm>
        </p:spPr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81775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oup of people in a room&#10;&#10;Description automatically generated">
            <a:extLst>
              <a:ext uri="{FF2B5EF4-FFF2-40B4-BE49-F238E27FC236}">
                <a16:creationId xmlns:a16="http://schemas.microsoft.com/office/drawing/2014/main" id="{8FF1EAA3-C558-4B49-830F-3CC61602CE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555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-47668" y="0"/>
            <a:ext cx="12192000" cy="6858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CEE853-7997-4FBF-9B58-0EFD5A3135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0" y="2676173"/>
            <a:ext cx="5791200" cy="1477328"/>
          </a:xfrm>
        </p:spPr>
        <p:txBody>
          <a:bodyPr/>
          <a:lstStyle>
            <a:lvl1pPr algn="ctr">
              <a:defRPr sz="4800" b="1"/>
            </a:lvl1pPr>
          </a:lstStyle>
          <a:p>
            <a:r>
              <a:rPr lang="en-US" dirty="0"/>
              <a:t>Click to edit</a:t>
            </a:r>
            <a:endParaRPr lang="en-MY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0E988A-394C-49A0-90CA-2B739DB09A3C}"/>
              </a:ext>
            </a:extLst>
          </p:cNvPr>
          <p:cNvSpPr/>
          <p:nvPr userDrawn="1"/>
        </p:nvSpPr>
        <p:spPr>
          <a:xfrm>
            <a:off x="11582401" y="381000"/>
            <a:ext cx="609600" cy="647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92F45D-30CC-4BA4-8542-5189A1E14396}"/>
              </a:ext>
            </a:extLst>
          </p:cNvPr>
          <p:cNvSpPr/>
          <p:nvPr userDrawn="1"/>
        </p:nvSpPr>
        <p:spPr>
          <a:xfrm>
            <a:off x="11582401" y="0"/>
            <a:ext cx="609600" cy="61264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9676C96-BA42-476E-B4DD-A274D36D4744}"/>
              </a:ext>
            </a:extLst>
          </p:cNvPr>
          <p:cNvGrpSpPr/>
          <p:nvPr userDrawn="1"/>
        </p:nvGrpSpPr>
        <p:grpSpPr>
          <a:xfrm>
            <a:off x="4541217" y="1516136"/>
            <a:ext cx="3109566" cy="911046"/>
            <a:chOff x="4541217" y="1177231"/>
            <a:chExt cx="3109566" cy="91104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886AF44-A10C-40A0-9BB9-C8505FD20BE2}"/>
                </a:ext>
              </a:extLst>
            </p:cNvPr>
            <p:cNvSpPr/>
            <p:nvPr/>
          </p:nvSpPr>
          <p:spPr>
            <a:xfrm>
              <a:off x="4541217" y="1177231"/>
              <a:ext cx="3109566" cy="651569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sz="28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10" name="Right Triangle 9">
              <a:extLst>
                <a:ext uri="{FF2B5EF4-FFF2-40B4-BE49-F238E27FC236}">
                  <a16:creationId xmlns:a16="http://schemas.microsoft.com/office/drawing/2014/main" id="{9DF502EA-8BD2-4F9A-BF57-3665C9621128}"/>
                </a:ext>
              </a:extLst>
            </p:cNvPr>
            <p:cNvSpPr/>
            <p:nvPr/>
          </p:nvSpPr>
          <p:spPr>
            <a:xfrm rot="18900000">
              <a:off x="5913103" y="1717294"/>
              <a:ext cx="365794" cy="370983"/>
            </a:xfrm>
            <a:prstGeom prst="rtTriangle">
              <a:avLst/>
            </a:prstGeom>
            <a:solidFill>
              <a:schemeClr val="accent6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</p:spTree>
    <p:extLst>
      <p:ext uri="{BB962C8B-B14F-4D97-AF65-F5344CB8AC3E}">
        <p14:creationId xmlns:p14="http://schemas.microsoft.com/office/powerpoint/2010/main" val="142033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pter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oup of people in a room&#10;&#10;Description automatically generated">
            <a:extLst>
              <a:ext uri="{FF2B5EF4-FFF2-40B4-BE49-F238E27FC236}">
                <a16:creationId xmlns:a16="http://schemas.microsoft.com/office/drawing/2014/main" id="{8FF1EAA3-C558-4B49-830F-3CC61602CE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-47668" y="0"/>
            <a:ext cx="12192000" cy="6858000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CEE853-7997-4FBF-9B58-0EFD5A3135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0" y="2676173"/>
            <a:ext cx="5791200" cy="1477328"/>
          </a:xfrm>
        </p:spPr>
        <p:txBody>
          <a:bodyPr/>
          <a:lstStyle>
            <a:lvl1pPr algn="ctr">
              <a:defRPr sz="4800" b="1"/>
            </a:lvl1pPr>
          </a:lstStyle>
          <a:p>
            <a:r>
              <a:rPr lang="en-US" dirty="0"/>
              <a:t>Click to edit</a:t>
            </a:r>
            <a:endParaRPr lang="en-MY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0E988A-394C-49A0-90CA-2B739DB09A3C}"/>
              </a:ext>
            </a:extLst>
          </p:cNvPr>
          <p:cNvSpPr/>
          <p:nvPr userDrawn="1"/>
        </p:nvSpPr>
        <p:spPr>
          <a:xfrm>
            <a:off x="11582401" y="381000"/>
            <a:ext cx="609600" cy="647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92F45D-30CC-4BA4-8542-5189A1E14396}"/>
              </a:ext>
            </a:extLst>
          </p:cNvPr>
          <p:cNvSpPr/>
          <p:nvPr userDrawn="1"/>
        </p:nvSpPr>
        <p:spPr>
          <a:xfrm>
            <a:off x="11582401" y="0"/>
            <a:ext cx="609600" cy="61264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09676C96-BA42-476E-B4DD-A274D36D4744}"/>
              </a:ext>
            </a:extLst>
          </p:cNvPr>
          <p:cNvGrpSpPr/>
          <p:nvPr userDrawn="1"/>
        </p:nvGrpSpPr>
        <p:grpSpPr>
          <a:xfrm>
            <a:off x="4541217" y="1516136"/>
            <a:ext cx="3109566" cy="911046"/>
            <a:chOff x="4541217" y="1177231"/>
            <a:chExt cx="3109566" cy="91104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886AF44-A10C-40A0-9BB9-C8505FD20BE2}"/>
                </a:ext>
              </a:extLst>
            </p:cNvPr>
            <p:cNvSpPr/>
            <p:nvPr/>
          </p:nvSpPr>
          <p:spPr>
            <a:xfrm>
              <a:off x="4541217" y="1177231"/>
              <a:ext cx="3109566" cy="651569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sz="28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10" name="Right Triangle 9">
              <a:extLst>
                <a:ext uri="{FF2B5EF4-FFF2-40B4-BE49-F238E27FC236}">
                  <a16:creationId xmlns:a16="http://schemas.microsoft.com/office/drawing/2014/main" id="{9DF502EA-8BD2-4F9A-BF57-3665C9621128}"/>
                </a:ext>
              </a:extLst>
            </p:cNvPr>
            <p:cNvSpPr/>
            <p:nvPr/>
          </p:nvSpPr>
          <p:spPr>
            <a:xfrm rot="18900000">
              <a:off x="5913103" y="1717294"/>
              <a:ext cx="365794" cy="370983"/>
            </a:xfrm>
            <a:prstGeom prst="rtTriangle">
              <a:avLst/>
            </a:prstGeom>
            <a:solidFill>
              <a:schemeClr val="accent6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</p:spTree>
    <p:extLst>
      <p:ext uri="{BB962C8B-B14F-4D97-AF65-F5344CB8AC3E}">
        <p14:creationId xmlns:p14="http://schemas.microsoft.com/office/powerpoint/2010/main" val="142033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1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23C664F-6A4B-4291-9CD2-C0C3E89DE648}"/>
              </a:ext>
            </a:extLst>
          </p:cNvPr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8605894-FB6D-47C2-AF61-F6638F5B8433}"/>
                </a:ext>
              </a:extLst>
            </p:cNvPr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D8ADF6D-4276-420F-BEF2-46CF09618FD5}"/>
                </a:ext>
              </a:extLst>
            </p:cNvPr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8E622AE8-B49A-4B14-AF49-48361BACF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FD2783-108A-48CE-AFD4-1D1CE40126FF}"/>
              </a:ext>
            </a:extLst>
          </p:cNvPr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21B49C-5379-46E9-A864-94BA596AA60A}"/>
              </a:ext>
            </a:extLst>
          </p:cNvPr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8CB26C1-2E40-40EB-9F25-283903ABA0A6}"/>
              </a:ext>
            </a:extLst>
          </p:cNvPr>
          <p:cNvGrpSpPr/>
          <p:nvPr/>
        </p:nvGrpSpPr>
        <p:grpSpPr>
          <a:xfrm>
            <a:off x="609600" y="4419369"/>
            <a:ext cx="2971800" cy="776529"/>
            <a:chOff x="380999" y="4419913"/>
            <a:chExt cx="2971800" cy="776529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B29DB00A-A46B-4C2F-9C24-C61C35C92000}"/>
                </a:ext>
              </a:extLst>
            </p:cNvPr>
            <p:cNvSpPr/>
            <p:nvPr/>
          </p:nvSpPr>
          <p:spPr>
            <a:xfrm rot="18900000">
              <a:off x="1671374" y="4805390"/>
              <a:ext cx="391052" cy="391052"/>
            </a:xfrm>
            <a:prstGeom prst="rtTriangle">
              <a:avLst/>
            </a:prstGeom>
            <a:solidFill>
              <a:schemeClr val="accent6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EB66571-F9B1-4A6B-9493-08FF5E781C08}"/>
                </a:ext>
              </a:extLst>
            </p:cNvPr>
            <p:cNvSpPr/>
            <p:nvPr/>
          </p:nvSpPr>
          <p:spPr>
            <a:xfrm>
              <a:off x="380999" y="4419913"/>
              <a:ext cx="2971800" cy="55303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sz="2400" b="1" dirty="0">
                <a:latin typeface="+mj-lt"/>
              </a:endParaRPr>
            </a:p>
          </p:txBody>
        </p:sp>
      </p:grp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047FD69-C606-4179-AA40-58755EAC405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1309547"/>
            <a:ext cx="2971800" cy="2971800"/>
          </a:xfrm>
        </p:spPr>
        <p:txBody>
          <a:bodyPr/>
          <a:lstStyle/>
          <a:p>
            <a:endParaRPr lang="en-MY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52E226A-FBF7-4CA8-9359-8611FFAC0CF7}"/>
              </a:ext>
            </a:extLst>
          </p:cNvPr>
          <p:cNvGrpSpPr/>
          <p:nvPr userDrawn="1"/>
        </p:nvGrpSpPr>
        <p:grpSpPr>
          <a:xfrm>
            <a:off x="8610602" y="4419369"/>
            <a:ext cx="2971800" cy="776529"/>
            <a:chOff x="380999" y="4419913"/>
            <a:chExt cx="2971800" cy="776529"/>
          </a:xfrm>
        </p:grpSpPr>
        <p:sp>
          <p:nvSpPr>
            <p:cNvPr id="26" name="Right Triangle 25">
              <a:extLst>
                <a:ext uri="{FF2B5EF4-FFF2-40B4-BE49-F238E27FC236}">
                  <a16:creationId xmlns:a16="http://schemas.microsoft.com/office/drawing/2014/main" id="{4D4852D9-1484-4313-A98C-598735F2A253}"/>
                </a:ext>
              </a:extLst>
            </p:cNvPr>
            <p:cNvSpPr/>
            <p:nvPr/>
          </p:nvSpPr>
          <p:spPr>
            <a:xfrm rot="18900000">
              <a:off x="1671374" y="4805390"/>
              <a:ext cx="391052" cy="391052"/>
            </a:xfrm>
            <a:prstGeom prst="rtTriangle">
              <a:avLst/>
            </a:prstGeom>
            <a:solidFill>
              <a:schemeClr val="accent6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CC4566F-B0F3-45E4-8BEB-F190B97E220A}"/>
                </a:ext>
              </a:extLst>
            </p:cNvPr>
            <p:cNvSpPr/>
            <p:nvPr/>
          </p:nvSpPr>
          <p:spPr>
            <a:xfrm>
              <a:off x="380999" y="4419913"/>
              <a:ext cx="2971800" cy="55303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sz="2400" b="1" dirty="0">
                <a:latin typeface="+mj-lt"/>
              </a:endParaRPr>
            </a:p>
          </p:txBody>
        </p:sp>
      </p:grpSp>
      <p:sp>
        <p:nvSpPr>
          <p:cNvPr id="29" name="Picture Placeholder 5">
            <a:extLst>
              <a:ext uri="{FF2B5EF4-FFF2-40B4-BE49-F238E27FC236}">
                <a16:creationId xmlns:a16="http://schemas.microsoft.com/office/drawing/2014/main" id="{38246BCC-9BBA-4A29-9375-767D9DCF19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610602" y="1309547"/>
            <a:ext cx="2971800" cy="2971800"/>
          </a:xfrm>
        </p:spPr>
        <p:txBody>
          <a:bodyPr/>
          <a:lstStyle/>
          <a:p>
            <a:endParaRPr lang="en-MY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D46E82A-F1DB-4B20-A9CF-326C550EBBAC}"/>
              </a:ext>
            </a:extLst>
          </p:cNvPr>
          <p:cNvGrpSpPr/>
          <p:nvPr userDrawn="1"/>
        </p:nvGrpSpPr>
        <p:grpSpPr>
          <a:xfrm>
            <a:off x="4604784" y="4421496"/>
            <a:ext cx="2971800" cy="776529"/>
            <a:chOff x="380999" y="4419913"/>
            <a:chExt cx="2971800" cy="776529"/>
          </a:xfrm>
        </p:grpSpPr>
        <p:sp>
          <p:nvSpPr>
            <p:cNvPr id="31" name="Right Triangle 30">
              <a:extLst>
                <a:ext uri="{FF2B5EF4-FFF2-40B4-BE49-F238E27FC236}">
                  <a16:creationId xmlns:a16="http://schemas.microsoft.com/office/drawing/2014/main" id="{DD624CA4-737E-449F-908E-11137D882781}"/>
                </a:ext>
              </a:extLst>
            </p:cNvPr>
            <p:cNvSpPr/>
            <p:nvPr/>
          </p:nvSpPr>
          <p:spPr>
            <a:xfrm rot="18900000">
              <a:off x="1671374" y="4805390"/>
              <a:ext cx="391052" cy="391052"/>
            </a:xfrm>
            <a:prstGeom prst="rtTriangle">
              <a:avLst/>
            </a:prstGeom>
            <a:solidFill>
              <a:schemeClr val="accent6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13DB6D7-1FA3-4A50-8F24-8E359AAAB85B}"/>
                </a:ext>
              </a:extLst>
            </p:cNvPr>
            <p:cNvSpPr/>
            <p:nvPr/>
          </p:nvSpPr>
          <p:spPr>
            <a:xfrm>
              <a:off x="380999" y="4419913"/>
              <a:ext cx="2971800" cy="55303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sz="2400" b="1" dirty="0">
                <a:latin typeface="+mj-lt"/>
              </a:endParaRPr>
            </a:p>
          </p:txBody>
        </p:sp>
      </p:grpSp>
      <p:sp>
        <p:nvSpPr>
          <p:cNvPr id="34" name="Picture Placeholder 5">
            <a:extLst>
              <a:ext uri="{FF2B5EF4-FFF2-40B4-BE49-F238E27FC236}">
                <a16:creationId xmlns:a16="http://schemas.microsoft.com/office/drawing/2014/main" id="{2A5D767E-5650-4980-B7DB-3CE0A051653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604784" y="1311674"/>
            <a:ext cx="2971800" cy="2971800"/>
          </a:xfrm>
        </p:spPr>
        <p:txBody>
          <a:bodyPr/>
          <a:lstStyle/>
          <a:p>
            <a:endParaRPr lang="en-MY"/>
          </a:p>
        </p:txBody>
      </p:sp>
      <p:pic>
        <p:nvPicPr>
          <p:cNvPr id="22" name="图片 21" descr="logo[1]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23" name="图片 22" descr="透明版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175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co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4D1723E9-D8BD-4750-BCEE-3B2A1602DEF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166360" y="1309941"/>
            <a:ext cx="1691640" cy="1691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MY" dirty="0"/>
            </a:lvl1pPr>
          </a:lstStyle>
          <a:p>
            <a:pPr lvl="0"/>
            <a:endParaRPr lang="en-MY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23C664F-6A4B-4291-9CD2-C0C3E89DE648}"/>
              </a:ext>
            </a:extLst>
          </p:cNvPr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8605894-FB6D-47C2-AF61-F6638F5B8433}"/>
                </a:ext>
              </a:extLst>
            </p:cNvPr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D8ADF6D-4276-420F-BEF2-46CF09618FD5}"/>
                </a:ext>
              </a:extLst>
            </p:cNvPr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8E622AE8-B49A-4B14-AF49-48361BACF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FD2783-108A-48CE-AFD4-1D1CE40126FF}"/>
              </a:ext>
            </a:extLst>
          </p:cNvPr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21B49C-5379-46E9-A864-94BA596AA60A}"/>
              </a:ext>
            </a:extLst>
          </p:cNvPr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825449-75E4-4AA9-BCFD-F35B1D21BDE0}"/>
              </a:ext>
            </a:extLst>
          </p:cNvPr>
          <p:cNvSpPr/>
          <p:nvPr/>
        </p:nvSpPr>
        <p:spPr>
          <a:xfrm>
            <a:off x="623316" y="5162279"/>
            <a:ext cx="3858768" cy="8688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8BEB906-5DC0-4120-8A22-79EA378813F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2623" y="1306913"/>
            <a:ext cx="3860154" cy="3855366"/>
          </a:xfrm>
        </p:spPr>
        <p:txBody>
          <a:bodyPr/>
          <a:lstStyle/>
          <a:p>
            <a:endParaRPr lang="en-MY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7146465-3F4C-4801-BB09-5039DF9C97E3}"/>
              </a:ext>
            </a:extLst>
          </p:cNvPr>
          <p:cNvSpPr/>
          <p:nvPr userDrawn="1"/>
        </p:nvSpPr>
        <p:spPr>
          <a:xfrm>
            <a:off x="5166360" y="2990356"/>
            <a:ext cx="1691640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59" name="Picture Placeholder 4">
            <a:extLst>
              <a:ext uri="{FF2B5EF4-FFF2-40B4-BE49-F238E27FC236}">
                <a16:creationId xmlns:a16="http://schemas.microsoft.com/office/drawing/2014/main" id="{A7D91AD9-B6BD-46C1-B734-058AA902499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66360" y="3802091"/>
            <a:ext cx="1691640" cy="1691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MY" dirty="0"/>
            </a:lvl1pPr>
          </a:lstStyle>
          <a:p>
            <a:pPr lvl="0"/>
            <a:endParaRPr lang="en-MY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C2054F8-07D0-4BDB-B8A0-1FDC4AF64367}"/>
              </a:ext>
            </a:extLst>
          </p:cNvPr>
          <p:cNvSpPr/>
          <p:nvPr userDrawn="1"/>
        </p:nvSpPr>
        <p:spPr>
          <a:xfrm>
            <a:off x="5166360" y="5482506"/>
            <a:ext cx="1691640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61" name="Picture Placeholder 4">
            <a:extLst>
              <a:ext uri="{FF2B5EF4-FFF2-40B4-BE49-F238E27FC236}">
                <a16:creationId xmlns:a16="http://schemas.microsoft.com/office/drawing/2014/main" id="{17DC6F58-6924-453B-A899-5B565115D07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890760" y="1309941"/>
            <a:ext cx="1691640" cy="1691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MY" dirty="0"/>
            </a:lvl1pPr>
          </a:lstStyle>
          <a:p>
            <a:pPr lvl="0"/>
            <a:endParaRPr lang="en-MY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A38380F-FA90-4C43-9777-66022515C123}"/>
              </a:ext>
            </a:extLst>
          </p:cNvPr>
          <p:cNvSpPr/>
          <p:nvPr userDrawn="1"/>
        </p:nvSpPr>
        <p:spPr>
          <a:xfrm>
            <a:off x="9890760" y="2990356"/>
            <a:ext cx="1691640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63" name="Picture Placeholder 4">
            <a:extLst>
              <a:ext uri="{FF2B5EF4-FFF2-40B4-BE49-F238E27FC236}">
                <a16:creationId xmlns:a16="http://schemas.microsoft.com/office/drawing/2014/main" id="{D6760DC5-8AA5-4622-8A38-1A02F47D8F8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890760" y="3802091"/>
            <a:ext cx="1691640" cy="1691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MY" dirty="0"/>
            </a:lvl1pPr>
          </a:lstStyle>
          <a:p>
            <a:pPr lvl="0"/>
            <a:endParaRPr lang="en-MY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87C8BE1-3F47-4E68-9ACD-77180F26EE3F}"/>
              </a:ext>
            </a:extLst>
          </p:cNvPr>
          <p:cNvSpPr/>
          <p:nvPr userDrawn="1"/>
        </p:nvSpPr>
        <p:spPr>
          <a:xfrm>
            <a:off x="9890760" y="5482506"/>
            <a:ext cx="1691640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65" name="Picture Placeholder 4">
            <a:extLst>
              <a:ext uri="{FF2B5EF4-FFF2-40B4-BE49-F238E27FC236}">
                <a16:creationId xmlns:a16="http://schemas.microsoft.com/office/drawing/2014/main" id="{B222535D-9A27-4535-8E5E-9B501DEE8F0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28560" y="1309941"/>
            <a:ext cx="1691640" cy="1691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MY" dirty="0"/>
            </a:lvl1pPr>
          </a:lstStyle>
          <a:p>
            <a:pPr lvl="0"/>
            <a:endParaRPr lang="en-MY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029D346-D63D-41E5-85AA-F1D3BFB8D501}"/>
              </a:ext>
            </a:extLst>
          </p:cNvPr>
          <p:cNvSpPr/>
          <p:nvPr userDrawn="1"/>
        </p:nvSpPr>
        <p:spPr>
          <a:xfrm>
            <a:off x="7528560" y="2990356"/>
            <a:ext cx="1691640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67" name="Picture Placeholder 4">
            <a:extLst>
              <a:ext uri="{FF2B5EF4-FFF2-40B4-BE49-F238E27FC236}">
                <a16:creationId xmlns:a16="http://schemas.microsoft.com/office/drawing/2014/main" id="{452EDB89-9F25-4C79-B13D-8F26115FD4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528560" y="3802091"/>
            <a:ext cx="1691640" cy="1691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MY" dirty="0"/>
            </a:lvl1pPr>
          </a:lstStyle>
          <a:p>
            <a:pPr lvl="0"/>
            <a:endParaRPr lang="en-MY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B113DD7-56D0-46D0-9BCD-96581DDBC639}"/>
              </a:ext>
            </a:extLst>
          </p:cNvPr>
          <p:cNvSpPr/>
          <p:nvPr userDrawn="1"/>
        </p:nvSpPr>
        <p:spPr>
          <a:xfrm>
            <a:off x="7528560" y="5482506"/>
            <a:ext cx="1691640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pic>
        <p:nvPicPr>
          <p:cNvPr id="24" name="图片 23" descr="logo[1]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25" name="图片 24" descr="透明版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143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23C664F-6A4B-4291-9CD2-C0C3E89DE648}"/>
              </a:ext>
            </a:extLst>
          </p:cNvPr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8605894-FB6D-47C2-AF61-F6638F5B8433}"/>
                </a:ext>
              </a:extLst>
            </p:cNvPr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D8ADF6D-4276-420F-BEF2-46CF09618FD5}"/>
                </a:ext>
              </a:extLst>
            </p:cNvPr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8E622AE8-B49A-4B14-AF49-48361BACF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FD2783-108A-48CE-AFD4-1D1CE40126FF}"/>
              </a:ext>
            </a:extLst>
          </p:cNvPr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21B49C-5379-46E9-A864-94BA596AA60A}"/>
              </a:ext>
            </a:extLst>
          </p:cNvPr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pic>
        <p:nvPicPr>
          <p:cNvPr id="13" name="图片 12" descr="logo[1]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14" name="图片 13" descr="透明版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520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23C664F-6A4B-4291-9CD2-C0C3E89DE648}"/>
              </a:ext>
            </a:extLst>
          </p:cNvPr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8605894-FB6D-47C2-AF61-F6638F5B8433}"/>
                </a:ext>
              </a:extLst>
            </p:cNvPr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D8ADF6D-4276-420F-BEF2-46CF09618FD5}"/>
                </a:ext>
              </a:extLst>
            </p:cNvPr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8E622AE8-B49A-4B14-AF49-48361BACF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FD2783-108A-48CE-AFD4-1D1CE40126FF}"/>
              </a:ext>
            </a:extLst>
          </p:cNvPr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21B49C-5379-46E9-A864-94BA596AA60A}"/>
              </a:ext>
            </a:extLst>
          </p:cNvPr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1BC43C7-C1B5-483A-80D3-E931039A21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1485899"/>
            <a:ext cx="4343400" cy="4343400"/>
          </a:xfrm>
        </p:spPr>
        <p:txBody>
          <a:bodyPr/>
          <a:lstStyle/>
          <a:p>
            <a:endParaRPr lang="en-MY" dirty="0"/>
          </a:p>
        </p:txBody>
      </p:sp>
      <p:pic>
        <p:nvPicPr>
          <p:cNvPr id="13" name="图片 12" descr="logo[1]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14" name="图片 13" descr="透明版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491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23C664F-6A4B-4291-9CD2-C0C3E89DE648}"/>
              </a:ext>
            </a:extLst>
          </p:cNvPr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8605894-FB6D-47C2-AF61-F6638F5B8433}"/>
                </a:ext>
              </a:extLst>
            </p:cNvPr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D8ADF6D-4276-420F-BEF2-46CF09618FD5}"/>
                </a:ext>
              </a:extLst>
            </p:cNvPr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8E622AE8-B49A-4B14-AF49-48361BACF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FD2783-108A-48CE-AFD4-1D1CE40126FF}"/>
              </a:ext>
            </a:extLst>
          </p:cNvPr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21B49C-5379-46E9-A864-94BA596AA60A}"/>
              </a:ext>
            </a:extLst>
          </p:cNvPr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AFA7865-655C-49EB-BC10-14721612859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781260" y="1757030"/>
            <a:ext cx="3801140" cy="3801140"/>
          </a:xfrm>
          <a:custGeom>
            <a:avLst/>
            <a:gdLst>
              <a:gd name="connsiteX0" fmla="*/ 1848652 w 3763963"/>
              <a:gd name="connsiteY0" fmla="*/ 0 h 3763963"/>
              <a:gd name="connsiteX1" fmla="*/ 1915311 w 3763963"/>
              <a:gd name="connsiteY1" fmla="*/ 0 h 3763963"/>
              <a:gd name="connsiteX2" fmla="*/ 2074575 w 3763963"/>
              <a:gd name="connsiteY2" fmla="*/ 8042 h 3763963"/>
              <a:gd name="connsiteX3" fmla="*/ 3755920 w 3763963"/>
              <a:gd name="connsiteY3" fmla="*/ 1689387 h 3763963"/>
              <a:gd name="connsiteX4" fmla="*/ 3763963 w 3763963"/>
              <a:gd name="connsiteY4" fmla="*/ 1848670 h 3763963"/>
              <a:gd name="connsiteX5" fmla="*/ 3763963 w 3763963"/>
              <a:gd name="connsiteY5" fmla="*/ 1915292 h 3763963"/>
              <a:gd name="connsiteX6" fmla="*/ 3755920 w 3763963"/>
              <a:gd name="connsiteY6" fmla="*/ 2074575 h 3763963"/>
              <a:gd name="connsiteX7" fmla="*/ 2074575 w 3763963"/>
              <a:gd name="connsiteY7" fmla="*/ 3755920 h 3763963"/>
              <a:gd name="connsiteX8" fmla="*/ 1915291 w 3763963"/>
              <a:gd name="connsiteY8" fmla="*/ 3763963 h 3763963"/>
              <a:gd name="connsiteX9" fmla="*/ 1848672 w 3763963"/>
              <a:gd name="connsiteY9" fmla="*/ 3763963 h 3763963"/>
              <a:gd name="connsiteX10" fmla="*/ 1689388 w 3763963"/>
              <a:gd name="connsiteY10" fmla="*/ 3755920 h 3763963"/>
              <a:gd name="connsiteX11" fmla="*/ 8042 w 3763963"/>
              <a:gd name="connsiteY11" fmla="*/ 2074575 h 3763963"/>
              <a:gd name="connsiteX12" fmla="*/ 0 w 3763963"/>
              <a:gd name="connsiteY12" fmla="*/ 1915311 h 3763963"/>
              <a:gd name="connsiteX13" fmla="*/ 0 w 3763963"/>
              <a:gd name="connsiteY13" fmla="*/ 1848651 h 3763963"/>
              <a:gd name="connsiteX14" fmla="*/ 8042 w 3763963"/>
              <a:gd name="connsiteY14" fmla="*/ 1689387 h 3763963"/>
              <a:gd name="connsiteX15" fmla="*/ 1689388 w 3763963"/>
              <a:gd name="connsiteY15" fmla="*/ 8042 h 3763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763963" h="3763963">
                <a:moveTo>
                  <a:pt x="1848652" y="0"/>
                </a:moveTo>
                <a:lnTo>
                  <a:pt x="1915311" y="0"/>
                </a:lnTo>
                <a:lnTo>
                  <a:pt x="2074575" y="8042"/>
                </a:lnTo>
                <a:cubicBezTo>
                  <a:pt x="2961101" y="98074"/>
                  <a:pt x="3665888" y="802862"/>
                  <a:pt x="3755920" y="1689387"/>
                </a:cubicBezTo>
                <a:lnTo>
                  <a:pt x="3763963" y="1848670"/>
                </a:lnTo>
                <a:lnTo>
                  <a:pt x="3763963" y="1915292"/>
                </a:lnTo>
                <a:lnTo>
                  <a:pt x="3755920" y="2074575"/>
                </a:lnTo>
                <a:cubicBezTo>
                  <a:pt x="3665888" y="2961101"/>
                  <a:pt x="2961101" y="3665889"/>
                  <a:pt x="2074575" y="3755920"/>
                </a:cubicBezTo>
                <a:lnTo>
                  <a:pt x="1915291" y="3763963"/>
                </a:lnTo>
                <a:lnTo>
                  <a:pt x="1848672" y="3763963"/>
                </a:lnTo>
                <a:lnTo>
                  <a:pt x="1689388" y="3755920"/>
                </a:lnTo>
                <a:cubicBezTo>
                  <a:pt x="802862" y="3665889"/>
                  <a:pt x="98074" y="2961101"/>
                  <a:pt x="8042" y="2074575"/>
                </a:cubicBezTo>
                <a:lnTo>
                  <a:pt x="0" y="1915311"/>
                </a:lnTo>
                <a:lnTo>
                  <a:pt x="0" y="1848651"/>
                </a:lnTo>
                <a:lnTo>
                  <a:pt x="8042" y="1689387"/>
                </a:lnTo>
                <a:cubicBezTo>
                  <a:pt x="98074" y="802862"/>
                  <a:pt x="802862" y="98074"/>
                  <a:pt x="1689388" y="8042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MY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88CBA77-1FF5-4E26-B65F-77D3C3F418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6064" t="20617" r="35753" b="58813"/>
          <a:stretch>
            <a:fillRect/>
          </a:stretch>
        </p:blipFill>
        <p:spPr>
          <a:xfrm>
            <a:off x="341887" y="1408687"/>
            <a:ext cx="1410713" cy="1410713"/>
          </a:xfrm>
          <a:custGeom>
            <a:avLst/>
            <a:gdLst>
              <a:gd name="connsiteX0" fmla="*/ 0 w 1410713"/>
              <a:gd name="connsiteY0" fmla="*/ 0 h 1410713"/>
              <a:gd name="connsiteX1" fmla="*/ 1410713 w 1410713"/>
              <a:gd name="connsiteY1" fmla="*/ 0 h 1410713"/>
              <a:gd name="connsiteX2" fmla="*/ 1410713 w 1410713"/>
              <a:gd name="connsiteY2" fmla="*/ 1410713 h 1410713"/>
              <a:gd name="connsiteX3" fmla="*/ 0 w 1410713"/>
              <a:gd name="connsiteY3" fmla="*/ 1410713 h 1410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10713" h="1410713">
                <a:moveTo>
                  <a:pt x="0" y="0"/>
                </a:moveTo>
                <a:lnTo>
                  <a:pt x="1410713" y="0"/>
                </a:lnTo>
                <a:lnTo>
                  <a:pt x="1410713" y="1410713"/>
                </a:lnTo>
                <a:lnTo>
                  <a:pt x="0" y="1410713"/>
                </a:lnTo>
                <a:close/>
              </a:path>
            </a:pathLst>
          </a:custGeom>
        </p:spPr>
      </p:pic>
      <p:pic>
        <p:nvPicPr>
          <p:cNvPr id="16" name="图片 15" descr="logo[1]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17" name="图片 16" descr="透明版.png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405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Ba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23C664F-6A4B-4291-9CD2-C0C3E89DE648}"/>
              </a:ext>
            </a:extLst>
          </p:cNvPr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8605894-FB6D-47C2-AF61-F6638F5B8433}"/>
                </a:ext>
              </a:extLst>
            </p:cNvPr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D8ADF6D-4276-420F-BEF2-46CF09618FD5}"/>
                </a:ext>
              </a:extLst>
            </p:cNvPr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8E622AE8-B49A-4B14-AF49-48361BACF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FD2783-108A-48CE-AFD4-1D1CE40126FF}"/>
              </a:ext>
            </a:extLst>
          </p:cNvPr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21B49C-5379-46E9-A864-94BA596AA60A}"/>
              </a:ext>
            </a:extLst>
          </p:cNvPr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39A04D2-075F-4F29-B364-D58A68B55E5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1600200"/>
            <a:ext cx="10972800" cy="2239963"/>
          </a:xfrm>
        </p:spPr>
        <p:txBody>
          <a:bodyPr/>
          <a:lstStyle/>
          <a:p>
            <a:endParaRPr lang="en-MY" dirty="0"/>
          </a:p>
        </p:txBody>
      </p:sp>
      <p:pic>
        <p:nvPicPr>
          <p:cNvPr id="11" name="图片 10" descr="logo[1]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12" name="图片 11" descr="透明版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772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23C664F-6A4B-4291-9CD2-C0C3E89DE648}"/>
              </a:ext>
            </a:extLst>
          </p:cNvPr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8605894-FB6D-47C2-AF61-F6638F5B8433}"/>
                </a:ext>
              </a:extLst>
            </p:cNvPr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D8ADF6D-4276-420F-BEF2-46CF09618FD5}"/>
                </a:ext>
              </a:extLst>
            </p:cNvPr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8E622AE8-B49A-4B14-AF49-48361BACF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FD2783-108A-48CE-AFD4-1D1CE40126FF}"/>
              </a:ext>
            </a:extLst>
          </p:cNvPr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21B49C-5379-46E9-A864-94BA596AA60A}"/>
              </a:ext>
            </a:extLst>
          </p:cNvPr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1BC43C7-C1B5-483A-80D3-E931039A21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1485899"/>
            <a:ext cx="2743200" cy="4343400"/>
          </a:xfrm>
        </p:spPr>
        <p:txBody>
          <a:bodyPr/>
          <a:lstStyle/>
          <a:p>
            <a:endParaRPr lang="en-MY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E71392-3FCA-4EE2-B92B-C2B1F6FD078F}"/>
              </a:ext>
            </a:extLst>
          </p:cNvPr>
          <p:cNvSpPr/>
          <p:nvPr userDrawn="1"/>
        </p:nvSpPr>
        <p:spPr>
          <a:xfrm>
            <a:off x="3657600" y="1485898"/>
            <a:ext cx="2743200" cy="43434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pic>
        <p:nvPicPr>
          <p:cNvPr id="11" name="图片 10" descr="logo[1]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12" name="图片 11" descr="透明版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5188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hapter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oup of people in a room&#10;&#10;Description automatically generated">
            <a:extLst>
              <a:ext uri="{FF2B5EF4-FFF2-40B4-BE49-F238E27FC236}">
                <a16:creationId xmlns:a16="http://schemas.microsoft.com/office/drawing/2014/main" id="{8FF1EAA3-C558-4B49-830F-3CC61602CE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-47668" y="0"/>
            <a:ext cx="12192000" cy="6858000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CEE853-7997-4FBF-9B58-0EFD5A3135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0" y="2676173"/>
            <a:ext cx="5791200" cy="1477328"/>
          </a:xfrm>
        </p:spPr>
        <p:txBody>
          <a:bodyPr/>
          <a:lstStyle>
            <a:lvl1pPr algn="ctr">
              <a:defRPr sz="4800" b="1"/>
            </a:lvl1pPr>
          </a:lstStyle>
          <a:p>
            <a:r>
              <a:rPr lang="en-US" dirty="0"/>
              <a:t>Click to edit</a:t>
            </a:r>
            <a:endParaRPr lang="en-MY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0E988A-394C-49A0-90CA-2B739DB09A3C}"/>
              </a:ext>
            </a:extLst>
          </p:cNvPr>
          <p:cNvSpPr/>
          <p:nvPr userDrawn="1"/>
        </p:nvSpPr>
        <p:spPr>
          <a:xfrm>
            <a:off x="11582401" y="381000"/>
            <a:ext cx="609600" cy="647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92F45D-30CC-4BA4-8542-5189A1E14396}"/>
              </a:ext>
            </a:extLst>
          </p:cNvPr>
          <p:cNvSpPr/>
          <p:nvPr userDrawn="1"/>
        </p:nvSpPr>
        <p:spPr>
          <a:xfrm>
            <a:off x="11582401" y="0"/>
            <a:ext cx="609600" cy="61264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09676C96-BA42-476E-B4DD-A274D36D4744}"/>
              </a:ext>
            </a:extLst>
          </p:cNvPr>
          <p:cNvGrpSpPr/>
          <p:nvPr userDrawn="1"/>
        </p:nvGrpSpPr>
        <p:grpSpPr>
          <a:xfrm>
            <a:off x="4541217" y="1516136"/>
            <a:ext cx="3109566" cy="911046"/>
            <a:chOff x="4541217" y="1177231"/>
            <a:chExt cx="3109566" cy="91104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886AF44-A10C-40A0-9BB9-C8505FD20BE2}"/>
                </a:ext>
              </a:extLst>
            </p:cNvPr>
            <p:cNvSpPr/>
            <p:nvPr/>
          </p:nvSpPr>
          <p:spPr>
            <a:xfrm>
              <a:off x="4541217" y="1177231"/>
              <a:ext cx="3109566" cy="651569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sz="28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10" name="Right Triangle 9">
              <a:extLst>
                <a:ext uri="{FF2B5EF4-FFF2-40B4-BE49-F238E27FC236}">
                  <a16:creationId xmlns:a16="http://schemas.microsoft.com/office/drawing/2014/main" id="{9DF502EA-8BD2-4F9A-BF57-3665C9621128}"/>
                </a:ext>
              </a:extLst>
            </p:cNvPr>
            <p:cNvSpPr/>
            <p:nvPr/>
          </p:nvSpPr>
          <p:spPr>
            <a:xfrm rot="18900000">
              <a:off x="5913103" y="1717294"/>
              <a:ext cx="365794" cy="370983"/>
            </a:xfrm>
            <a:prstGeom prst="rtTriangle">
              <a:avLst/>
            </a:prstGeom>
            <a:solidFill>
              <a:schemeClr val="accent6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</p:spTree>
    <p:extLst>
      <p:ext uri="{BB962C8B-B14F-4D97-AF65-F5344CB8AC3E}">
        <p14:creationId xmlns:p14="http://schemas.microsoft.com/office/powerpoint/2010/main" val="1420335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ntr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23C664F-6A4B-4291-9CD2-C0C3E89DE648}"/>
              </a:ext>
            </a:extLst>
          </p:cNvPr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8605894-FB6D-47C2-AF61-F6638F5B8433}"/>
                </a:ext>
              </a:extLst>
            </p:cNvPr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D8ADF6D-4276-420F-BEF2-46CF09618FD5}"/>
                </a:ext>
              </a:extLst>
            </p:cNvPr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8E622AE8-B49A-4B14-AF49-48361BACF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FD2783-108A-48CE-AFD4-1D1CE40126FF}"/>
              </a:ext>
            </a:extLst>
          </p:cNvPr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21B49C-5379-46E9-A864-94BA596AA60A}"/>
              </a:ext>
            </a:extLst>
          </p:cNvPr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CAF625E-3EE3-45E4-966F-CC1C297BAB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33900" y="2106929"/>
            <a:ext cx="3124200" cy="3124200"/>
          </a:xfrm>
          <a:custGeom>
            <a:avLst/>
            <a:gdLst>
              <a:gd name="connsiteX0" fmla="*/ 1448904 w 3124200"/>
              <a:gd name="connsiteY0" fmla="*/ 0 h 3124200"/>
              <a:gd name="connsiteX1" fmla="*/ 1675299 w 3124200"/>
              <a:gd name="connsiteY1" fmla="*/ 0 h 3124200"/>
              <a:gd name="connsiteX2" fmla="*/ 1722401 w 3124200"/>
              <a:gd name="connsiteY2" fmla="*/ 2379 h 3124200"/>
              <a:gd name="connsiteX3" fmla="*/ 3121824 w 3124200"/>
              <a:gd name="connsiteY3" fmla="*/ 1401801 h 3124200"/>
              <a:gd name="connsiteX4" fmla="*/ 3124200 w 3124200"/>
              <a:gd name="connsiteY4" fmla="*/ 1448864 h 3124200"/>
              <a:gd name="connsiteX5" fmla="*/ 3124200 w 3124200"/>
              <a:gd name="connsiteY5" fmla="*/ 1675339 h 3124200"/>
              <a:gd name="connsiteX6" fmla="*/ 3121824 w 3124200"/>
              <a:gd name="connsiteY6" fmla="*/ 1722401 h 3124200"/>
              <a:gd name="connsiteX7" fmla="*/ 1722401 w 3124200"/>
              <a:gd name="connsiteY7" fmla="*/ 3121824 h 3124200"/>
              <a:gd name="connsiteX8" fmla="*/ 1675338 w 3124200"/>
              <a:gd name="connsiteY8" fmla="*/ 3124200 h 3124200"/>
              <a:gd name="connsiteX9" fmla="*/ 1448865 w 3124200"/>
              <a:gd name="connsiteY9" fmla="*/ 3124200 h 3124200"/>
              <a:gd name="connsiteX10" fmla="*/ 1401801 w 3124200"/>
              <a:gd name="connsiteY10" fmla="*/ 3121824 h 3124200"/>
              <a:gd name="connsiteX11" fmla="*/ 2379 w 3124200"/>
              <a:gd name="connsiteY11" fmla="*/ 1722401 h 3124200"/>
              <a:gd name="connsiteX12" fmla="*/ 0 w 3124200"/>
              <a:gd name="connsiteY12" fmla="*/ 1675299 h 3124200"/>
              <a:gd name="connsiteX13" fmla="*/ 0 w 3124200"/>
              <a:gd name="connsiteY13" fmla="*/ 1448903 h 3124200"/>
              <a:gd name="connsiteX14" fmla="*/ 2379 w 3124200"/>
              <a:gd name="connsiteY14" fmla="*/ 1401801 h 3124200"/>
              <a:gd name="connsiteX15" fmla="*/ 1401801 w 3124200"/>
              <a:gd name="connsiteY15" fmla="*/ 2379 h 3124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124200" h="3124200">
                <a:moveTo>
                  <a:pt x="1448904" y="0"/>
                </a:moveTo>
                <a:lnTo>
                  <a:pt x="1675299" y="0"/>
                </a:lnTo>
                <a:lnTo>
                  <a:pt x="1722401" y="2379"/>
                </a:lnTo>
                <a:cubicBezTo>
                  <a:pt x="2460277" y="77314"/>
                  <a:pt x="3046888" y="663925"/>
                  <a:pt x="3121824" y="1401801"/>
                </a:cubicBezTo>
                <a:lnTo>
                  <a:pt x="3124200" y="1448864"/>
                </a:lnTo>
                <a:lnTo>
                  <a:pt x="3124200" y="1675339"/>
                </a:lnTo>
                <a:lnTo>
                  <a:pt x="3121824" y="1722401"/>
                </a:lnTo>
                <a:cubicBezTo>
                  <a:pt x="3046888" y="2460277"/>
                  <a:pt x="2460277" y="3046888"/>
                  <a:pt x="1722401" y="3121824"/>
                </a:cubicBezTo>
                <a:lnTo>
                  <a:pt x="1675338" y="3124200"/>
                </a:lnTo>
                <a:lnTo>
                  <a:pt x="1448865" y="3124200"/>
                </a:lnTo>
                <a:lnTo>
                  <a:pt x="1401801" y="3121824"/>
                </a:lnTo>
                <a:cubicBezTo>
                  <a:pt x="663926" y="3046888"/>
                  <a:pt x="77314" y="2460277"/>
                  <a:pt x="2379" y="1722401"/>
                </a:cubicBezTo>
                <a:lnTo>
                  <a:pt x="0" y="1675299"/>
                </a:lnTo>
                <a:lnTo>
                  <a:pt x="0" y="1448903"/>
                </a:lnTo>
                <a:lnTo>
                  <a:pt x="2379" y="1401801"/>
                </a:lnTo>
                <a:cubicBezTo>
                  <a:pt x="77314" y="663925"/>
                  <a:pt x="663926" y="77314"/>
                  <a:pt x="1401801" y="237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MY" dirty="0"/>
          </a:p>
        </p:txBody>
      </p:sp>
      <p:pic>
        <p:nvPicPr>
          <p:cNvPr id="11" name="图片 10" descr="logo[1]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12" name="图片 11" descr="透明版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3784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23C664F-6A4B-4291-9CD2-C0C3E89DE648}"/>
              </a:ext>
            </a:extLst>
          </p:cNvPr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8605894-FB6D-47C2-AF61-F6638F5B8433}"/>
                </a:ext>
              </a:extLst>
            </p:cNvPr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D8ADF6D-4276-420F-BEF2-46CF09618FD5}"/>
                </a:ext>
              </a:extLst>
            </p:cNvPr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8E622AE8-B49A-4B14-AF49-48361BACF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FD2783-108A-48CE-AFD4-1D1CE40126FF}"/>
              </a:ext>
            </a:extLst>
          </p:cNvPr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21B49C-5379-46E9-A864-94BA596AA60A}"/>
              </a:ext>
            </a:extLst>
          </p:cNvPr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9C88128-C03A-4EEA-A314-BE991106878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1" y="1545248"/>
            <a:ext cx="6096000" cy="1908221"/>
          </a:xfrm>
        </p:spPr>
        <p:txBody>
          <a:bodyPr/>
          <a:lstStyle/>
          <a:p>
            <a:endParaRPr lang="en-MY" dirty="0"/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EAC2A9BE-9B9F-4865-AAF8-5A3DA08830E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486400" y="3884589"/>
            <a:ext cx="6096000" cy="1908221"/>
          </a:xfrm>
        </p:spPr>
        <p:txBody>
          <a:bodyPr/>
          <a:lstStyle/>
          <a:p>
            <a:endParaRPr lang="en-MY" dirty="0"/>
          </a:p>
        </p:txBody>
      </p:sp>
      <p:pic>
        <p:nvPicPr>
          <p:cNvPr id="11" name="图片 10" descr="logo[1]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12" name="图片 11" descr="透明版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242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23C664F-6A4B-4291-9CD2-C0C3E89DE648}"/>
              </a:ext>
            </a:extLst>
          </p:cNvPr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8605894-FB6D-47C2-AF61-F6638F5B8433}"/>
                </a:ext>
              </a:extLst>
            </p:cNvPr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D8ADF6D-4276-420F-BEF2-46CF09618FD5}"/>
                </a:ext>
              </a:extLst>
            </p:cNvPr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8E622AE8-B49A-4B14-AF49-48361BACF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FD2783-108A-48CE-AFD4-1D1CE40126FF}"/>
              </a:ext>
            </a:extLst>
          </p:cNvPr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21B49C-5379-46E9-A864-94BA596AA60A}"/>
              </a:ext>
            </a:extLst>
          </p:cNvPr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9C88128-C03A-4EEA-A314-BE991106878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1" y="1545248"/>
            <a:ext cx="2743199" cy="4247562"/>
          </a:xfrm>
        </p:spPr>
        <p:txBody>
          <a:bodyPr/>
          <a:lstStyle/>
          <a:p>
            <a:endParaRPr lang="en-MY" dirty="0"/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EAC2A9BE-9B9F-4865-AAF8-5A3DA08830E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839200" y="1545249"/>
            <a:ext cx="2743200" cy="4247561"/>
          </a:xfrm>
        </p:spPr>
        <p:txBody>
          <a:bodyPr/>
          <a:lstStyle/>
          <a:p>
            <a:endParaRPr lang="en-MY" dirty="0"/>
          </a:p>
        </p:txBody>
      </p:sp>
      <p:pic>
        <p:nvPicPr>
          <p:cNvPr id="11" name="图片 10" descr="logo[1]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12" name="图片 11" descr="透明版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6172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7A5BE7BB-674C-4B7A-AF36-A86C4F53947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81100" y="1752600"/>
            <a:ext cx="2133600" cy="2133600"/>
          </a:xfrm>
          <a:custGeom>
            <a:avLst/>
            <a:gdLst>
              <a:gd name="connsiteX0" fmla="*/ 1066800 w 2133600"/>
              <a:gd name="connsiteY0" fmla="*/ 0 h 2133600"/>
              <a:gd name="connsiteX1" fmla="*/ 2133600 w 2133600"/>
              <a:gd name="connsiteY1" fmla="*/ 1066800 h 2133600"/>
              <a:gd name="connsiteX2" fmla="*/ 1066800 w 2133600"/>
              <a:gd name="connsiteY2" fmla="*/ 2133600 h 2133600"/>
              <a:gd name="connsiteX3" fmla="*/ 0 w 2133600"/>
              <a:gd name="connsiteY3" fmla="*/ 1066800 h 2133600"/>
              <a:gd name="connsiteX4" fmla="*/ 1066800 w 2133600"/>
              <a:gd name="connsiteY4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33600" h="2133600">
                <a:moveTo>
                  <a:pt x="1066800" y="0"/>
                </a:moveTo>
                <a:cubicBezTo>
                  <a:pt x="1655977" y="0"/>
                  <a:pt x="2133600" y="477623"/>
                  <a:pt x="2133600" y="1066800"/>
                </a:cubicBezTo>
                <a:cubicBezTo>
                  <a:pt x="2133600" y="1655977"/>
                  <a:pt x="1655977" y="2133600"/>
                  <a:pt x="1066800" y="2133600"/>
                </a:cubicBezTo>
                <a:cubicBezTo>
                  <a:pt x="477623" y="2133600"/>
                  <a:pt x="0" y="1655977"/>
                  <a:pt x="0" y="1066800"/>
                </a:cubicBezTo>
                <a:cubicBezTo>
                  <a:pt x="0" y="477623"/>
                  <a:pt x="477623" y="0"/>
                  <a:pt x="10668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MY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23C664F-6A4B-4291-9CD2-C0C3E89DE648}"/>
              </a:ext>
            </a:extLst>
          </p:cNvPr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8605894-FB6D-47C2-AF61-F6638F5B8433}"/>
                </a:ext>
              </a:extLst>
            </p:cNvPr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D8ADF6D-4276-420F-BEF2-46CF09618FD5}"/>
                </a:ext>
              </a:extLst>
            </p:cNvPr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8E622AE8-B49A-4B14-AF49-48361BACF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FD2783-108A-48CE-AFD4-1D1CE40126FF}"/>
              </a:ext>
            </a:extLst>
          </p:cNvPr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21B49C-5379-46E9-A864-94BA596AA60A}"/>
              </a:ext>
            </a:extLst>
          </p:cNvPr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0FE19EC6-9727-4B05-BA34-0DB940465BA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877300" y="1752600"/>
            <a:ext cx="2133600" cy="2133600"/>
          </a:xfrm>
          <a:custGeom>
            <a:avLst/>
            <a:gdLst>
              <a:gd name="connsiteX0" fmla="*/ 1066800 w 2133600"/>
              <a:gd name="connsiteY0" fmla="*/ 0 h 2133600"/>
              <a:gd name="connsiteX1" fmla="*/ 2133600 w 2133600"/>
              <a:gd name="connsiteY1" fmla="*/ 1066800 h 2133600"/>
              <a:gd name="connsiteX2" fmla="*/ 1066800 w 2133600"/>
              <a:gd name="connsiteY2" fmla="*/ 2133600 h 2133600"/>
              <a:gd name="connsiteX3" fmla="*/ 0 w 2133600"/>
              <a:gd name="connsiteY3" fmla="*/ 1066800 h 2133600"/>
              <a:gd name="connsiteX4" fmla="*/ 1066800 w 2133600"/>
              <a:gd name="connsiteY4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33600" h="2133600">
                <a:moveTo>
                  <a:pt x="1066800" y="0"/>
                </a:moveTo>
                <a:cubicBezTo>
                  <a:pt x="1655977" y="0"/>
                  <a:pt x="2133600" y="477623"/>
                  <a:pt x="2133600" y="1066800"/>
                </a:cubicBezTo>
                <a:cubicBezTo>
                  <a:pt x="2133600" y="1655977"/>
                  <a:pt x="1655977" y="2133600"/>
                  <a:pt x="1066800" y="2133600"/>
                </a:cubicBezTo>
                <a:cubicBezTo>
                  <a:pt x="477623" y="2133600"/>
                  <a:pt x="0" y="1655977"/>
                  <a:pt x="0" y="1066800"/>
                </a:cubicBezTo>
                <a:cubicBezTo>
                  <a:pt x="0" y="477623"/>
                  <a:pt x="477623" y="0"/>
                  <a:pt x="10668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MY" dirty="0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1E892D2C-8BD7-4DCB-B674-15AD6D468AA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029200" y="1752600"/>
            <a:ext cx="2133600" cy="2133600"/>
          </a:xfrm>
          <a:custGeom>
            <a:avLst/>
            <a:gdLst>
              <a:gd name="connsiteX0" fmla="*/ 1066800 w 2133600"/>
              <a:gd name="connsiteY0" fmla="*/ 0 h 2133600"/>
              <a:gd name="connsiteX1" fmla="*/ 2133600 w 2133600"/>
              <a:gd name="connsiteY1" fmla="*/ 1066800 h 2133600"/>
              <a:gd name="connsiteX2" fmla="*/ 1066800 w 2133600"/>
              <a:gd name="connsiteY2" fmla="*/ 2133600 h 2133600"/>
              <a:gd name="connsiteX3" fmla="*/ 0 w 2133600"/>
              <a:gd name="connsiteY3" fmla="*/ 1066800 h 2133600"/>
              <a:gd name="connsiteX4" fmla="*/ 1066800 w 2133600"/>
              <a:gd name="connsiteY4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33600" h="2133600">
                <a:moveTo>
                  <a:pt x="1066800" y="0"/>
                </a:moveTo>
                <a:cubicBezTo>
                  <a:pt x="1655977" y="0"/>
                  <a:pt x="2133600" y="477623"/>
                  <a:pt x="2133600" y="1066800"/>
                </a:cubicBezTo>
                <a:cubicBezTo>
                  <a:pt x="2133600" y="1655977"/>
                  <a:pt x="1655977" y="2133600"/>
                  <a:pt x="1066800" y="2133600"/>
                </a:cubicBezTo>
                <a:cubicBezTo>
                  <a:pt x="477623" y="2133600"/>
                  <a:pt x="0" y="1655977"/>
                  <a:pt x="0" y="1066800"/>
                </a:cubicBezTo>
                <a:cubicBezTo>
                  <a:pt x="0" y="477623"/>
                  <a:pt x="477623" y="0"/>
                  <a:pt x="10668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MY" dirty="0"/>
          </a:p>
        </p:txBody>
      </p:sp>
      <p:pic>
        <p:nvPicPr>
          <p:cNvPr id="11" name="图片 10" descr="logo[1]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12" name="图片 11" descr="透明版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6027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23C664F-6A4B-4291-9CD2-C0C3E89DE648}"/>
              </a:ext>
            </a:extLst>
          </p:cNvPr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8605894-FB6D-47C2-AF61-F6638F5B8433}"/>
                </a:ext>
              </a:extLst>
            </p:cNvPr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D8ADF6D-4276-420F-BEF2-46CF09618FD5}"/>
                </a:ext>
              </a:extLst>
            </p:cNvPr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8E622AE8-B49A-4B14-AF49-48361BACF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FD2783-108A-48CE-AFD4-1D1CE40126FF}"/>
              </a:ext>
            </a:extLst>
          </p:cNvPr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21B49C-5379-46E9-A864-94BA596AA60A}"/>
              </a:ext>
            </a:extLst>
          </p:cNvPr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9C88128-C03A-4EEA-A314-BE991106878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1" y="1545248"/>
            <a:ext cx="3200399" cy="1883752"/>
          </a:xfrm>
        </p:spPr>
        <p:txBody>
          <a:bodyPr/>
          <a:lstStyle/>
          <a:p>
            <a:endParaRPr lang="en-MY" dirty="0"/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1354957F-80B4-46C7-A287-B42652DC472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2001" y="1545248"/>
            <a:ext cx="3200399" cy="1883752"/>
          </a:xfrm>
        </p:spPr>
        <p:txBody>
          <a:bodyPr/>
          <a:lstStyle/>
          <a:p>
            <a:endParaRPr lang="en-MY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743DCDFD-88ED-4062-BAC1-82E6F0EB14B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495801" y="1545248"/>
            <a:ext cx="3200399" cy="1883752"/>
          </a:xfrm>
        </p:spPr>
        <p:txBody>
          <a:bodyPr/>
          <a:lstStyle/>
          <a:p>
            <a:endParaRPr lang="en-MY" dirty="0"/>
          </a:p>
        </p:txBody>
      </p:sp>
      <p:pic>
        <p:nvPicPr>
          <p:cNvPr id="11" name="图片 10" descr="logo[1]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12" name="图片 11" descr="透明版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5344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23C664F-6A4B-4291-9CD2-C0C3E89DE648}"/>
              </a:ext>
            </a:extLst>
          </p:cNvPr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8605894-FB6D-47C2-AF61-F6638F5B8433}"/>
                </a:ext>
              </a:extLst>
            </p:cNvPr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D8ADF6D-4276-420F-BEF2-46CF09618FD5}"/>
                </a:ext>
              </a:extLst>
            </p:cNvPr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8E622AE8-B49A-4B14-AF49-48361BACF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FD2783-108A-48CE-AFD4-1D1CE40126FF}"/>
              </a:ext>
            </a:extLst>
          </p:cNvPr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21B49C-5379-46E9-A864-94BA596AA60A}"/>
              </a:ext>
            </a:extLst>
          </p:cNvPr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C8EB094-476D-4C9D-8DF9-883B1260190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1600200"/>
            <a:ext cx="1828800" cy="1828800"/>
          </a:xfrm>
        </p:spPr>
        <p:txBody>
          <a:bodyPr/>
          <a:lstStyle/>
          <a:p>
            <a:endParaRPr lang="en-MY" dirty="0"/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36D98651-95F1-4295-BEAF-046B598BB1A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3907788"/>
            <a:ext cx="1828800" cy="1828800"/>
          </a:xfrm>
        </p:spPr>
        <p:txBody>
          <a:bodyPr/>
          <a:lstStyle/>
          <a:p>
            <a:endParaRPr lang="en-MY" dirty="0"/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33102A10-FFEE-4BEA-A35B-A35ABF60926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1600200"/>
            <a:ext cx="1828800" cy="1828800"/>
          </a:xfrm>
        </p:spPr>
        <p:txBody>
          <a:bodyPr/>
          <a:lstStyle/>
          <a:p>
            <a:endParaRPr lang="en-MY" dirty="0"/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8B900E7E-B7A7-44EB-8AA6-EB3FE8EE66B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3907788"/>
            <a:ext cx="1828800" cy="1828800"/>
          </a:xfrm>
        </p:spPr>
        <p:txBody>
          <a:bodyPr/>
          <a:lstStyle/>
          <a:p>
            <a:endParaRPr lang="en-MY" dirty="0"/>
          </a:p>
        </p:txBody>
      </p:sp>
      <p:pic>
        <p:nvPicPr>
          <p:cNvPr id="12" name="图片 11" descr="logo[1]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16" name="图片 15" descr="透明版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6402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hapter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oup of people in a room&#10;&#10;Description automatically generated">
            <a:extLst>
              <a:ext uri="{FF2B5EF4-FFF2-40B4-BE49-F238E27FC236}">
                <a16:creationId xmlns:a16="http://schemas.microsoft.com/office/drawing/2014/main" id="{8FF1EAA3-C558-4B49-830F-3CC61602CE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12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-23770" y="0"/>
            <a:ext cx="12192000" cy="6858000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CEE853-7997-4FBF-9B58-0EFD5A3135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0" y="2676173"/>
            <a:ext cx="5791200" cy="1477328"/>
          </a:xfrm>
        </p:spPr>
        <p:txBody>
          <a:bodyPr/>
          <a:lstStyle>
            <a:lvl1pPr algn="ctr">
              <a:defRPr sz="4800" b="1"/>
            </a:lvl1pPr>
          </a:lstStyle>
          <a:p>
            <a:r>
              <a:rPr lang="en-US" dirty="0"/>
              <a:t>Click to edit</a:t>
            </a:r>
            <a:endParaRPr lang="en-MY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0E988A-394C-49A0-90CA-2B739DB09A3C}"/>
              </a:ext>
            </a:extLst>
          </p:cNvPr>
          <p:cNvSpPr/>
          <p:nvPr userDrawn="1"/>
        </p:nvSpPr>
        <p:spPr>
          <a:xfrm>
            <a:off x="11582401" y="381000"/>
            <a:ext cx="609600" cy="647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92F45D-30CC-4BA4-8542-5189A1E14396}"/>
              </a:ext>
            </a:extLst>
          </p:cNvPr>
          <p:cNvSpPr/>
          <p:nvPr userDrawn="1"/>
        </p:nvSpPr>
        <p:spPr>
          <a:xfrm>
            <a:off x="11582401" y="0"/>
            <a:ext cx="609600" cy="61264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09676C96-BA42-476E-B4DD-A274D36D4744}"/>
              </a:ext>
            </a:extLst>
          </p:cNvPr>
          <p:cNvGrpSpPr/>
          <p:nvPr userDrawn="1"/>
        </p:nvGrpSpPr>
        <p:grpSpPr>
          <a:xfrm>
            <a:off x="4541217" y="1516136"/>
            <a:ext cx="3109566" cy="911046"/>
            <a:chOff x="4541217" y="1177231"/>
            <a:chExt cx="3109566" cy="91104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886AF44-A10C-40A0-9BB9-C8505FD20BE2}"/>
                </a:ext>
              </a:extLst>
            </p:cNvPr>
            <p:cNvSpPr/>
            <p:nvPr/>
          </p:nvSpPr>
          <p:spPr>
            <a:xfrm>
              <a:off x="4541217" y="1177231"/>
              <a:ext cx="3109566" cy="651569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sz="28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10" name="Right Triangle 9">
              <a:extLst>
                <a:ext uri="{FF2B5EF4-FFF2-40B4-BE49-F238E27FC236}">
                  <a16:creationId xmlns:a16="http://schemas.microsoft.com/office/drawing/2014/main" id="{9DF502EA-8BD2-4F9A-BF57-3665C9621128}"/>
                </a:ext>
              </a:extLst>
            </p:cNvPr>
            <p:cNvSpPr/>
            <p:nvPr/>
          </p:nvSpPr>
          <p:spPr>
            <a:xfrm rot="18900000">
              <a:off x="5913103" y="1717294"/>
              <a:ext cx="365794" cy="370983"/>
            </a:xfrm>
            <a:prstGeom prst="rtTriangle">
              <a:avLst/>
            </a:prstGeom>
            <a:solidFill>
              <a:schemeClr val="accent6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</p:spTree>
    <p:extLst>
      <p:ext uri="{BB962C8B-B14F-4D97-AF65-F5344CB8AC3E}">
        <p14:creationId xmlns:p14="http://schemas.microsoft.com/office/powerpoint/2010/main" val="1420335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C0793CE3-84E2-4299-8DCF-0D11EA8B94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47925" y="1733551"/>
            <a:ext cx="1896150" cy="4077630"/>
          </a:xfrm>
          <a:custGeom>
            <a:avLst/>
            <a:gdLst>
              <a:gd name="connsiteX0" fmla="*/ 288075 w 1896150"/>
              <a:gd name="connsiteY0" fmla="*/ 0 h 4077630"/>
              <a:gd name="connsiteX1" fmla="*/ 1608074 w 1896150"/>
              <a:gd name="connsiteY1" fmla="*/ 0 h 4077630"/>
              <a:gd name="connsiteX2" fmla="*/ 1608074 w 1896150"/>
              <a:gd name="connsiteY2" fmla="*/ 4590 h 4077630"/>
              <a:gd name="connsiteX3" fmla="*/ 1695196 w 1896150"/>
              <a:gd name="connsiteY3" fmla="*/ 4590 h 4077630"/>
              <a:gd name="connsiteX4" fmla="*/ 1896150 w 1896150"/>
              <a:gd name="connsiteY4" fmla="*/ 206242 h 4077630"/>
              <a:gd name="connsiteX5" fmla="*/ 1896150 w 1896150"/>
              <a:gd name="connsiteY5" fmla="*/ 3875978 h 4077630"/>
              <a:gd name="connsiteX6" fmla="*/ 1695196 w 1896150"/>
              <a:gd name="connsiteY6" fmla="*/ 4077630 h 4077630"/>
              <a:gd name="connsiteX7" fmla="*/ 200954 w 1896150"/>
              <a:gd name="connsiteY7" fmla="*/ 4077630 h 4077630"/>
              <a:gd name="connsiteX8" fmla="*/ 0 w 1896150"/>
              <a:gd name="connsiteY8" fmla="*/ 3875978 h 4077630"/>
              <a:gd name="connsiteX9" fmla="*/ 0 w 1896150"/>
              <a:gd name="connsiteY9" fmla="*/ 206242 h 4077630"/>
              <a:gd name="connsiteX10" fmla="*/ 200954 w 1896150"/>
              <a:gd name="connsiteY10" fmla="*/ 4590 h 4077630"/>
              <a:gd name="connsiteX11" fmla="*/ 288075 w 1896150"/>
              <a:gd name="connsiteY11" fmla="*/ 4590 h 4077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896150" h="4077630">
                <a:moveTo>
                  <a:pt x="288075" y="0"/>
                </a:moveTo>
                <a:lnTo>
                  <a:pt x="1608074" y="0"/>
                </a:lnTo>
                <a:lnTo>
                  <a:pt x="1608074" y="4590"/>
                </a:lnTo>
                <a:lnTo>
                  <a:pt x="1695196" y="4590"/>
                </a:lnTo>
                <a:cubicBezTo>
                  <a:pt x="1806180" y="4590"/>
                  <a:pt x="1896150" y="94873"/>
                  <a:pt x="1896150" y="206242"/>
                </a:cubicBezTo>
                <a:lnTo>
                  <a:pt x="1896150" y="3875978"/>
                </a:lnTo>
                <a:cubicBezTo>
                  <a:pt x="1896150" y="3987347"/>
                  <a:pt x="1806180" y="4077630"/>
                  <a:pt x="1695196" y="4077630"/>
                </a:cubicBezTo>
                <a:lnTo>
                  <a:pt x="200954" y="4077630"/>
                </a:lnTo>
                <a:cubicBezTo>
                  <a:pt x="89970" y="4077630"/>
                  <a:pt x="0" y="3987347"/>
                  <a:pt x="0" y="3875978"/>
                </a:cubicBezTo>
                <a:lnTo>
                  <a:pt x="0" y="206242"/>
                </a:lnTo>
                <a:cubicBezTo>
                  <a:pt x="0" y="94872"/>
                  <a:pt x="89970" y="4590"/>
                  <a:pt x="200954" y="4590"/>
                </a:cubicBezTo>
                <a:lnTo>
                  <a:pt x="288075" y="45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MY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23C664F-6A4B-4291-9CD2-C0C3E89DE648}"/>
              </a:ext>
            </a:extLst>
          </p:cNvPr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8605894-FB6D-47C2-AF61-F6638F5B8433}"/>
                </a:ext>
              </a:extLst>
            </p:cNvPr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D8ADF6D-4276-420F-BEF2-46CF09618FD5}"/>
                </a:ext>
              </a:extLst>
            </p:cNvPr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8E622AE8-B49A-4B14-AF49-48361BACF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FD2783-108A-48CE-AFD4-1D1CE40126FF}"/>
              </a:ext>
            </a:extLst>
          </p:cNvPr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21B49C-5379-46E9-A864-94BA596AA60A}"/>
              </a:ext>
            </a:extLst>
          </p:cNvPr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9830475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10F6FE2-7CBF-4BA8-AAA9-F628EA0B083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35952" y="2391156"/>
            <a:ext cx="4599432" cy="2602410"/>
          </a:xfrm>
          <a:custGeom>
            <a:avLst/>
            <a:gdLst>
              <a:gd name="connsiteX0" fmla="*/ 0 w 4599432"/>
              <a:gd name="connsiteY0" fmla="*/ 0 h 2602410"/>
              <a:gd name="connsiteX1" fmla="*/ 4599432 w 4599432"/>
              <a:gd name="connsiteY1" fmla="*/ 0 h 2602410"/>
              <a:gd name="connsiteX2" fmla="*/ 4599432 w 4599432"/>
              <a:gd name="connsiteY2" fmla="*/ 2602410 h 2602410"/>
              <a:gd name="connsiteX3" fmla="*/ 0 w 4599432"/>
              <a:gd name="connsiteY3" fmla="*/ 2602410 h 2602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99432" h="2602410">
                <a:moveTo>
                  <a:pt x="0" y="0"/>
                </a:moveTo>
                <a:lnTo>
                  <a:pt x="4599432" y="0"/>
                </a:lnTo>
                <a:lnTo>
                  <a:pt x="4599432" y="2602410"/>
                </a:lnTo>
                <a:lnTo>
                  <a:pt x="0" y="26024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MY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23C664F-6A4B-4291-9CD2-C0C3E89DE648}"/>
              </a:ext>
            </a:extLst>
          </p:cNvPr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8605894-FB6D-47C2-AF61-F6638F5B8433}"/>
                </a:ext>
              </a:extLst>
            </p:cNvPr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D8ADF6D-4276-420F-BEF2-46CF09618FD5}"/>
                </a:ext>
              </a:extLst>
            </p:cNvPr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8E622AE8-B49A-4B14-AF49-48361BACF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FD2783-108A-48CE-AFD4-1D1CE40126FF}"/>
              </a:ext>
            </a:extLst>
          </p:cNvPr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21B49C-5379-46E9-A864-94BA596AA60A}"/>
              </a:ext>
            </a:extLst>
          </p:cNvPr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pic>
        <p:nvPicPr>
          <p:cNvPr id="22" name="Picture 21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F642300E-D11A-4DAC-A123-CB5D44B221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967333" y="2254186"/>
            <a:ext cx="6462194" cy="3003486"/>
          </a:xfrm>
          <a:custGeom>
            <a:avLst/>
            <a:gdLst>
              <a:gd name="connsiteX0" fmla="*/ 1143000 w 7772400"/>
              <a:gd name="connsiteY0" fmla="*/ 194854 h 4180114"/>
              <a:gd name="connsiteX1" fmla="*/ 1143000 w 7772400"/>
              <a:gd name="connsiteY1" fmla="*/ 3776254 h 4180114"/>
              <a:gd name="connsiteX2" fmla="*/ 6629402 w 7772400"/>
              <a:gd name="connsiteY2" fmla="*/ 3776254 h 4180114"/>
              <a:gd name="connsiteX3" fmla="*/ 6629402 w 7772400"/>
              <a:gd name="connsiteY3" fmla="*/ 194854 h 4180114"/>
              <a:gd name="connsiteX4" fmla="*/ 0 w 7772400"/>
              <a:gd name="connsiteY4" fmla="*/ 0 h 4180114"/>
              <a:gd name="connsiteX5" fmla="*/ 7772400 w 7772400"/>
              <a:gd name="connsiteY5" fmla="*/ 0 h 4180114"/>
              <a:gd name="connsiteX6" fmla="*/ 7772400 w 7772400"/>
              <a:gd name="connsiteY6" fmla="*/ 4180114 h 4180114"/>
              <a:gd name="connsiteX7" fmla="*/ 0 w 7772400"/>
              <a:gd name="connsiteY7" fmla="*/ 4180114 h 4180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72400" h="4180114">
                <a:moveTo>
                  <a:pt x="1143000" y="194854"/>
                </a:moveTo>
                <a:lnTo>
                  <a:pt x="1143000" y="3776254"/>
                </a:lnTo>
                <a:lnTo>
                  <a:pt x="6629402" y="3776254"/>
                </a:lnTo>
                <a:lnTo>
                  <a:pt x="6629402" y="194854"/>
                </a:lnTo>
                <a:close/>
                <a:moveTo>
                  <a:pt x="0" y="0"/>
                </a:moveTo>
                <a:lnTo>
                  <a:pt x="7772400" y="0"/>
                </a:lnTo>
                <a:lnTo>
                  <a:pt x="7772400" y="4180114"/>
                </a:lnTo>
                <a:lnTo>
                  <a:pt x="0" y="4180114"/>
                </a:lnTo>
                <a:close/>
              </a:path>
            </a:pathLst>
          </a:custGeom>
        </p:spPr>
      </p:pic>
      <p:pic>
        <p:nvPicPr>
          <p:cNvPr id="11" name="图片 10" descr="logo[1]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12" name="图片 11" descr="透明版.png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7685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23C664F-6A4B-4291-9CD2-C0C3E89DE648}"/>
              </a:ext>
            </a:extLst>
          </p:cNvPr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8605894-FB6D-47C2-AF61-F6638F5B8433}"/>
                </a:ext>
              </a:extLst>
            </p:cNvPr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D8ADF6D-4276-420F-BEF2-46CF09618FD5}"/>
                </a:ext>
              </a:extLst>
            </p:cNvPr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8E622AE8-B49A-4B14-AF49-48361BACF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FD2783-108A-48CE-AFD4-1D1CE40126FF}"/>
              </a:ext>
            </a:extLst>
          </p:cNvPr>
          <p:cNvSpPr/>
          <p:nvPr userDrawn="1"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21B49C-5379-46E9-A864-94BA596AA60A}"/>
              </a:ext>
            </a:extLst>
          </p:cNvPr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1AF1CC9-7BBE-4118-87A3-18D56728ED2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2800" y="1600200"/>
            <a:ext cx="1828800" cy="1828800"/>
          </a:xfrm>
        </p:spPr>
        <p:txBody>
          <a:bodyPr/>
          <a:lstStyle/>
          <a:p>
            <a:endParaRPr lang="en-MY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C700E856-EE54-4C5C-AA9A-5CE6A0F8668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010400" y="1600200"/>
            <a:ext cx="1828800" cy="1828800"/>
          </a:xfrm>
        </p:spPr>
        <p:txBody>
          <a:bodyPr/>
          <a:lstStyle/>
          <a:p>
            <a:endParaRPr lang="en-MY" dirty="0"/>
          </a:p>
        </p:txBody>
      </p:sp>
      <p:pic>
        <p:nvPicPr>
          <p:cNvPr id="11" name="图片 10" descr="logo[1]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12" name="图片 11" descr="透明版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4911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s and 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23C664F-6A4B-4291-9CD2-C0C3E89DE648}"/>
              </a:ext>
            </a:extLst>
          </p:cNvPr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8605894-FB6D-47C2-AF61-F6638F5B8433}"/>
                </a:ext>
              </a:extLst>
            </p:cNvPr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D8ADF6D-4276-420F-BEF2-46CF09618FD5}"/>
                </a:ext>
              </a:extLst>
            </p:cNvPr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8E622AE8-B49A-4B14-AF49-48361BACF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pic>
        <p:nvPicPr>
          <p:cNvPr id="13" name="Graphic 12" descr="Thumbs Up Sign">
            <a:extLst>
              <a:ext uri="{FF2B5EF4-FFF2-40B4-BE49-F238E27FC236}">
                <a16:creationId xmlns:a16="http://schemas.microsoft.com/office/drawing/2014/main" id="{35640ED0-03FB-42E4-ADC6-DCDE3EC5C2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28600" y="1905000"/>
            <a:ext cx="2438400" cy="2438400"/>
          </a:xfrm>
          <a:prstGeom prst="rect">
            <a:avLst/>
          </a:prstGeom>
        </p:spPr>
      </p:pic>
      <p:pic>
        <p:nvPicPr>
          <p:cNvPr id="14" name="Graphic 13" descr="Thumbs Up Sign">
            <a:extLst>
              <a:ext uri="{FF2B5EF4-FFF2-40B4-BE49-F238E27FC236}">
                <a16:creationId xmlns:a16="http://schemas.microsoft.com/office/drawing/2014/main" id="{CC70330C-0624-4195-8D55-80D4258F130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9982200" y="2514600"/>
            <a:ext cx="2438400" cy="2438400"/>
          </a:xfrm>
          <a:prstGeom prst="rect">
            <a:avLst/>
          </a:prstGeom>
        </p:spPr>
      </p:pic>
      <p:sp>
        <p:nvSpPr>
          <p:cNvPr id="18" name="Rectangle 8">
            <a:extLst>
              <a:ext uri="{FF2B5EF4-FFF2-40B4-BE49-F238E27FC236}">
                <a16:creationId xmlns:a16="http://schemas.microsoft.com/office/drawing/2014/main" id="{89FD2783-108A-48CE-AFD4-1D1CE40126FF}"/>
              </a:ext>
            </a:extLst>
          </p:cNvPr>
          <p:cNvSpPr/>
          <p:nvPr userDrawn="1"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221B49C-5379-46E9-A864-94BA596AA60A}"/>
              </a:ext>
            </a:extLst>
          </p:cNvPr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pic>
        <p:nvPicPr>
          <p:cNvPr id="11" name="图片 10" descr="logo[1].png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12" name="图片 11" descr="透明版.png"/>
          <p:cNvPicPr>
            <a:picLocks noChangeAspect="1"/>
          </p:cNvPicPr>
          <p:nvPr userDrawn="1"/>
        </p:nvPicPr>
        <p:blipFill>
          <a:blip r:embed="rId7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7183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tore front at day&#10;&#10;Description automatically generated">
            <a:extLst>
              <a:ext uri="{FF2B5EF4-FFF2-40B4-BE49-F238E27FC236}">
                <a16:creationId xmlns:a16="http://schemas.microsoft.com/office/drawing/2014/main" id="{D0677836-BAC0-48C7-BF02-DE5D4852F6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grayscl/>
            <a:lum bright="30000"/>
          </a:blip>
          <a:srcRect b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0AA24A-9C8D-4325-8A80-ACD80CDD4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5274" y="2719385"/>
            <a:ext cx="10972800" cy="638177"/>
          </a:xfrm>
        </p:spPr>
        <p:txBody>
          <a:bodyPr lIns="0" tIns="0" rIns="0" bIns="0" anchor="b">
            <a:noAutofit/>
          </a:bodyPr>
          <a:lstStyle>
            <a:lvl1pPr algn="ctr">
              <a:defRPr sz="3600" b="1"/>
            </a:lvl1pPr>
          </a:lstStyle>
          <a:p>
            <a:r>
              <a:rPr lang="en-US" dirty="0"/>
              <a:t>THANKS FOR YOUR ATTENTION!</a:t>
            </a:r>
            <a:endParaRPr lang="en-MY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B6B682-FD61-45D2-A5AC-F8AB378C676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00434" y="4503748"/>
            <a:ext cx="5867400" cy="425450"/>
          </a:xfrm>
        </p:spPr>
        <p:txBody>
          <a:bodyPr lIns="0" tIns="0" rIns="0" bIns="0"/>
          <a:lstStyle>
            <a:lvl1pPr marL="0" indent="0" algn="ctr">
              <a:buNone/>
              <a:defRPr sz="2400" b="1" baseline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Reporter:  XXXX    Time: XXXXX</a:t>
            </a:r>
            <a:endParaRPr lang="en-MY" dirty="0"/>
          </a:p>
        </p:txBody>
      </p:sp>
      <p:grpSp>
        <p:nvGrpSpPr>
          <p:cNvPr id="21" name="组合 20"/>
          <p:cNvGrpSpPr/>
          <p:nvPr userDrawn="1"/>
        </p:nvGrpSpPr>
        <p:grpSpPr>
          <a:xfrm flipV="1">
            <a:off x="-47668" y="2786058"/>
            <a:ext cx="2119306" cy="500066"/>
            <a:chOff x="0" y="3571876"/>
            <a:chExt cx="12192000" cy="112297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E88D6F4-B918-46C6-ACBF-4514F099FDD7}"/>
                </a:ext>
              </a:extLst>
            </p:cNvPr>
            <p:cNvSpPr/>
            <p:nvPr userDrawn="1"/>
          </p:nvSpPr>
          <p:spPr>
            <a:xfrm rot="5400000">
              <a:off x="6060280" y="-2488404"/>
              <a:ext cx="71439" cy="1219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18" name="Rectangle 2">
              <a:extLst>
                <a:ext uri="{FF2B5EF4-FFF2-40B4-BE49-F238E27FC236}">
                  <a16:creationId xmlns:a16="http://schemas.microsoft.com/office/drawing/2014/main" id="{0221B49C-5379-46E9-A864-94BA596AA60A}"/>
                </a:ext>
              </a:extLst>
            </p:cNvPr>
            <p:cNvSpPr/>
            <p:nvPr userDrawn="1"/>
          </p:nvSpPr>
          <p:spPr>
            <a:xfrm rot="5400000">
              <a:off x="6073140" y="-2434686"/>
              <a:ext cx="45719" cy="1219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flipV="1">
            <a:off x="10096528" y="2803530"/>
            <a:ext cx="2119306" cy="500066"/>
            <a:chOff x="0" y="3571876"/>
            <a:chExt cx="12192000" cy="112297"/>
          </a:xfrm>
        </p:grpSpPr>
        <p:sp>
          <p:nvSpPr>
            <p:cNvPr id="13" name="Rectangle 9">
              <a:extLst>
                <a:ext uri="{FF2B5EF4-FFF2-40B4-BE49-F238E27FC236}">
                  <a16:creationId xmlns:a16="http://schemas.microsoft.com/office/drawing/2014/main" id="{7E88D6F4-B918-46C6-ACBF-4514F099FDD7}"/>
                </a:ext>
              </a:extLst>
            </p:cNvPr>
            <p:cNvSpPr/>
            <p:nvPr userDrawn="1"/>
          </p:nvSpPr>
          <p:spPr>
            <a:xfrm rot="5400000">
              <a:off x="6060280" y="-2488404"/>
              <a:ext cx="71439" cy="1219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14" name="Rectangle 2">
              <a:extLst>
                <a:ext uri="{FF2B5EF4-FFF2-40B4-BE49-F238E27FC236}">
                  <a16:creationId xmlns:a16="http://schemas.microsoft.com/office/drawing/2014/main" id="{0221B49C-5379-46E9-A864-94BA596AA60A}"/>
                </a:ext>
              </a:extLst>
            </p:cNvPr>
            <p:cNvSpPr/>
            <p:nvPr userDrawn="1"/>
          </p:nvSpPr>
          <p:spPr>
            <a:xfrm rot="5400000">
              <a:off x="6073140" y="-2434686"/>
              <a:ext cx="45719" cy="1219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</p:grpSp>
      <p:pic>
        <p:nvPicPr>
          <p:cNvPr id="17" name="图片 16" descr="logo[1].png"/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lum bright="-40000"/>
          </a:blip>
          <a:stretch>
            <a:fillRect/>
          </a:stretch>
        </p:blipFill>
        <p:spPr>
          <a:xfrm>
            <a:off x="380961" y="285728"/>
            <a:ext cx="4476789" cy="821767"/>
          </a:xfrm>
          <a:prstGeom prst="rect">
            <a:avLst/>
          </a:prstGeom>
        </p:spPr>
      </p:pic>
      <p:pic>
        <p:nvPicPr>
          <p:cNvPr id="19" name="图片 18" descr="透明版.png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4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D07259-A107-464D-AACA-5097E9D1C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E04590-C382-4D5E-92B4-1FC37D9165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53941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2" r:id="rId3"/>
    <p:sldLayoutId id="2147483681" r:id="rId4"/>
    <p:sldLayoutId id="2147483664" r:id="rId5"/>
    <p:sldLayoutId id="2147483665" r:id="rId6"/>
    <p:sldLayoutId id="2147483660" r:id="rId7"/>
    <p:sldLayoutId id="2147483666" r:id="rId8"/>
    <p:sldLayoutId id="2147483667" r:id="rId9"/>
    <p:sldLayoutId id="2147483668" r:id="rId10"/>
    <p:sldLayoutId id="2147483670" r:id="rId11"/>
    <p:sldLayoutId id="2147483682" r:id="rId12"/>
    <p:sldLayoutId id="2147483671" r:id="rId13"/>
    <p:sldLayoutId id="2147483672" r:id="rId14"/>
    <p:sldLayoutId id="2147483673" r:id="rId15"/>
    <p:sldLayoutId id="2147483675" r:id="rId16"/>
    <p:sldLayoutId id="2147483674" r:id="rId17"/>
    <p:sldLayoutId id="2147483676" r:id="rId18"/>
    <p:sldLayoutId id="2147483683" r:id="rId19"/>
    <p:sldLayoutId id="2147483680" r:id="rId20"/>
    <p:sldLayoutId id="2147483678" r:id="rId21"/>
    <p:sldLayoutId id="2147483677" r:id="rId22"/>
    <p:sldLayoutId id="2147483679" r:id="rId23"/>
    <p:sldLayoutId id="2147483663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67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6" pos="384" userDrawn="1">
          <p15:clr>
            <a:srgbClr val="F26B43"/>
          </p15:clr>
        </p15:guide>
        <p15:guide id="7" pos="729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'1.0' encoding='UTF-8'?>
<Relationships xmlns="http://schemas.openxmlformats.org/package/2006/relationships"><Relationship Id="rId3" Type="http://schemas.openxmlformats.org/officeDocument/2006/relationships/image" Target="../media/image16.jp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17.jpg" /><Relationship Id="rId5" Type="http://schemas.openxmlformats.org/officeDocument/2006/relationships/image" Target="../media/content_image341.png" /><Relationship Id="rId6" Type="http://schemas.openxmlformats.org/officeDocument/2006/relationships/image" Target="../media/content_image342.png" /><Relationship Id="rId7" Type="http://schemas.openxmlformats.org/officeDocument/2006/relationships/image" Target="../media/content_image343.png" /><Relationship Id="rId8" Type="http://schemas.openxmlformats.org/officeDocument/2006/relationships/image" Target="../media/content_image344.jpeg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'1.0' encoding='UTF-8'?>
<Relationships xmlns="http://schemas.openxmlformats.org/package/2006/relationships"><Relationship Id="rId3" Type="http://schemas.openxmlformats.org/officeDocument/2006/relationships/image" Target="../media/image18.png" /><Relationship Id="rId7" Type="http://schemas.openxmlformats.org/officeDocument/2006/relationships/image" Target="../media/image22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21.png" /><Relationship Id="rId5" Type="http://schemas.openxmlformats.org/officeDocument/2006/relationships/image" Target="../media/image20.png" /><Relationship Id="rId4" Type="http://schemas.openxmlformats.org/officeDocument/2006/relationships/image" Target="../media/image19.png" /><Relationship Id="rId8" Type="http://schemas.openxmlformats.org/officeDocument/2006/relationships/image" Target="../media/content_image345.png" /><Relationship Id="rId9" Type="http://schemas.openxmlformats.org/officeDocument/2006/relationships/image" Target="../media/content_image346.png" /><Relationship Id="rId10" Type="http://schemas.openxmlformats.org/officeDocument/2006/relationships/image" Target="../media/content_image347.png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'1.0' encoding='UTF-8'?>
<Relationships xmlns="http://schemas.openxmlformats.org/package/2006/relationships"><Relationship Id="rId8" Type="http://schemas.openxmlformats.org/officeDocument/2006/relationships/image" Target="../media/image24.svg" /><Relationship Id="rId13" Type="http://schemas.openxmlformats.org/officeDocument/2006/relationships/image" Target="../media/image31.png" /><Relationship Id="rId7" Type="http://schemas.openxmlformats.org/officeDocument/2006/relationships/image" Target="../media/image23.png" /><Relationship Id="rId12" Type="http://schemas.openxmlformats.org/officeDocument/2006/relationships/image" Target="../media/image30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28.png" /><Relationship Id="rId11" Type="http://schemas.openxmlformats.org/officeDocument/2006/relationships/image" Target="../media/image29.png" /><Relationship Id="rId5" Type="http://schemas.openxmlformats.org/officeDocument/2006/relationships/image" Target="../media/image27.png" /><Relationship Id="rId10" Type="http://schemas.openxmlformats.org/officeDocument/2006/relationships/image" Target="../media/image26.jpeg" /><Relationship Id="rId4" Type="http://schemas.openxmlformats.org/officeDocument/2006/relationships/image" Target="../media/image26.png" /><Relationship Id="rId9" Type="http://schemas.openxmlformats.org/officeDocument/2006/relationships/image" Target="../media/image25.jpg" /><Relationship Id="rId14" Type="http://schemas.openxmlformats.org/officeDocument/2006/relationships/image" Target="../media/content_image348.png" /><Relationship Id="rId15" Type="http://schemas.openxmlformats.org/officeDocument/2006/relationships/image" Target="../media/content_image349.png" /><Relationship Id="rId16" Type="http://schemas.openxmlformats.org/officeDocument/2006/relationships/image" Target="../media/content_image350.png" /><Relationship Id="rId17" Type="http://schemas.openxmlformats.org/officeDocument/2006/relationships/image" Target="../media/content_image351.jpeg" /><Relationship Id="rId18" Type="http://schemas.openxmlformats.org/officeDocument/2006/relationships/image" Target="../media/content_image352.png" /><Relationship Id="rId19" Type="http://schemas.openxmlformats.org/officeDocument/2006/relationships/image" Target="../media/content_image353.png" /></Relationships>
</file>

<file path=ppt/slides/_rels/slide9.xml.rels><?xml version='1.0' encoding='UTF-8'?>
<Relationships xmlns="http://schemas.openxmlformats.org/package/2006/relationships"><Relationship Id="rId3" Type="http://schemas.openxmlformats.org/officeDocument/2006/relationships/image" Target="../media/image32.png" /><Relationship Id="rId7" Type="http://schemas.openxmlformats.org/officeDocument/2006/relationships/image" Target="../media/image33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320.png" /><Relationship Id="rId5" Type="http://schemas.openxmlformats.org/officeDocument/2006/relationships/image" Target="../media/image310.png" /><Relationship Id="rId8" Type="http://schemas.openxmlformats.org/officeDocument/2006/relationships/image" Target="../media/content_image354.png" /><Relationship Id="rId9" Type="http://schemas.openxmlformats.org/officeDocument/2006/relationships/image" Target="../media/content_image355.png" /><Relationship Id="rId10" Type="http://schemas.openxmlformats.org/officeDocument/2006/relationships/image" Target="../media/content_image356.png" /><Relationship Id="rId11" Type="http://schemas.openxmlformats.org/officeDocument/2006/relationships/image" Target="../media/content_image357.png" /></Relationships>
</file>

<file path=ppt/slides/_rels/slide10.xml.rels><?xml version='1.0' encoding='UTF-8'?>
<Relationships xmlns="http://schemas.openxmlformats.org/package/2006/relationships"><Relationship Id="rId3" Type="http://schemas.openxmlformats.org/officeDocument/2006/relationships/image" Target="../media/image34.png" /><Relationship Id="rId7" Type="http://schemas.openxmlformats.org/officeDocument/2006/relationships/image" Target="../media/image38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37.svg" /><Relationship Id="rId5" Type="http://schemas.openxmlformats.org/officeDocument/2006/relationships/image" Target="../media/image36.png" /><Relationship Id="rId4" Type="http://schemas.openxmlformats.org/officeDocument/2006/relationships/image" Target="../media/image35.svg" /><Relationship Id="rId8" Type="http://schemas.openxmlformats.org/officeDocument/2006/relationships/image" Target="../media/content_image326.png" /><Relationship Id="rId9" Type="http://schemas.openxmlformats.org/officeDocument/2006/relationships/image" Target="../media/content_image327.png" /><Relationship Id="rId10" Type="http://schemas.openxmlformats.org/officeDocument/2006/relationships/image" Target="../media/content_image328.png" /><Relationship Id="rId11" Type="http://schemas.openxmlformats.org/officeDocument/2006/relationships/image" Target="../media/content_image329.png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12.xml.rels><?xml version='1.0' encoding='UTF-8'?>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7.xml" /><Relationship Id="rId3" Type="http://schemas.openxmlformats.org/officeDocument/2006/relationships/image" Target="../media/content_image337.png" /><Relationship Id="rId4" Type="http://schemas.openxmlformats.org/officeDocument/2006/relationships/image" Target="../media/content_image338.png" /><Relationship Id="rId5" Type="http://schemas.openxmlformats.org/officeDocument/2006/relationships/image" Target="../media/content_image339.png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8BCC9E00-B041-4573-8344-7171524FCE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9606" y="2564904"/>
            <a:ext cx="9612788" cy="1330325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结合大模型的表格识别方法与系统</a:t>
            </a:r>
            <a:br>
              <a:rPr lang="zh-CN" altLang="en-US" dirty="0"/>
            </a:br>
            <a:r>
              <a:rPr lang="zh-CN" altLang="en-US" sz="2700" dirty="0"/>
              <a:t>硕士学位论文中期答辩</a:t>
            </a:r>
            <a:endParaRPr lang="en-MY" sz="2700" dirty="0">
              <a:ea typeface="黑体" panose="02010609060101010101" pitchFamily="49" charset="-122"/>
            </a:endParaRPr>
          </a:p>
        </p:txBody>
      </p:sp>
      <p:sp>
        <p:nvSpPr>
          <p:cNvPr id="3" name="Subtitle 2">
            <a:extLst>
              <a:ext uri="{FF2B5EF4-FFF2-40B4-BE49-F238E27FC236}">
                <ns2:creationId id="{F6729196-F6F7-4809-B81F-736357440DC3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2500338" y="4509120"/>
            <a:ext cx="7268070" cy="1656184"/>
          </a:xfrm>
        </p:spPr>
        <p:txBody>
          <a:bodyPr>
            <a:normAutofit fontScale="77500" lnSpcReduction="20000"/>
          </a:bodyPr>
          <a:lstStyle/>
          <a:p>
            <a:pPr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rgbClr val="2359A8"/>
                </a:solidFill>
                <a:latin typeface="+mj-lt"/>
                <a:ea typeface="宋体" panose="02010600030101010101" pitchFamily="2" charset="-122"/>
              </a:rPr>
              <a:t>报告人：覃浩</a:t>
            </a:r>
            <a:endParaRPr lang="en-US" altLang="zh-CN" b="1" dirty="0">
              <a:solidFill>
                <a:srgbClr val="2359A8"/>
              </a:solidFill>
              <a:latin typeface="+mj-lt"/>
              <a:ea typeface="宋体" panose="02010600030101010101" pitchFamily="2" charset="-122"/>
            </a:endParaRPr>
          </a:p>
          <a:p>
            <a:pPr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rgbClr val="2359A8"/>
                </a:solidFill>
                <a:latin typeface="+mj-lt"/>
                <a:ea typeface="宋体" panose="02010600030101010101" pitchFamily="2" charset="-122"/>
              </a:rPr>
              <a:t>指导老师：卢光明</a:t>
            </a:r>
            <a:endParaRPr lang="en-US" altLang="zh-CN" b="1" dirty="0">
              <a:solidFill>
                <a:srgbClr val="2359A8"/>
              </a:solidFill>
              <a:latin typeface="+mj-lt"/>
              <a:ea typeface="宋体" panose="02010600030101010101" pitchFamily="2" charset="-122"/>
            </a:endParaRPr>
          </a:p>
          <a:p>
            <a:pPr algn="ctr">
              <a:lnSpc>
                <a:spcPct val="150000"/>
              </a:lnSpc>
              <a:buNone/>
            </a:pPr>
            <a:r>
              <a:rPr lang="en-US" altLang="zh-CN" b="1" dirty="0">
                <a:solidFill>
                  <a:srgbClr val="2359A8"/>
                </a:solidFill>
                <a:latin typeface="+mj-lt"/>
                <a:ea typeface="宋体" panose="02010600030101010101" pitchFamily="2" charset="-122"/>
              </a:rPr>
              <a:t>2026年6月22日</a:t>
            </a:r>
            <a:r>
              <a:rPr lang="zh-CN" altLang="en-US" b="1" dirty="0">
                <a:solidFill>
                  <a:srgbClr val="2359A8"/>
                </a:solidFill>
                <a:latin typeface="+mj-lt"/>
                <a:ea typeface="宋体" panose="02010600030101010101" pitchFamily="2" charset="-122"/>
              </a:rPr>
              <a:t/>
            </a:r>
            <a:r>
              <a:rPr lang="en-US" altLang="zh-CN" b="1" dirty="0">
                <a:solidFill>
                  <a:srgbClr val="2359A8"/>
                </a:solidFill>
                <a:latin typeface="+mj-lt"/>
                <a:ea typeface="宋体" panose="02010600030101010101" pitchFamily="2" charset="-122"/>
              </a:rPr>
              <a:t/>
            </a:r>
            <a:r>
              <a:rPr lang="zh-CN" altLang="en-US" b="1" dirty="0">
                <a:solidFill>
                  <a:srgbClr val="2359A8"/>
                </a:solidFill>
                <a:latin typeface="+mj-lt"/>
                <a:ea typeface="宋体" panose="02010600030101010101" pitchFamily="2" charset="-122"/>
              </a:rPr>
              <a:t/>
            </a:r>
            <a:r>
              <a:rPr lang="en-US" altLang="zh-CN" b="1" dirty="0">
                <a:solidFill>
                  <a:srgbClr val="2359A8"/>
                </a:solidFill>
                <a:latin typeface="+mj-lt"/>
                <a:ea typeface="宋体" panose="02010600030101010101" pitchFamily="2" charset="-122"/>
              </a:rPr>
              <a:t/>
            </a:r>
            <a:r>
              <a:rPr lang="zh-CN" altLang="en-US" b="1" dirty="0">
                <a:solidFill>
                  <a:srgbClr val="2359A8"/>
                </a:solidFill>
                <a:latin typeface="+mj-lt"/>
                <a:ea typeface="宋体" panose="02010600030101010101" pitchFamily="2" charset="-122"/>
              </a:rPr>
              <a:t/>
            </a:r>
            <a:endParaRPr lang="en-MY" b="1" dirty="0">
              <a:solidFill>
                <a:srgbClr val="2359A8"/>
              </a:solidFill>
              <a:latin typeface="+mj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ns3:creationId val="4021843473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ns2:creationId id="{35982CBB-54FC-4BC9-845B-6D19C64DCCC6}"/>
              </a:ext>
            </a:extLst>
          </p:cNvPr>
          <p:cNvGrpSpPr/>
          <p:nvPr/>
        </p:nvGrpSpPr>
        <p:grpSpPr>
          <a:xfrm>
            <a:off x="4267200" y="1752600"/>
            <a:ext cx="3956607" cy="738664"/>
            <a:chOff x="4267200" y="1600200"/>
            <a:chExt cx="3956607" cy="738664"/>
          </a:xfrm>
        </p:grpSpPr>
        <p:sp>
          <p:nvSpPr>
            <p:cNvPr id="6" name="TextBox 5">
              <a:extLst>
                <a:ext uri="{FF2B5EF4-FFF2-40B4-BE49-F238E27FC236}">
                  <ns2:creationId id="{C7356595-B562-45DD-BC5E-DCE3A8F515C7}"/>
                </a:ext>
              </a:extLst>
            </p:cNvPr>
            <p:cNvSpPr txBox="1"/>
            <p:nvPr/>
          </p:nvSpPr>
          <p:spPr>
            <a:xfrm>
              <a:off x="5351226" y="1723311"/>
              <a:ext cx="2872581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zh-CN" altLang="en-US" sz="3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研究背景</a:t>
              </a:r>
              <a:endParaRPr lang="en-MY" sz="3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ns2:creationId id="{F4BA672D-B356-48F3-8264-E12E4053C019}"/>
                </a:ext>
              </a:extLst>
            </p:cNvPr>
            <p:cNvGrpSpPr/>
            <p:nvPr/>
          </p:nvGrpSpPr>
          <p:grpSpPr>
            <a:xfrm>
              <a:off x="4267200" y="1600200"/>
              <a:ext cx="738665" cy="738664"/>
              <a:chOff x="4267199" y="1268631"/>
              <a:chExt cx="1173481" cy="1173480"/>
            </a:xfrm>
          </p:grpSpPr>
          <p:sp>
            <p:nvSpPr>
              <p:cNvPr id="8" name="Rectangle 7">
                <a:extLst>
                  <a:ext uri="{FF2B5EF4-FFF2-40B4-BE49-F238E27FC236}">
                    <ns2:creationId id="{B9C4D9C1-E46D-4419-BCC6-27B44641BF8B}"/>
                  </a:ext>
                </a:extLst>
              </p:cNvPr>
              <p:cNvSpPr/>
              <p:nvPr/>
            </p:nvSpPr>
            <p:spPr>
              <a:xfrm>
                <a:off x="4343400" y="1344831"/>
                <a:ext cx="1097280" cy="1097280"/>
              </a:xfrm>
              <a:prstGeom prst="rect">
                <a:avLst/>
              </a:prstGeom>
              <a:solidFill>
                <a:schemeClr val="accent1"/>
              </a:solidFill>
              <a:ln w="571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 dirty="0">
                    <a:latin typeface="+mj-lt"/>
                    <a:ea typeface="+mj-ea"/>
                  </a:rPr>
                  <a:t>01</a:t>
                </a:r>
                <a:r>
                  <a:rPr lang="en-MY" sz="3200" b="1" dirty="0">
                    <a:latin typeface="+mj-lt"/>
                    <a:ea typeface="+mj-ea"/>
                  </a:rPr>
                  <a:t/>
                </a:r>
              </a:p>
            </p:txBody>
          </p:sp>
          <p:sp>
            <p:nvSpPr>
              <p:cNvPr id="9" name="Right Triangle 8">
                <a:extLst>
                  <a:ext uri="{FF2B5EF4-FFF2-40B4-BE49-F238E27FC236}">
                    <ns2:creationId id="{1C43F05D-4675-41A7-B416-6CCABD7EB17C}"/>
                  </a:ext>
                </a:extLst>
              </p:cNvPr>
              <p:cNvSpPr/>
              <p:nvPr/>
            </p:nvSpPr>
            <p:spPr>
              <a:xfrm rot="5400000">
                <a:off x="4267199" y="1268631"/>
                <a:ext cx="455895" cy="455895"/>
              </a:xfrm>
              <a:prstGeom prst="rtTriangle">
                <a:avLst/>
              </a:prstGeom>
              <a:solidFill>
                <a:schemeClr val="accent6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 dirty="0"/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ns2:creationId id="{5F26A284-C626-46AD-91A7-08B46BBFABB7}"/>
              </a:ext>
            </a:extLst>
          </p:cNvPr>
          <p:cNvGrpSpPr/>
          <p:nvPr/>
        </p:nvGrpSpPr>
        <p:grpSpPr>
          <a:xfrm>
            <a:off x="4267200" y="2976033"/>
            <a:ext cx="3956607" cy="738664"/>
            <a:chOff x="4267200" y="1600200"/>
            <a:chExt cx="3956607" cy="738664"/>
          </a:xfrm>
        </p:grpSpPr>
        <p:sp>
          <p:nvSpPr>
            <p:cNvPr id="11" name="TextBox 10">
              <a:extLst>
                <a:ext uri="{FF2B5EF4-FFF2-40B4-BE49-F238E27FC236}">
                  <ns2:creationId id="{5FCABB13-022F-4FA9-9C28-A4CCB5199AC4}"/>
                </a:ext>
              </a:extLst>
            </p:cNvPr>
            <p:cNvSpPr txBox="1"/>
            <p:nvPr/>
          </p:nvSpPr>
          <p:spPr>
            <a:xfrm>
              <a:off x="5351226" y="1723311"/>
              <a:ext cx="2872581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zh-CN" altLang="en-US" sz="3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研究目标与总体方案</a:t>
              </a:r>
              <a:endParaRPr lang="en-MY" sz="3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ns2:creationId id="{945343D4-F978-4F64-8C60-D37CCE9C3072}"/>
                </a:ext>
              </a:extLst>
            </p:cNvPr>
            <p:cNvGrpSpPr/>
            <p:nvPr/>
          </p:nvGrpSpPr>
          <p:grpSpPr>
            <a:xfrm>
              <a:off x="4267200" y="1600200"/>
              <a:ext cx="738665" cy="738664"/>
              <a:chOff x="4267199" y="1268631"/>
              <a:chExt cx="1173481" cy="1173480"/>
            </a:xfrm>
          </p:grpSpPr>
          <p:sp>
            <p:nvSpPr>
              <p:cNvPr id="13" name="Rectangle 12">
                <a:extLst>
                  <a:ext uri="{FF2B5EF4-FFF2-40B4-BE49-F238E27FC236}">
                    <ns2:creationId id="{300D0A59-D223-40ED-824A-9BEC37F9DCC4}"/>
                  </a:ext>
                </a:extLst>
              </p:cNvPr>
              <p:cNvSpPr/>
              <p:nvPr/>
            </p:nvSpPr>
            <p:spPr>
              <a:xfrm>
                <a:off x="4343400" y="1344831"/>
                <a:ext cx="1097280" cy="1097280"/>
              </a:xfrm>
              <a:prstGeom prst="rect">
                <a:avLst/>
              </a:prstGeom>
              <a:solidFill>
                <a:schemeClr val="accent1"/>
              </a:solidFill>
              <a:ln w="571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 dirty="0">
                    <a:latin typeface="+mj-lt"/>
                    <a:ea typeface="+mj-ea"/>
                  </a:rPr>
                  <a:t>02</a:t>
                </a:r>
                <a:endParaRPr lang="en-MY" sz="3200" b="1" dirty="0">
                  <a:latin typeface="+mj-lt"/>
                  <a:ea typeface="+mj-ea"/>
                </a:endParaRPr>
              </a:p>
            </p:txBody>
          </p:sp>
          <p:sp>
            <p:nvSpPr>
              <p:cNvPr id="14" name="Right Triangle 13">
                <a:extLst>
                  <a:ext uri="{FF2B5EF4-FFF2-40B4-BE49-F238E27FC236}">
                    <ns2:creationId id="{AC1A21C3-D710-4B2A-9F49-3FD957D438B9}"/>
                  </a:ext>
                </a:extLst>
              </p:cNvPr>
              <p:cNvSpPr/>
              <p:nvPr/>
            </p:nvSpPr>
            <p:spPr>
              <a:xfrm rot="5400000">
                <a:off x="4267199" y="1268631"/>
                <a:ext cx="455895" cy="455895"/>
              </a:xfrm>
              <a:prstGeom prst="rtTriangle">
                <a:avLst/>
              </a:prstGeom>
              <a:solidFill>
                <a:schemeClr val="accent6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 dirty="0"/>
              </a:p>
            </p:txBody>
          </p:sp>
        </p:grpSp>
      </p:grpSp>
      <p:grpSp>
        <p:nvGrpSpPr>
          <p:cNvPr id="15" name="Group 14">
            <a:extLst>
              <a:ext uri="{FF2B5EF4-FFF2-40B4-BE49-F238E27FC236}">
                <ns2:creationId id="{4CABA9FA-DC65-419A-9512-0DA5E1D73B27}"/>
              </a:ext>
            </a:extLst>
          </p:cNvPr>
          <p:cNvGrpSpPr/>
          <p:nvPr/>
        </p:nvGrpSpPr>
        <p:grpSpPr>
          <a:xfrm>
            <a:off x="4267200" y="4199466"/>
            <a:ext cx="4777345" cy="738664"/>
            <a:chOff x="4267200" y="1600200"/>
            <a:chExt cx="4777345" cy="738664"/>
          </a:xfrm>
        </p:grpSpPr>
        <p:sp>
          <p:nvSpPr>
            <p:cNvPr id="16" name="TextBox 15">
              <a:extLst>
                <a:ext uri="{FF2B5EF4-FFF2-40B4-BE49-F238E27FC236}">
                  <ns2:creationId id="{348CE4CE-F38F-47A6-B667-3971A472772F}"/>
                </a:ext>
              </a:extLst>
            </p:cNvPr>
            <p:cNvSpPr txBox="1"/>
            <p:nvPr/>
          </p:nvSpPr>
          <p:spPr>
            <a:xfrm>
              <a:off x="5351226" y="1723311"/>
              <a:ext cx="3693319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zh-CN" altLang="en-US" sz="3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核心方法与系统实现</a:t>
              </a:r>
              <a:endParaRPr lang="en-MY" sz="3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7" name="Group 16">
              <a:extLst>
                <a:ext uri="{FF2B5EF4-FFF2-40B4-BE49-F238E27FC236}">
                  <ns2:creationId id="{CD1A69A0-502C-4989-8A52-C866D3042752}"/>
                </a:ext>
              </a:extLst>
            </p:cNvPr>
            <p:cNvGrpSpPr/>
            <p:nvPr/>
          </p:nvGrpSpPr>
          <p:grpSpPr>
            <a:xfrm>
              <a:off x="4267200" y="1600200"/>
              <a:ext cx="738665" cy="738664"/>
              <a:chOff x="4267199" y="1268631"/>
              <a:chExt cx="1173481" cy="1173480"/>
            </a:xfrm>
          </p:grpSpPr>
          <p:sp>
            <p:nvSpPr>
              <p:cNvPr id="18" name="Rectangle 17">
                <a:extLst>
                  <a:ext uri="{FF2B5EF4-FFF2-40B4-BE49-F238E27FC236}">
                    <ns2:creationId id="{498D478D-3236-4F55-8406-94E2D4E0CAAF}"/>
                  </a:ext>
                </a:extLst>
              </p:cNvPr>
              <p:cNvSpPr/>
              <p:nvPr/>
            </p:nvSpPr>
            <p:spPr>
              <a:xfrm>
                <a:off x="4343400" y="1344831"/>
                <a:ext cx="1097280" cy="1097280"/>
              </a:xfrm>
              <a:prstGeom prst="rect">
                <a:avLst/>
              </a:prstGeom>
              <a:solidFill>
                <a:schemeClr val="accent1"/>
              </a:solidFill>
              <a:ln w="571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 dirty="0">
                    <a:latin typeface="+mj-lt"/>
                    <a:ea typeface="+mj-ea"/>
                  </a:rPr>
                  <a:t>03</a:t>
                </a:r>
                <a:endParaRPr lang="en-MY" sz="3200" b="1" dirty="0">
                  <a:latin typeface="+mj-lt"/>
                  <a:ea typeface="+mj-ea"/>
                </a:endParaRPr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ns2:creationId id="{3B5E4164-48FE-4A80-BB47-E4B995050532}"/>
                  </a:ext>
                </a:extLst>
              </p:cNvPr>
              <p:cNvSpPr/>
              <p:nvPr/>
            </p:nvSpPr>
            <p:spPr>
              <a:xfrm rot="5400000">
                <a:off x="4267199" y="1268631"/>
                <a:ext cx="455895" cy="455895"/>
              </a:xfrm>
              <a:prstGeom prst="rtTriangle">
                <a:avLst/>
              </a:prstGeom>
              <a:solidFill>
                <a:schemeClr val="accent6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 dirty="0"/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ns2:creationId id="{01ECCC09-9FD8-4D89-B5BF-D0AFDE933F5B}"/>
              </a:ext>
            </a:extLst>
          </p:cNvPr>
          <p:cNvGrpSpPr/>
          <p:nvPr/>
        </p:nvGrpSpPr>
        <p:grpSpPr>
          <a:xfrm>
            <a:off x="4267200" y="5422899"/>
            <a:ext cx="3546239" cy="738664"/>
            <a:chOff x="4267200" y="1600200"/>
            <a:chExt cx="3546239" cy="738664"/>
          </a:xfrm>
        </p:grpSpPr>
        <p:sp>
          <p:nvSpPr>
            <p:cNvPr id="21" name="TextBox 20">
              <a:extLst>
                <a:ext uri="{FF2B5EF4-FFF2-40B4-BE49-F238E27FC236}">
                  <ns2:creationId id="{475DB497-AD25-4596-B64A-ABDA4703F491}"/>
                </a:ext>
              </a:extLst>
            </p:cNvPr>
            <p:cNvSpPr txBox="1"/>
            <p:nvPr/>
          </p:nvSpPr>
          <p:spPr>
            <a:xfrm>
              <a:off x="5351226" y="1723311"/>
              <a:ext cx="2462213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zh-CN" altLang="en-US" sz="3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实验结果与后续计划</a:t>
              </a:r>
              <a:endParaRPr lang="en-MY" sz="3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2" name="Group 21">
              <a:extLst>
                <a:ext uri="{FF2B5EF4-FFF2-40B4-BE49-F238E27FC236}">
                  <ns2:creationId id="{71615C00-3CFB-4100-8201-AE183175707A}"/>
                </a:ext>
              </a:extLst>
            </p:cNvPr>
            <p:cNvGrpSpPr/>
            <p:nvPr/>
          </p:nvGrpSpPr>
          <p:grpSpPr>
            <a:xfrm>
              <a:off x="4267200" y="1600200"/>
              <a:ext cx="738665" cy="738664"/>
              <a:chOff x="4267199" y="1268631"/>
              <a:chExt cx="1173481" cy="1173480"/>
            </a:xfrm>
          </p:grpSpPr>
          <p:sp>
            <p:nvSpPr>
              <p:cNvPr id="23" name="Rectangle 22">
                <a:extLst>
                  <a:ext uri="{FF2B5EF4-FFF2-40B4-BE49-F238E27FC236}">
                    <ns2:creationId id="{E1D24BB4-8B82-41CD-B084-5030633F4167}"/>
                  </a:ext>
                </a:extLst>
              </p:cNvPr>
              <p:cNvSpPr/>
              <p:nvPr/>
            </p:nvSpPr>
            <p:spPr>
              <a:xfrm>
                <a:off x="4343400" y="1344831"/>
                <a:ext cx="1097280" cy="1097280"/>
              </a:xfrm>
              <a:prstGeom prst="rect">
                <a:avLst/>
              </a:prstGeom>
              <a:solidFill>
                <a:schemeClr val="accent1"/>
              </a:solidFill>
              <a:ln w="571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 dirty="0">
                    <a:latin typeface="+mj-lt"/>
                    <a:ea typeface="+mj-ea"/>
                  </a:rPr>
                  <a:t>04</a:t>
                </a:r>
                <a:r>
                  <a:rPr lang="en-MY" sz="3200" b="1" dirty="0">
                    <a:latin typeface="+mj-lt"/>
                    <a:ea typeface="+mj-ea"/>
                  </a:rPr>
                  <a:t/>
                </a:r>
              </a:p>
            </p:txBody>
          </p:sp>
          <p:sp>
            <p:nvSpPr>
              <p:cNvPr id="24" name="Right Triangle 23">
                <a:extLst>
                  <a:ext uri="{FF2B5EF4-FFF2-40B4-BE49-F238E27FC236}">
                    <ns2:creationId id="{442047FE-D479-4107-8005-64CEE237BF21}"/>
                  </a:ext>
                </a:extLst>
              </p:cNvPr>
              <p:cNvSpPr/>
              <p:nvPr/>
            </p:nvSpPr>
            <p:spPr>
              <a:xfrm rot="5400000">
                <a:off x="4267199" y="1268631"/>
                <a:ext cx="455895" cy="455895"/>
              </a:xfrm>
              <a:prstGeom prst="rtTriangle">
                <a:avLst/>
              </a:prstGeom>
              <a:solidFill>
                <a:schemeClr val="accent6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 dirty="0"/>
              </a:p>
            </p:txBody>
          </p:sp>
        </p:grpSp>
      </p:grpSp>
      <p:pic>
        <p:nvPicPr>
          <p:cNvPr id="28" name="图片占位符 27" descr="1551689710174[1].jpg"/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40711" r="40711"/>
          <a:stretch>
            <a:fillRect/>
          </a:stretch>
        </p:blipFill>
        <p:spPr/>
      </p:pic>
      <p:sp>
        <p:nvSpPr>
          <p:cNvPr id="30" name="矩形 29"/>
          <p:cNvSpPr/>
          <p:nvPr/>
        </p:nvSpPr>
        <p:spPr>
          <a:xfrm>
            <a:off x="-24680" y="0"/>
            <a:ext cx="3381356" cy="6858000"/>
          </a:xfrm>
          <a:prstGeom prst="rect">
            <a:avLst/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ns4:creationId val="236079195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286E443-7C74-4C2D-B790-2402F73B0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  <a:endParaRPr lang="en-MY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ns2:creationId id="{5A2F04F2-C95B-436F-B758-AD395AEE3757}"/>
              </a:ext>
            </a:extLst>
          </p:cNvPr>
          <p:cNvSpPr txBox="1"/>
          <p:nvPr/>
        </p:nvSpPr>
        <p:spPr>
          <a:xfrm>
            <a:off x="5521035" y="1626513"/>
            <a:ext cx="1149930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1"/>
                </a:solidFill>
                <a:latin typeface="+mj-lt"/>
              </a:rPr>
              <a:t>PART I</a:t>
            </a:r>
            <a:endParaRPr lang="en-MY" sz="28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ns3:creationId val="483152874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4098EC8-31AC-4DAC-B9CE-0BA372C9A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研究背景</a:t>
            </a:r>
            <a:endParaRPr lang="en-MY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6F8FB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3400" y="419100"/>
            <a:ext cx="10363200" cy="914400"/>
          </a:xfrm>
          <a:prstGeom prst="roundRect">
            <a:avLst>
              <a:gd name="adj" fmla="val 29167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D8E0EC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524000"/>
            <a:ext cx="5981700" cy="44577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71525" y="1762125"/>
            <a:ext cx="5524500" cy="1200150"/>
          </a:xfrm>
          <a:prstGeom prst="roundRect">
            <a:avLst>
              <a:gd name="adj" fmla="val 14512"/>
            </a:avLst>
          </a:prstGeom>
          <a:solidFill>
            <a:srgbClr val="F8FB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71525" y="3114675"/>
            <a:ext cx="5524500" cy="1200150"/>
          </a:xfrm>
          <a:prstGeom prst="roundRect">
            <a:avLst>
              <a:gd name="adj" fmla="val 14512"/>
            </a:avLst>
          </a:prstGeom>
          <a:solidFill>
            <a:srgbClr val="F8FB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71525" y="4467225"/>
            <a:ext cx="5524500" cy="1200150"/>
          </a:xfrm>
          <a:prstGeom prst="roundRect">
            <a:avLst>
              <a:gd name="adj" fmla="val 14512"/>
            </a:avLst>
          </a:prstGeom>
          <a:solidFill>
            <a:srgbClr val="F8FBFF"/>
          </a:solidFill>
          <a:ln w="9525">
            <a:solidFill>
              <a:srgbClr val="DBE3EF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3700" y="1524000"/>
            <a:ext cx="4152900" cy="44577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943725" y="1724025"/>
            <a:ext cx="3771900" cy="2710160"/>
          </a:xfrm>
          <a:prstGeom prst="roundRect">
            <a:avLst>
              <a:gd name="adj" fmla="val 2846"/>
            </a:avLst>
          </a:prstGeom>
          <a:solidFill>
            <a:srgbClr val="FFFFFF">
              <a:alpha val="0"/>
            </a:srgbClr>
          </a:solidFill>
          <a:ln w="9525">
            <a:solidFill>
              <a:srgbClr val="D8E1EE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6943725" y="4567535"/>
            <a:ext cx="3771900" cy="1214140"/>
          </a:xfrm>
          <a:prstGeom prst="roundRect">
            <a:avLst>
              <a:gd name="adj" fmla="val 14180"/>
            </a:avLst>
          </a:prstGeom>
          <a:solidFill>
            <a:srgbClr val="F3F7FD"/>
          </a:solidFill>
          <a:ln w="9525">
            <a:solidFill>
              <a:srgbClr val="D7E0EC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866775" y="986358"/>
            <a:ext cx="9696450" cy="2209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复杂文档表格识别已由“标准场景优化”转向“真实场景鲁棒性提升”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914400" y="1890713"/>
            <a:ext cx="52387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① 任务价值：表格是文档核心结构化载体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914400" y="2152650"/>
            <a:ext cx="5238750" cy="386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财务报表、科研论文、政务档案等关键信息高度依赖表格组织，识别质量直接影响后续计算与分析。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914400" y="3243263"/>
            <a:ext cx="52387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② 场景挑战：输入质量与版式复杂度双重波动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914400" y="3505200"/>
            <a:ext cx="5238750" cy="386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PDF、扫描件、拍照文档常伴随噪声、模糊、阴影、透视畸变与弱线框，结构恢复难度显著增加。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914400" y="4595813"/>
            <a:ext cx="52387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③ 方法瓶颈：传统流程在复杂样本泛化不足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914400" y="4857750"/>
            <a:ext cx="5238750" cy="386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固定预处理与单次识别易出现误差传播，面对复杂表头、跨行跨列与多表混排时稳定性不足。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7067550" y="4677073"/>
            <a:ext cx="3524250" cy="1742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研究动因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7067550" y="4941838"/>
            <a:ext cx="3524250" cy="386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需构建“输入质量优化—结构理解—结果校验”一体化链路，才能提升复杂真实场景下的准确率与可用性。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571500" y="5739557"/>
            <a:ext cx="4276204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12" name="图片 11" descr="upload_post_object_v2_316209918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82643" y="1802703"/>
            <a:ext cx="3275057" cy="2552730"/>
          </a:xfrm>
          <a:prstGeom prst="rect">
            <a:avLst/>
          </a:prstGeom>
        </p:spPr>
      </p:pic>
    </p:spTree>
    <p:extLst>
      <p:ext uri="{BB962C8B-B14F-4D97-AF65-F5344CB8AC3E}">
        <ns4:creationId val="3149316421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研究目标与总体方案</a:t>
            </a:r>
          </a:p>
        </p:txBody>
      </p:sp>
      <p:sp>
        <p:nvSpPr>
          <p:cNvPr id="5" name="TextBox 4">
            <a:extLst>
              <a:ext uri="{FF2B5EF4-FFF2-40B4-BE49-F238E27FC236}">
                <ns2:creationId id="{5A2F04F2-C95B-436F-B758-AD395AEE3757}"/>
              </a:ext>
            </a:extLst>
          </p:cNvPr>
          <p:cNvSpPr txBox="1"/>
          <p:nvPr/>
        </p:nvSpPr>
        <p:spPr>
          <a:xfrm>
            <a:off x="5521035" y="1626513"/>
            <a:ext cx="1249317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1"/>
                </a:solidFill>
                <a:latin typeface="+mj-lt"/>
              </a:rPr>
              <a:t>PART II</a:t>
            </a:r>
            <a:r>
              <a:rPr lang="en-US" altLang="zh-CN" sz="2800" b="1" dirty="0">
                <a:solidFill>
                  <a:schemeClr val="accent1"/>
                </a:solidFill>
                <a:latin typeface="+mj-lt"/>
              </a:rPr>
              <a:t/>
            </a:r>
            <a:endParaRPr lang="en-MY" sz="28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ns3:creationId val="869897139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4098EC8-31AC-4DAC-B9CE-0BA372C9A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研究目标</a:t>
            </a:r>
            <a:endParaRPr lang="en-MY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4F7FB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3400" y="705053"/>
            <a:ext cx="10363200" cy="990600"/>
          </a:xfrm>
          <a:prstGeom prst="roundRect">
            <a:avLst>
              <a:gd name="adj" fmla="val 24852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D6DFEC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1867103"/>
            <a:ext cx="10363200" cy="173355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33425" y="2067128"/>
            <a:ext cx="3219450" cy="1352550"/>
          </a:xfrm>
          <a:prstGeom prst="roundRect">
            <a:avLst>
              <a:gd name="adj" fmla="val 11426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105275" y="2067128"/>
            <a:ext cx="3219450" cy="1352550"/>
          </a:xfrm>
          <a:prstGeom prst="roundRect">
            <a:avLst>
              <a:gd name="adj" fmla="val 11426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477125" y="2067128"/>
            <a:ext cx="3219450" cy="1352550"/>
          </a:xfrm>
          <a:prstGeom prst="roundRect">
            <a:avLst>
              <a:gd name="adj" fmla="val 11426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" y="3753053"/>
            <a:ext cx="10363200" cy="21336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14375" y="4254008"/>
            <a:ext cx="10020300" cy="1466850"/>
          </a:xfrm>
          <a:prstGeom prst="roundRect">
            <a:avLst>
              <a:gd name="adj" fmla="val 9715"/>
            </a:avLst>
          </a:prstGeom>
          <a:solidFill>
            <a:srgbClr val="F6F9FE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876300" y="4377833"/>
            <a:ext cx="1664717" cy="1219200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9525">
            <a:solidFill>
              <a:srgbClr val="CFDAEA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2935114" y="4377833"/>
            <a:ext cx="1664791" cy="1219200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9525">
            <a:solidFill>
              <a:srgbClr val="CFDAEA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4994002" y="4377833"/>
            <a:ext cx="1664717" cy="1219200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9525">
            <a:solidFill>
              <a:srgbClr val="CFDA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052816" y="4377833"/>
            <a:ext cx="1664717" cy="1219200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9525">
            <a:solidFill>
              <a:srgbClr val="CFDAE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9111630" y="4377833"/>
            <a:ext cx="1461120" cy="1219200"/>
          </a:xfrm>
          <a:prstGeom prst="roundRect">
            <a:avLst>
              <a:gd name="adj" fmla="val 11719"/>
            </a:avLst>
          </a:prstGeom>
          <a:solidFill>
            <a:srgbClr val="EEF4FD"/>
          </a:solidFill>
          <a:ln w="9525">
            <a:solidFill>
              <a:srgbClr val="C7D5E8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838237" y="1332542"/>
            <a:ext cx="9734550" cy="2209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面向复杂文档场景，构建“可理解、可决策、可修复”的大模型表格识别完整链路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857250" y="2176666"/>
            <a:ext cx="297180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目标 1：复杂场景鲁棒识别</a:t>
            </a: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838211" y="2633567"/>
            <a:ext cx="2971800" cy="386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覆盖出版物、科研论文、弱线框复杂布局等多类型输入，提升复杂样本适应性。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4229100" y="2176666"/>
            <a:ext cx="297180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目标 2：端到端闭环流程</a:t>
            </a: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4219599" y="2633534"/>
            <a:ext cx="2971800" cy="386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实现输入解析、动态预处理、结构识别、质量评估与后处理到结构化输出的全链路。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7600950" y="2176666"/>
            <a:ext cx="297180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目标 3：大模型能力融合</a:t>
            </a: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7600906" y="2633534"/>
            <a:ext cx="2971800" cy="386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利用上下文学习与决策机制提升结构理解、结果稳定性与复杂关系恢复能力。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714375" y="3914978"/>
            <a:ext cx="10001250" cy="2056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技术路线（总体链路）</a:t>
            </a:r>
            <a:endParaRPr lang="en-US" sz="13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1441921" y="4779818"/>
            <a:ext cx="53340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输入解析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8" name="Text 23"/>
          <p:cNvSpPr/>
          <p:nvPr/>
        </p:nvSpPr>
        <p:spPr>
          <a:xfrm>
            <a:off x="1299790" y="5016008"/>
            <a:ext cx="817662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图像 / PDF 页面</a:t>
            </a:r>
            <a:endParaRPr lang="en-US" sz="9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9" name="Text 24"/>
          <p:cNvSpPr/>
          <p:nvPr/>
        </p:nvSpPr>
        <p:spPr>
          <a:xfrm>
            <a:off x="2642815" y="4854083"/>
            <a:ext cx="190500" cy="2095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→</a:t>
            </a:r>
            <a:endParaRPr lang="en-US" sz="15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0" name="Text 25"/>
          <p:cNvSpPr/>
          <p:nvPr/>
        </p:nvSpPr>
        <p:spPr>
          <a:xfrm>
            <a:off x="3434135" y="4779818"/>
            <a:ext cx="66675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动态预处理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1" name="Text 26"/>
          <p:cNvSpPr/>
          <p:nvPr/>
        </p:nvSpPr>
        <p:spPr>
          <a:xfrm>
            <a:off x="3367460" y="5016008"/>
            <a:ext cx="80010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问题感知与优选</a:t>
            </a:r>
            <a:endParaRPr lang="en-US" sz="9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2" name="Text 27"/>
          <p:cNvSpPr/>
          <p:nvPr/>
        </p:nvSpPr>
        <p:spPr>
          <a:xfrm>
            <a:off x="4701704" y="4854083"/>
            <a:ext cx="190500" cy="2095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→</a:t>
            </a:r>
            <a:endParaRPr lang="en-US" sz="15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3" name="Text 28"/>
          <p:cNvSpPr/>
          <p:nvPr/>
        </p:nvSpPr>
        <p:spPr>
          <a:xfrm>
            <a:off x="5492948" y="4779818"/>
            <a:ext cx="66675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上下文识别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4" name="Text 29"/>
          <p:cNvSpPr/>
          <p:nvPr/>
        </p:nvSpPr>
        <p:spPr>
          <a:xfrm>
            <a:off x="5407149" y="5016008"/>
            <a:ext cx="838349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特征+示例+提示</a:t>
            </a:r>
            <a:endParaRPr lang="en-US" sz="9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5" name="Text 30"/>
          <p:cNvSpPr/>
          <p:nvPr/>
        </p:nvSpPr>
        <p:spPr>
          <a:xfrm>
            <a:off x="6760518" y="4854083"/>
            <a:ext cx="190500" cy="2095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→</a:t>
            </a:r>
            <a:endParaRPr lang="en-US" sz="15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6" name="Text 31"/>
          <p:cNvSpPr/>
          <p:nvPr/>
        </p:nvSpPr>
        <p:spPr>
          <a:xfrm>
            <a:off x="7351737" y="4779818"/>
            <a:ext cx="106680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质量评估与后处理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7" name="Text 32"/>
          <p:cNvSpPr/>
          <p:nvPr/>
        </p:nvSpPr>
        <p:spPr>
          <a:xfrm>
            <a:off x="7427937" y="5016008"/>
            <a:ext cx="91440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校验、修复、重试</a:t>
            </a:r>
            <a:endParaRPr lang="en-US" sz="9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8" name="Text 33"/>
          <p:cNvSpPr/>
          <p:nvPr/>
        </p:nvSpPr>
        <p:spPr>
          <a:xfrm>
            <a:off x="8819331" y="4854083"/>
            <a:ext cx="190500" cy="2095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→</a:t>
            </a:r>
            <a:endParaRPr lang="en-US" sz="15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9" name="Text 34"/>
          <p:cNvSpPr/>
          <p:nvPr/>
        </p:nvSpPr>
        <p:spPr>
          <a:xfrm>
            <a:off x="9508778" y="4779818"/>
            <a:ext cx="66675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结构化输出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0" name="Text 35"/>
          <p:cNvSpPr/>
          <p:nvPr/>
        </p:nvSpPr>
        <p:spPr>
          <a:xfrm>
            <a:off x="9489579" y="5016008"/>
            <a:ext cx="705148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HTML / JSON</a:t>
            </a:r>
            <a:endParaRPr lang="en-US" sz="9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  <p:extLst>
      <p:ext uri="{BB962C8B-B14F-4D97-AF65-F5344CB8AC3E}">
        <ns4:creationId val="1409495158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核心方法与系统实现</a:t>
            </a:r>
          </a:p>
        </p:txBody>
      </p:sp>
      <p:sp>
        <p:nvSpPr>
          <p:cNvPr id="5" name="TextBox 4">
            <a:extLst>
              <a:ext uri="{FF2B5EF4-FFF2-40B4-BE49-F238E27FC236}">
                <ns2:creationId id="{5A2F04F2-C95B-436F-B758-AD395AEE3757}"/>
              </a:ext>
            </a:extLst>
          </p:cNvPr>
          <p:cNvSpPr txBox="1"/>
          <p:nvPr/>
        </p:nvSpPr>
        <p:spPr>
          <a:xfrm>
            <a:off x="5521035" y="1626513"/>
            <a:ext cx="1348704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1"/>
                </a:solidFill>
                <a:latin typeface="+mj-lt"/>
              </a:rPr>
              <a:t>PART III</a:t>
            </a:r>
            <a:r>
              <a:rPr lang="en-US" altLang="zh-CN" sz="2800" b="1" dirty="0">
                <a:solidFill>
                  <a:schemeClr val="accent1"/>
                </a:solidFill>
                <a:latin typeface="+mj-lt"/>
              </a:rPr>
              <a:t/>
            </a:r>
            <a:r>
              <a:rPr lang="en-US" sz="2800" b="1" dirty="0">
                <a:solidFill>
                  <a:schemeClr val="accent1"/>
                </a:solidFill>
                <a:latin typeface="+mj-lt"/>
              </a:rPr>
              <a:t/>
            </a:r>
            <a:endParaRPr lang="en-MY" sz="28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ns3:creationId val="2089697195"/>
      </p:ext>
    </p:extLst>
  </p:cSld>
  <p:clrMapOvr>
    <a:masterClrMapping/>
  </p:clrMapOvr>
</p:sld>
</file>

<file path=ppt/slides/slide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4098EC8-31AC-4DAC-B9CE-0BA372C9A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总体方案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MY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5F7FB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3400" y="419100"/>
            <a:ext cx="10363200" cy="1028700"/>
          </a:xfrm>
          <a:prstGeom prst="roundRect">
            <a:avLst>
              <a:gd name="adj" fmla="val 23045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D5DEEB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3400" y="1619250"/>
            <a:ext cx="10363200" cy="356235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95334" y="1821911"/>
            <a:ext cx="10020300" cy="2209800"/>
          </a:xfrm>
          <a:prstGeom prst="roundRect">
            <a:avLst>
              <a:gd name="adj" fmla="val 4281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714375" y="4143375"/>
            <a:ext cx="3238500" cy="952500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 w="9525">
            <a:solidFill>
              <a:srgbClr val="D6DFED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4086225" y="4143375"/>
            <a:ext cx="3238500" cy="952500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 w="9525">
            <a:solidFill>
              <a:srgbClr val="D6DFED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7458075" y="4143375"/>
            <a:ext cx="3238500" cy="952500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 w="9525">
            <a:solidFill>
              <a:srgbClr val="D6DFED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533400" y="5334000"/>
            <a:ext cx="10363200" cy="685800"/>
          </a:xfrm>
          <a:prstGeom prst="roundRect">
            <a:avLst>
              <a:gd name="adj" fmla="val 44444"/>
            </a:avLst>
          </a:prstGeom>
          <a:solidFill>
            <a:srgbClr val="EEF4FD"/>
          </a:solidFill>
          <a:ln w="9525">
            <a:solidFill>
              <a:srgbClr val="CCD8E8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38200" y="4233863"/>
            <a:ext cx="29908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输入解析与图像预处理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828710" y="4535809"/>
            <a:ext cx="299085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支持图像/PDF页面输入，动态选择最优预处理链，提升结构可辨识性。</a:t>
            </a:r>
            <a:endParaRPr lang="en-US" sz="10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4210050" y="4233863"/>
            <a:ext cx="29908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上下文学习驱动结构识别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4210057" y="4535767"/>
            <a:ext cx="299085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通过特征提取、示例检索与提示构造，引导大模型生成表格结构与内容。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7581900" y="4233863"/>
            <a:ext cx="29908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质量评估与后处理输出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7581904" y="4535767"/>
            <a:ext cx="299085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基于合法性与一致性评估触发修复、重识别与细化，输出 HTML/JSON 结果。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695325" y="5424488"/>
            <a:ext cx="100393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714329" y="5587160"/>
            <a:ext cx="10039350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将“大模型推理能力”与“传统工程闭环”结合，已实现从输入到结构化输出的可运行系统路径。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8" name="图片 7" descr="upload_post_object_v2_409034086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8710" y="2239382"/>
            <a:ext cx="1779966" cy="1374943"/>
          </a:xfrm>
          <a:prstGeom prst="rect">
            <a:avLst/>
          </a:prstGeom>
        </p:spPr>
      </p:pic>
      <p:pic>
        <p:nvPicPr>
          <p:cNvPr id="23" name="图片 22" descr="upload_post_object_v2_253715740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01467" y="2239393"/>
            <a:ext cx="1831949" cy="1415098"/>
          </a:xfrm>
          <a:prstGeom prst="rect">
            <a:avLst/>
          </a:prstGeom>
        </p:spPr>
      </p:pic>
      <p:pic>
        <p:nvPicPr>
          <p:cNvPr id="25" name="图片 24" descr="upload_post_object_v2_3696088635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82184" y="2279425"/>
            <a:ext cx="1799685" cy="1334931"/>
          </a:xfrm>
          <a:prstGeom prst="rect">
            <a:avLst/>
          </a:prstGeom>
        </p:spPr>
      </p:pic>
      <p:pic>
        <p:nvPicPr>
          <p:cNvPr id="26" name="图片 25" descr="upload_post_object_v2_2348475615"/>
          <p:cNvPicPr>
            <a:picLocks noChangeAspect="1"/>
          </p:cNvPicPr>
          <p:nvPr/>
        </p:nvPicPr>
        <p:blipFill>
          <a:blip r:embed="rId19"/>
          <a:srcRect r="24572"/>
          <a:stretch>
            <a:fillRect/>
          </a:stretch>
        </p:blipFill>
        <p:spPr>
          <a:xfrm>
            <a:off x="8395130" y="2298171"/>
            <a:ext cx="1888047" cy="1297439"/>
          </a:xfrm>
          <a:prstGeom prst="rect">
            <a:avLst/>
          </a:prstGeom>
        </p:spPr>
      </p:pic>
      <p:sp>
        <p:nvSpPr>
          <p:cNvPr id="27" name="右箭头 26"/>
          <p:cNvSpPr/>
          <p:nvPr userDrawn="1"/>
        </p:nvSpPr>
        <p:spPr>
          <a:xfrm>
            <a:off x="2782437" y="2940309"/>
            <a:ext cx="231681" cy="183414"/>
          </a:xfrm>
          <a:prstGeom prst="rightArrow">
            <a:avLst>
              <a:gd name="adj1" fmla="val 58740"/>
              <a:gd name="adj2" fmla="val 50000"/>
            </a:avLst>
          </a:prstGeom>
          <a:solidFill>
            <a:srgbClr val="E2E6ED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9" name="右箭头 28"/>
          <p:cNvSpPr/>
          <p:nvPr userDrawn="1"/>
        </p:nvSpPr>
        <p:spPr>
          <a:xfrm>
            <a:off x="7842511" y="2923336"/>
            <a:ext cx="231681" cy="183414"/>
          </a:xfrm>
          <a:prstGeom prst="rightArrow">
            <a:avLst>
              <a:gd name="adj1" fmla="val 58740"/>
              <a:gd name="adj2" fmla="val 50000"/>
            </a:avLst>
          </a:prstGeom>
          <a:solidFill>
            <a:srgbClr val="E2E6ED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0" name="文本框 29"/>
          <p:cNvSpPr txBox="1"/>
          <p:nvPr userDrawn="1"/>
        </p:nvSpPr>
        <p:spPr>
          <a:xfrm>
            <a:off x="1373229" y="1937101"/>
            <a:ext cx="690880" cy="24511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 sz="10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原始图像</a:t>
            </a:r>
            <a:endParaRPr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1" name="文本框 30"/>
          <p:cNvSpPr txBox="1"/>
          <p:nvPr userDrawn="1"/>
        </p:nvSpPr>
        <p:spPr>
          <a:xfrm>
            <a:off x="3772006" y="1937101"/>
            <a:ext cx="817880" cy="24511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 sz="1000">
                <a:solidFill>
                  <a:schemeClr val="tx1"/>
                </a:solidFill>
              </a:rPr>
              <a:t>预处理图像</a:t>
            </a:r>
          </a:p>
        </p:txBody>
      </p:sp>
      <p:sp>
        <p:nvSpPr>
          <p:cNvPr id="33" name="文本框 32"/>
          <p:cNvSpPr txBox="1"/>
          <p:nvPr userDrawn="1"/>
        </p:nvSpPr>
        <p:spPr>
          <a:xfrm>
            <a:off x="6223527" y="1937101"/>
            <a:ext cx="690880" cy="24511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 sz="1000">
                <a:solidFill>
                  <a:schemeClr val="tx1"/>
                </a:solidFill>
              </a:rPr>
              <a:t>识别结果</a:t>
            </a:r>
          </a:p>
        </p:txBody>
      </p:sp>
      <p:sp>
        <p:nvSpPr>
          <p:cNvPr id="34" name="文本框 33"/>
          <p:cNvSpPr txBox="1"/>
          <p:nvPr userDrawn="1"/>
        </p:nvSpPr>
        <p:spPr>
          <a:xfrm>
            <a:off x="9002915" y="1937101"/>
            <a:ext cx="817880" cy="24511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 sz="1000">
                <a:solidFill>
                  <a:schemeClr val="tx1"/>
                </a:solidFill>
              </a:rPr>
              <a:t>后处理修复</a:t>
            </a:r>
          </a:p>
        </p:txBody>
      </p:sp>
      <p:sp>
        <p:nvSpPr>
          <p:cNvPr id="35" name="右箭头 34"/>
          <p:cNvSpPr/>
          <p:nvPr userDrawn="1"/>
        </p:nvSpPr>
        <p:spPr>
          <a:xfrm>
            <a:off x="5291696" y="2940334"/>
            <a:ext cx="231681" cy="183414"/>
          </a:xfrm>
          <a:prstGeom prst="rightArrow">
            <a:avLst>
              <a:gd name="adj1" fmla="val 58740"/>
              <a:gd name="adj2" fmla="val 50000"/>
            </a:avLst>
          </a:prstGeom>
          <a:solidFill>
            <a:srgbClr val="E2E6ED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ns4:creationId val="1206498778"/>
      </p:ext>
    </p:extLst>
  </p:cSld>
  <p:clrMapOvr>
    <a:masterClrMapping/>
  </p:clrMapOvr>
</p:sld>
</file>

<file path=ppt/slides/slide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4098EC8-31AC-4DAC-B9CE-0BA372C9A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主要研究内容—动态感知表格预处理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MY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4F7FB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3400" y="419100"/>
            <a:ext cx="10363200" cy="990600"/>
          </a:xfrm>
          <a:prstGeom prst="roundRect">
            <a:avLst>
              <a:gd name="adj" fmla="val 24852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D4DDEB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1562100"/>
            <a:ext cx="3714750" cy="40005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14375" y="1743075"/>
            <a:ext cx="3371850" cy="843037"/>
          </a:xfrm>
          <a:prstGeom prst="roundRect">
            <a:avLst>
              <a:gd name="adj" fmla="val 24510"/>
            </a:avLst>
          </a:prstGeom>
          <a:solidFill>
            <a:srgbClr val="F7FAFF"/>
          </a:solidFill>
          <a:ln w="9525">
            <a:solidFill>
              <a:srgbClr val="DCE4F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14375" y="2700412"/>
            <a:ext cx="3371850" cy="842963"/>
          </a:xfrm>
          <a:prstGeom prst="roundRect">
            <a:avLst>
              <a:gd name="adj" fmla="val 24514"/>
            </a:avLst>
          </a:prstGeom>
          <a:solidFill>
            <a:srgbClr val="F7FAFF"/>
          </a:solidFill>
          <a:ln w="9525">
            <a:solidFill>
              <a:srgbClr val="DCE4F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14375" y="3657674"/>
            <a:ext cx="3371850" cy="843037"/>
          </a:xfrm>
          <a:prstGeom prst="roundRect">
            <a:avLst>
              <a:gd name="adj" fmla="val 24510"/>
            </a:avLst>
          </a:prstGeom>
          <a:solidFill>
            <a:srgbClr val="F7FAFF"/>
          </a:solidFill>
          <a:ln w="9525">
            <a:solidFill>
              <a:srgbClr val="DCE4F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14375" y="4615011"/>
            <a:ext cx="3371850" cy="766614"/>
          </a:xfrm>
          <a:prstGeom prst="roundRect">
            <a:avLst>
              <a:gd name="adj" fmla="val 29640"/>
            </a:avLst>
          </a:prstGeom>
          <a:solidFill>
            <a:srgbClr val="EEF4FD"/>
          </a:solidFill>
          <a:ln w="9525">
            <a:solidFill>
              <a:srgbClr val="CFDCED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57700" y="1562100"/>
            <a:ext cx="6438900" cy="40005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619625" y="1724025"/>
            <a:ext cx="6134100" cy="3105150"/>
          </a:xfrm>
          <a:prstGeom prst="roundRect">
            <a:avLst>
              <a:gd name="adj" fmla="val 2168"/>
            </a:avLst>
          </a:prstGeom>
          <a:solidFill>
            <a:srgbClr val="F7FAFF"/>
          </a:solidFill>
          <a:ln w="9525">
            <a:solidFill>
              <a:srgbClr val="D8E1EE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4705350" y="1809750"/>
            <a:ext cx="5962650" cy="295275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619625" y="4924425"/>
            <a:ext cx="6134100" cy="529977"/>
          </a:xfrm>
          <a:prstGeom prst="roundRect">
            <a:avLst>
              <a:gd name="adj" fmla="val 62018"/>
            </a:avLst>
          </a:prstGeom>
          <a:solidFill>
            <a:srgbClr val="FFFFFF"/>
          </a:solidFill>
          <a:ln w="9525">
            <a:solidFill>
              <a:srgbClr val="D5DFEC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533400" y="5676900"/>
            <a:ext cx="10363200" cy="342900"/>
          </a:xfrm>
          <a:prstGeom prst="roundRect">
            <a:avLst>
              <a:gd name="adj" fmla="val 148148"/>
            </a:avLst>
          </a:prstGeom>
          <a:solidFill>
            <a:srgbClr val="EDF3FC"/>
          </a:solidFill>
          <a:ln w="9525">
            <a:solidFill>
              <a:srgbClr val="CCD8E8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828675" y="1019919"/>
            <a:ext cx="9772650" cy="2209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核心思路：由固定预处理转向“问题感知—候选生成—并行比较—最优选择”的自适应流程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819150" y="1833563"/>
            <a:ext cx="316230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① 图像退化问题感知</a:t>
            </a: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819150" y="2057400"/>
            <a:ext cx="316230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大模型识别噪声、模糊、阴影、对比度不足与边界冗余等退化类型。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819150" y="2790899"/>
            <a:ext cx="316230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② 候选链生成与并行执行</a:t>
            </a: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819150" y="3014737"/>
            <a:ext cx="316230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自动生成多条操作链（去噪/增强/锐化/裁剪等），并与原图共同比较。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819150" y="3748162"/>
            <a:ext cx="316230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③ 综合评分优选结果</a:t>
            </a: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819150" y="3971999"/>
            <a:ext cx="316230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融合客观质量指标与大模型语义评分，输出更利于结构识别的图像。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819150" y="4700736"/>
            <a:ext cx="316230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阶段结论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819150" y="4917877"/>
            <a:ext cx="316230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预处理对 TEDS-Struct 改善更稳定，验证了“结构可恢复性优先”的价值。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4743450" y="4991100"/>
            <a:ext cx="588645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图示要点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4743450" y="5189190"/>
            <a:ext cx="5886450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框架体现了“链间优选 + 步骤级接受/回退”的双层决策机制，避免固定流程过处理。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9" name="Text 23"/>
          <p:cNvSpPr/>
          <p:nvPr/>
        </p:nvSpPr>
        <p:spPr>
          <a:xfrm>
            <a:off x="676275" y="5758607"/>
            <a:ext cx="5417716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模块已完成原型实现并形成首轮实验验证，支撑后续识别链路稳定性优化。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  <p:extLst>
      <p:ext uri="{BB962C8B-B14F-4D97-AF65-F5344CB8AC3E}">
        <ns4:creationId val="1622019372"/>
      </p:ext>
    </p:extLst>
  </p:cSld>
  <p:clrMapOvr>
    <a:masterClrMapping/>
  </p:clrMapOvr>
</p:sld>
</file>

<file path=ppt/slides/slide1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4098EC8-31AC-4DAC-B9CE-0BA372C9A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主要研究内容—系统实现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MY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4F7FB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3400" y="642925"/>
            <a:ext cx="10363200" cy="1028700"/>
          </a:xfrm>
          <a:prstGeom prst="roundRect">
            <a:avLst>
              <a:gd name="adj" fmla="val 23045"/>
            </a:avLst>
          </a:prstGeom>
          <a:solidFill>
            <a:srgbClr val="FFFFFF">
              <a:alpha val="93000"/>
            </a:srgbClr>
          </a:solidFill>
          <a:ln w="9525">
            <a:solidFill>
              <a:srgbClr val="D5DEEB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1824025"/>
            <a:ext cx="6286500" cy="39624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76275" y="1966900"/>
            <a:ext cx="6019800" cy="3200400"/>
          </a:xfrm>
          <a:prstGeom prst="roundRect">
            <a:avLst>
              <a:gd name="adj" fmla="val 2041"/>
            </a:avLst>
          </a:prstGeom>
          <a:solidFill>
            <a:srgbClr val="F8FBFF"/>
          </a:solidFill>
          <a:ln w="9525">
            <a:solidFill>
              <a:srgbClr val="D8E1EE"/>
            </a:solidFill>
            <a:prstDash val="solid"/>
          </a:ln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762000" y="2007937"/>
            <a:ext cx="5685040" cy="309268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76275" y="5262550"/>
            <a:ext cx="6019800" cy="381000"/>
          </a:xfrm>
          <a:prstGeom prst="roundRect">
            <a:avLst>
              <a:gd name="adj" fmla="val 120000"/>
            </a:avLst>
          </a:prstGeom>
          <a:solidFill>
            <a:srgbClr val="EEF4FD"/>
          </a:solidFill>
          <a:ln w="9525">
            <a:solidFill>
              <a:srgbClr val="D4DEEC"/>
            </a:solidFill>
            <a:prstDash val="solid"/>
          </a:ln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10400" y="1824025"/>
            <a:ext cx="3886200" cy="3962400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7172325" y="1985950"/>
            <a:ext cx="3581400" cy="851446"/>
          </a:xfrm>
          <a:prstGeom prst="roundRect">
            <a:avLst>
              <a:gd name="adj" fmla="val 24028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7172325" y="2951696"/>
            <a:ext cx="3581400" cy="851371"/>
          </a:xfrm>
          <a:prstGeom prst="roundRect">
            <a:avLst>
              <a:gd name="adj" fmla="val 24032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7172325" y="3917367"/>
            <a:ext cx="3581400" cy="851446"/>
          </a:xfrm>
          <a:prstGeom prst="roundRect">
            <a:avLst>
              <a:gd name="adj" fmla="val 24028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7172325" y="4883113"/>
            <a:ext cx="3581400" cy="741387"/>
          </a:xfrm>
          <a:prstGeom prst="roundRect">
            <a:avLst>
              <a:gd name="adj" fmla="val 31691"/>
            </a:avLst>
          </a:prstGeom>
          <a:solidFill>
            <a:srgbClr val="EDF3FC"/>
          </a:solidFill>
          <a:ln w="9525">
            <a:solidFill>
              <a:srgbClr val="CCDAE9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828675" y="1243744"/>
            <a:ext cx="9772650" cy="2209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前后端分离 + 核心算法层协同，已形成可演示、可测试、可导出的表格识别原型系统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800100" y="5363307"/>
            <a:ext cx="3983236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前端交互、后端服务与算法主流程已完成</a:t>
            </a:r>
            <a:r>
              <a:rPr lang="zh-CN" alt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初步</a:t>
            </a: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联通。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7277100" y="2076437"/>
            <a:ext cx="33718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① 前端层：交互与展示</a:t>
            </a: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7277100" y="2309800"/>
            <a:ext cx="3371850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支持文件上传、结果查看、历史记录管理与结果下载。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7277100" y="3042183"/>
            <a:ext cx="33718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② 后端层：任务调度与持久化</a:t>
            </a: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7277100" y="3275546"/>
            <a:ext cx="337185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接收请求并调度识别流程，负责结果保存、接口返回与状态管理。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7277100" y="4007854"/>
            <a:ext cx="33718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③ 算法层：核心识别闭环</a:t>
            </a: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7277100" y="4241217"/>
            <a:ext cx="3371850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统一封装预处理、上下文识别、质量评估与后处理模块。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7277100" y="4968838"/>
            <a:ext cx="337185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结论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7277100" y="5185978"/>
            <a:ext cx="3371850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系统已具备“输入—识别—展示—导出”的完整工程化能力。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  <p:extLst>
      <p:ext uri="{BB962C8B-B14F-4D97-AF65-F5344CB8AC3E}">
        <ns4:creationId val="3872974244"/>
      </p:ext>
    </p:extLst>
  </p:cSld>
  <p:clrMapOvr>
    <a:masterClrMapping/>
  </p:clrMapOvr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/>
          </p:cNvSpPr>
          <p:nvPr/>
        </p:nvSpPr>
        <p:spPr>
          <a:xfrm>
            <a:off x="3200400" y="2676173"/>
            <a:ext cx="5791200" cy="1477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zh-CN" altLang="en-US" sz="4800" b="1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实验结果与后续计划</a:t>
            </a:r>
            <a:endParaRPr lang="en-US" sz="4800" b="1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ns2:creationId id="{5A2F04F2-C95B-436F-B758-AD395AEE3757}"/>
              </a:ext>
            </a:extLst>
          </p:cNvPr>
          <p:cNvSpPr txBox="1"/>
          <p:nvPr/>
        </p:nvSpPr>
        <p:spPr>
          <a:xfrm>
            <a:off x="5521035" y="1626513"/>
            <a:ext cx="1388778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1"/>
                </a:solidFill>
                <a:latin typeface="+mj-lt"/>
              </a:rPr>
              <a:t>PART IV</a:t>
            </a:r>
            <a:r>
              <a:rPr lang="en-US" altLang="zh-CN" sz="2800" b="1" dirty="0">
                <a:solidFill>
                  <a:schemeClr val="accent1"/>
                </a:solidFill>
                <a:latin typeface="+mj-lt"/>
              </a:rPr>
              <a:t/>
            </a:r>
            <a:endParaRPr lang="en-MY" sz="28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ns3:creationId val="3033142074"/>
      </p:ext>
    </p:extLst>
  </p:cSld>
  <p:clrMapOvr>
    <a:masterClrMapping/>
  </p:clrMapOvr>
</p:sld>
</file>

<file path=ppt/slides/slide1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4098EC8-31AC-4DAC-B9CE-0BA372C9A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后续计划</a:t>
            </a:r>
            <a:endParaRPr lang="en-MY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4F7FB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3400" y="928664"/>
            <a:ext cx="10424163" cy="1009650"/>
          </a:xfrm>
          <a:prstGeom prst="roundRect">
            <a:avLst>
              <a:gd name="adj" fmla="val 23923"/>
            </a:avLst>
          </a:prstGeom>
          <a:solidFill>
            <a:srgbClr val="FFFFFF">
              <a:alpha val="94000"/>
            </a:srgbClr>
          </a:solidFill>
          <a:ln w="9525">
            <a:solidFill>
              <a:srgbClr val="D4DEEB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830" y="2109764"/>
            <a:ext cx="10488694" cy="33909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30755" y="2271689"/>
            <a:ext cx="3286125" cy="3086100"/>
          </a:xfrm>
          <a:prstGeom prst="roundRect">
            <a:avLst>
              <a:gd name="adj" fmla="val 2195"/>
            </a:avLst>
          </a:prstGeom>
          <a:solidFill>
            <a:srgbClr val="F7FAFF"/>
          </a:solidFill>
          <a:ln w="9525">
            <a:solidFill>
              <a:srgbClr val="D8E2E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73630" y="2414564"/>
            <a:ext cx="3019425" cy="382563"/>
          </a:xfrm>
          <a:prstGeom prst="roundRect">
            <a:avLst>
              <a:gd name="adj" fmla="val 95217"/>
            </a:avLst>
          </a:prstGeom>
          <a:solidFill>
            <a:srgbClr val="E8F0FC"/>
          </a:solidFill>
        </p:spPr>
      </p:sp>
      <p:sp>
        <p:nvSpPr>
          <p:cNvPr id="9" name="Shape 5"/>
          <p:cNvSpPr/>
          <p:nvPr/>
        </p:nvSpPr>
        <p:spPr>
          <a:xfrm>
            <a:off x="773630" y="4813301"/>
            <a:ext cx="3019425" cy="401613"/>
          </a:xfrm>
          <a:prstGeom prst="roundRect">
            <a:avLst>
              <a:gd name="adj" fmla="val 86398"/>
            </a:avLst>
          </a:prstGeom>
          <a:solidFill>
            <a:srgbClr val="EDF3FC"/>
          </a:solidFill>
          <a:ln w="9525">
            <a:solidFill>
              <a:srgbClr val="CEDBEC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069317" y="2271728"/>
            <a:ext cx="3286125" cy="3086100"/>
          </a:xfrm>
          <a:prstGeom prst="roundRect">
            <a:avLst>
              <a:gd name="adj" fmla="val 2195"/>
            </a:avLst>
          </a:prstGeom>
          <a:solidFill>
            <a:srgbClr val="F7FAFF"/>
          </a:solidFill>
          <a:ln w="9525">
            <a:solidFill>
              <a:srgbClr val="D8E2E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212155" y="2414564"/>
            <a:ext cx="3019425" cy="382563"/>
          </a:xfrm>
          <a:prstGeom prst="roundRect">
            <a:avLst>
              <a:gd name="adj" fmla="val 95217"/>
            </a:avLst>
          </a:prstGeom>
          <a:solidFill>
            <a:srgbClr val="DFEAFB"/>
          </a:solidFill>
        </p:spPr>
      </p:sp>
      <p:sp>
        <p:nvSpPr>
          <p:cNvPr id="12" name="Shape 8"/>
          <p:cNvSpPr/>
          <p:nvPr/>
        </p:nvSpPr>
        <p:spPr>
          <a:xfrm>
            <a:off x="4212155" y="4813301"/>
            <a:ext cx="3019425" cy="401613"/>
          </a:xfrm>
          <a:prstGeom prst="roundRect">
            <a:avLst>
              <a:gd name="adj" fmla="val 86398"/>
            </a:avLst>
          </a:prstGeom>
          <a:solidFill>
            <a:srgbClr val="EDF3FC"/>
          </a:solidFill>
          <a:ln w="9525">
            <a:solidFill>
              <a:srgbClr val="CEDBE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507805" y="2271689"/>
            <a:ext cx="3333750" cy="3086100"/>
          </a:xfrm>
          <a:prstGeom prst="roundRect">
            <a:avLst>
              <a:gd name="adj" fmla="val 2195"/>
            </a:avLst>
          </a:prstGeom>
          <a:solidFill>
            <a:srgbClr val="EEF5FF"/>
          </a:solidFill>
          <a:ln w="9525">
            <a:solidFill>
              <a:srgbClr val="C5D6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650680" y="2414564"/>
            <a:ext cx="3067050" cy="382563"/>
          </a:xfrm>
          <a:prstGeom prst="roundRect">
            <a:avLst>
              <a:gd name="adj" fmla="val 95217"/>
            </a:avLst>
          </a:prstGeom>
          <a:solidFill>
            <a:srgbClr val="BDD7EE">
              <a:alpha val="100000"/>
            </a:srgbClr>
          </a:solidFill>
        </p:spPr>
      </p:sp>
      <p:sp>
        <p:nvSpPr>
          <p:cNvPr id="15" name="Shape 11"/>
          <p:cNvSpPr/>
          <p:nvPr/>
        </p:nvSpPr>
        <p:spPr>
          <a:xfrm>
            <a:off x="7650680" y="4813301"/>
            <a:ext cx="3067050" cy="401613"/>
          </a:xfrm>
          <a:prstGeom prst="roundRect">
            <a:avLst>
              <a:gd name="adj" fmla="val 86398"/>
            </a:avLst>
          </a:prstGeom>
          <a:solidFill>
            <a:srgbClr val="EDF3FC">
              <a:alpha val="100000"/>
            </a:srgbClr>
          </a:solidFill>
          <a:ln w="9525">
            <a:solidFill>
              <a:srgbClr val="B9CDE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68880" y="2489648"/>
            <a:ext cx="1123504" cy="1942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阶段一：6–8月</a:t>
            </a:r>
            <a:endParaRPr lang="en-US" sz="12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773630" y="2897139"/>
            <a:ext cx="3019425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继续优化动态预处理与上下文学习识别引擎。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773630" y="3159077"/>
            <a:ext cx="3019425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补充困难样本分析，改进示例选择与提示构造。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773630" y="3421014"/>
            <a:ext cx="3019425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开展对比/消融实验，完成首轮误差归因整理。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878405" y="4924327"/>
            <a:ext cx="1981200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目标：方法稳定性与证据充分性提升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4307405" y="2489648"/>
            <a:ext cx="1123504" cy="1942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阶段二：8–9月</a:t>
            </a:r>
            <a:endParaRPr lang="en-US" sz="12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4212155" y="2897139"/>
            <a:ext cx="3019425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完善系统联调，优化运行效率与异常处理能力。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4212155" y="3159077"/>
            <a:ext cx="3019425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强化中间过程记录、结果回看与导出管理能力。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4212155" y="3421014"/>
            <a:ext cx="3019425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形成可支撑论文复现与答辩演示的稳定原型。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4316930" y="4924327"/>
            <a:ext cx="1857375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目标：系统完整度与可展示性提升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7745930" y="2489648"/>
            <a:ext cx="1199406" cy="1942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阶段三：9–1</a:t>
            </a:r>
            <a:r>
              <a:rPr lang="en-US" altLang="zh-CN" sz="12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2</a:t>
            </a:r>
            <a:r>
              <a:rPr lang="en-US" sz="12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月</a:t>
            </a:r>
            <a:endParaRPr lang="en-US" sz="12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7650680" y="2897139"/>
            <a:ext cx="3067050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9–10月：完成论文初稿与图表材料整理。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7650680" y="3159077"/>
            <a:ext cx="3067050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10–11月：根据导师反馈修改定稿并核对实验表述。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7650680" y="3421014"/>
            <a:ext cx="3067050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同步完成答辩PPT、展示材料与预答辩准备。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3" name="Text 29"/>
          <p:cNvSpPr/>
          <p:nvPr/>
        </p:nvSpPr>
        <p:spPr>
          <a:xfrm>
            <a:off x="7755455" y="4924327"/>
            <a:ext cx="1857375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目标：高质量定稿并按期完成答辩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16" name="图片 15" descr="upload_post_object_v2_2554028333"/>
          <p:cNvPicPr>
            <a:picLocks noChangeAspect="1"/>
          </p:cNvPicPr>
          <p:nvPr/>
        </p:nvPicPr>
        <p:blipFill>
          <a:blip r:embed="rId5">
            <a:alphaModFix amt="90000"/>
          </a:blip>
          <a:stretch>
            <a:fillRect/>
          </a:stretch>
        </p:blipFill>
        <p:spPr>
          <a:xfrm>
            <a:off x="7355401" y="521795"/>
            <a:ext cx="3602163" cy="1587953"/>
          </a:xfrm>
          <a:prstGeom prst="rect">
            <a:avLst/>
          </a:prstGeom>
        </p:spPr>
      </p:pic>
    </p:spTree>
    <p:extLst>
      <p:ext uri="{BB962C8B-B14F-4D97-AF65-F5344CB8AC3E}">
        <ns4:creationId val="1062778819"/>
      </p:ext>
    </p:extLst>
  </p:cSld>
  <p:clrMapOvr>
    <a:masterClrMapping/>
  </p:clrMapOvr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854C2CA-695C-4813-A06F-F1804FA0F6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谢谢</a:t>
            </a:r>
            <a:endParaRPr lang="en-MY" dirty="0"/>
          </a:p>
        </p:txBody>
      </p:sp>
      <p:sp>
        <p:nvSpPr>
          <p:cNvPr id="3" name="Subtitle 2">
            <a:extLst>
              <a:ext uri="{FF2B5EF4-FFF2-40B4-BE49-F238E27FC236}">
                <ns2:creationId id="{FA0B06AC-1BF7-40CC-ADD4-C4722C7176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62300" y="4191000"/>
            <a:ext cx="5867400" cy="42545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请各位老师批评指正</a:t>
            </a:r>
            <a:endParaRPr lang="en-MY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ns3:creationId val="7003986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null,&quot;Name&quot;:&quot;None&quot;,&quot;HeaderHeight&quot;:0.0,&quot;FooterHeight&quot;:0.0,&quot;SideMargin&quot;:0.0,&quot;TopMargin&quot;:0.0,&quot;BottomMargin&quot;:0.0,&quot;IntervalMargin&quot;:0.0,&quot;SettingType&quot;:&quot;System&quot;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ce Default">
      <a:majorFont>
        <a:latin typeface="Arial"/>
        <a:ea typeface="Noto Sans S Chinese Black"/>
        <a:cs typeface=""/>
      </a:majorFont>
      <a:minorFont>
        <a:latin typeface="Calibri Light"/>
        <a:ea typeface="Noto Sans S Chinese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just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9242</TotalTime>
  <Words>943</Words>
  <Application>Microsoft Macintosh PowerPoint</Application>
  <PresentationFormat>宽屏</PresentationFormat>
  <Paragraphs>148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DengXian</vt:lpstr>
      <vt:lpstr>黑体</vt:lpstr>
      <vt:lpstr>宋体</vt:lpstr>
      <vt:lpstr>微软雅黑</vt:lpstr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结合大模型的表格识别方法与系统 开题答辩</vt:lpstr>
      <vt:lpstr>PowerPoint 演示文稿</vt:lpstr>
      <vt:lpstr>研究目的及意义</vt:lpstr>
      <vt:lpstr>研究目的及意义</vt:lpstr>
      <vt:lpstr>研究现状及分析</vt:lpstr>
      <vt:lpstr>表格识别任务研究现状</vt:lpstr>
      <vt:lpstr>主要研究内容及方案</vt:lpstr>
      <vt:lpstr>主要研究内容—动态感知的表格预处理</vt:lpstr>
      <vt:lpstr>主要研究内容—上下文学习驱动的表格识别引擎</vt:lpstr>
      <vt:lpstr>主要研究内容—大模型表格识别决策框架</vt:lpstr>
      <vt:lpstr>PowerPoint 演示文稿</vt:lpstr>
      <vt:lpstr>研究进度安排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#我给母校送模板#</dc:title>
  <dc:creator>Shao Kang Chan</dc:creator>
  <cp:keywords>51PPT模板网</cp:keywords>
  <cp:lastModifiedBy>T206674</cp:lastModifiedBy>
  <cp:revision>983</cp:revision>
  <dcterms:created xsi:type="dcterms:W3CDTF">2019-01-02T13:38:39Z</dcterms:created>
  <dcterms:modified xsi:type="dcterms:W3CDTF">2025-09-09T06:28:24Z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Nuaxnuy@DESKTOP-GLORKB7</vt:lpwstr>
  </property>
  <property fmtid="{D5CDD505-2E9C-101B-9397-08002B2CF9AE}" pid="5" name="MSIP_Label_f42aa342-8706-4288-bd11-ebb85995028c_SetDate">
    <vt:lpwstr>2019-04-13T03:22:24.4542264Z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79d03e65-7467-42db-b610-b9cac49b6011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